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Economica" panose="020B0604020202020204"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 name="Google Shape;7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7" name="Google Shape;7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2: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2</a:t>
            </a:fld>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84" name="Google Shape;8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3: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3</a:t>
            </a:fld>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717ed2f42c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717ed2f42c_0_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g717ed2f42c_0_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4</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717ed2f42c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717ed2f42c_0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g717ed2f42c_0_11: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5</a:t>
            </a:fld>
            <a:endParaRPr sz="14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17ed2f42c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717ed2f42c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717ed2f42c_0_1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6</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12" name="Google Shape;11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8: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7</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717ed2f42c_0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717ed2f42c_0_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717ed2f42c_0_2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8</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717ed2f42c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717ed2f42c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g717ed2f42c_0_37: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9</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17ed2f42c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17ed2f42c_0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17ed2f42c_0_4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10</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717ed2f42c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717ed2f42c_0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717ed2f42c_0_5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11</a:t>
            </a:fld>
            <a:endParaRPr sz="14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717ed2f42c_0_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717ed2f42c_0_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717ed2f42c_0_5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12</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17ed2f42c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17ed2f42c_0_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717ed2f42c_0_6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13</a:t>
            </a:fld>
            <a:endParaRPr sz="140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717ed2f42c_0_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717ed2f42c_0_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g717ed2f42c_0_7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14</a:t>
            </a:fld>
            <a:endParaRPr sz="14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17ed2f42c_0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17ed2f42c_0_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717ed2f42c_0_7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15</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717ed2f42c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717ed2f42c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717ed2f42c_0_8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16</a:t>
            </a:fld>
            <a:endParaRPr sz="14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17ed2f42c_0_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17ed2f42c_0_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717ed2f42c_0_9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717ed2f42c_0_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717ed2f42c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717ed2f42c_0_9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17ed2f42c_0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17ed2f42c_0_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717ed2f42c_0_10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717ed2f42c_0_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717ed2f42c_0_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717ed2f42c_0_11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sz="14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717ed2f42c_0_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717ed2f42c_0_1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717ed2f42c_0_119: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717ed2f42c_0_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717ed2f42c_0_1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717ed2f42c_0_12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717ed2f42c_0_1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717ed2f42c_0_1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717ed2f42c_0_133: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717ed2f42c_0_1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717ed2f42c_0_1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717ed2f42c_0_139: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sz="1400">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42" name="Google Shape;24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26: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25</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5" name="Google Shape;15;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6" name="Google Shape;16;p2"/>
          <p:cNvSpPr txBox="1">
            <a:spLocks noGrp="1"/>
          </p:cNvSpPr>
          <p:nvPr>
            <p:ph type="ctrTitle"/>
          </p:nvPr>
        </p:nvSpPr>
        <p:spPr>
          <a:xfrm>
            <a:off x="3044700" y="1925674"/>
            <a:ext cx="3054600" cy="204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7" name="Google Shape;17;p2"/>
          <p:cNvSpPr txBox="1">
            <a:spLocks noGrp="1"/>
          </p:cNvSpPr>
          <p:nvPr>
            <p:ph type="subTitle" idx="1"/>
          </p:nvPr>
        </p:nvSpPr>
        <p:spPr>
          <a:xfrm>
            <a:off x="3044700" y="4155440"/>
            <a:ext cx="3054600" cy="9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8" name="Google Shape;18;p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3"/>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 name="Google Shape;22;p3"/>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3" name="Google Shape;23;p3"/>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4"/>
          <p:cNvSpPr/>
          <p:nvPr/>
        </p:nvSpPr>
        <p:spPr>
          <a:xfrm flipH="1">
            <a:off x="7595938" y="6136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6" name="Google Shape;26;p4"/>
          <p:cNvSpPr/>
          <p:nvPr/>
        </p:nvSpPr>
        <p:spPr>
          <a:xfrm rot="10800000" flipH="1">
            <a:off x="466425" y="47444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4"/>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8" name="Google Shape;28;p4"/>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1" name="Google Shape;31;p5"/>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5"/>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6" name="Google Shape;36;p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9" name="Google Shape;39;p7"/>
          <p:cNvSpPr txBox="1">
            <a:spLocks noGrp="1"/>
          </p:cNvSpPr>
          <p:nvPr>
            <p:ph type="body" idx="1"/>
          </p:nvPr>
        </p:nvSpPr>
        <p:spPr>
          <a:xfrm>
            <a:off x="311700" y="1865867"/>
            <a:ext cx="2808000" cy="3713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0" name="Google Shape;40;p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8"/>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 name="Google Shape;47;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9" name="Google Shape;49;p9"/>
          <p:cNvSpPr txBox="1">
            <a:spLocks noGrp="1"/>
          </p:cNvSpPr>
          <p:nvPr>
            <p:ph type="subTitle" idx="1"/>
          </p:nvPr>
        </p:nvSpPr>
        <p:spPr>
          <a:xfrm>
            <a:off x="265500" y="3692001"/>
            <a:ext cx="4045200" cy="209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50" name="Google Shape;50;p9"/>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9500" y="5625233"/>
            <a:ext cx="5998800" cy="7983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4" name="Google Shape;54;p1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1"/>
          <p:cNvSpPr txBox="1">
            <a:spLocks noGrp="1"/>
          </p:cNvSpPr>
          <p:nvPr>
            <p:ph type="title" hasCustomPrompt="1"/>
          </p:nvPr>
        </p:nvSpPr>
        <p:spPr>
          <a:xfrm>
            <a:off x="311700" y="1276167"/>
            <a:ext cx="8520600" cy="2838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8" name="Google Shape;58;p11"/>
          <p:cNvSpPr txBox="1">
            <a:spLocks noGrp="1"/>
          </p:cNvSpPr>
          <p:nvPr>
            <p:ph type="body" idx="1"/>
          </p:nvPr>
        </p:nvSpPr>
        <p:spPr>
          <a:xfrm>
            <a:off x="311700" y="4216000"/>
            <a:ext cx="8520600" cy="14289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5" name="Google Shape;65;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ctrTitle"/>
          </p:nvPr>
        </p:nvSpPr>
        <p:spPr>
          <a:xfrm>
            <a:off x="2869799" y="1263066"/>
            <a:ext cx="5740801" cy="204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600" dirty="0"/>
              <a:t>Data Protection, Privacy and Security</a:t>
            </a:r>
            <a:endParaRPr sz="4600" dirty="0"/>
          </a:p>
        </p:txBody>
      </p:sp>
      <p:sp>
        <p:nvSpPr>
          <p:cNvPr id="73" name="Google Shape;73;p14"/>
          <p:cNvSpPr txBox="1">
            <a:spLocks noGrp="1"/>
          </p:cNvSpPr>
          <p:nvPr>
            <p:ph type="subTitle" idx="1"/>
          </p:nvPr>
        </p:nvSpPr>
        <p:spPr>
          <a:xfrm rot="562395">
            <a:off x="4495800" y="4876800"/>
            <a:ext cx="4114800" cy="10668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800"/>
              <a:buNone/>
            </a:pPr>
            <a:r>
              <a:rPr lang="en-US" sz="2800" b="1" i="0" u="none" dirty="0">
                <a:solidFill>
                  <a:schemeClr val="dk1"/>
                </a:solidFill>
                <a:latin typeface="Calibri"/>
                <a:ea typeface="Calibri"/>
                <a:cs typeface="Calibri"/>
                <a:sym typeface="Calibri"/>
              </a:rPr>
              <a:t>       </a:t>
            </a:r>
            <a:endParaRPr dirty="0"/>
          </a:p>
          <a:p>
            <a:pPr marL="0" lvl="0" indent="0" algn="ctr" rtl="0">
              <a:lnSpc>
                <a:spcPct val="100000"/>
              </a:lnSpc>
              <a:spcBef>
                <a:spcPts val="560"/>
              </a:spcBef>
              <a:spcAft>
                <a:spcPts val="0"/>
              </a:spcAft>
              <a:buClr>
                <a:schemeClr val="dk1"/>
              </a:buClr>
              <a:buSzPts val="2800"/>
              <a:buNone/>
            </a:pPr>
            <a:r>
              <a:rPr lang="en-US" sz="2800" b="1" i="0" u="none" dirty="0">
                <a:solidFill>
                  <a:schemeClr val="dk1"/>
                </a:solidFill>
                <a:latin typeface="Calibri"/>
                <a:ea typeface="Calibri"/>
                <a:cs typeface="Calibri"/>
                <a:sym typeface="Calibri"/>
              </a:rPr>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400"/>
              <a:buNone/>
            </a:pPr>
            <a:r>
              <a:rPr lang="en-US" sz="4600"/>
              <a:t>Outline</a:t>
            </a:r>
            <a:endParaRPr/>
          </a:p>
        </p:txBody>
      </p:sp>
      <p:sp>
        <p:nvSpPr>
          <p:cNvPr id="81" name="Google Shape;81;p15"/>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Data Protection </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Privacy</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Security</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Blockchain challenges</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Solutions for making it work?</a:t>
            </a:r>
            <a:endParaRPr sz="3000">
              <a:latin typeface="Economica"/>
              <a:ea typeface="Economica"/>
              <a:cs typeface="Economica"/>
              <a:sym typeface="Economica"/>
            </a:endParaRPr>
          </a:p>
          <a:p>
            <a:pPr marL="0" lvl="0" indent="0" algn="l" rtl="0">
              <a:lnSpc>
                <a:spcPct val="115000"/>
              </a:lnSpc>
              <a:spcBef>
                <a:spcPts val="0"/>
              </a:spcBef>
              <a:spcAft>
                <a:spcPts val="0"/>
              </a:spcAft>
              <a:buSzPts val="1800"/>
              <a:buNone/>
            </a:pPr>
            <a:endParaRPr sz="3000">
              <a:latin typeface="Economica"/>
              <a:ea typeface="Economica"/>
              <a:cs typeface="Economica"/>
              <a:sym typeface="Economic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US"/>
              <a:t>Data Protection</a:t>
            </a:r>
            <a:endParaRPr/>
          </a:p>
        </p:txBody>
      </p:sp>
      <p:sp>
        <p:nvSpPr>
          <p:cNvPr id="88" name="Google Shape;88;p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2600">
                <a:solidFill>
                  <a:srgbClr val="444444"/>
                </a:solidFill>
                <a:latin typeface="Economica"/>
                <a:ea typeface="Economica"/>
                <a:cs typeface="Economica"/>
                <a:sym typeface="Economica"/>
              </a:rPr>
              <a:t>Data protection is the process of safeguarding important information from corruption, compromise or loss</a:t>
            </a:r>
            <a:endParaRPr sz="2600">
              <a:solidFill>
                <a:srgbClr val="444444"/>
              </a:solidFill>
              <a:latin typeface="Economica"/>
              <a:ea typeface="Economica"/>
              <a:cs typeface="Economica"/>
              <a:sym typeface="Economica"/>
            </a:endParaRPr>
          </a:p>
          <a:p>
            <a:pPr marL="0" marR="0" lvl="0" indent="0" algn="l"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0" marR="0" lvl="0" indent="0" algn="l" rtl="0">
              <a:lnSpc>
                <a:spcPct val="115000"/>
              </a:lnSpc>
              <a:spcBef>
                <a:spcPts val="0"/>
              </a:spcBef>
              <a:spcAft>
                <a:spcPts val="0"/>
              </a:spcAft>
              <a:buNone/>
            </a:pPr>
            <a:r>
              <a:rPr lang="en-US" sz="2600" b="1">
                <a:solidFill>
                  <a:srgbClr val="444444"/>
                </a:solidFill>
                <a:latin typeface="Economica"/>
                <a:ea typeface="Economica"/>
                <a:cs typeface="Economica"/>
                <a:sym typeface="Economica"/>
              </a:rPr>
              <a:t>Data Protection Act 2002:</a:t>
            </a:r>
            <a:endParaRPr sz="2600" b="1">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Balance the rights of an individual with an organisation’s legitimate need to process personal data</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Promote openness and transparency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Establish and maintain trust and confidence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Promote good practice in the processing of information</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Prevent damage and distress caused by unlawful or unauthorised processing</a:t>
            </a:r>
            <a:endParaRPr sz="2400">
              <a:solidFill>
                <a:srgbClr val="1F497D"/>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Data</a:t>
            </a:r>
            <a:endParaRPr/>
          </a:p>
        </p:txBody>
      </p:sp>
      <p:sp>
        <p:nvSpPr>
          <p:cNvPr id="95" name="Google Shape;95;p17"/>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means information which:</a:t>
            </a:r>
            <a:endParaRPr sz="2600">
              <a:solidFill>
                <a:srgbClr val="444444"/>
              </a:solidFill>
              <a:latin typeface="Economica"/>
              <a:ea typeface="Economica"/>
              <a:cs typeface="Economica"/>
              <a:sym typeface="Economica"/>
            </a:endParaRPr>
          </a:p>
          <a:p>
            <a:pPr marL="914400" marR="0" lvl="1" indent="-381000" algn="just" rtl="0">
              <a:lnSpc>
                <a:spcPct val="115000"/>
              </a:lnSpc>
              <a:spcBef>
                <a:spcPts val="0"/>
              </a:spcBef>
              <a:spcAft>
                <a:spcPts val="0"/>
              </a:spcAft>
              <a:buClr>
                <a:srgbClr val="444444"/>
              </a:buClr>
              <a:buSzPts val="2400"/>
              <a:buFont typeface="Economica"/>
              <a:buChar char="○"/>
            </a:pPr>
            <a:r>
              <a:rPr lang="en-US" sz="2400">
                <a:solidFill>
                  <a:srgbClr val="444444"/>
                </a:solidFill>
                <a:latin typeface="Economica"/>
                <a:ea typeface="Economica"/>
                <a:cs typeface="Economica"/>
                <a:sym typeface="Economica"/>
              </a:rPr>
              <a:t>is being processed or is intended to be processed by means of equipment operating automatically in response to instructions given for that purpose,</a:t>
            </a:r>
            <a:endParaRPr sz="2400">
              <a:solidFill>
                <a:srgbClr val="444444"/>
              </a:solidFill>
              <a:latin typeface="Economica"/>
              <a:ea typeface="Economica"/>
              <a:cs typeface="Economica"/>
              <a:sym typeface="Economica"/>
            </a:endParaRPr>
          </a:p>
          <a:p>
            <a:pPr marL="1371600" marR="0" lvl="2" indent="-381000" algn="just" rtl="0">
              <a:lnSpc>
                <a:spcPct val="115000"/>
              </a:lnSpc>
              <a:spcBef>
                <a:spcPts val="0"/>
              </a:spcBef>
              <a:spcAft>
                <a:spcPts val="0"/>
              </a:spcAft>
              <a:buClr>
                <a:srgbClr val="444444"/>
              </a:buClr>
              <a:buSzPts val="2400"/>
              <a:buFont typeface="Economica"/>
              <a:buChar char="■"/>
            </a:pPr>
            <a:r>
              <a:rPr lang="en-US" sz="2400">
                <a:solidFill>
                  <a:srgbClr val="444444"/>
                </a:solidFill>
                <a:latin typeface="Economica"/>
                <a:ea typeface="Economica"/>
                <a:cs typeface="Economica"/>
                <a:sym typeface="Economica"/>
              </a:rPr>
              <a:t>e.g. computer files &amp; databases, email, video surveillance, audio recordings</a:t>
            </a:r>
            <a:endParaRPr sz="2400">
              <a:solidFill>
                <a:srgbClr val="444444"/>
              </a:solidFill>
              <a:latin typeface="Economica"/>
              <a:ea typeface="Economica"/>
              <a:cs typeface="Economica"/>
              <a:sym typeface="Economica"/>
            </a:endParaRPr>
          </a:p>
          <a:p>
            <a:pPr marL="914400" marR="0" lvl="1" indent="-381000" algn="just" rtl="0">
              <a:lnSpc>
                <a:spcPct val="115000"/>
              </a:lnSpc>
              <a:spcBef>
                <a:spcPts val="0"/>
              </a:spcBef>
              <a:spcAft>
                <a:spcPts val="0"/>
              </a:spcAft>
              <a:buClr>
                <a:srgbClr val="444444"/>
              </a:buClr>
              <a:buSzPts val="2400"/>
              <a:buFont typeface="Economica"/>
              <a:buChar char="○"/>
            </a:pPr>
            <a:r>
              <a:rPr lang="en-US" sz="2400">
                <a:solidFill>
                  <a:srgbClr val="444444"/>
                </a:solidFill>
                <a:latin typeface="Economica"/>
                <a:ea typeface="Economica"/>
                <a:cs typeface="Economica"/>
                <a:sym typeface="Economica"/>
              </a:rPr>
              <a:t>is recorded as part of a “relevant filing system” or with the intention that it should form part of a relevant filing system,</a:t>
            </a:r>
            <a:endParaRPr sz="2400">
              <a:solidFill>
                <a:srgbClr val="444444"/>
              </a:solidFill>
              <a:latin typeface="Economica"/>
              <a:ea typeface="Economica"/>
              <a:cs typeface="Economica"/>
              <a:sym typeface="Economica"/>
            </a:endParaRPr>
          </a:p>
          <a:p>
            <a:pPr marL="1371600" marR="0" lvl="2" indent="-381000" algn="just" rtl="0">
              <a:lnSpc>
                <a:spcPct val="115000"/>
              </a:lnSpc>
              <a:spcBef>
                <a:spcPts val="0"/>
              </a:spcBef>
              <a:spcAft>
                <a:spcPts val="0"/>
              </a:spcAft>
              <a:buClr>
                <a:srgbClr val="444444"/>
              </a:buClr>
              <a:buSzPts val="2400"/>
              <a:buFont typeface="Economica"/>
              <a:buChar char="■"/>
            </a:pPr>
            <a:r>
              <a:rPr lang="en-US" sz="2400">
                <a:solidFill>
                  <a:srgbClr val="444444"/>
                </a:solidFill>
                <a:latin typeface="Economica"/>
                <a:ea typeface="Economica"/>
                <a:cs typeface="Economica"/>
                <a:sym typeface="Economica"/>
              </a:rPr>
              <a:t>e.g. structured paper records, such as employee files</a:t>
            </a:r>
            <a:endParaRPr sz="2400">
              <a:solidFill>
                <a:srgbClr val="444444"/>
              </a:solidFill>
              <a:latin typeface="Economica"/>
              <a:ea typeface="Economica"/>
              <a:cs typeface="Economica"/>
              <a:sym typeface="Economica"/>
            </a:endParaRPr>
          </a:p>
          <a:p>
            <a:pPr marL="914400" marR="0" lvl="1" indent="-381000" algn="just" rtl="0">
              <a:lnSpc>
                <a:spcPct val="115000"/>
              </a:lnSpc>
              <a:spcBef>
                <a:spcPts val="0"/>
              </a:spcBef>
              <a:spcAft>
                <a:spcPts val="0"/>
              </a:spcAft>
              <a:buClr>
                <a:srgbClr val="444444"/>
              </a:buClr>
              <a:buSzPts val="2400"/>
              <a:buFont typeface="Economica"/>
              <a:buChar char="○"/>
            </a:pPr>
            <a:r>
              <a:rPr lang="en-US" sz="2400">
                <a:solidFill>
                  <a:srgbClr val="444444"/>
                </a:solidFill>
                <a:latin typeface="Economica"/>
                <a:ea typeface="Economica"/>
                <a:cs typeface="Economica"/>
                <a:sym typeface="Economica"/>
              </a:rPr>
              <a:t>is an “accessible record”;</a:t>
            </a:r>
            <a:endParaRPr sz="2400">
              <a:solidFill>
                <a:srgbClr val="444444"/>
              </a:solidFill>
              <a:latin typeface="Economica"/>
              <a:ea typeface="Economica"/>
              <a:cs typeface="Economica"/>
              <a:sym typeface="Economica"/>
            </a:endParaRPr>
          </a:p>
          <a:p>
            <a:pPr marL="1371600" marR="0" lvl="2" indent="-381000" algn="just" rtl="0">
              <a:lnSpc>
                <a:spcPct val="115000"/>
              </a:lnSpc>
              <a:spcBef>
                <a:spcPts val="0"/>
              </a:spcBef>
              <a:spcAft>
                <a:spcPts val="0"/>
              </a:spcAft>
              <a:buClr>
                <a:srgbClr val="444444"/>
              </a:buClr>
              <a:buSzPts val="2400"/>
              <a:buFont typeface="Economica"/>
              <a:buChar char="■"/>
            </a:pPr>
            <a:r>
              <a:rPr lang="en-US" sz="2400">
                <a:solidFill>
                  <a:srgbClr val="444444"/>
                </a:solidFill>
                <a:latin typeface="Economica"/>
                <a:ea typeface="Economica"/>
                <a:cs typeface="Economica"/>
                <a:sym typeface="Economica"/>
              </a:rPr>
              <a:t>i.e. health, education, social work and local authority housing records</a:t>
            </a:r>
            <a:endParaRPr sz="2400">
              <a:latin typeface="Arial"/>
              <a:ea typeface="Arial"/>
              <a:cs typeface="Arial"/>
              <a:sym typeface="Arial"/>
            </a:endParaRPr>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Processing</a:t>
            </a:r>
            <a:endParaRPr/>
          </a:p>
        </p:txBody>
      </p:sp>
      <p:sp>
        <p:nvSpPr>
          <p:cNvPr id="102" name="Google Shape;102;p18"/>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‘Processing’ in relation to information or data, means</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obtaining,</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recording or holding the information or data, or</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carrying out any operation or set of operations on the information or data, including-</a:t>
            </a:r>
            <a:endParaRPr sz="2600">
              <a:solidFill>
                <a:srgbClr val="444444"/>
              </a:solidFill>
              <a:latin typeface="Economica"/>
              <a:ea typeface="Economica"/>
              <a:cs typeface="Economica"/>
              <a:sym typeface="Economica"/>
            </a:endParaRPr>
          </a:p>
          <a:p>
            <a:pPr marL="1371600" marR="0" lvl="2"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 organisation, adaptation or alteration of the information or data,</a:t>
            </a:r>
            <a:endParaRPr sz="2600">
              <a:solidFill>
                <a:srgbClr val="444444"/>
              </a:solidFill>
              <a:latin typeface="Economica"/>
              <a:ea typeface="Economica"/>
              <a:cs typeface="Economica"/>
              <a:sym typeface="Economica"/>
            </a:endParaRPr>
          </a:p>
          <a:p>
            <a:pPr marL="1371600" marR="0" lvl="2"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(b) retrieval, consultation or use of the information or data,</a:t>
            </a:r>
            <a:endParaRPr sz="2600">
              <a:solidFill>
                <a:srgbClr val="444444"/>
              </a:solidFill>
              <a:latin typeface="Economica"/>
              <a:ea typeface="Economica"/>
              <a:cs typeface="Economica"/>
              <a:sym typeface="Economica"/>
            </a:endParaRPr>
          </a:p>
          <a:p>
            <a:pPr marL="1371600" marR="0" lvl="2"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(c) disclosure of the information or data by transmission, dissemination or otherwise making available, or</a:t>
            </a:r>
            <a:endParaRPr sz="2600">
              <a:solidFill>
                <a:srgbClr val="444444"/>
              </a:solidFill>
              <a:latin typeface="Economica"/>
              <a:ea typeface="Economica"/>
              <a:cs typeface="Economica"/>
              <a:sym typeface="Economica"/>
            </a:endParaRPr>
          </a:p>
          <a:p>
            <a:pPr marL="1371600" marR="0" lvl="2"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 alignment, combination, blocking, erasure or destruction of the information or data</a:t>
            </a:r>
            <a:endParaRPr sz="2600">
              <a:solidFill>
                <a:srgbClr val="444444"/>
              </a:solidFill>
              <a:latin typeface="Economica"/>
              <a:ea typeface="Economica"/>
              <a:cs typeface="Economica"/>
              <a:sym typeface="Economica"/>
            </a:endParaRPr>
          </a:p>
          <a:p>
            <a:pPr marL="0" lvl="0" indent="0" algn="l" rtl="0">
              <a:spcBef>
                <a:spcPts val="0"/>
              </a:spcBef>
              <a:spcAft>
                <a:spcPts val="0"/>
              </a:spcAft>
              <a:buNone/>
            </a:pPr>
            <a:endParaRPr sz="2600">
              <a:solidFill>
                <a:srgbClr val="444444"/>
              </a:solidFill>
              <a:latin typeface="Economica"/>
              <a:ea typeface="Economica"/>
              <a:cs typeface="Economica"/>
              <a:sym typeface="Economic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Sensitive Personal Data</a:t>
            </a:r>
            <a:endParaRPr/>
          </a:p>
        </p:txBody>
      </p:sp>
      <p:sp>
        <p:nvSpPr>
          <p:cNvPr id="109" name="Google Shape;109;p19"/>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‘Sensitive personal data’ means personal data relating to:</a:t>
            </a:r>
            <a:endParaRPr sz="2600" dirty="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Racial or Ethnic Origin </a:t>
            </a:r>
            <a:endParaRPr sz="2600" dirty="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Political opinions </a:t>
            </a:r>
            <a:endParaRPr sz="2600" dirty="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Religious beliefs</a:t>
            </a:r>
            <a:endParaRPr sz="2600" dirty="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Trade Union membership </a:t>
            </a:r>
            <a:endParaRPr sz="2600" dirty="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Physical or mental health </a:t>
            </a:r>
            <a:endParaRPr sz="2600" dirty="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Offences </a:t>
            </a:r>
            <a:r>
              <a:rPr lang="en-US" sz="2600" dirty="0">
                <a:solidFill>
                  <a:srgbClr val="444444"/>
                </a:solidFill>
                <a:latin typeface="Economica"/>
                <a:ea typeface="Economica"/>
                <a:cs typeface="Economica"/>
                <a:sym typeface="Economica"/>
              </a:rPr>
              <a:t>or alleged offences</a:t>
            </a:r>
            <a:endParaRPr dirty="0">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US"/>
              <a:t>The Parties</a:t>
            </a:r>
            <a:endParaRPr/>
          </a:p>
        </p:txBody>
      </p:sp>
      <p:sp>
        <p:nvSpPr>
          <p:cNvPr id="116" name="Google Shape;116;p2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subject</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individual that the information relates to</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controller</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legal ‘person’ who determines how data will be processed</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processor</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 third party who processes personal data on behalf of the data controller</a:t>
            </a:r>
            <a:endParaRPr sz="2600">
              <a:solidFill>
                <a:srgbClr val="444444"/>
              </a:solidFill>
              <a:latin typeface="Economica"/>
              <a:ea typeface="Economica"/>
              <a:cs typeface="Economica"/>
              <a:sym typeface="Economic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Data Protection Principles</a:t>
            </a:r>
            <a:endParaRPr/>
          </a:p>
        </p:txBody>
      </p:sp>
      <p:sp>
        <p:nvSpPr>
          <p:cNvPr id="123" name="Google Shape;123;p21"/>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Fairly and lawfully processed</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Used for specific purposes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Adequate, relevant and not excessive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Accurate and where necessary kept up to date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Kept for no longer than necessary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Used in accordance with the rights of individuals under the Act</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a:solidFill>
                  <a:srgbClr val="444444"/>
                </a:solidFill>
                <a:latin typeface="Economica"/>
                <a:ea typeface="Economica"/>
                <a:cs typeface="Economica"/>
                <a:sym typeface="Economica"/>
              </a:rPr>
              <a:t>Kept secure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AutoNum type="arabicPeriod"/>
            </a:pPr>
            <a:r>
              <a:rPr lang="en-US" sz="2600" b="1">
                <a:solidFill>
                  <a:srgbClr val="444444"/>
                </a:solidFill>
                <a:latin typeface="Economica"/>
                <a:ea typeface="Economica"/>
                <a:cs typeface="Economica"/>
                <a:sym typeface="Economica"/>
              </a:rPr>
              <a:t>NOT</a:t>
            </a:r>
            <a:r>
              <a:rPr lang="en-US" sz="2600">
                <a:solidFill>
                  <a:srgbClr val="444444"/>
                </a:solidFill>
                <a:latin typeface="Economica"/>
                <a:ea typeface="Economica"/>
                <a:cs typeface="Economica"/>
                <a:sym typeface="Economica"/>
              </a:rPr>
              <a:t> transferred to another country without adequate protection</a:t>
            </a:r>
            <a:endParaRPr sz="2000">
              <a:solidFill>
                <a:srgbClr val="1F497D"/>
              </a:solidFill>
              <a:latin typeface="Arial"/>
              <a:ea typeface="Arial"/>
              <a:cs typeface="Arial"/>
              <a:sym typeface="Arial"/>
            </a:endParaRPr>
          </a:p>
          <a:p>
            <a:pPr marL="0" lvl="0" indent="0" algn="l" rtl="0">
              <a:spcBef>
                <a:spcPts val="0"/>
              </a:spcBef>
              <a:spcAft>
                <a:spcPts val="0"/>
              </a:spcAft>
              <a:buNone/>
            </a:pPr>
            <a:endParaRPr/>
          </a:p>
        </p:txBody>
      </p:sp>
      <p:sp>
        <p:nvSpPr>
          <p:cNvPr id="124" name="Google Shape;124;p21"/>
          <p:cNvSpPr/>
          <p:nvPr/>
        </p:nvSpPr>
        <p:spPr>
          <a:xfrm>
            <a:off x="5676050" y="1800400"/>
            <a:ext cx="274800" cy="700800"/>
          </a:xfrm>
          <a:prstGeom prst="rightBrace">
            <a:avLst>
              <a:gd name="adj1" fmla="val 50000"/>
              <a:gd name="adj2" fmla="val 48478"/>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5" name="Google Shape;125;p21"/>
          <p:cNvSpPr/>
          <p:nvPr/>
        </p:nvSpPr>
        <p:spPr>
          <a:xfrm>
            <a:off x="5641075" y="2771875"/>
            <a:ext cx="274800" cy="1108500"/>
          </a:xfrm>
          <a:prstGeom prst="rightBrace">
            <a:avLst>
              <a:gd name="adj1" fmla="val 50000"/>
              <a:gd name="adj2" fmla="val 48478"/>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6" name="Google Shape;126;p21"/>
          <p:cNvSpPr txBox="1"/>
          <p:nvPr/>
        </p:nvSpPr>
        <p:spPr>
          <a:xfrm>
            <a:off x="6129575" y="1892500"/>
            <a:ext cx="25701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latin typeface="Economica"/>
                <a:ea typeface="Economica"/>
                <a:cs typeface="Economica"/>
                <a:sym typeface="Economica"/>
              </a:rPr>
              <a:t>Transparency Principles</a:t>
            </a:r>
            <a:endParaRPr sz="2000" b="1">
              <a:latin typeface="Economica"/>
              <a:ea typeface="Economica"/>
              <a:cs typeface="Economica"/>
              <a:sym typeface="Economica"/>
            </a:endParaRPr>
          </a:p>
        </p:txBody>
      </p:sp>
      <p:sp>
        <p:nvSpPr>
          <p:cNvPr id="127" name="Google Shape;127;p21"/>
          <p:cNvSpPr txBox="1"/>
          <p:nvPr/>
        </p:nvSpPr>
        <p:spPr>
          <a:xfrm>
            <a:off x="6129575" y="3035500"/>
            <a:ext cx="25701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latin typeface="Economica"/>
                <a:ea typeface="Economica"/>
                <a:cs typeface="Economica"/>
                <a:sym typeface="Economica"/>
              </a:rPr>
              <a:t>Data Quality Principles</a:t>
            </a:r>
            <a:endParaRPr sz="2000" b="1">
              <a:latin typeface="Economica"/>
              <a:ea typeface="Economica"/>
              <a:cs typeface="Economica"/>
              <a:sym typeface="Economic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2"/>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First Principle</a:t>
            </a:r>
            <a:endParaRPr/>
          </a:p>
        </p:txBody>
      </p:sp>
      <p:sp>
        <p:nvSpPr>
          <p:cNvPr id="134" name="Google Shape;134;p22"/>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000">
                <a:solidFill>
                  <a:srgbClr val="444444"/>
                </a:solidFill>
                <a:latin typeface="Economica"/>
                <a:ea typeface="Economica"/>
                <a:cs typeface="Economica"/>
                <a:sym typeface="Economica"/>
              </a:rPr>
              <a:t>“Fairly and lawfully processed”</a:t>
            </a:r>
            <a:endParaRPr sz="30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You must state:</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Controller’s identity</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purpose for which the data are intended to be processed</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specific circumstances, any further information which is necessary to make the processing generally fair.</a:t>
            </a:r>
            <a:endParaRPr sz="2600">
              <a:solidFill>
                <a:srgbClr val="444444"/>
              </a:solidFill>
              <a:latin typeface="Economica"/>
              <a:ea typeface="Economica"/>
              <a:cs typeface="Economica"/>
              <a:sym typeface="Economica"/>
            </a:endParaRPr>
          </a:p>
          <a:p>
            <a:pPr marL="1371600" marR="0" lvl="2"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e.g. if you are going to use personal data for direct marketing you must inform the data subject</a:t>
            </a:r>
            <a:endParaRPr sz="1600">
              <a:solidFill>
                <a:srgbClr val="1F497D"/>
              </a:solidFill>
              <a:latin typeface="Arial"/>
              <a:ea typeface="Arial"/>
              <a:cs typeface="Arial"/>
              <a:sym typeface="Arial"/>
            </a:endParaRPr>
          </a:p>
          <a:p>
            <a:pPr marL="0" lvl="0" indent="0" algn="l" rtl="0">
              <a:spcBef>
                <a:spcPts val="0"/>
              </a:spcBef>
              <a:spcAft>
                <a:spcPts val="0"/>
              </a:spcAft>
              <a:buNone/>
            </a:pPr>
            <a:endParaRPr sz="3000">
              <a:solidFill>
                <a:srgbClr val="444444"/>
              </a:solidFill>
              <a:latin typeface="Economica"/>
              <a:ea typeface="Economica"/>
              <a:cs typeface="Economica"/>
              <a:sym typeface="Economic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First Principle vs. Blockchain</a:t>
            </a:r>
            <a:endParaRPr/>
          </a:p>
        </p:txBody>
      </p:sp>
      <p:sp>
        <p:nvSpPr>
          <p:cNvPr id="141" name="Google Shape;141;p23"/>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public blockchains, Data Controller’s identity is kept secret, unless Proof of Identity consensus algorithm is being used.</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private blockchains, the identity of Data Controller may or may not be revealed depending upon business model</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Purpose of data processing is usually clear for both public and private blockchains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can be used by any of the blockchain nodes for advertisement, marketing or other such purposes</a:t>
            </a:r>
            <a:endParaRPr sz="2600">
              <a:solidFill>
                <a:srgbClr val="444444"/>
              </a:solidFill>
              <a:latin typeface="Economica"/>
              <a:ea typeface="Economica"/>
              <a:cs typeface="Economica"/>
              <a:sym typeface="Economic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Second Principle</a:t>
            </a:r>
            <a:endParaRPr/>
          </a:p>
        </p:txBody>
      </p:sp>
      <p:sp>
        <p:nvSpPr>
          <p:cNvPr id="148" name="Google Shape;148;p2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3000">
                <a:solidFill>
                  <a:srgbClr val="444444"/>
                </a:solidFill>
                <a:latin typeface="Economica"/>
                <a:ea typeface="Economica"/>
                <a:cs typeface="Economica"/>
                <a:sym typeface="Economica"/>
              </a:rPr>
              <a:t>“Purpose for which data are obtained and processed”</a:t>
            </a:r>
            <a:endParaRPr sz="3000">
              <a:solidFill>
                <a:srgbClr val="444444"/>
              </a:solidFill>
              <a:latin typeface="Economica"/>
              <a:ea typeface="Economica"/>
              <a:cs typeface="Economica"/>
              <a:sym typeface="Economica"/>
            </a:endParaRPr>
          </a:p>
          <a:p>
            <a:pPr marL="0" marR="0" lvl="0" indent="0" algn="ctr" rtl="0">
              <a:lnSpc>
                <a:spcPct val="115000"/>
              </a:lnSpc>
              <a:spcBef>
                <a:spcPts val="0"/>
              </a:spcBef>
              <a:spcAft>
                <a:spcPts val="0"/>
              </a:spcAft>
              <a:buNone/>
            </a:pPr>
            <a:endParaRPr sz="3000">
              <a:solidFill>
                <a:srgbClr val="444444"/>
              </a:solidFill>
              <a:latin typeface="Economica"/>
              <a:ea typeface="Economica"/>
              <a:cs typeface="Economica"/>
              <a:sym typeface="Economica"/>
            </a:endParaRPr>
          </a:p>
          <a:p>
            <a:pPr marL="457200" lvl="0" indent="-393700" algn="just" rtl="0">
              <a:spcBef>
                <a:spcPts val="120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Personal data shall be obtained only for one or more specified and lawful purposes</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shall not be further processed in any manner incompatible with that purpose or those purposes</a:t>
            </a:r>
            <a:endParaRPr sz="2400">
              <a:solidFill>
                <a:srgbClr val="1F497D"/>
              </a:solidFill>
              <a:latin typeface="Arial"/>
              <a:ea typeface="Arial"/>
              <a:cs typeface="Arial"/>
              <a:sym typeface="Arial"/>
            </a:endParaRPr>
          </a:p>
          <a:p>
            <a:pPr marL="0" marR="0" lvl="0" indent="0" algn="l" rtl="0">
              <a:lnSpc>
                <a:spcPct val="115000"/>
              </a:lnSpc>
              <a:spcBef>
                <a:spcPts val="1200"/>
              </a:spcBef>
              <a:spcAft>
                <a:spcPts val="0"/>
              </a:spcAft>
              <a:buNone/>
            </a:pPr>
            <a:endParaRPr sz="3000">
              <a:solidFill>
                <a:srgbClr val="444444"/>
              </a:solidFill>
              <a:latin typeface="Economica"/>
              <a:ea typeface="Economica"/>
              <a:cs typeface="Economica"/>
              <a:sym typeface="Economica"/>
            </a:endParaRPr>
          </a:p>
          <a:p>
            <a:pPr marL="0" marR="0" lvl="0" indent="0" algn="ctr" rtl="0">
              <a:lnSpc>
                <a:spcPct val="115000"/>
              </a:lnSpc>
              <a:spcBef>
                <a:spcPts val="0"/>
              </a:spcBef>
              <a:spcAft>
                <a:spcPts val="0"/>
              </a:spcAft>
              <a:buNone/>
            </a:pPr>
            <a:endParaRPr sz="3000">
              <a:solidFill>
                <a:srgbClr val="444444"/>
              </a:solidFill>
              <a:latin typeface="Economica"/>
              <a:ea typeface="Economica"/>
              <a:cs typeface="Economica"/>
              <a:sym typeface="Economic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5"/>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Second Principle vs. Blockchain</a:t>
            </a:r>
            <a:endParaRPr/>
          </a:p>
        </p:txBody>
      </p:sp>
      <p:sp>
        <p:nvSpPr>
          <p:cNvPr id="155" name="Google Shape;155;p25"/>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42900" algn="just" rtl="0">
              <a:spcBef>
                <a:spcPts val="0"/>
              </a:spcBef>
              <a:spcAft>
                <a:spcPts val="0"/>
              </a:spcAft>
              <a:buSzPts val="1800"/>
              <a:buChar char="●"/>
            </a:pPr>
            <a:r>
              <a:rPr lang="en-US" sz="2600">
                <a:solidFill>
                  <a:srgbClr val="444444"/>
                </a:solidFill>
                <a:latin typeface="Economica"/>
                <a:ea typeface="Economica"/>
                <a:cs typeface="Economica"/>
                <a:sym typeface="Economica"/>
              </a:rPr>
              <a:t>Purpose of keeping data in blockchain is for permanent storage and also to maintain transparency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Transactional data is for specific purpose, i.e. recording transaction between 2 parties</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However, all data is distributed and locally available to every node so its usage cannot be restricted </a:t>
            </a:r>
            <a:endParaRPr sz="2600">
              <a:solidFill>
                <a:srgbClr val="444444"/>
              </a:solidFill>
              <a:latin typeface="Economica"/>
              <a:ea typeface="Economica"/>
              <a:cs typeface="Economica"/>
              <a:sym typeface="Economic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Third Principle</a:t>
            </a:r>
            <a:endParaRPr/>
          </a:p>
        </p:txBody>
      </p:sp>
      <p:sp>
        <p:nvSpPr>
          <p:cNvPr id="162" name="Google Shape;162;p26"/>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3000">
                <a:solidFill>
                  <a:srgbClr val="444444"/>
                </a:solidFill>
                <a:latin typeface="Economica"/>
                <a:ea typeface="Economica"/>
                <a:cs typeface="Economica"/>
                <a:sym typeface="Economica"/>
              </a:rPr>
              <a:t>“Adequate, relevant and not excessive”</a:t>
            </a:r>
            <a:endParaRPr sz="3000">
              <a:solidFill>
                <a:srgbClr val="444444"/>
              </a:solidFill>
              <a:latin typeface="Economica"/>
              <a:ea typeface="Economica"/>
              <a:cs typeface="Economica"/>
              <a:sym typeface="Economica"/>
            </a:endParaRPr>
          </a:p>
          <a:p>
            <a:pPr marL="0" marR="0" lvl="0" indent="0" algn="ctr" rtl="0">
              <a:lnSpc>
                <a:spcPct val="115000"/>
              </a:lnSpc>
              <a:spcBef>
                <a:spcPts val="0"/>
              </a:spcBef>
              <a:spcAft>
                <a:spcPts val="0"/>
              </a:spcAft>
              <a:buNone/>
            </a:pPr>
            <a:endParaRPr sz="3000">
              <a:solidFill>
                <a:srgbClr val="444444"/>
              </a:solidFill>
              <a:latin typeface="Economica"/>
              <a:ea typeface="Economica"/>
              <a:cs typeface="Economica"/>
              <a:sym typeface="Economica"/>
            </a:endParaRPr>
          </a:p>
          <a:p>
            <a:pPr marL="457200" lvl="0" indent="-393700" algn="l" rtl="0">
              <a:spcBef>
                <a:spcPts val="120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Personal data shall be adequate, relevant and not excessive in relation to the purpose or purposes for which they are processed</a:t>
            </a:r>
            <a:endParaRPr sz="2800">
              <a:solidFill>
                <a:srgbClr val="1F497D"/>
              </a:solidFill>
              <a:latin typeface="Arial"/>
              <a:ea typeface="Arial"/>
              <a:cs typeface="Arial"/>
              <a:sym typeface="Arial"/>
            </a:endParaRPr>
          </a:p>
          <a:p>
            <a:pPr marL="0" lvl="0" indent="0" algn="l" rtl="0">
              <a:spcBef>
                <a:spcPts val="1200"/>
              </a:spcBef>
              <a:spcAft>
                <a:spcPts val="0"/>
              </a:spcAft>
              <a:buNone/>
            </a:pPr>
            <a:endParaRPr sz="2600">
              <a:solidFill>
                <a:srgbClr val="444444"/>
              </a:solidFill>
              <a:latin typeface="Economica"/>
              <a:ea typeface="Economica"/>
              <a:cs typeface="Economica"/>
              <a:sym typeface="Economica"/>
            </a:endParaRPr>
          </a:p>
          <a:p>
            <a:pPr marL="0" marR="0" lvl="0" indent="0" algn="l" rtl="0">
              <a:lnSpc>
                <a:spcPct val="115000"/>
              </a:lnSpc>
              <a:spcBef>
                <a:spcPts val="1200"/>
              </a:spcBef>
              <a:spcAft>
                <a:spcPts val="0"/>
              </a:spcAft>
              <a:buNone/>
            </a:pPr>
            <a:endParaRPr sz="3000">
              <a:solidFill>
                <a:srgbClr val="444444"/>
              </a:solidFill>
              <a:latin typeface="Economica"/>
              <a:ea typeface="Economica"/>
              <a:cs typeface="Economica"/>
              <a:sym typeface="Economic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Third Principle vs. Blockchain</a:t>
            </a:r>
            <a:endParaRPr/>
          </a:p>
        </p:txBody>
      </p:sp>
      <p:sp>
        <p:nvSpPr>
          <p:cNvPr id="169" name="Google Shape;169;p27"/>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on public blockchain is unrestricted in terms of its content, i.e. anybody can add any kind of data.</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Private blockchains can maintain data relevancy by implemented specific data structures and restricting nodes to follow certain protocols</a:t>
            </a:r>
            <a:endParaRPr sz="2600">
              <a:solidFill>
                <a:srgbClr val="444444"/>
              </a:solidFill>
              <a:latin typeface="Economica"/>
              <a:ea typeface="Economica"/>
              <a:cs typeface="Economica"/>
              <a:sym typeface="Economic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Fourth Principle</a:t>
            </a:r>
            <a:endParaRPr/>
          </a:p>
        </p:txBody>
      </p:sp>
      <p:sp>
        <p:nvSpPr>
          <p:cNvPr id="176" name="Google Shape;176;p28"/>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000">
                <a:solidFill>
                  <a:srgbClr val="444444"/>
                </a:solidFill>
                <a:latin typeface="Economica"/>
                <a:ea typeface="Economica"/>
                <a:cs typeface="Economica"/>
                <a:sym typeface="Economica"/>
              </a:rPr>
              <a:t>“Accurate and where necessary kept up to date”</a:t>
            </a:r>
            <a:endParaRPr sz="3000">
              <a:solidFill>
                <a:srgbClr val="444444"/>
              </a:solidFill>
              <a:latin typeface="Economica"/>
              <a:ea typeface="Economica"/>
              <a:cs typeface="Economica"/>
              <a:sym typeface="Economica"/>
            </a:endParaRPr>
          </a:p>
          <a:p>
            <a:pPr marL="0" lvl="0" indent="0" algn="ctr" rtl="0">
              <a:spcBef>
                <a:spcPts val="0"/>
              </a:spcBef>
              <a:spcAft>
                <a:spcPts val="0"/>
              </a:spcAft>
              <a:buNone/>
            </a:pPr>
            <a:endParaRPr sz="3000">
              <a:solidFill>
                <a:srgbClr val="444444"/>
              </a:solidFill>
              <a:latin typeface="Economica"/>
              <a:ea typeface="Economica"/>
              <a:cs typeface="Economica"/>
              <a:sym typeface="Economica"/>
            </a:endParaRPr>
          </a:p>
          <a:p>
            <a:pPr marL="457200" lvl="0" indent="-393700" algn="l" rtl="0">
              <a:spcBef>
                <a:spcPts val="120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Personal data shall be accurate and, where necessary, kept up to date</a:t>
            </a:r>
            <a:endParaRPr sz="2800">
              <a:solidFill>
                <a:srgbClr val="1F497D"/>
              </a:solidFill>
              <a:latin typeface="Arial"/>
              <a:ea typeface="Arial"/>
              <a:cs typeface="Arial"/>
              <a:sym typeface="Arial"/>
            </a:endParaRPr>
          </a:p>
          <a:p>
            <a:pPr marL="0" lvl="0" indent="0" algn="l" rtl="0">
              <a:spcBef>
                <a:spcPts val="1200"/>
              </a:spcBef>
              <a:spcAft>
                <a:spcPts val="0"/>
              </a:spcAft>
              <a:buNone/>
            </a:pPr>
            <a:endParaRPr sz="3000">
              <a:solidFill>
                <a:srgbClr val="444444"/>
              </a:solidFill>
              <a:latin typeface="Economica"/>
              <a:ea typeface="Economica"/>
              <a:cs typeface="Economica"/>
              <a:sym typeface="Economic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Fourth Principle vs. Blockchain</a:t>
            </a:r>
            <a:endParaRPr/>
          </a:p>
        </p:txBody>
      </p:sp>
      <p:sp>
        <p:nvSpPr>
          <p:cNvPr id="183" name="Google Shape;183;p29"/>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accuracy is guaranteed in blockchain because every data that becomes part of blockchain is validated by majority of the nodes, however it is not guaranteed that any transaction is valid in real world as well!</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Updating data is not possible because of the immutability of the blockchain, however new blocks can be added to record changes in existing data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Fifth Principle</a:t>
            </a:r>
            <a:endParaRPr/>
          </a:p>
        </p:txBody>
      </p:sp>
      <p:sp>
        <p:nvSpPr>
          <p:cNvPr id="190" name="Google Shape;190;p30"/>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3000">
                <a:solidFill>
                  <a:srgbClr val="444444"/>
                </a:solidFill>
                <a:latin typeface="Economica"/>
                <a:ea typeface="Economica"/>
                <a:cs typeface="Economica"/>
                <a:sym typeface="Economica"/>
              </a:rPr>
              <a:t>“Kept for no longer than necessary”</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Personal data processed for any purpose or purposes shall not be kept for longer than is necessary for that purpose or those purposes</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Retention periods vary depending on:</a:t>
            </a:r>
            <a:endParaRPr sz="2600">
              <a:solidFill>
                <a:srgbClr val="444444"/>
              </a:solidFill>
              <a:latin typeface="Economica"/>
              <a:ea typeface="Economica"/>
              <a:cs typeface="Economica"/>
              <a:sym typeface="Economica"/>
            </a:endParaRPr>
          </a:p>
          <a:p>
            <a:pPr marL="914400" lvl="1"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Legal requirements for keeping data </a:t>
            </a:r>
            <a:endParaRPr sz="2600">
              <a:solidFill>
                <a:srgbClr val="444444"/>
              </a:solidFill>
              <a:latin typeface="Economica"/>
              <a:ea typeface="Economica"/>
              <a:cs typeface="Economica"/>
              <a:sym typeface="Economica"/>
            </a:endParaRPr>
          </a:p>
          <a:p>
            <a:pPr marL="914400" lvl="1"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Industry best practice</a:t>
            </a:r>
            <a:endParaRPr sz="2600">
              <a:solidFill>
                <a:srgbClr val="444444"/>
              </a:solidFill>
              <a:latin typeface="Economica"/>
              <a:ea typeface="Economica"/>
              <a:cs typeface="Economica"/>
              <a:sym typeface="Economica"/>
            </a:endParaRPr>
          </a:p>
          <a:p>
            <a:pPr marL="914400" lvl="1"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Ongoing investigations/litigation</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“Just in case” is not a reason to retain personal data after it is no longer required for the specified purpose(s)</a:t>
            </a:r>
            <a:endParaRPr sz="2600">
              <a:solidFill>
                <a:srgbClr val="444444"/>
              </a:solidFill>
              <a:latin typeface="Economica"/>
              <a:ea typeface="Economica"/>
              <a:cs typeface="Economica"/>
              <a:sym typeface="Economica"/>
            </a:endParaRPr>
          </a:p>
          <a:p>
            <a:pPr marL="0" marR="0" lvl="0" indent="0" algn="just" rtl="0">
              <a:lnSpc>
                <a:spcPct val="115000"/>
              </a:lnSpc>
              <a:spcBef>
                <a:spcPts val="1200"/>
              </a:spcBef>
              <a:spcAft>
                <a:spcPts val="0"/>
              </a:spcAft>
              <a:buNone/>
            </a:pPr>
            <a:endParaRPr sz="2600">
              <a:solidFill>
                <a:srgbClr val="444444"/>
              </a:solidFill>
              <a:latin typeface="Economica"/>
              <a:ea typeface="Economica"/>
              <a:cs typeface="Economica"/>
              <a:sym typeface="Economic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Fifth Principle vs. Blockchain</a:t>
            </a:r>
            <a:endParaRPr/>
          </a:p>
        </p:txBody>
      </p:sp>
      <p:sp>
        <p:nvSpPr>
          <p:cNvPr id="197" name="Google Shape;197;p31"/>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on blockchain is permanent</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Blockchain model is built to keep data forever so that a trail or origin history can be maintained</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Deleting old data is possible in blockchain but costs a fortune!</a:t>
            </a:r>
            <a:endParaRPr sz="2600">
              <a:solidFill>
                <a:srgbClr val="444444"/>
              </a:solidFill>
              <a:latin typeface="Economica"/>
              <a:ea typeface="Economica"/>
              <a:cs typeface="Economica"/>
              <a:sym typeface="Economic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Sixth Principle</a:t>
            </a:r>
            <a:endParaRPr/>
          </a:p>
        </p:txBody>
      </p:sp>
      <p:sp>
        <p:nvSpPr>
          <p:cNvPr id="204" name="Google Shape;204;p32"/>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3000">
                <a:solidFill>
                  <a:srgbClr val="444444"/>
                </a:solidFill>
                <a:latin typeface="Economica"/>
                <a:ea typeface="Economica"/>
                <a:cs typeface="Economica"/>
                <a:sym typeface="Economica"/>
              </a:rPr>
              <a:t>“Used in accordance with the rights of individuals under the Act”</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of access to personal information</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to prevent processing likely to cause damage or distress </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to prevent processing for the purposes of direct marketing </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in relation to automated decision making</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to seek compensation for any damage or distress caused by the failure of a Data Controller to comply with the requirements of the Act</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to take action to rectify, block, erase or destroy inaccurate data</a:t>
            </a:r>
            <a:endParaRPr sz="2600">
              <a:solidFill>
                <a:srgbClr val="444444"/>
              </a:solidFill>
              <a:latin typeface="Economica"/>
              <a:ea typeface="Economica"/>
              <a:cs typeface="Economica"/>
              <a:sym typeface="Economic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Sixth Principle vs. Blockchain</a:t>
            </a:r>
            <a:endParaRPr/>
          </a:p>
        </p:txBody>
      </p:sp>
      <p:sp>
        <p:nvSpPr>
          <p:cNvPr id="211" name="Google Shape;211;p33"/>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concept of individuality is still shady in blockchains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 blockchain node/miner is rarely identified as a real world person, hence it is difficult to apply government laws on a blockchainer</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Right to access the information may not be implemented by-the-definition in private/permissioned blockchains, because they give restricted rights to each node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Public blockchains don't have a single controller, which can be prosecuted for compensation, in case of damages </a:t>
            </a:r>
            <a:endParaRPr sz="2600">
              <a:solidFill>
                <a:srgbClr val="444444"/>
              </a:solidFill>
              <a:latin typeface="Economica"/>
              <a:ea typeface="Economica"/>
              <a:cs typeface="Economica"/>
              <a:sym typeface="Economic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4"/>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Seventh Principle</a:t>
            </a:r>
            <a:endParaRPr/>
          </a:p>
        </p:txBody>
      </p:sp>
      <p:sp>
        <p:nvSpPr>
          <p:cNvPr id="218" name="Google Shape;218;p3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3000">
                <a:solidFill>
                  <a:srgbClr val="444444"/>
                </a:solidFill>
                <a:latin typeface="Economica"/>
                <a:ea typeface="Economica"/>
                <a:cs typeface="Economica"/>
                <a:sym typeface="Economica"/>
              </a:rPr>
              <a:t>“Kept secure”</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457200" lvl="0" indent="-393700" algn="just" rtl="0">
              <a:spcBef>
                <a:spcPts val="120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Appropriate technical and organisational measures shall be taken against unauthorised or unlawful processing of personal data and against accidental loss or destruction of, or damage to, personal data</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Is access to the information properly controlled and auditable?</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Do procedures exist for detecting breaches?</a:t>
            </a:r>
            <a:endParaRPr sz="2600">
              <a:solidFill>
                <a:srgbClr val="444444"/>
              </a:solidFill>
              <a:latin typeface="Economica"/>
              <a:ea typeface="Economica"/>
              <a:cs typeface="Economica"/>
              <a:sym typeface="Economic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Seventh Principle vs. Blockchain</a:t>
            </a:r>
            <a:endParaRPr/>
          </a:p>
        </p:txBody>
      </p:sp>
      <p:sp>
        <p:nvSpPr>
          <p:cNvPr id="225" name="Google Shape;225;p35"/>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Data on blockchain is secure due to the use of hashing and consensus algorithm</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Any attempt at changing/tempering data is easily detected when the consensus is built among nodes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Private blockchains allow only authorized users to join the network, hence blocking unauthorized access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Blocks of blockchain are immutable audit trail</a:t>
            </a:r>
            <a:endParaRPr sz="2600">
              <a:solidFill>
                <a:srgbClr val="444444"/>
              </a:solidFill>
              <a:latin typeface="Economica"/>
              <a:ea typeface="Economica"/>
              <a:cs typeface="Economica"/>
              <a:sym typeface="Economic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6"/>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Eighth Principle</a:t>
            </a:r>
            <a:endParaRPr/>
          </a:p>
        </p:txBody>
      </p:sp>
      <p:sp>
        <p:nvSpPr>
          <p:cNvPr id="232" name="Google Shape;232;p36"/>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US" sz="3000">
                <a:solidFill>
                  <a:srgbClr val="444444"/>
                </a:solidFill>
                <a:latin typeface="Economica"/>
                <a:ea typeface="Economica"/>
                <a:cs typeface="Economica"/>
                <a:sym typeface="Economica"/>
              </a:rPr>
              <a:t>“Not transferred to another country without adequate protection”</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457200" lvl="0" indent="-393700" algn="just" rtl="0">
              <a:spcBef>
                <a:spcPts val="120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Personal data shall not be transferred to a country or territory outside the Island unless that country or territory ensures an adequate level of protection for the rights and freedoms of data subjects in relation to the processing of personal data</a:t>
            </a:r>
            <a:endParaRPr sz="2600">
              <a:solidFill>
                <a:srgbClr val="444444"/>
              </a:solidFill>
              <a:latin typeface="Economica"/>
              <a:ea typeface="Economica"/>
              <a:cs typeface="Economica"/>
              <a:sym typeface="Economica"/>
            </a:endParaRPr>
          </a:p>
          <a:p>
            <a:pPr marL="0" lvl="0" indent="0" algn="l" rtl="0">
              <a:spcBef>
                <a:spcPts val="1200"/>
              </a:spcBef>
              <a:spcAft>
                <a:spcPts val="1200"/>
              </a:spcAft>
              <a:buNone/>
            </a:pPr>
            <a:endParaRPr sz="2600">
              <a:solidFill>
                <a:srgbClr val="444444"/>
              </a:solidFill>
              <a:latin typeface="Economica"/>
              <a:ea typeface="Economica"/>
              <a:cs typeface="Economica"/>
              <a:sym typeface="Economic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Eighth Principle vs. Blockchain</a:t>
            </a:r>
            <a:endParaRPr/>
          </a:p>
        </p:txBody>
      </p:sp>
      <p:sp>
        <p:nvSpPr>
          <p:cNvPr id="239" name="Google Shape;239;p37"/>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Only private blockchains can restrict across-country data transfer</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Public blockchain nodes have no boundaries, so data cannot be restricted within territory of a country</a:t>
            </a:r>
            <a:endParaRPr sz="2600">
              <a:solidFill>
                <a:srgbClr val="444444"/>
              </a:solidFill>
              <a:latin typeface="Economica"/>
              <a:ea typeface="Economica"/>
              <a:cs typeface="Economica"/>
              <a:sym typeface="Economic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8"/>
          <p:cNvSpPr txBox="1">
            <a:spLocks noGrp="1"/>
          </p:cNvSpPr>
          <p:nvPr>
            <p:ph type="title"/>
          </p:nvPr>
        </p:nvSpPr>
        <p:spPr>
          <a:xfrm>
            <a:off x="311700" y="421233"/>
            <a:ext cx="8520600" cy="1108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Reference Book</a:t>
            </a:r>
            <a:endParaRPr/>
          </a:p>
        </p:txBody>
      </p:sp>
      <p:sp>
        <p:nvSpPr>
          <p:cNvPr id="246" name="Google Shape;246;p38"/>
          <p:cNvSpPr txBox="1">
            <a:spLocks noGrp="1"/>
          </p:cNvSpPr>
          <p:nvPr>
            <p:ph type="body" idx="1"/>
          </p:nvPr>
        </p:nvSpPr>
        <p:spPr>
          <a:xfrm>
            <a:off x="311700" y="1633633"/>
            <a:ext cx="8520600" cy="44721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360"/>
              </a:spcBef>
              <a:spcAft>
                <a:spcPts val="0"/>
              </a:spcAft>
              <a:buSzPts val="1800"/>
              <a:buNone/>
            </a:pPr>
            <a:r>
              <a:rPr lang="en-US" sz="3600" b="1">
                <a:latin typeface="Economica"/>
                <a:ea typeface="Economica"/>
                <a:cs typeface="Economica"/>
                <a:sym typeface="Economica"/>
              </a:rPr>
              <a:t>Bitcoin and Cryptocurrency Technologies</a:t>
            </a:r>
            <a:endParaRPr sz="3600" b="1">
              <a:latin typeface="Economica"/>
              <a:ea typeface="Economica"/>
              <a:cs typeface="Economica"/>
              <a:sym typeface="Economica"/>
            </a:endParaRPr>
          </a:p>
          <a:p>
            <a:pPr marL="0" lvl="0" indent="0" algn="l" rtl="0">
              <a:lnSpc>
                <a:spcPct val="100000"/>
              </a:lnSpc>
              <a:spcBef>
                <a:spcPts val="360"/>
              </a:spcBef>
              <a:spcAft>
                <a:spcPts val="0"/>
              </a:spcAft>
              <a:buSzPts val="1800"/>
              <a:buNone/>
            </a:pPr>
            <a:endParaRPr>
              <a:latin typeface="Economica"/>
              <a:ea typeface="Economica"/>
              <a:cs typeface="Economica"/>
              <a:sym typeface="Economica"/>
            </a:endParaRPr>
          </a:p>
          <a:p>
            <a:pPr marL="0" lvl="0" indent="0" algn="l" rtl="0">
              <a:lnSpc>
                <a:spcPct val="100000"/>
              </a:lnSpc>
              <a:spcBef>
                <a:spcPts val="360"/>
              </a:spcBef>
              <a:spcAft>
                <a:spcPts val="0"/>
              </a:spcAft>
              <a:buSzPts val="1800"/>
              <a:buNone/>
            </a:pPr>
            <a:r>
              <a:rPr lang="en-US" sz="3000" b="1">
                <a:solidFill>
                  <a:srgbClr val="1C4587"/>
                </a:solidFill>
                <a:latin typeface="Economica"/>
                <a:ea typeface="Economica"/>
                <a:cs typeface="Economica"/>
                <a:sym typeface="Economica"/>
              </a:rPr>
              <a:t>Authors:</a:t>
            </a:r>
            <a:r>
              <a:rPr lang="en-US" sz="3000">
                <a:latin typeface="Economica"/>
                <a:ea typeface="Economica"/>
                <a:cs typeface="Economica"/>
                <a:sym typeface="Economica"/>
              </a:rPr>
              <a:t> Arvind Narayanan, Joseph Bonneau, Edward Felten, Andrew Miller, Steven Goldfeder</a:t>
            </a:r>
            <a:endParaRPr sz="3000">
              <a:latin typeface="Economica"/>
              <a:ea typeface="Economica"/>
              <a:cs typeface="Economica"/>
              <a:sym typeface="Economica"/>
            </a:endParaRPr>
          </a:p>
          <a:p>
            <a:pPr marL="0" lvl="0" indent="0" algn="l" rtl="0">
              <a:lnSpc>
                <a:spcPct val="100000"/>
              </a:lnSpc>
              <a:spcBef>
                <a:spcPts val="360"/>
              </a:spcBef>
              <a:spcAft>
                <a:spcPts val="0"/>
              </a:spcAft>
              <a:buSzPts val="1800"/>
              <a:buNone/>
            </a:pPr>
            <a:endParaRPr sz="3000">
              <a:latin typeface="Economica"/>
              <a:ea typeface="Economica"/>
              <a:cs typeface="Economica"/>
              <a:sym typeface="Economica"/>
            </a:endParaRPr>
          </a:p>
          <a:p>
            <a:pPr marL="0" lvl="0" indent="0" algn="l" rtl="0">
              <a:lnSpc>
                <a:spcPct val="100000"/>
              </a:lnSpc>
              <a:spcBef>
                <a:spcPts val="360"/>
              </a:spcBef>
              <a:spcAft>
                <a:spcPts val="0"/>
              </a:spcAft>
              <a:buSzPts val="1800"/>
              <a:buNone/>
            </a:pPr>
            <a:r>
              <a:rPr lang="en-US" sz="3000" b="1">
                <a:solidFill>
                  <a:srgbClr val="1C4587"/>
                </a:solidFill>
                <a:latin typeface="Economica"/>
                <a:ea typeface="Economica"/>
                <a:cs typeface="Economica"/>
                <a:sym typeface="Economica"/>
              </a:rPr>
              <a:t>Publisher:</a:t>
            </a:r>
            <a:r>
              <a:rPr lang="en-US" sz="3000">
                <a:latin typeface="Economica"/>
                <a:ea typeface="Economica"/>
                <a:cs typeface="Economica"/>
                <a:sym typeface="Economica"/>
              </a:rPr>
              <a:t> Princeton University Press</a:t>
            </a:r>
            <a:endParaRPr sz="3000">
              <a:solidFill>
                <a:srgbClr val="577688"/>
              </a:solidFill>
              <a:highlight>
                <a:srgbClr val="F6FBFC"/>
              </a:highlight>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1365</Words>
  <Application>Microsoft Office PowerPoint</Application>
  <PresentationFormat>On-screen Show (4:3)</PresentationFormat>
  <Paragraphs>171</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Calibri</vt:lpstr>
      <vt:lpstr>Economica</vt:lpstr>
      <vt:lpstr>Arial</vt:lpstr>
      <vt:lpstr>Open Sans</vt:lpstr>
      <vt:lpstr>Luxe</vt:lpstr>
      <vt:lpstr>Data Protection, Privacy and Security</vt:lpstr>
      <vt:lpstr>Outline</vt:lpstr>
      <vt:lpstr>Data Protection</vt:lpstr>
      <vt:lpstr>Data</vt:lpstr>
      <vt:lpstr>Processing</vt:lpstr>
      <vt:lpstr>Sensitive Personal Data</vt:lpstr>
      <vt:lpstr>The Parties</vt:lpstr>
      <vt:lpstr>Data Protection Principles</vt:lpstr>
      <vt:lpstr>First Principle</vt:lpstr>
      <vt:lpstr>First Principle vs. Blockchain</vt:lpstr>
      <vt:lpstr>Second Principle</vt:lpstr>
      <vt:lpstr>Second Principle vs. Blockchain</vt:lpstr>
      <vt:lpstr>Third Principle</vt:lpstr>
      <vt:lpstr>Third Principle vs. Blockchain</vt:lpstr>
      <vt:lpstr>Fourth Principle</vt:lpstr>
      <vt:lpstr>Fourth Principle vs. Blockchain</vt:lpstr>
      <vt:lpstr>Fifth Principle</vt:lpstr>
      <vt:lpstr>Fifth Principle vs. Blockchain</vt:lpstr>
      <vt:lpstr>Sixth Principle</vt:lpstr>
      <vt:lpstr>Sixth Principle vs. Blockchain</vt:lpstr>
      <vt:lpstr>Seventh Principle</vt:lpstr>
      <vt:lpstr>Seventh Principle vs. Blockchain</vt:lpstr>
      <vt:lpstr>Eighth Principle</vt:lpstr>
      <vt:lpstr>Eighth Principle vs. Blockchain</vt:lpstr>
      <vt:lpstr>Reference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Protection, Privacy and Security</dc:title>
  <cp:lastModifiedBy>Mubariz Rehman</cp:lastModifiedBy>
  <cp:revision>3</cp:revision>
  <dcterms:modified xsi:type="dcterms:W3CDTF">2024-04-15T05:51:27Z</dcterms:modified>
</cp:coreProperties>
</file>