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319" r:id="rId3"/>
    <p:sldId id="321" r:id="rId4"/>
    <p:sldId id="322" r:id="rId5"/>
    <p:sldId id="333" r:id="rId6"/>
    <p:sldId id="334" r:id="rId7"/>
    <p:sldId id="323" r:id="rId8"/>
    <p:sldId id="324" r:id="rId9"/>
    <p:sldId id="325" r:id="rId10"/>
    <p:sldId id="326" r:id="rId11"/>
    <p:sldId id="327" r:id="rId12"/>
    <p:sldId id="328" r:id="rId13"/>
    <p:sldId id="329" r:id="rId14"/>
    <p:sldId id="330" r:id="rId15"/>
    <p:sldId id="331" r:id="rId16"/>
    <p:sldId id="332" r:id="rId17"/>
    <p:sldId id="28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9CA609-4716-4A90-A9DE-1CB52123AFDB}" type="datetimeFigureOut">
              <a:rPr lang="en-US" smtClean="0"/>
              <a:t>4/8/2024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512CE-193E-4520-9595-3B6ABF99F7A6}" type="slidenum">
              <a:rPr lang="en-US" smtClean="0"/>
              <a:t>‹#›</a:t>
            </a:fld>
            <a:endParaRPr lang="en-US"/>
          </a:p>
        </p:txBody>
      </p:sp>
    </p:spTree>
    <p:extLst>
      <p:ext uri="{BB962C8B-B14F-4D97-AF65-F5344CB8AC3E}">
        <p14:creationId xmlns:p14="http://schemas.microsoft.com/office/powerpoint/2010/main" val="164265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77" name="Google Shape;277;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26: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16</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9DB8B-57E8-919D-75B1-455B861A62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59DDD2-C5C7-A113-7AE2-38C34BE7C2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5433BC-8EEF-A0A3-ED8B-B26A8F2363F0}"/>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5" name="Footer Placeholder 4">
            <a:extLst>
              <a:ext uri="{FF2B5EF4-FFF2-40B4-BE49-F238E27FC236}">
                <a16:creationId xmlns:a16="http://schemas.microsoft.com/office/drawing/2014/main" id="{D8CE5E48-4568-12CC-B797-6D8F31F5D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82974D-6ABC-2B0C-C7BA-CEF8AA698050}"/>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3512890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AAC62-1699-0E21-DADB-38D1164455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0E6883-03DC-6B54-5AF3-C96930CF60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B377B-4FEA-75D0-F5E9-3300551EA43E}"/>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5" name="Footer Placeholder 4">
            <a:extLst>
              <a:ext uri="{FF2B5EF4-FFF2-40B4-BE49-F238E27FC236}">
                <a16:creationId xmlns:a16="http://schemas.microsoft.com/office/drawing/2014/main" id="{1ABF7A11-30D2-0F48-6C91-89C04EF07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33368-2916-4F54-B157-AF632294EF94}"/>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3817514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A762F-C473-BCCD-A79B-B7C3F346C5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34D937-6BFA-8544-616E-B520A65313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3E954B-C1A4-6642-D41C-0500E6CAF758}"/>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5" name="Footer Placeholder 4">
            <a:extLst>
              <a:ext uri="{FF2B5EF4-FFF2-40B4-BE49-F238E27FC236}">
                <a16:creationId xmlns:a16="http://schemas.microsoft.com/office/drawing/2014/main" id="{4894B43F-3E41-A176-D149-5D7DD825D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8A5EF1-25C5-A993-9365-7E9C002FAF75}"/>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3028973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91C4-00B4-5952-2030-E50AC25237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561B0E-2BE5-2DDE-98EE-BB0ADC33B6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DA0FE9-2657-C904-D64F-3FF1C91096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547C9C-9912-4656-6F0B-086FFB9A9F88}"/>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6" name="Footer Placeholder 5">
            <a:extLst>
              <a:ext uri="{FF2B5EF4-FFF2-40B4-BE49-F238E27FC236}">
                <a16:creationId xmlns:a16="http://schemas.microsoft.com/office/drawing/2014/main" id="{43092197-7768-2D38-E5F9-1E6D3B543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E0F1E6-98AF-EB4C-5DF7-DE82A71C5AD0}"/>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1483042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83815-5E15-4B16-CC3D-4D47A4A535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CB7FED-795B-4A5E-3490-83EB9B3611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80DFBE-B4CD-A8A9-A019-77023899E4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0C6C20-A458-3AF1-0FE8-58981A5C7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507095-BF86-2A60-DADE-43FCB68697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E9A6B3-C949-127A-58AD-292C79965355}"/>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8" name="Footer Placeholder 7">
            <a:extLst>
              <a:ext uri="{FF2B5EF4-FFF2-40B4-BE49-F238E27FC236}">
                <a16:creationId xmlns:a16="http://schemas.microsoft.com/office/drawing/2014/main" id="{57969FBA-A6BB-A832-6B8F-93DBB9E953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22654E-F4E9-A8A9-6C20-9218F8E766A4}"/>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1466879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B17BA-02A9-CE32-CCCD-A5CD3A6C5C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483E96-9DA4-5781-080F-C7E32C8D1AC3}"/>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4" name="Footer Placeholder 3">
            <a:extLst>
              <a:ext uri="{FF2B5EF4-FFF2-40B4-BE49-F238E27FC236}">
                <a16:creationId xmlns:a16="http://schemas.microsoft.com/office/drawing/2014/main" id="{5C977D74-3EF6-A9CA-7706-EFEF45FC4A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F68409-CCE3-8153-6472-683FC29BB346}"/>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277480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0ACD0F-973D-A04F-1F7D-BAE7996EAC2E}"/>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3" name="Footer Placeholder 2">
            <a:extLst>
              <a:ext uri="{FF2B5EF4-FFF2-40B4-BE49-F238E27FC236}">
                <a16:creationId xmlns:a16="http://schemas.microsoft.com/office/drawing/2014/main" id="{B611CB19-8AC5-AA93-2ED8-94ADD2BBF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B0AB30-2E45-8B57-A149-3FF86006A71C}"/>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1001251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003C-0248-3526-AE7D-53C3740B18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602CCF-0325-5571-9B02-D2A625D7B3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CF450D-1290-9E0D-5116-824E024134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BC6A1-B3BC-35C8-E804-2FDF6C68D125}"/>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6" name="Footer Placeholder 5">
            <a:extLst>
              <a:ext uri="{FF2B5EF4-FFF2-40B4-BE49-F238E27FC236}">
                <a16:creationId xmlns:a16="http://schemas.microsoft.com/office/drawing/2014/main" id="{E40DAD2C-1C31-5A12-4B3B-B6015B68EB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BDDF89-C048-8484-3542-B600F93BCC78}"/>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837569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96F63-2901-B5D0-D825-E81659AE2E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0C184E-2D0A-F3AF-20FB-CB54E79BC4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50EF94-B01B-BDEC-EE81-084D0F7E8A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F5B8FE-25BA-C5D1-ED47-C79C8E462705}"/>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6" name="Footer Placeholder 5">
            <a:extLst>
              <a:ext uri="{FF2B5EF4-FFF2-40B4-BE49-F238E27FC236}">
                <a16:creationId xmlns:a16="http://schemas.microsoft.com/office/drawing/2014/main" id="{85E3E00F-5931-B605-AFA2-27F5FC93E7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10799C-1C75-1FA6-2C0A-F80304606D67}"/>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3764806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753DE-84B9-9B22-764D-6EECCEB6F2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76C507-996C-DFD8-33C7-73E9B372E7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6EB519-9182-ACF2-8F7F-23AD47D964FA}"/>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5" name="Footer Placeholder 4">
            <a:extLst>
              <a:ext uri="{FF2B5EF4-FFF2-40B4-BE49-F238E27FC236}">
                <a16:creationId xmlns:a16="http://schemas.microsoft.com/office/drawing/2014/main" id="{C582DF4A-6F7A-B142-72E5-B6FBD0E37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2B24E-DA93-B5CF-44E9-C406048076F7}"/>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4223149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AE7DEE-B839-D44B-7652-40BBED610D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FAAD43-AE50-8F94-1B1B-A261C8B671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B777EF-0F7F-AEF1-036D-FF13E3511328}"/>
              </a:ext>
            </a:extLst>
          </p:cNvPr>
          <p:cNvSpPr>
            <a:spLocks noGrp="1"/>
          </p:cNvSpPr>
          <p:nvPr>
            <p:ph type="dt" sz="half" idx="10"/>
          </p:nvPr>
        </p:nvSpPr>
        <p:spPr/>
        <p:txBody>
          <a:bodyPr/>
          <a:lstStyle/>
          <a:p>
            <a:fld id="{36C0CAB7-33CF-43C8-BE37-27CC43CA2B5A}" type="datetimeFigureOut">
              <a:rPr lang="en-US" smtClean="0"/>
              <a:t>4/8/2024</a:t>
            </a:fld>
            <a:endParaRPr lang="en-US"/>
          </a:p>
        </p:txBody>
      </p:sp>
      <p:sp>
        <p:nvSpPr>
          <p:cNvPr id="5" name="Footer Placeholder 4">
            <a:extLst>
              <a:ext uri="{FF2B5EF4-FFF2-40B4-BE49-F238E27FC236}">
                <a16:creationId xmlns:a16="http://schemas.microsoft.com/office/drawing/2014/main" id="{A4B8BDF5-DA15-68F1-845F-90461AD04F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1A349A-8CBE-9C22-7AD7-CA8C5C668607}"/>
              </a:ext>
            </a:extLst>
          </p:cNvPr>
          <p:cNvSpPr>
            <a:spLocks noGrp="1"/>
          </p:cNvSpPr>
          <p:nvPr>
            <p:ph type="sldNum" sz="quarter" idx="12"/>
          </p:nvPr>
        </p:nvSpPr>
        <p:spPr/>
        <p:txBody>
          <a:bodyPr/>
          <a:lstStyle/>
          <a:p>
            <a:fld id="{EF465F8C-3D4F-4292-A571-E955F6B52C9C}" type="slidenum">
              <a:rPr lang="en-US" smtClean="0"/>
              <a:t>‹#›</a:t>
            </a:fld>
            <a:endParaRPr lang="en-US"/>
          </a:p>
        </p:txBody>
      </p:sp>
    </p:spTree>
    <p:extLst>
      <p:ext uri="{BB962C8B-B14F-4D97-AF65-F5344CB8AC3E}">
        <p14:creationId xmlns:p14="http://schemas.microsoft.com/office/powerpoint/2010/main" val="3691533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
        <p:cNvGrpSpPr/>
        <p:nvPr/>
      </p:nvGrpSpPr>
      <p:grpSpPr>
        <a:xfrm>
          <a:off x="0" y="0"/>
          <a:ext cx="0" cy="0"/>
          <a:chOff x="0" y="0"/>
          <a:chExt cx="0" cy="0"/>
        </a:xfrm>
      </p:grpSpPr>
      <p:sp>
        <p:nvSpPr>
          <p:cNvPr id="14" name="Google Shape;14;p2"/>
          <p:cNvSpPr/>
          <p:nvPr/>
        </p:nvSpPr>
        <p:spPr>
          <a:xfrm>
            <a:off x="3658685" y="1008933"/>
            <a:ext cx="1442167"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5" name="Google Shape;15;p2"/>
          <p:cNvSpPr/>
          <p:nvPr/>
        </p:nvSpPr>
        <p:spPr>
          <a:xfrm rot="10800000">
            <a:off x="7091134" y="4355671"/>
            <a:ext cx="1442167"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6" name="Google Shape;16;p2"/>
          <p:cNvSpPr txBox="1">
            <a:spLocks noGrp="1"/>
          </p:cNvSpPr>
          <p:nvPr>
            <p:ph type="ctrTitle"/>
          </p:nvPr>
        </p:nvSpPr>
        <p:spPr>
          <a:xfrm>
            <a:off x="4059600" y="1925674"/>
            <a:ext cx="4072800" cy="204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7" name="Google Shape;17;p2"/>
          <p:cNvSpPr txBox="1">
            <a:spLocks noGrp="1"/>
          </p:cNvSpPr>
          <p:nvPr>
            <p:ph type="subTitle" idx="1"/>
          </p:nvPr>
        </p:nvSpPr>
        <p:spPr>
          <a:xfrm>
            <a:off x="4059600" y="4155440"/>
            <a:ext cx="4072800" cy="9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8" name="Google Shape;18;p2"/>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85605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3"/>
          <p:cNvSpPr/>
          <p:nvPr/>
        </p:nvSpPr>
        <p:spPr>
          <a:xfrm>
            <a:off x="0" y="6727600"/>
            <a:ext cx="12192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txBox="1">
            <a:spLocks noGrp="1"/>
          </p:cNvSpPr>
          <p:nvPr>
            <p:ph type="title"/>
          </p:nvPr>
        </p:nvSpPr>
        <p:spPr>
          <a:xfrm>
            <a:off x="415600" y="421233"/>
            <a:ext cx="113608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2" name="Google Shape;22;p3"/>
          <p:cNvSpPr txBox="1">
            <a:spLocks noGrp="1"/>
          </p:cNvSpPr>
          <p:nvPr>
            <p:ph type="body" idx="1"/>
          </p:nvPr>
        </p:nvSpPr>
        <p:spPr>
          <a:xfrm>
            <a:off x="415600" y="1633633"/>
            <a:ext cx="11360800" cy="4472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3" name="Google Shape;23;p3"/>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2332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p4"/>
          <p:cNvSpPr/>
          <p:nvPr/>
        </p:nvSpPr>
        <p:spPr>
          <a:xfrm flipH="1">
            <a:off x="10127918" y="613633"/>
            <a:ext cx="1442167"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6" name="Google Shape;26;p4"/>
          <p:cNvSpPr/>
          <p:nvPr/>
        </p:nvSpPr>
        <p:spPr>
          <a:xfrm rot="10800000" flipH="1">
            <a:off x="621901" y="4744471"/>
            <a:ext cx="1442167"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4"/>
          <p:cNvSpPr txBox="1">
            <a:spLocks noGrp="1"/>
          </p:cNvSpPr>
          <p:nvPr>
            <p:ph type="title"/>
          </p:nvPr>
        </p:nvSpPr>
        <p:spPr>
          <a:xfrm>
            <a:off x="1031600" y="2408600"/>
            <a:ext cx="10128800" cy="2040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8" name="Google Shape;28;p4"/>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533993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15600" y="421233"/>
            <a:ext cx="113608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1" name="Google Shape;31;p5"/>
          <p:cNvSpPr txBox="1">
            <a:spLocks noGrp="1"/>
          </p:cNvSpPr>
          <p:nvPr>
            <p:ph type="body" idx="1"/>
          </p:nvPr>
        </p:nvSpPr>
        <p:spPr>
          <a:xfrm>
            <a:off x="415600" y="1633633"/>
            <a:ext cx="53332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5"/>
          <p:cNvSpPr txBox="1">
            <a:spLocks noGrp="1"/>
          </p:cNvSpPr>
          <p:nvPr>
            <p:ph type="body" idx="2"/>
          </p:nvPr>
        </p:nvSpPr>
        <p:spPr>
          <a:xfrm>
            <a:off x="6443200" y="1633633"/>
            <a:ext cx="53332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704093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415600" y="421233"/>
            <a:ext cx="113608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6" name="Google Shape;36;p6"/>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1412144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415600" y="740800"/>
            <a:ext cx="3744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9" name="Google Shape;39;p7"/>
          <p:cNvSpPr txBox="1">
            <a:spLocks noGrp="1"/>
          </p:cNvSpPr>
          <p:nvPr>
            <p:ph type="body" idx="1"/>
          </p:nvPr>
        </p:nvSpPr>
        <p:spPr>
          <a:xfrm>
            <a:off x="415600" y="1865867"/>
            <a:ext cx="3744000" cy="37131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0" name="Google Shape;40;p7"/>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4708003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1"/>
        <p:cNvGrpSpPr/>
        <p:nvPr/>
      </p:nvGrpSpPr>
      <p:grpSpPr>
        <a:xfrm>
          <a:off x="0" y="0"/>
          <a:ext cx="0" cy="0"/>
          <a:chOff x="0" y="0"/>
          <a:chExt cx="0" cy="0"/>
        </a:xfrm>
      </p:grpSpPr>
      <p:sp>
        <p:nvSpPr>
          <p:cNvPr id="42" name="Google Shape;42;p8"/>
          <p:cNvSpPr/>
          <p:nvPr/>
        </p:nvSpPr>
        <p:spPr>
          <a:xfrm>
            <a:off x="0" y="6727600"/>
            <a:ext cx="12192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8"/>
          <p:cNvSpPr txBox="1">
            <a:spLocks noGrp="1"/>
          </p:cNvSpPr>
          <p:nvPr>
            <p:ph type="title"/>
          </p:nvPr>
        </p:nvSpPr>
        <p:spPr>
          <a:xfrm>
            <a:off x="653667" y="600200"/>
            <a:ext cx="78384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3060559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a:off x="6096000" y="-33"/>
            <a:ext cx="6096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 name="Google Shape;47;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354000" y="1239033"/>
            <a:ext cx="5393600" cy="2381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9" name="Google Shape;49;p9"/>
          <p:cNvSpPr txBox="1">
            <a:spLocks noGrp="1"/>
          </p:cNvSpPr>
          <p:nvPr>
            <p:ph type="subTitle" idx="1"/>
          </p:nvPr>
        </p:nvSpPr>
        <p:spPr>
          <a:xfrm>
            <a:off x="354000" y="3692001"/>
            <a:ext cx="5393600" cy="209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50" name="Google Shape;50;p9"/>
          <p:cNvSpPr txBox="1">
            <a:spLocks noGrp="1"/>
          </p:cNvSpPr>
          <p:nvPr>
            <p:ph type="body" idx="2"/>
          </p:nvPr>
        </p:nvSpPr>
        <p:spPr>
          <a:xfrm>
            <a:off x="6586000" y="965600"/>
            <a:ext cx="5116000" cy="49269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6366330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426000" y="5625233"/>
            <a:ext cx="7998400" cy="7983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4" name="Google Shape;54;p10"/>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95645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p11"/>
          <p:cNvSpPr/>
          <p:nvPr/>
        </p:nvSpPr>
        <p:spPr>
          <a:xfrm>
            <a:off x="0" y="6727600"/>
            <a:ext cx="12192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1"/>
          <p:cNvSpPr txBox="1">
            <a:spLocks noGrp="1"/>
          </p:cNvSpPr>
          <p:nvPr>
            <p:ph type="title" hasCustomPrompt="1"/>
          </p:nvPr>
        </p:nvSpPr>
        <p:spPr>
          <a:xfrm>
            <a:off x="415600" y="1276167"/>
            <a:ext cx="11360800" cy="2838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8" name="Google Shape;58;p11"/>
          <p:cNvSpPr txBox="1">
            <a:spLocks noGrp="1"/>
          </p:cNvSpPr>
          <p:nvPr>
            <p:ph type="body" idx="1"/>
          </p:nvPr>
        </p:nvSpPr>
        <p:spPr>
          <a:xfrm>
            <a:off x="415600" y="4216000"/>
            <a:ext cx="11360800" cy="14289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9" name="Google Shape;59;p11"/>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5654851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8905146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4" name="Google Shape;64;p13"/>
          <p:cNvSpPr txBox="1">
            <a:spLocks noGrp="1"/>
          </p:cNvSpPr>
          <p:nvPr>
            <p:ph type="body" idx="1"/>
          </p:nvPr>
        </p:nvSpPr>
        <p:spPr>
          <a:xfrm>
            <a:off x="609600" y="1600200"/>
            <a:ext cx="109728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5" name="Google Shape;65;p13"/>
          <p:cNvSpPr txBox="1">
            <a:spLocks noGrp="1"/>
          </p:cNvSpPr>
          <p:nvPr>
            <p:ph type="dt" idx="10"/>
          </p:nvPr>
        </p:nvSpPr>
        <p:spPr>
          <a:xfrm>
            <a:off x="609600" y="6356350"/>
            <a:ext cx="28448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13"/>
          <p:cNvSpPr txBox="1">
            <a:spLocks noGrp="1"/>
          </p:cNvSpPr>
          <p:nvPr>
            <p:ph type="ftr" idx="11"/>
          </p:nvPr>
        </p:nvSpPr>
        <p:spPr>
          <a:xfrm>
            <a:off x="4165600" y="6356350"/>
            <a:ext cx="38608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13"/>
          <p:cNvSpPr txBox="1">
            <a:spLocks noGrp="1"/>
          </p:cNvSpPr>
          <p:nvPr>
            <p:ph type="sldNum" idx="12"/>
          </p:nvPr>
        </p:nvSpPr>
        <p:spPr>
          <a:xfrm>
            <a:off x="8737600" y="6356350"/>
            <a:ext cx="2844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607393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188019-413D-F088-618C-E6062CBE29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1687CA-E1EC-A171-6977-AB931DE55D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0D51F-4815-5653-BF13-2CAB409BBE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C0CAB7-33CF-43C8-BE37-27CC43CA2B5A}" type="datetimeFigureOut">
              <a:rPr lang="en-US" smtClean="0"/>
              <a:t>4/8/2024</a:t>
            </a:fld>
            <a:endParaRPr lang="en-US"/>
          </a:p>
        </p:txBody>
      </p:sp>
      <p:sp>
        <p:nvSpPr>
          <p:cNvPr id="5" name="Footer Placeholder 4">
            <a:extLst>
              <a:ext uri="{FF2B5EF4-FFF2-40B4-BE49-F238E27FC236}">
                <a16:creationId xmlns:a16="http://schemas.microsoft.com/office/drawing/2014/main" id="{A9592C8F-FB95-0447-313C-A43C6AE8AA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504080-A603-35BB-2A3E-F150367185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465F8C-3D4F-4292-A571-E955F6B52C9C}" type="slidenum">
              <a:rPr lang="en-US" smtClean="0"/>
              <a:t>‹#›</a:t>
            </a:fld>
            <a:endParaRPr lang="en-US"/>
          </a:p>
        </p:txBody>
      </p:sp>
    </p:spTree>
    <p:extLst>
      <p:ext uri="{BB962C8B-B14F-4D97-AF65-F5344CB8AC3E}">
        <p14:creationId xmlns:p14="http://schemas.microsoft.com/office/powerpoint/2010/main" val="2796413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421233"/>
            <a:ext cx="113608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p1"/>
          <p:cNvSpPr txBox="1">
            <a:spLocks noGrp="1"/>
          </p:cNvSpPr>
          <p:nvPr>
            <p:ph type="body" idx="1"/>
          </p:nvPr>
        </p:nvSpPr>
        <p:spPr>
          <a:xfrm>
            <a:off x="415600" y="1633633"/>
            <a:ext cx="11360800" cy="44721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p1"/>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18810824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2" name="Rectangle 3">
            <a:extLst>
              <a:ext uri="{FF2B5EF4-FFF2-40B4-BE49-F238E27FC236}">
                <a16:creationId xmlns:a16="http://schemas.microsoft.com/office/drawing/2014/main" id="{540EB38B-38D7-6A13-F293-9AE0EC4117B6}"/>
              </a:ext>
            </a:extLst>
          </p:cNvPr>
          <p:cNvSpPr txBox="1">
            <a:spLocks noChangeArrowheads="1"/>
          </p:cNvSpPr>
          <p:nvPr/>
        </p:nvSpPr>
        <p:spPr>
          <a:xfrm>
            <a:off x="497597" y="5078766"/>
            <a:ext cx="4114800" cy="1269145"/>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1pPr>
            <a:lvl2pPr marL="914400" marR="0" lvl="1"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2pPr>
            <a:lvl3pPr marL="1371600" marR="0" lvl="2"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3pPr>
            <a:lvl4pPr marL="1828800" marR="0" lvl="3"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4pPr>
            <a:lvl5pPr marL="2286000" marR="0" lvl="4"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5pPr>
            <a:lvl6pPr marL="2743200" marR="0" lvl="5"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6pPr>
            <a:lvl7pPr marL="3200400" marR="0" lvl="6"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7pPr>
            <a:lvl8pPr marL="3657600" marR="0" lvl="7"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8pPr>
            <a:lvl9pPr marL="4114800" marR="0" lvl="8"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9pPr>
          </a:lstStyle>
          <a:p>
            <a:pPr algn="l">
              <a:lnSpc>
                <a:spcPct val="90000"/>
              </a:lnSpc>
              <a:defRPr/>
            </a:pPr>
            <a:endParaRPr lang="en-US" altLang="zh-TW" sz="1500" b="1" dirty="0">
              <a:latin typeface="+mj-lt"/>
            </a:endParaRPr>
          </a:p>
        </p:txBody>
      </p:sp>
      <p:sp>
        <p:nvSpPr>
          <p:cNvPr id="6" name="Google Shape;72;p14"/>
          <p:cNvSpPr txBox="1">
            <a:spLocks noGrp="1"/>
          </p:cNvSpPr>
          <p:nvPr>
            <p:ph type="ctrTitle"/>
          </p:nvPr>
        </p:nvSpPr>
        <p:spPr>
          <a:xfrm>
            <a:off x="867383" y="1779234"/>
            <a:ext cx="10457234" cy="20496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1"/>
              </a:buClr>
              <a:buSzPts val="4400"/>
            </a:pPr>
            <a:r>
              <a:rPr lang="en-US" sz="4600" b="1" dirty="0"/>
              <a:t>           Blockchain Trilemma, CAP Theorem, </a:t>
            </a:r>
            <a:br>
              <a:rPr lang="en-US" sz="4600" b="1" dirty="0"/>
            </a:br>
            <a:r>
              <a:rPr lang="en-US" sz="4600" b="1" dirty="0"/>
              <a:t>Layers 0,1,2,3, &amp; </a:t>
            </a:r>
            <a:br>
              <a:rPr lang="en-US" sz="4600" b="1" dirty="0"/>
            </a:br>
            <a:r>
              <a:rPr lang="en-US" sz="4600" b="1" dirty="0"/>
              <a:t>Bitcoin Scalability Solutions </a:t>
            </a:r>
            <a:endParaRPr sz="4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1AD29-CF69-90DF-1614-92629C621C2D}"/>
              </a:ext>
            </a:extLst>
          </p:cNvPr>
          <p:cNvSpPr>
            <a:spLocks noGrp="1"/>
          </p:cNvSpPr>
          <p:nvPr>
            <p:ph type="title"/>
          </p:nvPr>
        </p:nvSpPr>
        <p:spPr>
          <a:xfrm>
            <a:off x="1835700" y="311157"/>
            <a:ext cx="8520600" cy="705677"/>
          </a:xfrm>
        </p:spPr>
        <p:txBody>
          <a:bodyPr/>
          <a:lstStyle/>
          <a:p>
            <a:pPr algn="ctr"/>
            <a:r>
              <a:rPr lang="en-US" dirty="0">
                <a:solidFill>
                  <a:srgbClr val="0D0D0D"/>
                </a:solidFill>
                <a:latin typeface="Söhne"/>
              </a:rPr>
              <a:t>B</a:t>
            </a:r>
            <a:r>
              <a:rPr lang="en-US" b="0" i="0" dirty="0">
                <a:solidFill>
                  <a:srgbClr val="0D0D0D"/>
                </a:solidFill>
                <a:effectLst/>
                <a:latin typeface="Söhne"/>
              </a:rPr>
              <a:t>lockchain Trilemma</a:t>
            </a:r>
            <a:endParaRPr lang="en-US" dirty="0"/>
          </a:p>
        </p:txBody>
      </p:sp>
      <p:sp>
        <p:nvSpPr>
          <p:cNvPr id="3" name="Text Placeholder 2">
            <a:extLst>
              <a:ext uri="{FF2B5EF4-FFF2-40B4-BE49-F238E27FC236}">
                <a16:creationId xmlns:a16="http://schemas.microsoft.com/office/drawing/2014/main" id="{B8253F33-8589-DE94-F8FE-A96EBDADE444}"/>
              </a:ext>
            </a:extLst>
          </p:cNvPr>
          <p:cNvSpPr>
            <a:spLocks noGrp="1"/>
          </p:cNvSpPr>
          <p:nvPr>
            <p:ph type="body" idx="1"/>
          </p:nvPr>
        </p:nvSpPr>
        <p:spPr>
          <a:xfrm>
            <a:off x="537328" y="1016834"/>
            <a:ext cx="11293311" cy="4472100"/>
          </a:xfrm>
        </p:spPr>
        <p:txBody>
          <a:bodyPr/>
          <a:lstStyle/>
          <a:p>
            <a:pPr marL="114300" indent="0" algn="just">
              <a:buNone/>
            </a:pPr>
            <a:r>
              <a:rPr lang="en-US" b="0" i="0" dirty="0">
                <a:solidFill>
                  <a:srgbClr val="0D0D0D"/>
                </a:solidFill>
                <a:effectLst/>
                <a:latin typeface="Söhne"/>
              </a:rPr>
              <a:t>The Blockchain Trilemma is a concept in the realm of blockchain technology that highlights the challenge of achieving decentralization, security, and scalability simultaneously. It's often attributed to </a:t>
            </a:r>
            <a:r>
              <a:rPr lang="en-US" b="0" i="0" dirty="0" err="1">
                <a:solidFill>
                  <a:srgbClr val="0D0D0D"/>
                </a:solidFill>
                <a:effectLst/>
                <a:latin typeface="Söhne"/>
              </a:rPr>
              <a:t>Vitalik</a:t>
            </a:r>
            <a:r>
              <a:rPr lang="en-US" b="0" i="0" dirty="0">
                <a:solidFill>
                  <a:srgbClr val="0D0D0D"/>
                </a:solidFill>
                <a:effectLst/>
                <a:latin typeface="Söhne"/>
              </a:rPr>
              <a:t> </a:t>
            </a:r>
            <a:r>
              <a:rPr lang="en-US" b="0" i="0" dirty="0" err="1">
                <a:solidFill>
                  <a:srgbClr val="0D0D0D"/>
                </a:solidFill>
                <a:effectLst/>
                <a:latin typeface="Söhne"/>
              </a:rPr>
              <a:t>Buterin</a:t>
            </a:r>
            <a:r>
              <a:rPr lang="en-US" b="0" i="0" dirty="0">
                <a:solidFill>
                  <a:srgbClr val="0D0D0D"/>
                </a:solidFill>
                <a:effectLst/>
                <a:latin typeface="Söhne"/>
              </a:rPr>
              <a:t>, co-founder of Ethereum. Here's a breakdown of each component:</a:t>
            </a:r>
            <a:endParaRPr lang="en-US" dirty="0">
              <a:solidFill>
                <a:srgbClr val="0D0D0D"/>
              </a:solidFill>
              <a:latin typeface="Söhne"/>
            </a:endParaRPr>
          </a:p>
          <a:p>
            <a:pPr algn="just"/>
            <a:r>
              <a:rPr lang="en-US" b="1" i="0" dirty="0">
                <a:solidFill>
                  <a:srgbClr val="0D0D0D"/>
                </a:solidFill>
                <a:effectLst/>
                <a:latin typeface="Söhne"/>
              </a:rPr>
              <a:t>Decentralization</a:t>
            </a:r>
            <a:r>
              <a:rPr lang="en-US" b="0" i="0" dirty="0">
                <a:solidFill>
                  <a:srgbClr val="0D0D0D"/>
                </a:solidFill>
                <a:effectLst/>
                <a:latin typeface="Söhne"/>
              </a:rPr>
              <a:t>: Decentralization refers to the distribution of power and control across the network. In a decentralized blockchain system, there is no central authority governing the network; instead, it operates through a consensus mechanism among its participants. Decentralization ensures that no single entity has undue influence or control over the network, promoting censorship resistance and trustlessness.</a:t>
            </a:r>
          </a:p>
          <a:p>
            <a:pPr algn="just"/>
            <a:r>
              <a:rPr lang="en-US" b="1" i="0" dirty="0">
                <a:solidFill>
                  <a:srgbClr val="0D0D0D"/>
                </a:solidFill>
                <a:effectLst/>
                <a:latin typeface="Söhne"/>
              </a:rPr>
              <a:t>Security</a:t>
            </a:r>
            <a:r>
              <a:rPr lang="en-US" b="0" i="0" dirty="0">
                <a:solidFill>
                  <a:srgbClr val="0D0D0D"/>
                </a:solidFill>
                <a:effectLst/>
                <a:latin typeface="Söhne"/>
              </a:rPr>
              <a:t>: Security in the context of blockchain involves safeguarding the integrity and immutability of the data stored on the blockchain. This includes protection against various threats such as double-spending, tampering, and unauthorized access. Security mechanisms such as cryptographic algorithms, consensus protocols, and incentive structures are employed to maintain the integrity of the blockchain</a:t>
            </a:r>
            <a:endParaRPr lang="en-US" dirty="0"/>
          </a:p>
        </p:txBody>
      </p:sp>
    </p:spTree>
    <p:extLst>
      <p:ext uri="{BB962C8B-B14F-4D97-AF65-F5344CB8AC3E}">
        <p14:creationId xmlns:p14="http://schemas.microsoft.com/office/powerpoint/2010/main" val="3894574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3EDFD-60F2-52EF-A6E2-16D65F75DB6C}"/>
              </a:ext>
            </a:extLst>
          </p:cNvPr>
          <p:cNvSpPr>
            <a:spLocks noGrp="1"/>
          </p:cNvSpPr>
          <p:nvPr>
            <p:ph type="title"/>
          </p:nvPr>
        </p:nvSpPr>
        <p:spPr>
          <a:xfrm>
            <a:off x="1835700" y="198017"/>
            <a:ext cx="8520600" cy="881366"/>
          </a:xfrm>
        </p:spPr>
        <p:txBody>
          <a:bodyPr/>
          <a:lstStyle/>
          <a:p>
            <a:pPr algn="ctr"/>
            <a:r>
              <a:rPr lang="en-US" dirty="0"/>
              <a:t>Cont…</a:t>
            </a:r>
          </a:p>
        </p:txBody>
      </p:sp>
      <p:sp>
        <p:nvSpPr>
          <p:cNvPr id="3" name="Text Placeholder 2">
            <a:extLst>
              <a:ext uri="{FF2B5EF4-FFF2-40B4-BE49-F238E27FC236}">
                <a16:creationId xmlns:a16="http://schemas.microsoft.com/office/drawing/2014/main" id="{7FB33FB6-FBCA-E09F-5456-3890C21C930C}"/>
              </a:ext>
            </a:extLst>
          </p:cNvPr>
          <p:cNvSpPr>
            <a:spLocks noGrp="1"/>
          </p:cNvSpPr>
          <p:nvPr>
            <p:ph type="body" idx="1"/>
          </p:nvPr>
        </p:nvSpPr>
        <p:spPr>
          <a:xfrm>
            <a:off x="735157" y="1079383"/>
            <a:ext cx="10721686" cy="4472100"/>
          </a:xfrm>
        </p:spPr>
        <p:txBody>
          <a:bodyPr/>
          <a:lstStyle/>
          <a:p>
            <a:pPr algn="just"/>
            <a:r>
              <a:rPr lang="en-US" b="1" i="0" dirty="0">
                <a:solidFill>
                  <a:srgbClr val="0D0D0D"/>
                </a:solidFill>
                <a:effectLst/>
                <a:latin typeface="Söhne"/>
              </a:rPr>
              <a:t>Scalability</a:t>
            </a:r>
            <a:r>
              <a:rPr lang="en-US" b="0" i="0" dirty="0">
                <a:solidFill>
                  <a:srgbClr val="0D0D0D"/>
                </a:solidFill>
                <a:effectLst/>
                <a:latin typeface="Söhne"/>
              </a:rPr>
              <a:t>: Scalability refers to the ability of the blockchain network to handle an increasing number of transactions or users without sacrificing performance. As blockchain adoption grows, the network must scale to accommodate higher transaction throughput while maintaining low latency and reasonable fees. Scalability challenges arise due to factors such as block size limitations, network congestion, and the efficiency of consensus mechanisms.</a:t>
            </a:r>
          </a:p>
          <a:p>
            <a:pPr algn="just"/>
            <a:r>
              <a:rPr lang="en-US" b="0" i="0" dirty="0">
                <a:solidFill>
                  <a:srgbClr val="0D0D0D"/>
                </a:solidFill>
                <a:effectLst/>
                <a:latin typeface="Söhne"/>
              </a:rPr>
              <a:t>The Blockchain Trilemma posits that it's difficult to optimize all three aspects simultaneously. Improving one aspect often comes at the expense of another. For example, increasing scalability may require sacrificing some level of decentralization or security. Similarly, enhancing security might hinder scalability, and achieving high decentralization may introduce trade-offs in terms of scalability and security.</a:t>
            </a:r>
          </a:p>
          <a:p>
            <a:pPr algn="just"/>
            <a:r>
              <a:rPr lang="en-US" b="0" i="0" dirty="0">
                <a:solidFill>
                  <a:srgbClr val="0D0D0D"/>
                </a:solidFill>
                <a:effectLst/>
                <a:latin typeface="Söhne"/>
              </a:rPr>
              <a:t>Various blockchain projects and researchers continuously explore innovative solutions to address the Blockchain Trilemma, seeking a balance that optimizes all three dimensions according to the specific requirements and goals of the network. These efforts involve advancements in consensus algorithms, layer-2 scaling solutions, sharding, and other techniques aimed at mitigating the trade-offs inherent in the trilemma.</a:t>
            </a:r>
            <a:endParaRPr lang="en-US" dirty="0"/>
          </a:p>
        </p:txBody>
      </p:sp>
    </p:spTree>
    <p:extLst>
      <p:ext uri="{BB962C8B-B14F-4D97-AF65-F5344CB8AC3E}">
        <p14:creationId xmlns:p14="http://schemas.microsoft.com/office/powerpoint/2010/main" val="364338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7ADC-F615-5724-2E37-F17455419441}"/>
              </a:ext>
            </a:extLst>
          </p:cNvPr>
          <p:cNvSpPr>
            <a:spLocks noGrp="1"/>
          </p:cNvSpPr>
          <p:nvPr>
            <p:ph type="title"/>
          </p:nvPr>
        </p:nvSpPr>
        <p:spPr>
          <a:xfrm>
            <a:off x="3939701" y="525294"/>
            <a:ext cx="3638145" cy="868252"/>
          </a:xfrm>
        </p:spPr>
        <p:txBody>
          <a:bodyPr/>
          <a:lstStyle/>
          <a:p>
            <a:pPr algn="ctr"/>
            <a:r>
              <a:rPr lang="en-US" dirty="0"/>
              <a:t>CAP Theorem </a:t>
            </a:r>
          </a:p>
        </p:txBody>
      </p:sp>
      <p:sp>
        <p:nvSpPr>
          <p:cNvPr id="3" name="Text Placeholder 2">
            <a:extLst>
              <a:ext uri="{FF2B5EF4-FFF2-40B4-BE49-F238E27FC236}">
                <a16:creationId xmlns:a16="http://schemas.microsoft.com/office/drawing/2014/main" id="{7B98AF44-60F2-71B8-3827-FEA69F393C76}"/>
              </a:ext>
            </a:extLst>
          </p:cNvPr>
          <p:cNvSpPr>
            <a:spLocks noGrp="1"/>
          </p:cNvSpPr>
          <p:nvPr>
            <p:ph type="body" idx="1"/>
          </p:nvPr>
        </p:nvSpPr>
        <p:spPr/>
        <p:txBody>
          <a:bodyPr/>
          <a:lstStyle/>
          <a:p>
            <a:pPr marL="114300" indent="0" algn="just">
              <a:buNone/>
            </a:pPr>
            <a:r>
              <a:rPr lang="en-US" b="0" i="0" dirty="0">
                <a:solidFill>
                  <a:srgbClr val="0D0D0D"/>
                </a:solidFill>
                <a:effectLst/>
                <a:latin typeface="Söhne"/>
              </a:rPr>
              <a:t>According to the CAP (Consistency, Availability, Partition Tolerance) theorem applied to blockchain technology, it posits that achieving all three parameters—security, scalability, and decentralization—at 100% simultaneously is not feasible. In the case of Bitcoin, the use of the Proof of Work (PoW) consensus mechanism prioritizes security and decentralization, but at the expense of scalability.</a:t>
            </a:r>
          </a:p>
          <a:p>
            <a:pPr algn="just"/>
            <a:r>
              <a:rPr lang="en-US" b="1" i="0" dirty="0">
                <a:solidFill>
                  <a:srgbClr val="0D0D0D"/>
                </a:solidFill>
                <a:effectLst/>
                <a:latin typeface="Söhne"/>
              </a:rPr>
              <a:t>Security</a:t>
            </a:r>
            <a:r>
              <a:rPr lang="en-US" b="0" i="0" dirty="0">
                <a:solidFill>
                  <a:srgbClr val="0D0D0D"/>
                </a:solidFill>
                <a:effectLst/>
                <a:latin typeface="Söhne"/>
              </a:rPr>
              <a:t>: Bitcoin's Proof of Work consensus mechanism ensures a high level of security by requiring miners to perform computationally intensive tasks to validate transactions and add new blocks to the blockchain. This process makes it economically and practically infeasible for attackers to manipulate the blockchain's transaction history.</a:t>
            </a:r>
          </a:p>
          <a:p>
            <a:pPr algn="just"/>
            <a:r>
              <a:rPr lang="en-US" b="1" i="0" dirty="0">
                <a:solidFill>
                  <a:srgbClr val="0D0D0D"/>
                </a:solidFill>
                <a:effectLst/>
                <a:latin typeface="Söhne"/>
              </a:rPr>
              <a:t>Decentralization</a:t>
            </a:r>
            <a:r>
              <a:rPr lang="en-US" b="0" i="0" dirty="0">
                <a:solidFill>
                  <a:srgbClr val="0D0D0D"/>
                </a:solidFill>
                <a:effectLst/>
                <a:latin typeface="Söhne"/>
              </a:rPr>
              <a:t>: Bitcoin is designed to be decentralized, meaning that no single entity or group has control over the network. The distributed nature of the blockchain, combined with the PoW consensus mechanism, allows anyone to participate in the network as a miner and contribute to the validation of transactions without requiring permission from a central authority.</a:t>
            </a:r>
            <a:endParaRPr lang="en-US" dirty="0"/>
          </a:p>
        </p:txBody>
      </p:sp>
    </p:spTree>
    <p:extLst>
      <p:ext uri="{BB962C8B-B14F-4D97-AF65-F5344CB8AC3E}">
        <p14:creationId xmlns:p14="http://schemas.microsoft.com/office/powerpoint/2010/main" val="2799772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1CA9F1-205E-90B6-C7FA-C1D36768D981}"/>
              </a:ext>
            </a:extLst>
          </p:cNvPr>
          <p:cNvSpPr>
            <a:spLocks noGrp="1"/>
          </p:cNvSpPr>
          <p:nvPr>
            <p:ph type="body" idx="1"/>
          </p:nvPr>
        </p:nvSpPr>
        <p:spPr>
          <a:xfrm>
            <a:off x="415925" y="1429352"/>
            <a:ext cx="11360800" cy="4472100"/>
          </a:xfrm>
        </p:spPr>
        <p:txBody>
          <a:bodyPr/>
          <a:lstStyle/>
          <a:p>
            <a:pPr algn="just"/>
            <a:r>
              <a:rPr lang="en-US" b="1" i="0" dirty="0">
                <a:solidFill>
                  <a:srgbClr val="0D0D0D"/>
                </a:solidFill>
                <a:effectLst/>
                <a:latin typeface="Söhne"/>
              </a:rPr>
              <a:t>Scalability</a:t>
            </a:r>
            <a:r>
              <a:rPr lang="en-US" b="0" i="0" dirty="0">
                <a:solidFill>
                  <a:srgbClr val="0D0D0D"/>
                </a:solidFill>
                <a:effectLst/>
                <a:latin typeface="Söhne"/>
              </a:rPr>
              <a:t>: However, Bitcoin's scalability is limited due to the design choices made to prioritize security and decentralization. The PoW consensus mechanism, while effective at preventing double-spending and securing the network, imposes a bottleneck on transaction throughput. As a result, Bitcoin's transaction processing capacity is limited, leading to congestion and higher transaction fees during periods of high demand.</a:t>
            </a:r>
          </a:p>
          <a:p>
            <a:pPr marL="114300" indent="0" algn="just">
              <a:buNone/>
            </a:pPr>
            <a:r>
              <a:rPr lang="en-US" b="0" i="0" dirty="0">
                <a:solidFill>
                  <a:srgbClr val="0D0D0D"/>
                </a:solidFill>
                <a:effectLst/>
                <a:latin typeface="Söhne"/>
              </a:rPr>
              <a:t>In summary, Bitcoin achieves high levels of security and decentralization but sacrifices scalability due to its reliance on the Proof of Work consensus mechanism. This trade-off reflects the inherent limitations imposed by the CAP theorem on blockchain systems, where optimizing one parameter often comes at the expense of others.</a:t>
            </a:r>
            <a:endParaRPr lang="en-US" dirty="0"/>
          </a:p>
        </p:txBody>
      </p:sp>
      <p:sp>
        <p:nvSpPr>
          <p:cNvPr id="4" name="Title 1">
            <a:extLst>
              <a:ext uri="{FF2B5EF4-FFF2-40B4-BE49-F238E27FC236}">
                <a16:creationId xmlns:a16="http://schemas.microsoft.com/office/drawing/2014/main" id="{0141FEFA-CE00-4B70-2103-E1E0A4659F02}"/>
              </a:ext>
            </a:extLst>
          </p:cNvPr>
          <p:cNvSpPr>
            <a:spLocks noGrp="1"/>
          </p:cNvSpPr>
          <p:nvPr>
            <p:ph type="title"/>
          </p:nvPr>
        </p:nvSpPr>
        <p:spPr>
          <a:xfrm>
            <a:off x="415925" y="420688"/>
            <a:ext cx="11360150" cy="843908"/>
          </a:xfrm>
        </p:spPr>
        <p:txBody>
          <a:bodyPr/>
          <a:lstStyle/>
          <a:p>
            <a:pPr algn="ctr"/>
            <a:r>
              <a:rPr lang="en-US" dirty="0"/>
              <a:t>Cont…</a:t>
            </a:r>
          </a:p>
        </p:txBody>
      </p:sp>
    </p:spTree>
    <p:extLst>
      <p:ext uri="{BB962C8B-B14F-4D97-AF65-F5344CB8AC3E}">
        <p14:creationId xmlns:p14="http://schemas.microsoft.com/office/powerpoint/2010/main" val="3465629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7CC65-CF1B-F7C9-FD0E-D8372DC7DB80}"/>
              </a:ext>
            </a:extLst>
          </p:cNvPr>
          <p:cNvSpPr>
            <a:spLocks noGrp="1"/>
          </p:cNvSpPr>
          <p:nvPr>
            <p:ph type="title"/>
          </p:nvPr>
        </p:nvSpPr>
        <p:spPr>
          <a:xfrm>
            <a:off x="1835700" y="336719"/>
            <a:ext cx="8520600" cy="831097"/>
          </a:xfrm>
        </p:spPr>
        <p:txBody>
          <a:bodyPr/>
          <a:lstStyle/>
          <a:p>
            <a:pPr algn="ctr"/>
            <a:r>
              <a:rPr lang="en-US" dirty="0"/>
              <a:t>Layers 0,1,2,3</a:t>
            </a:r>
          </a:p>
        </p:txBody>
      </p:sp>
      <p:sp>
        <p:nvSpPr>
          <p:cNvPr id="3" name="Text Placeholder 2">
            <a:extLst>
              <a:ext uri="{FF2B5EF4-FFF2-40B4-BE49-F238E27FC236}">
                <a16:creationId xmlns:a16="http://schemas.microsoft.com/office/drawing/2014/main" id="{EE78E08C-4A42-2FCF-6400-0D5861D9AC38}"/>
              </a:ext>
            </a:extLst>
          </p:cNvPr>
          <p:cNvSpPr>
            <a:spLocks noGrp="1"/>
          </p:cNvSpPr>
          <p:nvPr>
            <p:ph type="body" idx="1"/>
          </p:nvPr>
        </p:nvSpPr>
        <p:spPr>
          <a:xfrm>
            <a:off x="496111" y="1393402"/>
            <a:ext cx="10933890" cy="4472100"/>
          </a:xfrm>
        </p:spPr>
        <p:txBody>
          <a:bodyPr/>
          <a:lstStyle/>
          <a:p>
            <a:pPr algn="just"/>
            <a:r>
              <a:rPr lang="en-US" i="0" dirty="0">
                <a:solidFill>
                  <a:srgbClr val="0D0D0D"/>
                </a:solidFill>
                <a:effectLst/>
                <a:latin typeface="Söhne"/>
              </a:rPr>
              <a:t>Now a day new blockchain uses the concept of </a:t>
            </a:r>
            <a:r>
              <a:rPr lang="en-US" b="1" i="0" dirty="0">
                <a:solidFill>
                  <a:srgbClr val="0D0D0D"/>
                </a:solidFill>
                <a:effectLst/>
                <a:latin typeface="Söhne"/>
              </a:rPr>
              <a:t>Layers</a:t>
            </a:r>
            <a:r>
              <a:rPr lang="en-US" i="0" dirty="0">
                <a:solidFill>
                  <a:srgbClr val="0D0D0D"/>
                </a:solidFill>
                <a:effectLst/>
                <a:latin typeface="Söhne"/>
              </a:rPr>
              <a:t> to fulfill simultaneously </a:t>
            </a:r>
            <a:r>
              <a:rPr lang="en-US" b="1" i="0" dirty="0">
                <a:solidFill>
                  <a:srgbClr val="0D0D0D"/>
                </a:solidFill>
                <a:effectLst/>
                <a:latin typeface="Söhne"/>
              </a:rPr>
              <a:t>scalability, security, and decentralization. </a:t>
            </a:r>
            <a:r>
              <a:rPr lang="en-US" i="0" dirty="0">
                <a:solidFill>
                  <a:srgbClr val="0D0D0D"/>
                </a:solidFill>
                <a:effectLst/>
                <a:latin typeface="Söhne"/>
              </a:rPr>
              <a:t>Layers are programming Script</a:t>
            </a:r>
            <a:r>
              <a:rPr lang="en-US" dirty="0">
                <a:solidFill>
                  <a:srgbClr val="0D0D0D"/>
                </a:solidFill>
                <a:latin typeface="Söhne"/>
              </a:rPr>
              <a:t>. Besides, each layer perform a specific task </a:t>
            </a:r>
            <a:endParaRPr lang="en-US" i="0" dirty="0">
              <a:solidFill>
                <a:srgbClr val="0D0D0D"/>
              </a:solidFill>
              <a:effectLst/>
              <a:latin typeface="Söhne"/>
            </a:endParaRPr>
          </a:p>
          <a:p>
            <a:pPr algn="just"/>
            <a:r>
              <a:rPr lang="en-US" b="1" i="0" dirty="0">
                <a:solidFill>
                  <a:srgbClr val="0D0D0D"/>
                </a:solidFill>
                <a:effectLst/>
                <a:latin typeface="Söhne"/>
              </a:rPr>
              <a:t>Layer 0 - Foundation of Blockchain</a:t>
            </a:r>
            <a:r>
              <a:rPr lang="en-US" b="0" i="0" dirty="0">
                <a:solidFill>
                  <a:srgbClr val="0D0D0D"/>
                </a:solidFill>
                <a:effectLst/>
                <a:latin typeface="Söhne"/>
              </a:rPr>
              <a:t>: Layer 0 can be seen as the foundational layer that underpins the entire blockchain ecosystem. This layer includes the core principles, protocols, and infrastructure upon which blockchain networks are built. It encompasses the fundamental concepts such as cryptographic techniques, distributed systems theory, and network protocols that provide the basis for the secure and decentralized operation of blockchain systems. Additionally, Layer 0 may also include the physical infrastructure such as hardware components (e.g., nodes, miners) and network infrastructure (e.g., internet connectivity, data centers) that support the functioning of blockchain networks. In essence, Layer 0 establishes the groundwork for the secure and reliable operation of blockchain technology.</a:t>
            </a:r>
            <a:endParaRPr lang="en-US" dirty="0"/>
          </a:p>
        </p:txBody>
      </p:sp>
    </p:spTree>
    <p:extLst>
      <p:ext uri="{BB962C8B-B14F-4D97-AF65-F5344CB8AC3E}">
        <p14:creationId xmlns:p14="http://schemas.microsoft.com/office/powerpoint/2010/main" val="3731273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17EC9B2-019C-97D7-8152-515485F2AE1D}"/>
              </a:ext>
            </a:extLst>
          </p:cNvPr>
          <p:cNvSpPr>
            <a:spLocks noGrp="1"/>
          </p:cNvSpPr>
          <p:nvPr>
            <p:ph type="body" idx="1"/>
          </p:nvPr>
        </p:nvSpPr>
        <p:spPr>
          <a:xfrm>
            <a:off x="658238" y="1192950"/>
            <a:ext cx="10875524" cy="4472100"/>
          </a:xfrm>
        </p:spPr>
        <p:txBody>
          <a:bodyPr/>
          <a:lstStyle/>
          <a:p>
            <a:pPr algn="just"/>
            <a:r>
              <a:rPr lang="en-US" b="1" i="0" dirty="0">
                <a:solidFill>
                  <a:srgbClr val="0D0D0D"/>
                </a:solidFill>
                <a:effectLst/>
                <a:latin typeface="Söhne"/>
              </a:rPr>
              <a:t>Layer 1 - Security of Blockchain</a:t>
            </a:r>
            <a:r>
              <a:rPr lang="en-US" b="0" i="0" dirty="0">
                <a:solidFill>
                  <a:srgbClr val="0D0D0D"/>
                </a:solidFill>
                <a:effectLst/>
                <a:latin typeface="Söhne"/>
              </a:rPr>
              <a:t>: Layer 1 focuses on the security aspects of blockchain systems. This includes mechanisms and protocols designed to ensure the integrity, confidentiality, and resilience of the blockchain network against various threats and attacks. At this layer, cryptographic techniques such as hash functions, digital signatures, and encryption are employed to secure transactions and data on the blockchain. Additionally, consensus mechanisms play a crucial role in ensuring the immutability and consistency of the blockchain ledger by preventing double-spending and malicious activities. Layer 1 also encompasses features such as permission models, access controls, and validation mechanisms that contribute to the overall security posture of the blockchain network.</a:t>
            </a:r>
            <a:endParaRPr lang="en-US" dirty="0"/>
          </a:p>
        </p:txBody>
      </p:sp>
      <p:sp>
        <p:nvSpPr>
          <p:cNvPr id="2" name="Title 1">
            <a:extLst>
              <a:ext uri="{FF2B5EF4-FFF2-40B4-BE49-F238E27FC236}">
                <a16:creationId xmlns:a16="http://schemas.microsoft.com/office/drawing/2014/main" id="{BBECFE12-668A-4339-3676-81315EA9B5EC}"/>
              </a:ext>
            </a:extLst>
          </p:cNvPr>
          <p:cNvSpPr>
            <a:spLocks noGrp="1"/>
          </p:cNvSpPr>
          <p:nvPr>
            <p:ph type="title"/>
          </p:nvPr>
        </p:nvSpPr>
        <p:spPr>
          <a:xfrm>
            <a:off x="1835700" y="198017"/>
            <a:ext cx="8520600" cy="881366"/>
          </a:xfrm>
        </p:spPr>
        <p:txBody>
          <a:bodyPr/>
          <a:lstStyle/>
          <a:p>
            <a:pPr algn="ctr"/>
            <a:r>
              <a:rPr lang="en-US" dirty="0"/>
              <a:t>Cont…</a:t>
            </a:r>
          </a:p>
        </p:txBody>
      </p:sp>
    </p:spTree>
    <p:extLst>
      <p:ext uri="{BB962C8B-B14F-4D97-AF65-F5344CB8AC3E}">
        <p14:creationId xmlns:p14="http://schemas.microsoft.com/office/powerpoint/2010/main" val="1319062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B024F6-A6D0-DE13-BE69-CDA810FB17AA}"/>
              </a:ext>
            </a:extLst>
          </p:cNvPr>
          <p:cNvSpPr>
            <a:spLocks noGrp="1"/>
          </p:cNvSpPr>
          <p:nvPr>
            <p:ph type="body" idx="1"/>
          </p:nvPr>
        </p:nvSpPr>
        <p:spPr>
          <a:xfrm>
            <a:off x="797667" y="1308179"/>
            <a:ext cx="10904707" cy="4472100"/>
          </a:xfrm>
        </p:spPr>
        <p:txBody>
          <a:bodyPr/>
          <a:lstStyle/>
          <a:p>
            <a:pPr marL="114300" indent="0" algn="just">
              <a:buNone/>
            </a:pPr>
            <a:r>
              <a:rPr lang="en-US" b="1" i="0" dirty="0">
                <a:solidFill>
                  <a:srgbClr val="0D0D0D"/>
                </a:solidFill>
                <a:effectLst/>
                <a:latin typeface="Söhne"/>
              </a:rPr>
              <a:t>Layer 2 - Scalability of Blockchain</a:t>
            </a:r>
            <a:r>
              <a:rPr lang="en-US" b="0" i="0" dirty="0">
                <a:solidFill>
                  <a:srgbClr val="0D0D0D"/>
                </a:solidFill>
                <a:effectLst/>
                <a:latin typeface="Söhne"/>
              </a:rPr>
              <a:t>: Layer 2 addresses the scalability challenges faced by blockchain systems. Scalability refers to the ability of the blockchain network to handle increasing transaction volumes and accommodate a growing user base without compromising performance or efficiency. Layer 2 solutions aim to improve the throughput, latency, and capacity of blockchain networks by introducing off-chain techniques, layering mechanisms, or alternative architectures that complement the underlying blockchain protocol. Examples of Layer 2 scalability solutions include payment channels (e.g., Lightning Network), sidechains, state channels, and off-chain computation frameworks. These solutions offload some of the transaction processing or computation tasks from the main blockchain, thereby alleviating congestion and improving overall scalability while maintaining the security guarantees of the underlying blockchain. </a:t>
            </a:r>
            <a:r>
              <a:rPr lang="en-US" dirty="0">
                <a:solidFill>
                  <a:srgbClr val="0D0D0D"/>
                </a:solidFill>
                <a:latin typeface="Söhne"/>
              </a:rPr>
              <a:t>i.e. </a:t>
            </a:r>
            <a:endParaRPr lang="en-US" b="0" i="0" dirty="0">
              <a:solidFill>
                <a:srgbClr val="0D0D0D"/>
              </a:solidFill>
              <a:effectLst/>
              <a:latin typeface="Söhne"/>
            </a:endParaRPr>
          </a:p>
          <a:p>
            <a:pPr algn="just"/>
            <a:r>
              <a:rPr lang="en-US" dirty="0">
                <a:solidFill>
                  <a:srgbClr val="0D0D0D"/>
                </a:solidFill>
                <a:latin typeface="Söhne"/>
              </a:rPr>
              <a:t>Polygon is a Layer 2 blockchain that aims to help Ethereum with its scalability. By acting as a Layer 2 protocol, Polygon doesn't aim to duplicate Ethereum's functionality. Instead, it helps improve transaction speeds and lower costs for developers</a:t>
            </a:r>
          </a:p>
          <a:p>
            <a:pPr algn="just"/>
            <a:r>
              <a:rPr lang="en-US" dirty="0">
                <a:solidFill>
                  <a:srgbClr val="0D0D0D"/>
                </a:solidFill>
                <a:latin typeface="Söhne"/>
              </a:rPr>
              <a:t>The Polygon MATIC blockchain is a secure and reliable blockchain solution. It uses a distributed ledger technology that is decentralized and peer-to-peer. This means that there is no single point of failure and it is not controlled by a single entity. This makes it secure and reliable.</a:t>
            </a:r>
          </a:p>
          <a:p>
            <a:pPr marL="114300" indent="0">
              <a:buNone/>
            </a:pPr>
            <a:endParaRPr lang="en-US" dirty="0"/>
          </a:p>
        </p:txBody>
      </p:sp>
      <p:sp>
        <p:nvSpPr>
          <p:cNvPr id="2" name="Title 1">
            <a:extLst>
              <a:ext uri="{FF2B5EF4-FFF2-40B4-BE49-F238E27FC236}">
                <a16:creationId xmlns:a16="http://schemas.microsoft.com/office/drawing/2014/main" id="{9F9693AE-EC57-9359-7F1B-7ED3C8494416}"/>
              </a:ext>
            </a:extLst>
          </p:cNvPr>
          <p:cNvSpPr>
            <a:spLocks noGrp="1"/>
          </p:cNvSpPr>
          <p:nvPr>
            <p:ph type="title"/>
          </p:nvPr>
        </p:nvSpPr>
        <p:spPr>
          <a:xfrm>
            <a:off x="1835700" y="426813"/>
            <a:ext cx="8520600" cy="881366"/>
          </a:xfrm>
        </p:spPr>
        <p:txBody>
          <a:bodyPr/>
          <a:lstStyle/>
          <a:p>
            <a:pPr algn="ctr"/>
            <a:r>
              <a:rPr lang="en-US" dirty="0"/>
              <a:t>Cont…</a:t>
            </a:r>
          </a:p>
        </p:txBody>
      </p:sp>
    </p:spTree>
    <p:extLst>
      <p:ext uri="{BB962C8B-B14F-4D97-AF65-F5344CB8AC3E}">
        <p14:creationId xmlns:p14="http://schemas.microsoft.com/office/powerpoint/2010/main" val="3642537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6A1C4C-7E4E-D557-E888-251D55783A0F}"/>
              </a:ext>
            </a:extLst>
          </p:cNvPr>
          <p:cNvSpPr>
            <a:spLocks noGrp="1"/>
          </p:cNvSpPr>
          <p:nvPr>
            <p:ph type="body" idx="1"/>
          </p:nvPr>
        </p:nvSpPr>
        <p:spPr>
          <a:xfrm>
            <a:off x="632298" y="1192950"/>
            <a:ext cx="10719881" cy="4472100"/>
          </a:xfrm>
        </p:spPr>
        <p:txBody>
          <a:bodyPr/>
          <a:lstStyle/>
          <a:p>
            <a:pPr algn="just"/>
            <a:r>
              <a:rPr lang="en-US" b="1" i="0" dirty="0">
                <a:solidFill>
                  <a:srgbClr val="0D0D0D"/>
                </a:solidFill>
                <a:effectLst/>
                <a:latin typeface="Söhne"/>
              </a:rPr>
              <a:t>Layer 3 - User Interface of Blockchain</a:t>
            </a:r>
            <a:r>
              <a:rPr lang="en-US" b="0" i="0" dirty="0">
                <a:solidFill>
                  <a:srgbClr val="0D0D0D"/>
                </a:solidFill>
                <a:effectLst/>
                <a:latin typeface="Söhne"/>
              </a:rPr>
              <a:t>: Layer 3 focuses on the user interface and interaction aspects of blockchain applications. This layer includes the interfaces, applications, and user experiences that enable individuals or entities to interact with blockchain networks and utilize blockchain-based services. User interfaces (UIs) such as web interfaces, mobile apps, and desktop applications provide users with intuitive and accessible ways to create wallets, send and receive transactions, view account balances, and interact with smart contracts. Additionally, Layer 3 may encompass developer tools, APIs, and SDKs that facilitate the development of decentralized applications (</a:t>
            </a:r>
            <a:r>
              <a:rPr lang="en-US" b="0" i="0" dirty="0" err="1">
                <a:solidFill>
                  <a:srgbClr val="0D0D0D"/>
                </a:solidFill>
                <a:effectLst/>
                <a:latin typeface="Söhne"/>
              </a:rPr>
              <a:t>DApps</a:t>
            </a:r>
            <a:r>
              <a:rPr lang="en-US" b="0" i="0" dirty="0">
                <a:solidFill>
                  <a:srgbClr val="0D0D0D"/>
                </a:solidFill>
                <a:effectLst/>
                <a:latin typeface="Söhne"/>
              </a:rPr>
              <a:t>) and integration with blockchain networks. The goal of Layer 3 is to democratize access to blockchain technology and make it user-friendly for a wide range of users, including developers, businesses, and end consumers.</a:t>
            </a:r>
          </a:p>
          <a:p>
            <a:pPr marL="114300" indent="0" algn="just">
              <a:buNone/>
            </a:pPr>
            <a:r>
              <a:rPr lang="en-US" b="0" i="0" dirty="0">
                <a:solidFill>
                  <a:srgbClr val="0D0D0D"/>
                </a:solidFill>
                <a:effectLst/>
                <a:latin typeface="Söhne"/>
              </a:rPr>
              <a:t>Overall, these layers work together to establish a robust foundation for blockchain technology, ensuring security, scalability, and usability while enabling the decentralized and trustless exchange of value and information.</a:t>
            </a:r>
            <a:endParaRPr lang="en-US" dirty="0"/>
          </a:p>
        </p:txBody>
      </p:sp>
      <p:sp>
        <p:nvSpPr>
          <p:cNvPr id="2" name="Title 1">
            <a:extLst>
              <a:ext uri="{FF2B5EF4-FFF2-40B4-BE49-F238E27FC236}">
                <a16:creationId xmlns:a16="http://schemas.microsoft.com/office/drawing/2014/main" id="{FCED23BE-9758-09F0-9A97-70B65018E6F1}"/>
              </a:ext>
            </a:extLst>
          </p:cNvPr>
          <p:cNvSpPr>
            <a:spLocks noGrp="1"/>
          </p:cNvSpPr>
          <p:nvPr>
            <p:ph type="title"/>
          </p:nvPr>
        </p:nvSpPr>
        <p:spPr>
          <a:xfrm>
            <a:off x="1835700" y="198017"/>
            <a:ext cx="8520600" cy="881366"/>
          </a:xfrm>
        </p:spPr>
        <p:txBody>
          <a:bodyPr/>
          <a:lstStyle/>
          <a:p>
            <a:pPr algn="ctr"/>
            <a:r>
              <a:rPr lang="en-US" dirty="0"/>
              <a:t>Cont…</a:t>
            </a:r>
          </a:p>
        </p:txBody>
      </p:sp>
    </p:spTree>
    <p:extLst>
      <p:ext uri="{BB962C8B-B14F-4D97-AF65-F5344CB8AC3E}">
        <p14:creationId xmlns:p14="http://schemas.microsoft.com/office/powerpoint/2010/main" val="1707442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8FB1B-566F-45A4-877A-C6A673917E16}"/>
              </a:ext>
            </a:extLst>
          </p:cNvPr>
          <p:cNvSpPr>
            <a:spLocks noGrp="1"/>
          </p:cNvSpPr>
          <p:nvPr>
            <p:ph type="title"/>
          </p:nvPr>
        </p:nvSpPr>
        <p:spPr>
          <a:xfrm>
            <a:off x="2064300" y="172755"/>
            <a:ext cx="8520600" cy="1108500"/>
          </a:xfrm>
        </p:spPr>
        <p:txBody>
          <a:bodyPr/>
          <a:lstStyle/>
          <a:p>
            <a:pPr algn="ctr"/>
            <a:r>
              <a:rPr lang="en-US" dirty="0"/>
              <a:t>Layers in Blockchain</a:t>
            </a:r>
          </a:p>
        </p:txBody>
      </p:sp>
      <p:sp>
        <p:nvSpPr>
          <p:cNvPr id="3" name="Text Placeholder 2">
            <a:extLst>
              <a:ext uri="{FF2B5EF4-FFF2-40B4-BE49-F238E27FC236}">
                <a16:creationId xmlns:a16="http://schemas.microsoft.com/office/drawing/2014/main" id="{8F351060-F763-A369-33F8-1EBA4DA15B66}"/>
              </a:ext>
            </a:extLst>
          </p:cNvPr>
          <p:cNvSpPr>
            <a:spLocks noGrp="1"/>
          </p:cNvSpPr>
          <p:nvPr>
            <p:ph type="body" idx="1"/>
          </p:nvPr>
        </p:nvSpPr>
        <p:spPr>
          <a:xfrm>
            <a:off x="476655" y="1192950"/>
            <a:ext cx="11108988" cy="4472100"/>
          </a:xfrm>
        </p:spPr>
        <p:txBody>
          <a:bodyPr/>
          <a:lstStyle/>
          <a:p>
            <a:pPr marL="114300" indent="0" algn="just">
              <a:buNone/>
            </a:pPr>
            <a:r>
              <a:rPr lang="en-US" b="0" i="0" dirty="0">
                <a:solidFill>
                  <a:srgbClr val="0D0D0D"/>
                </a:solidFill>
                <a:effectLst/>
                <a:latin typeface="Söhne"/>
              </a:rPr>
              <a:t>In the context of blockchain technology, there isn't a universally standardized framework for categorizing blockchain layers, but I'll provide an overview of the typical layers involved in most blockchain systems. These layers represent different aspects of the technology stack, each serving specific functions within the blockchain ecosystem:</a:t>
            </a:r>
          </a:p>
          <a:p>
            <a:pPr algn="just"/>
            <a:r>
              <a:rPr lang="en-US" b="1" i="0" dirty="0">
                <a:solidFill>
                  <a:srgbClr val="0D0D0D"/>
                </a:solidFill>
                <a:effectLst/>
                <a:latin typeface="Söhne"/>
              </a:rPr>
              <a:t>Protocol Layer</a:t>
            </a:r>
            <a:r>
              <a:rPr lang="en-US" b="0" i="0" dirty="0">
                <a:solidFill>
                  <a:srgbClr val="0D0D0D"/>
                </a:solidFill>
                <a:effectLst/>
                <a:latin typeface="Söhne"/>
              </a:rPr>
              <a:t>:</a:t>
            </a:r>
          </a:p>
          <a:p>
            <a:pPr algn="just">
              <a:buFont typeface="Arial" panose="020B0604020202020204" pitchFamily="34" charset="0"/>
              <a:buChar char="•"/>
            </a:pPr>
            <a:r>
              <a:rPr lang="en-US" b="0" i="0" dirty="0">
                <a:solidFill>
                  <a:srgbClr val="0D0D0D"/>
                </a:solidFill>
                <a:effectLst/>
                <a:latin typeface="Söhne"/>
              </a:rPr>
              <a:t>The protocol layer encompasses the core protocols and rules that govern the operation of the blockchain network. This includes the consensus mechanism, which determines how transactions are validated and added to the blockchain, as well as the network protocol, which facilitates communication between nodes.</a:t>
            </a:r>
          </a:p>
          <a:p>
            <a:pPr algn="just">
              <a:buFont typeface="Arial" panose="020B0604020202020204" pitchFamily="34" charset="0"/>
              <a:buChar char="•"/>
            </a:pPr>
            <a:r>
              <a:rPr lang="en-US" b="0" i="0" dirty="0">
                <a:solidFill>
                  <a:srgbClr val="0D0D0D"/>
                </a:solidFill>
                <a:effectLst/>
                <a:latin typeface="Söhne"/>
              </a:rPr>
              <a:t>Consensus Mechanism: This protocol ensures that all nodes in the network agree on the state of the blockchain. Examples include Proof of Work (PoW), Proof of Stake (PoS), Delegated Proof of Stake (DPoS), and Practical Byzantine Fault Tolerance (PBFT).</a:t>
            </a:r>
          </a:p>
          <a:p>
            <a:pPr algn="just">
              <a:buFont typeface="Arial" panose="020B0604020202020204" pitchFamily="34" charset="0"/>
              <a:buChar char="•"/>
            </a:pPr>
            <a:r>
              <a:rPr lang="en-US" b="0" i="0" dirty="0">
                <a:solidFill>
                  <a:srgbClr val="0D0D0D"/>
                </a:solidFill>
                <a:effectLst/>
                <a:latin typeface="Söhne"/>
              </a:rPr>
              <a:t>Network Protocol: This protocol defines how nodes communicate with each other, exchange data, and synchronize the blockchain. Common examples include TCP/IP, HTTP, </a:t>
            </a:r>
            <a:r>
              <a:rPr lang="en-US" b="0" i="0" dirty="0" err="1">
                <a:solidFill>
                  <a:srgbClr val="0D0D0D"/>
                </a:solidFill>
                <a:effectLst/>
                <a:latin typeface="Söhne"/>
              </a:rPr>
              <a:t>WebSockets</a:t>
            </a:r>
            <a:r>
              <a:rPr lang="en-US" b="0" i="0" dirty="0">
                <a:solidFill>
                  <a:srgbClr val="0D0D0D"/>
                </a:solidFill>
                <a:effectLst/>
                <a:latin typeface="Söhne"/>
              </a:rPr>
              <a:t>, and custom peer-to-peer protocols.</a:t>
            </a:r>
          </a:p>
          <a:p>
            <a:pPr marL="114300" indent="0">
              <a:buNone/>
            </a:pPr>
            <a:endParaRPr lang="en-US" dirty="0"/>
          </a:p>
        </p:txBody>
      </p:sp>
    </p:spTree>
    <p:extLst>
      <p:ext uri="{BB962C8B-B14F-4D97-AF65-F5344CB8AC3E}">
        <p14:creationId xmlns:p14="http://schemas.microsoft.com/office/powerpoint/2010/main" val="1987086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5A144-11B2-B1A4-565D-FD5DCBB60F0B}"/>
              </a:ext>
            </a:extLst>
          </p:cNvPr>
          <p:cNvSpPr>
            <a:spLocks noGrp="1"/>
          </p:cNvSpPr>
          <p:nvPr>
            <p:ph type="title"/>
          </p:nvPr>
        </p:nvSpPr>
        <p:spPr>
          <a:xfrm>
            <a:off x="1835700" y="421233"/>
            <a:ext cx="8520600" cy="850976"/>
          </a:xfrm>
        </p:spPr>
        <p:txBody>
          <a:bodyPr/>
          <a:lstStyle/>
          <a:p>
            <a:pPr algn="ctr"/>
            <a:r>
              <a:rPr lang="en-US" dirty="0"/>
              <a:t>Cont…</a:t>
            </a:r>
          </a:p>
        </p:txBody>
      </p:sp>
      <p:sp>
        <p:nvSpPr>
          <p:cNvPr id="3" name="Text Placeholder 2">
            <a:extLst>
              <a:ext uri="{FF2B5EF4-FFF2-40B4-BE49-F238E27FC236}">
                <a16:creationId xmlns:a16="http://schemas.microsoft.com/office/drawing/2014/main" id="{4D0C0340-63C4-9286-640E-035C589BB47E}"/>
              </a:ext>
            </a:extLst>
          </p:cNvPr>
          <p:cNvSpPr>
            <a:spLocks noGrp="1"/>
          </p:cNvSpPr>
          <p:nvPr>
            <p:ph type="body" idx="1"/>
          </p:nvPr>
        </p:nvSpPr>
        <p:spPr>
          <a:xfrm>
            <a:off x="622569" y="1272209"/>
            <a:ext cx="10953345" cy="4472100"/>
          </a:xfrm>
        </p:spPr>
        <p:txBody>
          <a:bodyPr/>
          <a:lstStyle/>
          <a:p>
            <a:pPr algn="just"/>
            <a:r>
              <a:rPr lang="en-US" b="1" i="0" dirty="0">
                <a:solidFill>
                  <a:srgbClr val="0D0D0D"/>
                </a:solidFill>
                <a:effectLst/>
                <a:latin typeface="Söhne"/>
              </a:rPr>
              <a:t>Data Layer</a:t>
            </a:r>
            <a:r>
              <a:rPr lang="en-US" b="0" i="0" dirty="0">
                <a:solidFill>
                  <a:srgbClr val="0D0D0D"/>
                </a:solidFill>
                <a:effectLst/>
                <a:latin typeface="Söhne"/>
              </a:rPr>
              <a:t>:</a:t>
            </a:r>
          </a:p>
          <a:p>
            <a:pPr algn="just">
              <a:buFont typeface="Arial" panose="020B0604020202020204" pitchFamily="34" charset="0"/>
              <a:buChar char="•"/>
            </a:pPr>
            <a:r>
              <a:rPr lang="en-US" b="0" i="0" dirty="0">
                <a:solidFill>
                  <a:srgbClr val="0D0D0D"/>
                </a:solidFill>
                <a:effectLst/>
                <a:latin typeface="Söhne"/>
              </a:rPr>
              <a:t>The data layer is responsible for storing and managing the blockchain's data. It includes the blockchain database, which contains the immutable record of transactions, blocks, and other metadata.</a:t>
            </a:r>
          </a:p>
          <a:p>
            <a:pPr algn="just">
              <a:buFont typeface="Arial" panose="020B0604020202020204" pitchFamily="34" charset="0"/>
              <a:buChar char="•"/>
            </a:pPr>
            <a:r>
              <a:rPr lang="en-US" b="0" i="0" dirty="0">
                <a:solidFill>
                  <a:srgbClr val="0D0D0D"/>
                </a:solidFill>
                <a:effectLst/>
                <a:latin typeface="Söhne"/>
              </a:rPr>
              <a:t>Blockchain Database: This is where the transaction history is stored in a distributed and append-only manner. It typically consists of blocks, each containing a batch of transactions, linked together in a chronological order to form a chain.</a:t>
            </a:r>
          </a:p>
          <a:p>
            <a:pPr algn="just">
              <a:buFont typeface="Arial" panose="020B0604020202020204" pitchFamily="34" charset="0"/>
              <a:buChar char="•"/>
            </a:pPr>
            <a:r>
              <a:rPr lang="en-US" b="0" i="0" dirty="0">
                <a:solidFill>
                  <a:srgbClr val="0D0D0D"/>
                </a:solidFill>
                <a:effectLst/>
                <a:latin typeface="Söhne"/>
              </a:rPr>
              <a:t>Cryptographic Techniques: Cryptography is used to secure the integrity and authenticity of data on the blockchain. Techniques such as hash functions, digital signatures, and cryptographic hashing algorithms are employed to ensure data integrity and prevent tampering.</a:t>
            </a:r>
          </a:p>
          <a:p>
            <a:endParaRPr lang="en-US" dirty="0"/>
          </a:p>
        </p:txBody>
      </p:sp>
    </p:spTree>
    <p:extLst>
      <p:ext uri="{BB962C8B-B14F-4D97-AF65-F5344CB8AC3E}">
        <p14:creationId xmlns:p14="http://schemas.microsoft.com/office/powerpoint/2010/main" val="519115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916781-DF21-2F98-6548-8ED0FA6680F8}"/>
              </a:ext>
            </a:extLst>
          </p:cNvPr>
          <p:cNvSpPr>
            <a:spLocks noGrp="1"/>
          </p:cNvSpPr>
          <p:nvPr>
            <p:ph type="body" idx="1"/>
          </p:nvPr>
        </p:nvSpPr>
        <p:spPr>
          <a:xfrm>
            <a:off x="680937" y="1272209"/>
            <a:ext cx="10894978" cy="4472100"/>
          </a:xfrm>
        </p:spPr>
        <p:txBody>
          <a:bodyPr/>
          <a:lstStyle/>
          <a:p>
            <a:pPr algn="just"/>
            <a:r>
              <a:rPr lang="en-US" b="1" i="0" dirty="0">
                <a:solidFill>
                  <a:srgbClr val="0D0D0D"/>
                </a:solidFill>
                <a:effectLst/>
                <a:latin typeface="Söhne"/>
              </a:rPr>
              <a:t>Consensus Layer</a:t>
            </a:r>
            <a:r>
              <a:rPr lang="en-US" b="0" i="0" dirty="0">
                <a:solidFill>
                  <a:srgbClr val="0D0D0D"/>
                </a:solidFill>
                <a:effectLst/>
                <a:latin typeface="Söhne"/>
              </a:rPr>
              <a:t>:</a:t>
            </a:r>
          </a:p>
          <a:p>
            <a:pPr algn="just">
              <a:buFont typeface="Arial" panose="020B0604020202020204" pitchFamily="34" charset="0"/>
              <a:buChar char="•"/>
            </a:pPr>
            <a:r>
              <a:rPr lang="en-US" b="0" i="0" dirty="0">
                <a:solidFill>
                  <a:srgbClr val="0D0D0D"/>
                </a:solidFill>
                <a:effectLst/>
                <a:latin typeface="Söhne"/>
              </a:rPr>
              <a:t>The consensus layer is a subset of the protocol layer and focuses specifically on the consensus mechanism used to achieve agreement among network participants on the state of the blockchain.</a:t>
            </a:r>
          </a:p>
          <a:p>
            <a:pPr algn="just">
              <a:buFont typeface="Arial" panose="020B0604020202020204" pitchFamily="34" charset="0"/>
              <a:buChar char="•"/>
            </a:pPr>
            <a:r>
              <a:rPr lang="en-US" b="0" i="0" dirty="0">
                <a:solidFill>
                  <a:srgbClr val="0D0D0D"/>
                </a:solidFill>
                <a:effectLst/>
                <a:latin typeface="Söhne"/>
              </a:rPr>
              <a:t>Consensus Algorithm: This is the algorithm or mechanism used to achieve distributed consensus and agree on the validity of transactions. Different consensus algorithms have different trade-offs in terms of security, scalability, and decentralization.</a:t>
            </a:r>
          </a:p>
          <a:p>
            <a:pPr algn="just">
              <a:buFont typeface="Arial" panose="020B0604020202020204" pitchFamily="34" charset="0"/>
              <a:buChar char="•"/>
            </a:pPr>
            <a:r>
              <a:rPr lang="en-US" b="0" i="0" dirty="0">
                <a:solidFill>
                  <a:srgbClr val="0D0D0D"/>
                </a:solidFill>
                <a:effectLst/>
                <a:latin typeface="Söhne"/>
              </a:rPr>
              <a:t>Block Validation Rules: These rules define the criteria for validating new blocks and determining whether transactions are legitimate. For example, blocks must adhere to the blockchain's protocol, contain valid transactions, and satisfy any additional requirements specified by the consensus algorithm.</a:t>
            </a:r>
          </a:p>
          <a:p>
            <a:endParaRPr lang="en-US" dirty="0"/>
          </a:p>
        </p:txBody>
      </p:sp>
      <p:sp>
        <p:nvSpPr>
          <p:cNvPr id="4" name="Title 1">
            <a:extLst>
              <a:ext uri="{FF2B5EF4-FFF2-40B4-BE49-F238E27FC236}">
                <a16:creationId xmlns:a16="http://schemas.microsoft.com/office/drawing/2014/main" id="{0AD669D1-61E8-2A44-9356-5CA679451C7C}"/>
              </a:ext>
            </a:extLst>
          </p:cNvPr>
          <p:cNvSpPr>
            <a:spLocks noGrp="1"/>
          </p:cNvSpPr>
          <p:nvPr>
            <p:ph type="title"/>
          </p:nvPr>
        </p:nvSpPr>
        <p:spPr>
          <a:xfrm>
            <a:off x="1835700" y="421233"/>
            <a:ext cx="8520600" cy="850976"/>
          </a:xfrm>
        </p:spPr>
        <p:txBody>
          <a:bodyPr/>
          <a:lstStyle/>
          <a:p>
            <a:pPr algn="ctr"/>
            <a:r>
              <a:rPr lang="en-US" dirty="0"/>
              <a:t>Cont…</a:t>
            </a:r>
          </a:p>
        </p:txBody>
      </p:sp>
    </p:spTree>
    <p:extLst>
      <p:ext uri="{BB962C8B-B14F-4D97-AF65-F5344CB8AC3E}">
        <p14:creationId xmlns:p14="http://schemas.microsoft.com/office/powerpoint/2010/main" val="683661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B76FEB-8539-0016-138D-C7FCD10C1163}"/>
              </a:ext>
            </a:extLst>
          </p:cNvPr>
          <p:cNvSpPr>
            <a:spLocks noGrp="1"/>
          </p:cNvSpPr>
          <p:nvPr>
            <p:ph type="body" idx="1"/>
          </p:nvPr>
        </p:nvSpPr>
        <p:spPr>
          <a:xfrm>
            <a:off x="661480" y="1085946"/>
            <a:ext cx="10953346" cy="4472100"/>
          </a:xfrm>
        </p:spPr>
        <p:txBody>
          <a:bodyPr/>
          <a:lstStyle/>
          <a:p>
            <a:pPr algn="just"/>
            <a:r>
              <a:rPr lang="en-US" b="1" i="0" dirty="0">
                <a:solidFill>
                  <a:srgbClr val="0D0D0D"/>
                </a:solidFill>
                <a:effectLst/>
                <a:latin typeface="Söhne"/>
              </a:rPr>
              <a:t>Smart Contract Layer</a:t>
            </a:r>
            <a:r>
              <a:rPr lang="en-US" b="0" i="0" dirty="0">
                <a:solidFill>
                  <a:srgbClr val="0D0D0D"/>
                </a:solidFill>
                <a:effectLst/>
                <a:latin typeface="Söhne"/>
              </a:rPr>
              <a:t>:</a:t>
            </a:r>
          </a:p>
          <a:p>
            <a:pPr algn="just">
              <a:buFont typeface="Arial" panose="020B0604020202020204" pitchFamily="34" charset="0"/>
              <a:buChar char="•"/>
            </a:pPr>
            <a:r>
              <a:rPr lang="en-US" b="0" i="0" dirty="0">
                <a:solidFill>
                  <a:srgbClr val="0D0D0D"/>
                </a:solidFill>
                <a:effectLst/>
                <a:latin typeface="Söhne"/>
              </a:rPr>
              <a:t>Many blockchain platforms support smart contracts, which are self-executing contracts with the terms of the agreement directly written into code. The smart contract layer provides a runtime environment for executing smart contracts and interacting with the blockchain programmatically.</a:t>
            </a:r>
          </a:p>
          <a:p>
            <a:pPr algn="just">
              <a:buFont typeface="Arial" panose="020B0604020202020204" pitchFamily="34" charset="0"/>
              <a:buChar char="•"/>
            </a:pPr>
            <a:r>
              <a:rPr lang="en-US" b="0" i="0" dirty="0">
                <a:solidFill>
                  <a:srgbClr val="0D0D0D"/>
                </a:solidFill>
                <a:effectLst/>
                <a:latin typeface="Söhne"/>
              </a:rPr>
              <a:t>Smart Contract Virtual Machine: This is the runtime environment where smart contracts are executed. Examples include the Ethereum Virtual Machine (EVM) and the NEO Virtual Machine (</a:t>
            </a:r>
            <a:r>
              <a:rPr lang="en-US" b="0" i="0" dirty="0" err="1">
                <a:solidFill>
                  <a:srgbClr val="0D0D0D"/>
                </a:solidFill>
                <a:effectLst/>
                <a:latin typeface="Söhne"/>
              </a:rPr>
              <a:t>NeoVM</a:t>
            </a:r>
            <a:r>
              <a:rPr lang="en-US" b="0" i="0" dirty="0">
                <a:solidFill>
                  <a:srgbClr val="0D0D0D"/>
                </a:solidFill>
                <a:effectLst/>
                <a:latin typeface="Söhne"/>
              </a:rPr>
              <a:t>).</a:t>
            </a:r>
          </a:p>
          <a:p>
            <a:pPr algn="just">
              <a:buFont typeface="Arial" panose="020B0604020202020204" pitchFamily="34" charset="0"/>
              <a:buChar char="•"/>
            </a:pPr>
            <a:r>
              <a:rPr lang="en-US" b="0" i="0" dirty="0">
                <a:solidFill>
                  <a:srgbClr val="0D0D0D"/>
                </a:solidFill>
                <a:effectLst/>
                <a:latin typeface="Söhne"/>
              </a:rPr>
              <a:t>Smart Contract Languages: These are the programming languages used to write smart contract code. Examples include Solidity (used in Ethereum), </a:t>
            </a:r>
            <a:r>
              <a:rPr lang="en-US" b="0" i="0" dirty="0" err="1">
                <a:solidFill>
                  <a:srgbClr val="0D0D0D"/>
                </a:solidFill>
                <a:effectLst/>
                <a:latin typeface="Söhne"/>
              </a:rPr>
              <a:t>Vyper</a:t>
            </a:r>
            <a:r>
              <a:rPr lang="en-US" b="0" i="0" dirty="0">
                <a:solidFill>
                  <a:srgbClr val="0D0D0D"/>
                </a:solidFill>
                <a:effectLst/>
                <a:latin typeface="Söhne"/>
              </a:rPr>
              <a:t>, and </a:t>
            </a:r>
            <a:r>
              <a:rPr lang="en-US" b="0" i="0" dirty="0" err="1">
                <a:solidFill>
                  <a:srgbClr val="0D0D0D"/>
                </a:solidFill>
                <a:effectLst/>
                <a:latin typeface="Söhne"/>
              </a:rPr>
              <a:t>Chaincode</a:t>
            </a:r>
            <a:r>
              <a:rPr lang="en-US" b="0" i="0" dirty="0">
                <a:solidFill>
                  <a:srgbClr val="0D0D0D"/>
                </a:solidFill>
                <a:effectLst/>
                <a:latin typeface="Söhne"/>
              </a:rPr>
              <a:t> (used in Hyperledger Fabric).</a:t>
            </a:r>
          </a:p>
          <a:p>
            <a:endParaRPr lang="en-US" dirty="0"/>
          </a:p>
        </p:txBody>
      </p:sp>
      <p:sp>
        <p:nvSpPr>
          <p:cNvPr id="4" name="Title 1">
            <a:extLst>
              <a:ext uri="{FF2B5EF4-FFF2-40B4-BE49-F238E27FC236}">
                <a16:creationId xmlns:a16="http://schemas.microsoft.com/office/drawing/2014/main" id="{7DCA5A02-0000-7073-E43E-66264B63906D}"/>
              </a:ext>
            </a:extLst>
          </p:cNvPr>
          <p:cNvSpPr>
            <a:spLocks noGrp="1"/>
          </p:cNvSpPr>
          <p:nvPr>
            <p:ph type="title"/>
          </p:nvPr>
        </p:nvSpPr>
        <p:spPr>
          <a:xfrm>
            <a:off x="1835700" y="326779"/>
            <a:ext cx="8520600" cy="850976"/>
          </a:xfrm>
        </p:spPr>
        <p:txBody>
          <a:bodyPr/>
          <a:lstStyle/>
          <a:p>
            <a:pPr algn="ctr"/>
            <a:r>
              <a:rPr lang="en-US" dirty="0"/>
              <a:t>Cont…</a:t>
            </a:r>
          </a:p>
        </p:txBody>
      </p:sp>
    </p:spTree>
    <p:extLst>
      <p:ext uri="{BB962C8B-B14F-4D97-AF65-F5344CB8AC3E}">
        <p14:creationId xmlns:p14="http://schemas.microsoft.com/office/powerpoint/2010/main" val="2903774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A3ECA3-4DA2-BE6F-0AFE-BCE785D2E3F8}"/>
              </a:ext>
            </a:extLst>
          </p:cNvPr>
          <p:cNvSpPr>
            <a:spLocks noGrp="1"/>
          </p:cNvSpPr>
          <p:nvPr>
            <p:ph type="body" idx="1"/>
          </p:nvPr>
        </p:nvSpPr>
        <p:spPr>
          <a:xfrm>
            <a:off x="661481" y="1192950"/>
            <a:ext cx="10904706" cy="4472100"/>
          </a:xfrm>
        </p:spPr>
        <p:txBody>
          <a:bodyPr/>
          <a:lstStyle/>
          <a:p>
            <a:pPr algn="just"/>
            <a:r>
              <a:rPr lang="en-US" b="1" i="0" dirty="0">
                <a:solidFill>
                  <a:srgbClr val="0D0D0D"/>
                </a:solidFill>
                <a:effectLst/>
                <a:latin typeface="Söhne"/>
              </a:rPr>
              <a:t>Application Layer</a:t>
            </a:r>
            <a:r>
              <a:rPr lang="en-US" b="0" i="0" dirty="0">
                <a:solidFill>
                  <a:srgbClr val="0D0D0D"/>
                </a:solidFill>
                <a:effectLst/>
                <a:latin typeface="Söhne"/>
              </a:rPr>
              <a:t>:</a:t>
            </a:r>
          </a:p>
          <a:p>
            <a:pPr algn="just">
              <a:buFont typeface="Arial" panose="020B0604020202020204" pitchFamily="34" charset="0"/>
              <a:buChar char="•"/>
            </a:pPr>
            <a:r>
              <a:rPr lang="en-US" b="0" i="0" dirty="0">
                <a:solidFill>
                  <a:srgbClr val="0D0D0D"/>
                </a:solidFill>
                <a:effectLst/>
                <a:latin typeface="Söhne"/>
              </a:rPr>
              <a:t>The application layer encompasses the user-facing interfaces and applications built on top of the blockchain platform. This includes Decentralized </a:t>
            </a:r>
            <a:r>
              <a:rPr lang="en-US" dirty="0">
                <a:solidFill>
                  <a:srgbClr val="0D0D0D"/>
                </a:solidFill>
                <a:latin typeface="Söhne"/>
              </a:rPr>
              <a:t>A</a:t>
            </a:r>
            <a:r>
              <a:rPr lang="en-US" b="0" i="0" dirty="0">
                <a:solidFill>
                  <a:srgbClr val="0D0D0D"/>
                </a:solidFill>
                <a:effectLst/>
                <a:latin typeface="Söhne"/>
              </a:rPr>
              <a:t>pplications (</a:t>
            </a:r>
            <a:r>
              <a:rPr lang="en-US" b="0" i="0" dirty="0" err="1">
                <a:solidFill>
                  <a:srgbClr val="0D0D0D"/>
                </a:solidFill>
                <a:effectLst/>
                <a:latin typeface="Söhne"/>
              </a:rPr>
              <a:t>DApps</a:t>
            </a:r>
            <a:r>
              <a:rPr lang="en-US" b="0" i="0" dirty="0">
                <a:solidFill>
                  <a:srgbClr val="0D0D0D"/>
                </a:solidFill>
                <a:effectLst/>
                <a:latin typeface="Söhne"/>
              </a:rPr>
              <a:t>), which leverage the blockchain's capabilities to provide various services and functionalities to users.</a:t>
            </a:r>
          </a:p>
          <a:p>
            <a:pPr algn="just">
              <a:buFont typeface="Arial" panose="020B0604020202020204" pitchFamily="34" charset="0"/>
              <a:buChar char="•"/>
            </a:pPr>
            <a:r>
              <a:rPr lang="en-US" b="0" i="0" dirty="0">
                <a:solidFill>
                  <a:srgbClr val="0D0D0D"/>
                </a:solidFill>
                <a:effectLst/>
                <a:latin typeface="Söhne"/>
              </a:rPr>
              <a:t>User Interfaces (UIs): These are the interfaces that allow users to interact with blockchain applications. They can include web interfaces, mobile apps, and desktop applications.</a:t>
            </a:r>
          </a:p>
          <a:p>
            <a:pPr algn="just">
              <a:buFont typeface="Arial" panose="020B0604020202020204" pitchFamily="34" charset="0"/>
              <a:buChar char="•"/>
            </a:pPr>
            <a:r>
              <a:rPr lang="en-US" b="0" i="0" dirty="0">
                <a:solidFill>
                  <a:srgbClr val="0D0D0D"/>
                </a:solidFill>
                <a:effectLst/>
                <a:latin typeface="Söhne"/>
              </a:rPr>
              <a:t>Decentralized Application (</a:t>
            </a:r>
            <a:r>
              <a:rPr lang="en-US" b="0" i="0" dirty="0" err="1">
                <a:solidFill>
                  <a:srgbClr val="0D0D0D"/>
                </a:solidFill>
                <a:effectLst/>
                <a:latin typeface="Söhne"/>
              </a:rPr>
              <a:t>DApp</a:t>
            </a:r>
            <a:r>
              <a:rPr lang="en-US" b="0" i="0" dirty="0">
                <a:solidFill>
                  <a:srgbClr val="0D0D0D"/>
                </a:solidFill>
                <a:effectLst/>
                <a:latin typeface="Söhne"/>
              </a:rPr>
              <a:t>) Logic: This is the logic and functionality implemented in smart contracts and backend services that power decentralized applications.</a:t>
            </a:r>
          </a:p>
          <a:p>
            <a:pPr algn="just">
              <a:buFont typeface="Arial" panose="020B0604020202020204" pitchFamily="34" charset="0"/>
              <a:buChar char="•"/>
            </a:pPr>
            <a:r>
              <a:rPr lang="en-US" b="0" i="0" dirty="0">
                <a:solidFill>
                  <a:srgbClr val="0D0D0D"/>
                </a:solidFill>
                <a:effectLst/>
                <a:latin typeface="Söhne"/>
              </a:rPr>
              <a:t>Developer Tools and APIs: These tools and APIs enable developers to build, deploy, and manage blockchain applications. They include software development kits (SDKs), APIs for accessing blockchain data, and integrated development environments (IDEs) for writing smart contract code.</a:t>
            </a:r>
          </a:p>
          <a:p>
            <a:endParaRPr lang="en-US" dirty="0"/>
          </a:p>
        </p:txBody>
      </p:sp>
      <p:sp>
        <p:nvSpPr>
          <p:cNvPr id="4" name="Title 1">
            <a:extLst>
              <a:ext uri="{FF2B5EF4-FFF2-40B4-BE49-F238E27FC236}">
                <a16:creationId xmlns:a16="http://schemas.microsoft.com/office/drawing/2014/main" id="{7812FC78-499C-33B1-87B3-37E3D3080344}"/>
              </a:ext>
            </a:extLst>
          </p:cNvPr>
          <p:cNvSpPr>
            <a:spLocks noGrp="1"/>
          </p:cNvSpPr>
          <p:nvPr>
            <p:ph type="title"/>
          </p:nvPr>
        </p:nvSpPr>
        <p:spPr>
          <a:xfrm>
            <a:off x="1835700" y="326779"/>
            <a:ext cx="8520600" cy="850976"/>
          </a:xfrm>
        </p:spPr>
        <p:txBody>
          <a:bodyPr/>
          <a:lstStyle/>
          <a:p>
            <a:pPr algn="ctr"/>
            <a:r>
              <a:rPr lang="en-US" dirty="0"/>
              <a:t>Cont…</a:t>
            </a:r>
          </a:p>
        </p:txBody>
      </p:sp>
    </p:spTree>
    <p:extLst>
      <p:ext uri="{BB962C8B-B14F-4D97-AF65-F5344CB8AC3E}">
        <p14:creationId xmlns:p14="http://schemas.microsoft.com/office/powerpoint/2010/main" val="468213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8AA8BC-065C-32D8-D79E-09B66DB42EF1}"/>
              </a:ext>
            </a:extLst>
          </p:cNvPr>
          <p:cNvSpPr>
            <a:spLocks noGrp="1"/>
          </p:cNvSpPr>
          <p:nvPr>
            <p:ph type="body" idx="1"/>
          </p:nvPr>
        </p:nvSpPr>
        <p:spPr>
          <a:xfrm>
            <a:off x="642026" y="1315581"/>
            <a:ext cx="10982528" cy="4472100"/>
          </a:xfrm>
        </p:spPr>
        <p:txBody>
          <a:bodyPr/>
          <a:lstStyle/>
          <a:p>
            <a:pPr algn="just"/>
            <a:r>
              <a:rPr lang="en-US" b="0" i="0" dirty="0">
                <a:solidFill>
                  <a:srgbClr val="0D0D0D"/>
                </a:solidFill>
                <a:effectLst/>
                <a:latin typeface="Söhne"/>
              </a:rPr>
              <a:t>These layers work together to form a comprehensive blockchain architecture, providing the foundation for decentralized, secure, and transparent systems that enable trustless transactions and interactions. Each layer plays a critical role in ensuring the functionality, security, and usability of blockchain technology.</a:t>
            </a:r>
            <a:endParaRPr lang="en-US" dirty="0"/>
          </a:p>
        </p:txBody>
      </p:sp>
      <p:sp>
        <p:nvSpPr>
          <p:cNvPr id="4" name="Title 1">
            <a:extLst>
              <a:ext uri="{FF2B5EF4-FFF2-40B4-BE49-F238E27FC236}">
                <a16:creationId xmlns:a16="http://schemas.microsoft.com/office/drawing/2014/main" id="{B2BDD640-1ACC-51A4-E249-6D5EE69B4104}"/>
              </a:ext>
            </a:extLst>
          </p:cNvPr>
          <p:cNvSpPr>
            <a:spLocks noGrp="1"/>
          </p:cNvSpPr>
          <p:nvPr>
            <p:ph type="title"/>
          </p:nvPr>
        </p:nvSpPr>
        <p:spPr>
          <a:xfrm>
            <a:off x="1835700" y="326779"/>
            <a:ext cx="8520600" cy="850976"/>
          </a:xfrm>
        </p:spPr>
        <p:txBody>
          <a:bodyPr/>
          <a:lstStyle/>
          <a:p>
            <a:pPr algn="ctr"/>
            <a:r>
              <a:rPr lang="en-US" dirty="0"/>
              <a:t>Cont…</a:t>
            </a:r>
          </a:p>
        </p:txBody>
      </p:sp>
    </p:spTree>
    <p:extLst>
      <p:ext uri="{BB962C8B-B14F-4D97-AF65-F5344CB8AC3E}">
        <p14:creationId xmlns:p14="http://schemas.microsoft.com/office/powerpoint/2010/main" val="2975961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4"/>
          <p:cNvSpPr txBox="1">
            <a:spLocks noGrp="1"/>
          </p:cNvSpPr>
          <p:nvPr>
            <p:ph type="title"/>
          </p:nvPr>
        </p:nvSpPr>
        <p:spPr>
          <a:xfrm>
            <a:off x="1835700" y="421233"/>
            <a:ext cx="8520600" cy="1108500"/>
          </a:xfrm>
          <a:prstGeom prst="rect">
            <a:avLst/>
          </a:prstGeom>
          <a:noFill/>
          <a:ln>
            <a:noFill/>
          </a:ln>
        </p:spPr>
        <p:txBody>
          <a:bodyPr spcFirstLastPara="1" wrap="square" lIns="91425" tIns="45700" rIns="91425" bIns="45700" anchor="ctr" anchorCtr="0">
            <a:noAutofit/>
          </a:bodyPr>
          <a:lstStyle/>
          <a:p>
            <a:pPr algn="ctr">
              <a:buSzPts val="1400"/>
            </a:pPr>
            <a:r>
              <a:rPr lang="en-US"/>
              <a:t>Reference Book</a:t>
            </a:r>
            <a:endParaRPr/>
          </a:p>
        </p:txBody>
      </p:sp>
      <p:sp>
        <p:nvSpPr>
          <p:cNvPr id="281" name="Google Shape;281;p44"/>
          <p:cNvSpPr txBox="1">
            <a:spLocks noGrp="1"/>
          </p:cNvSpPr>
          <p:nvPr>
            <p:ph type="body" idx="1"/>
          </p:nvPr>
        </p:nvSpPr>
        <p:spPr>
          <a:xfrm>
            <a:off x="525294" y="1614178"/>
            <a:ext cx="10894978" cy="4472100"/>
          </a:xfrm>
          <a:prstGeom prst="rect">
            <a:avLst/>
          </a:prstGeom>
          <a:noFill/>
          <a:ln>
            <a:noFill/>
          </a:ln>
        </p:spPr>
        <p:txBody>
          <a:bodyPr spcFirstLastPara="1" wrap="square" lIns="91425" tIns="45700" rIns="91425" bIns="45700" anchor="t" anchorCtr="0">
            <a:noAutofit/>
          </a:bodyPr>
          <a:lstStyle/>
          <a:p>
            <a:pPr marL="0" indent="0" algn="ctr">
              <a:lnSpc>
                <a:spcPct val="100000"/>
              </a:lnSpc>
              <a:spcBef>
                <a:spcPts val="360"/>
              </a:spcBef>
              <a:buNone/>
            </a:pPr>
            <a:r>
              <a:rPr lang="en-US" sz="3600" b="1" dirty="0">
                <a:latin typeface="Economica"/>
                <a:ea typeface="Economica"/>
                <a:cs typeface="Economica"/>
                <a:sym typeface="Economica"/>
              </a:rPr>
              <a:t>Bitcoin and Cryptocurrency Technologies</a:t>
            </a:r>
            <a:endParaRPr sz="3600" b="1" dirty="0">
              <a:latin typeface="Economica"/>
              <a:ea typeface="Economica"/>
              <a:cs typeface="Economica"/>
              <a:sym typeface="Economica"/>
            </a:endParaRPr>
          </a:p>
          <a:p>
            <a:pPr marL="0" indent="0">
              <a:lnSpc>
                <a:spcPct val="100000"/>
              </a:lnSpc>
              <a:spcBef>
                <a:spcPts val="360"/>
              </a:spcBef>
              <a:buNone/>
            </a:pPr>
            <a:endParaRPr dirty="0">
              <a:latin typeface="Economica"/>
              <a:ea typeface="Economica"/>
              <a:cs typeface="Economica"/>
              <a:sym typeface="Economica"/>
            </a:endParaRPr>
          </a:p>
          <a:p>
            <a:pPr marL="0" indent="0" algn="ctr">
              <a:lnSpc>
                <a:spcPct val="100000"/>
              </a:lnSpc>
              <a:spcBef>
                <a:spcPts val="360"/>
              </a:spcBef>
              <a:buNone/>
            </a:pPr>
            <a:r>
              <a:rPr lang="en-US" sz="3000" b="1" dirty="0">
                <a:solidFill>
                  <a:srgbClr val="1C4587"/>
                </a:solidFill>
                <a:latin typeface="Economica"/>
                <a:ea typeface="Economica"/>
                <a:cs typeface="Economica"/>
                <a:sym typeface="Economica"/>
              </a:rPr>
              <a:t>Authors:</a:t>
            </a:r>
            <a:r>
              <a:rPr lang="en-US" sz="3000" dirty="0">
                <a:latin typeface="Economica"/>
                <a:ea typeface="Economica"/>
                <a:cs typeface="Economica"/>
                <a:sym typeface="Economica"/>
              </a:rPr>
              <a:t> Arvind Narayanan, Joseph Bonneau, Edward </a:t>
            </a:r>
            <a:r>
              <a:rPr lang="en-US" sz="3000" dirty="0" err="1">
                <a:latin typeface="Economica"/>
                <a:ea typeface="Economica"/>
                <a:cs typeface="Economica"/>
                <a:sym typeface="Economica"/>
              </a:rPr>
              <a:t>Felten</a:t>
            </a:r>
            <a:r>
              <a:rPr lang="en-US" sz="3000" dirty="0">
                <a:latin typeface="Economica"/>
                <a:ea typeface="Economica"/>
                <a:cs typeface="Economica"/>
                <a:sym typeface="Economica"/>
              </a:rPr>
              <a:t>, Andrew Miller, Steven </a:t>
            </a:r>
            <a:r>
              <a:rPr lang="en-US" sz="3000" dirty="0" err="1">
                <a:latin typeface="Economica"/>
                <a:ea typeface="Economica"/>
                <a:cs typeface="Economica"/>
                <a:sym typeface="Economica"/>
              </a:rPr>
              <a:t>Goldfeder</a:t>
            </a:r>
            <a:endParaRPr sz="3000" dirty="0">
              <a:latin typeface="Economica"/>
              <a:ea typeface="Economica"/>
              <a:cs typeface="Economica"/>
              <a:sym typeface="Economica"/>
            </a:endParaRPr>
          </a:p>
          <a:p>
            <a:pPr marL="0" indent="0">
              <a:lnSpc>
                <a:spcPct val="100000"/>
              </a:lnSpc>
              <a:spcBef>
                <a:spcPts val="360"/>
              </a:spcBef>
              <a:buNone/>
            </a:pPr>
            <a:endParaRPr sz="3000" dirty="0">
              <a:latin typeface="Economica"/>
              <a:ea typeface="Economica"/>
              <a:cs typeface="Economica"/>
              <a:sym typeface="Economica"/>
            </a:endParaRPr>
          </a:p>
          <a:p>
            <a:pPr marL="0" indent="0">
              <a:lnSpc>
                <a:spcPct val="100000"/>
              </a:lnSpc>
              <a:spcBef>
                <a:spcPts val="360"/>
              </a:spcBef>
              <a:buNone/>
            </a:pPr>
            <a:r>
              <a:rPr lang="en-US" sz="3000" b="1">
                <a:solidFill>
                  <a:srgbClr val="1C4587"/>
                </a:solidFill>
                <a:latin typeface="Economica"/>
                <a:ea typeface="Economica"/>
                <a:cs typeface="Economica"/>
                <a:sym typeface="Economica"/>
              </a:rPr>
              <a:t>        Publisher</a:t>
            </a:r>
            <a:r>
              <a:rPr lang="en-US" sz="3000" b="1" dirty="0">
                <a:solidFill>
                  <a:srgbClr val="1C4587"/>
                </a:solidFill>
                <a:latin typeface="Economica"/>
                <a:ea typeface="Economica"/>
                <a:cs typeface="Economica"/>
                <a:sym typeface="Economica"/>
              </a:rPr>
              <a:t>:</a:t>
            </a:r>
            <a:r>
              <a:rPr lang="en-US" sz="3000" dirty="0">
                <a:latin typeface="Economica"/>
                <a:ea typeface="Economica"/>
                <a:cs typeface="Economica"/>
                <a:sym typeface="Economica"/>
              </a:rPr>
              <a:t> Princeton University Press</a:t>
            </a:r>
            <a:endParaRPr sz="3000" dirty="0">
              <a:solidFill>
                <a:srgbClr val="577688"/>
              </a:solidFill>
              <a:highlight>
                <a:srgbClr val="F6FBFC"/>
              </a:highlight>
              <a:latin typeface="Economica"/>
              <a:ea typeface="Economica"/>
              <a:cs typeface="Economica"/>
              <a:sym typeface="Economic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2177</Words>
  <Application>Microsoft Office PowerPoint</Application>
  <PresentationFormat>Widescreen</PresentationFormat>
  <Paragraphs>64</Paragraphs>
  <Slides>16</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Calibri Light</vt:lpstr>
      <vt:lpstr>Economica</vt:lpstr>
      <vt:lpstr>Open Sans</vt:lpstr>
      <vt:lpstr>Söhne</vt:lpstr>
      <vt:lpstr>Office Theme</vt:lpstr>
      <vt:lpstr>Luxe</vt:lpstr>
      <vt:lpstr>           Blockchain Trilemma, CAP Theorem,  Layers 0,1,2,3, &amp;  Bitcoin Scalability Solutions </vt:lpstr>
      <vt:lpstr>Blockchain Trilemma</vt:lpstr>
      <vt:lpstr>Cont…</vt:lpstr>
      <vt:lpstr>CAP Theorem </vt:lpstr>
      <vt:lpstr>Cont…</vt:lpstr>
      <vt:lpstr>Layers 0,1,2,3</vt:lpstr>
      <vt:lpstr>Cont…</vt:lpstr>
      <vt:lpstr>Cont…</vt:lpstr>
      <vt:lpstr>Cont…</vt:lpstr>
      <vt:lpstr>Layers in Blockchain</vt:lpstr>
      <vt:lpstr>Cont…</vt:lpstr>
      <vt:lpstr>Cont…</vt:lpstr>
      <vt:lpstr>Cont…</vt:lpstr>
      <vt:lpstr>Cont…</vt:lpstr>
      <vt:lpstr>Cont…</vt:lpstr>
      <vt:lpstr>Reference 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Jawaid Iqbal/CS-CUST</dc:creator>
  <cp:lastModifiedBy>Mubariz Rehman</cp:lastModifiedBy>
  <cp:revision>9</cp:revision>
  <dcterms:created xsi:type="dcterms:W3CDTF">2024-03-12T05:33:45Z</dcterms:created>
  <dcterms:modified xsi:type="dcterms:W3CDTF">2024-04-08T03:57:55Z</dcterms:modified>
</cp:coreProperties>
</file>