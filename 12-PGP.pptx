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6" autoAdjust="0"/>
    <p:restoredTop sz="94660"/>
  </p:normalViewPr>
  <p:slideViewPr>
    <p:cSldViewPr snapToGrid="0" snapToObjects="1">
      <p:cViewPr varScale="1">
        <p:scale>
          <a:sx n="129" d="100"/>
          <a:sy n="129" d="100"/>
        </p:scale>
        <p:origin x="-16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2E708-5310-5B49-A62B-0C30A6B3A3B2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77E66-A95B-404C-891E-26BCD55F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4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77E66-A95B-404C-891E-26BCD55F66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85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26B6-F861-4D54-BBE9-4BB519D3F3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E1294E06-3CC4-A341-9D39-953F7BFF724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19334"/>
            <a:ext cx="437444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AFC048E-3ACE-C14C-AEEF-877DDE3CF6DA}" type="datetimeFigureOut">
              <a:rPr lang="en-US" smtClean="0"/>
              <a:t>11/11/13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Pretty Good Privacy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Dan Fleck</a:t>
            </a:r>
          </a:p>
          <a:p>
            <a:r>
              <a:rPr lang="en-US" dirty="0" smtClean="0"/>
              <a:t>CS 469: Security Engineering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43243" y="6581001"/>
            <a:ext cx="4712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These slides are modified with permission from Bill Young (</a:t>
            </a:r>
            <a:r>
              <a:rPr lang="en-US" sz="1200" dirty="0" err="1" smtClean="0"/>
              <a:t>Univ</a:t>
            </a:r>
            <a:r>
              <a:rPr lang="en-US" sz="1200" dirty="0" smtClean="0"/>
              <a:t> of Texas)</a:t>
            </a:r>
            <a:endParaRPr lang="en-US" sz="1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Pretty Good Privacy</a:t>
            </a:r>
            <a:endParaRPr lang="en-US"/>
          </a:p>
        </p:txBody>
      </p:sp>
      <p:sp>
        <p:nvSpPr>
          <p:cNvPr id="6" name="Shape_0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1"/>
          <p:cNvSpPr/>
          <p:nvPr/>
        </p:nvSpPr>
        <p:spPr>
          <a:xfrm>
            <a:off x="6604000" y="6794500"/>
            <a:ext cx="81935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hape_2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1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Pretty Good </a:t>
            </a:r>
            <a:r>
              <a:rPr lang="en-US" dirty="0" smtClean="0"/>
              <a:t>Privacy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Various crypto algorithms and products provide strong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encryption</a:t>
            </a:r>
            <a:r>
              <a:rPr lang="en-US" dirty="0" smtClean="0"/>
              <a:t>, but </a:t>
            </a:r>
            <a:r>
              <a:rPr lang="en-US" dirty="0"/>
              <a:t>are not particularly easy to use.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Phil Zimmermann had the goal of providing strong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encryption </a:t>
            </a:r>
            <a:r>
              <a:rPr lang="en-US" dirty="0" smtClean="0"/>
              <a:t>to everyone</a:t>
            </a:r>
            <a:r>
              <a:rPr lang="en-US" dirty="0"/>
              <a:t>, in the form of an email encryption system that is:</a:t>
            </a:r>
          </a:p>
          <a:p>
            <a:r>
              <a:rPr lang="en-US" dirty="0" smtClean="0"/>
              <a:t>extremely </a:t>
            </a:r>
            <a:r>
              <a:rPr lang="en-US" dirty="0"/>
              <a:t>strong, using state of the art </a:t>
            </a:r>
            <a:r>
              <a:rPr lang="en-US" dirty="0" smtClean="0"/>
              <a:t>cryptographic algorithms</a:t>
            </a:r>
            <a:r>
              <a:rPr lang="en-US" dirty="0"/>
              <a:t>;</a:t>
            </a:r>
          </a:p>
          <a:p>
            <a:r>
              <a:rPr lang="en-US" dirty="0" smtClean="0"/>
              <a:t>easy </a:t>
            </a:r>
            <a:r>
              <a:rPr lang="en-US" dirty="0"/>
              <a:t>to use and accessible to all</a:t>
            </a:r>
            <a:r>
              <a:rPr lang="en-US" dirty="0" smtClean="0"/>
              <a:t>. – </a:t>
            </a:r>
            <a:r>
              <a:rPr lang="en-US" dirty="0" err="1" smtClean="0"/>
              <a:t>Ver</a:t>
            </a:r>
            <a:r>
              <a:rPr lang="en-US" dirty="0" smtClean="0"/>
              <a:t> 1 (1991)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PGP is “the closest you’re likely to get to military-</a:t>
            </a:r>
            <a:r>
              <a:rPr lang="en-US" dirty="0" smtClean="0"/>
              <a:t>grade encryption</a:t>
            </a:r>
            <a:r>
              <a:rPr lang="en-US" dirty="0"/>
              <a:t>.” –Bruce </a:t>
            </a:r>
            <a:r>
              <a:rPr lang="en-US" dirty="0" err="1"/>
              <a:t>Schneier</a:t>
            </a:r>
            <a:r>
              <a:rPr lang="en-US" dirty="0"/>
              <a:t>, </a:t>
            </a:r>
            <a:r>
              <a:rPr lang="en-US" i="1" dirty="0"/>
              <a:t>Applied Cryptography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Zimmermann’s Motivation</a:t>
            </a:r>
            <a:endParaRPr lang="en-US"/>
          </a:p>
        </p:txBody>
      </p:sp>
      <p:sp>
        <p:nvSpPr>
          <p:cNvPr id="5" name="Shape_3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4"/>
          <p:cNvSpPr/>
          <p:nvPr/>
        </p:nvSpPr>
        <p:spPr>
          <a:xfrm>
            <a:off x="6604000" y="6794500"/>
            <a:ext cx="163871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5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10" y="0"/>
            <a:ext cx="2172689" cy="31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0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Zimmermann’s </a:t>
            </a:r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Zimmermann had a strong distrust of the government, </a:t>
            </a:r>
            <a:r>
              <a:rPr lang="en-US" dirty="0" smtClean="0"/>
              <a:t>and believed </a:t>
            </a:r>
            <a:r>
              <a:rPr lang="en-US" dirty="0"/>
              <a:t>strongly that everyone had an absolute right to privacy.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government generally believes that the right to privacy </a:t>
            </a:r>
            <a:r>
              <a:rPr lang="en-US" dirty="0" smtClean="0"/>
              <a:t>is limited </a:t>
            </a:r>
            <a:r>
              <a:rPr lang="en-US" dirty="0"/>
              <a:t>by the need of the government to read messages </a:t>
            </a:r>
            <a:r>
              <a:rPr lang="en-US" dirty="0" smtClean="0"/>
              <a:t>under certain </a:t>
            </a:r>
            <a:r>
              <a:rPr lang="en-US" dirty="0"/>
              <a:t>circumstances. Historically, the government </a:t>
            </a:r>
            <a:r>
              <a:rPr lang="en-US" dirty="0" smtClean="0"/>
              <a:t>restricted access </a:t>
            </a:r>
            <a:r>
              <a:rPr lang="en-US" dirty="0"/>
              <a:t>to strong encryption.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PGP is a “end-run” around government restrictions, and </a:t>
            </a:r>
            <a:r>
              <a:rPr lang="en-US" dirty="0" smtClean="0"/>
              <a:t>almost landed </a:t>
            </a:r>
            <a:r>
              <a:rPr lang="en-US" dirty="0"/>
              <a:t>Zimmermann in jail.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Did Zimmermann Succeed?</a:t>
            </a:r>
            <a:endParaRPr lang="en-US"/>
          </a:p>
        </p:txBody>
      </p:sp>
      <p:sp>
        <p:nvSpPr>
          <p:cNvPr id="5" name="Shape_6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7"/>
          <p:cNvSpPr/>
          <p:nvPr/>
        </p:nvSpPr>
        <p:spPr>
          <a:xfrm>
            <a:off x="6604000" y="6794500"/>
            <a:ext cx="245806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8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2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Zimmermann Succeed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From Wikipedia page on PGP:</a:t>
            </a:r>
          </a:p>
          <a:p>
            <a:pPr marL="114300" indent="0">
              <a:buNone/>
            </a:pPr>
            <a:endParaRPr lang="en-US" dirty="0"/>
          </a:p>
          <a:p>
            <a:pPr marL="411480" lvl="1" indent="0">
              <a:buNone/>
            </a:pPr>
            <a:r>
              <a:rPr lang="en-US" i="1" dirty="0"/>
              <a:t>In 2003, an incident involving seized Psion </a:t>
            </a:r>
            <a:r>
              <a:rPr lang="en-US" i="1" dirty="0" smtClean="0"/>
              <a:t>PDAs belonging </a:t>
            </a:r>
            <a:r>
              <a:rPr lang="en-US" i="1" dirty="0"/>
              <a:t>to members of the Red Brigade indicated </a:t>
            </a:r>
            <a:r>
              <a:rPr lang="en-US" i="1" dirty="0" smtClean="0"/>
              <a:t>that neither </a:t>
            </a:r>
            <a:r>
              <a:rPr lang="en-US" i="1" dirty="0"/>
              <a:t>the Italian police nor the FBI were able to </a:t>
            </a:r>
            <a:r>
              <a:rPr lang="en-US" i="1" dirty="0" smtClean="0"/>
              <a:t>decode PGP</a:t>
            </a:r>
            <a:r>
              <a:rPr lang="en-US" i="1" dirty="0"/>
              <a:t>-encrypted ﬁles stored on them.</a:t>
            </a:r>
          </a:p>
          <a:p>
            <a:pPr marL="411480" lvl="1" indent="0">
              <a:buNone/>
            </a:pPr>
            <a:endParaRPr lang="en-US" i="1" dirty="0"/>
          </a:p>
          <a:p>
            <a:pPr marL="411480" lvl="1" indent="0">
              <a:buNone/>
            </a:pPr>
            <a:r>
              <a:rPr lang="en-US" i="1" dirty="0"/>
              <a:t>A more recent incident in December 2006 (see </a:t>
            </a:r>
            <a:r>
              <a:rPr lang="en-US" i="1" dirty="0" smtClean="0"/>
              <a:t>United States </a:t>
            </a:r>
            <a:r>
              <a:rPr lang="en-US" i="1" dirty="0"/>
              <a:t>v. Boucher) involving US customs agents and </a:t>
            </a:r>
            <a:r>
              <a:rPr lang="en-US" i="1" dirty="0" smtClean="0"/>
              <a:t>a seized </a:t>
            </a:r>
            <a:r>
              <a:rPr lang="en-US" i="1" dirty="0"/>
              <a:t>laptop PC which allegedly contained </a:t>
            </a:r>
            <a:r>
              <a:rPr lang="en-US" i="1" dirty="0" smtClean="0"/>
              <a:t>child pornography </a:t>
            </a:r>
            <a:r>
              <a:rPr lang="en-US" i="1" dirty="0"/>
              <a:t>indicates that US Government agencies </a:t>
            </a:r>
            <a:r>
              <a:rPr lang="en-US" i="1" dirty="0" smtClean="0"/>
              <a:t>ﬁnd it </a:t>
            </a:r>
            <a:r>
              <a:rPr lang="en-US" i="1" dirty="0"/>
              <a:t>“nearly impossible” to access PGP-encrypted ﬁles.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PGP</a:t>
            </a:r>
            <a:endParaRPr lang="en-US"/>
          </a:p>
        </p:txBody>
      </p:sp>
      <p:sp>
        <p:nvSpPr>
          <p:cNvPr id="5" name="Shape_9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10"/>
          <p:cNvSpPr/>
          <p:nvPr/>
        </p:nvSpPr>
        <p:spPr>
          <a:xfrm>
            <a:off x="6604000" y="6794500"/>
            <a:ext cx="327742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11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6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PGP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Zimmermann developed PGP (Pretty Good Privacy) in </a:t>
            </a:r>
            <a:r>
              <a:rPr lang="en-US" dirty="0" smtClean="0"/>
              <a:t>the late 1980</a:t>
            </a:r>
            <a:r>
              <a:rPr lang="en-US" dirty="0"/>
              <a:t>’s and early 1990’s. Some characteristics include:</a:t>
            </a:r>
          </a:p>
          <a:p>
            <a:pPr marL="114300" indent="0">
              <a:buNone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Uses </a:t>
            </a:r>
            <a:r>
              <a:rPr lang="en-US" dirty="0"/>
              <a:t>the best available cryptographic algorithms as </a:t>
            </a:r>
            <a:r>
              <a:rPr lang="en-US" dirty="0" smtClean="0"/>
              <a:t>building blocks</a:t>
            </a:r>
            <a:r>
              <a:rPr lang="en-US" dirty="0"/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Integrates </a:t>
            </a:r>
            <a:r>
              <a:rPr lang="en-US" dirty="0"/>
              <a:t>these into a general-purpose algorithm that </a:t>
            </a:r>
            <a:r>
              <a:rPr lang="en-US" dirty="0" smtClean="0"/>
              <a:t>is processor</a:t>
            </a:r>
            <a:r>
              <a:rPr lang="en-US" dirty="0"/>
              <a:t>-independent and easy to use.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Package </a:t>
            </a:r>
            <a:r>
              <a:rPr lang="en-US" dirty="0"/>
              <a:t>and documentation, including source code, are </a:t>
            </a:r>
            <a:r>
              <a:rPr lang="en-US" dirty="0" smtClean="0"/>
              <a:t>freely available </a:t>
            </a:r>
            <a:r>
              <a:rPr lang="en-US" dirty="0"/>
              <a:t>on-line.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PGP </a:t>
            </a:r>
            <a:r>
              <a:rPr lang="en-US" dirty="0"/>
              <a:t>is now provided by </a:t>
            </a:r>
            <a:r>
              <a:rPr lang="en-US" dirty="0" err="1"/>
              <a:t>Viacrypt</a:t>
            </a:r>
            <a:r>
              <a:rPr lang="en-US" dirty="0"/>
              <a:t> in a compatible, low-</a:t>
            </a:r>
            <a:r>
              <a:rPr lang="en-US" dirty="0" smtClean="0"/>
              <a:t>cost commercial </a:t>
            </a:r>
            <a:r>
              <a:rPr lang="en-US" dirty="0"/>
              <a:t>version.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i="1" dirty="0"/>
              <a:t>Why would anyone buy this software from </a:t>
            </a:r>
            <a:r>
              <a:rPr lang="en-US" i="1" dirty="0" err="1"/>
              <a:t>Viacrypt</a:t>
            </a:r>
            <a:r>
              <a:rPr lang="en-US" i="1" dirty="0"/>
              <a:t> when </a:t>
            </a:r>
            <a:r>
              <a:rPr lang="en-US" i="1" dirty="0" smtClean="0"/>
              <a:t>it’s available </a:t>
            </a:r>
            <a:r>
              <a:rPr lang="en-US" i="1" dirty="0"/>
              <a:t>free?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Growth of PGP</a:t>
            </a:r>
            <a:endParaRPr lang="en-US"/>
          </a:p>
        </p:txBody>
      </p:sp>
      <p:sp>
        <p:nvSpPr>
          <p:cNvPr id="5" name="Shape_12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13"/>
          <p:cNvSpPr/>
          <p:nvPr/>
        </p:nvSpPr>
        <p:spPr>
          <a:xfrm>
            <a:off x="6604000" y="6794500"/>
            <a:ext cx="409677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14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3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</a:t>
            </a:r>
            <a:r>
              <a:rPr lang="en-US" dirty="0" smtClean="0"/>
              <a:t>PGP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2752"/>
            <a:ext cx="7620000" cy="5238048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/>
              <a:t>PGP has grown explosively and is widely used.</a:t>
            </a:r>
          </a:p>
          <a:p>
            <a:pPr marL="114300" indent="0">
              <a:buNone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Available </a:t>
            </a:r>
            <a:r>
              <a:rPr lang="en-US" dirty="0"/>
              <a:t>free worldwide for Windows, UNIX, Macintosh, </a:t>
            </a:r>
            <a:r>
              <a:rPr lang="en-US" dirty="0" smtClean="0"/>
              <a:t>and others</a:t>
            </a:r>
            <a:r>
              <a:rPr lang="en-US" dirty="0"/>
              <a:t>. The commercial version satisﬁes businesses </a:t>
            </a:r>
            <a:r>
              <a:rPr lang="en-US" dirty="0" smtClean="0"/>
              <a:t>needing vendor </a:t>
            </a:r>
            <a:r>
              <a:rPr lang="en-US" dirty="0"/>
              <a:t>support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Based </a:t>
            </a:r>
            <a:r>
              <a:rPr lang="en-US" dirty="0"/>
              <a:t>on algorithms with extensive public review</a:t>
            </a:r>
            <a:r>
              <a:rPr lang="en-US" dirty="0" smtClean="0"/>
              <a:t>. 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6600"/>
                </a:solidFill>
              </a:rPr>
              <a:t>Public </a:t>
            </a:r>
            <a:r>
              <a:rPr lang="en-US" dirty="0">
                <a:solidFill>
                  <a:srgbClr val="FF6600"/>
                </a:solidFill>
              </a:rPr>
              <a:t>key encryption</a:t>
            </a:r>
            <a:r>
              <a:rPr lang="en-US" dirty="0"/>
              <a:t>: RSA, DSS, </a:t>
            </a:r>
            <a:r>
              <a:rPr lang="en-US" dirty="0" err="1"/>
              <a:t>Diﬃe</a:t>
            </a:r>
            <a:r>
              <a:rPr lang="en-US" dirty="0"/>
              <a:t>-Hellman.</a:t>
            </a:r>
          </a:p>
          <a:p>
            <a:pPr lvl="1"/>
            <a:r>
              <a:rPr lang="en-US" dirty="0" smtClean="0">
                <a:solidFill>
                  <a:srgbClr val="FF6600"/>
                </a:solidFill>
              </a:rPr>
              <a:t>Symmetric </a:t>
            </a:r>
            <a:r>
              <a:rPr lang="en-US" dirty="0">
                <a:solidFill>
                  <a:srgbClr val="FF6600"/>
                </a:solidFill>
              </a:rPr>
              <a:t>encryption</a:t>
            </a:r>
            <a:r>
              <a:rPr lang="en-US" dirty="0"/>
              <a:t>: CAST-128, IDEA, and 3DES.</a:t>
            </a:r>
          </a:p>
          <a:p>
            <a:pPr lvl="1"/>
            <a:r>
              <a:rPr lang="en-US" dirty="0" smtClean="0">
                <a:solidFill>
                  <a:srgbClr val="FF6600"/>
                </a:solidFill>
              </a:rPr>
              <a:t>Hash </a:t>
            </a:r>
            <a:r>
              <a:rPr lang="en-US" dirty="0">
                <a:solidFill>
                  <a:srgbClr val="FF6600"/>
                </a:solidFill>
              </a:rPr>
              <a:t>coding</a:t>
            </a:r>
            <a:r>
              <a:rPr lang="en-US" dirty="0"/>
              <a:t>: SHA-1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Wide </a:t>
            </a:r>
            <a:r>
              <a:rPr lang="en-US" dirty="0"/>
              <a:t>applicability: standardized scheme for encryption</a:t>
            </a:r>
            <a:r>
              <a:rPr lang="en-US" dirty="0" smtClean="0"/>
              <a:t>, supports </a:t>
            </a:r>
            <a:r>
              <a:rPr lang="en-US" dirty="0"/>
              <a:t>secure communication over Internet and </a:t>
            </a:r>
            <a:r>
              <a:rPr lang="en-US" dirty="0" smtClean="0"/>
              <a:t>other networks.</a:t>
            </a:r>
            <a:br>
              <a:rPr lang="en-US" dirty="0" smtClean="0"/>
            </a:b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Not </a:t>
            </a:r>
            <a:r>
              <a:rPr lang="en-US" dirty="0"/>
              <a:t>developed by or controlled by any government</a:t>
            </a:r>
            <a:r>
              <a:rPr lang="en-US" dirty="0" smtClean="0"/>
              <a:t>. </a:t>
            </a:r>
            <a:br>
              <a:rPr lang="en-US" dirty="0" smtClean="0"/>
            </a:br>
            <a:endParaRPr lang="en-US" dirty="0" smtClean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Now </a:t>
            </a:r>
            <a:r>
              <a:rPr lang="en-US" dirty="0"/>
              <a:t>on track to become an Internet standard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 </a:t>
            </a:r>
            <a:r>
              <a:rPr lang="en-US" dirty="0" err="1" smtClean="0"/>
              <a:t>OpenPGP</a:t>
            </a:r>
            <a:r>
              <a:rPr lang="en-US" dirty="0" smtClean="0"/>
              <a:t> RFC </a:t>
            </a:r>
            <a:r>
              <a:rPr lang="en-US" dirty="0"/>
              <a:t>3156)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Lessons</a:t>
            </a:r>
            <a:endParaRPr lang="en-US"/>
          </a:p>
        </p:txBody>
      </p:sp>
      <p:sp>
        <p:nvSpPr>
          <p:cNvPr id="5" name="Shape_15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16"/>
          <p:cNvSpPr/>
          <p:nvPr/>
        </p:nvSpPr>
        <p:spPr>
          <a:xfrm>
            <a:off x="6604000" y="6794500"/>
            <a:ext cx="491613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17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7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PGP illustrates that strong encryption can be </a:t>
            </a:r>
            <a:r>
              <a:rPr lang="en-US" dirty="0" smtClean="0"/>
              <a:t>packaged conveniently </a:t>
            </a:r>
            <a:r>
              <a:rPr lang="en-US" dirty="0"/>
              <a:t>and accessible to everyone.</a:t>
            </a:r>
          </a:p>
          <a:p>
            <a:endParaRPr lang="en-US" dirty="0"/>
          </a:p>
          <a:p>
            <a:r>
              <a:rPr lang="en-US" dirty="0"/>
              <a:t>PGP is very widely used and extremely secure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PGP Services</a:t>
            </a:r>
            <a:endParaRPr lang="en-US"/>
          </a:p>
        </p:txBody>
      </p:sp>
      <p:sp>
        <p:nvSpPr>
          <p:cNvPr id="5" name="Shape_18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19"/>
          <p:cNvSpPr/>
          <p:nvPr/>
        </p:nvSpPr>
        <p:spPr>
          <a:xfrm>
            <a:off x="6604000" y="6794500"/>
            <a:ext cx="573548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20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7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PGP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PGP supplies ﬁve basic services: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Authentication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Conﬁdentiality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Compression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Email </a:t>
            </a:r>
            <a:r>
              <a:rPr lang="en-US" dirty="0"/>
              <a:t>compatibility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Segmentation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PGP Authentication</a:t>
            </a:r>
            <a:endParaRPr lang="en-US"/>
          </a:p>
        </p:txBody>
      </p:sp>
      <p:sp>
        <p:nvSpPr>
          <p:cNvPr id="5" name="Shape_21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22"/>
          <p:cNvSpPr/>
          <p:nvPr/>
        </p:nvSpPr>
        <p:spPr>
          <a:xfrm>
            <a:off x="6604000" y="6794500"/>
            <a:ext cx="655484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23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2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PGP </a:t>
            </a:r>
            <a:r>
              <a:rPr lang="en-US" dirty="0" smtClean="0"/>
              <a:t>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This is a digital signature function.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Sender </a:t>
            </a:r>
            <a:r>
              <a:rPr lang="en-US" dirty="0"/>
              <a:t>creates a message M.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Sender </a:t>
            </a:r>
            <a:r>
              <a:rPr lang="en-US" dirty="0"/>
              <a:t>generates a hash of M.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Sender </a:t>
            </a:r>
            <a:r>
              <a:rPr lang="en-US" dirty="0"/>
              <a:t>signs the hash using his private key and prepends </a:t>
            </a:r>
            <a:r>
              <a:rPr lang="en-US" dirty="0" smtClean="0"/>
              <a:t>the result </a:t>
            </a:r>
            <a:r>
              <a:rPr lang="en-US" dirty="0"/>
              <a:t>to the message.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Receiver </a:t>
            </a:r>
            <a:r>
              <a:rPr lang="en-US" dirty="0"/>
              <a:t>uses the sender’s public key to verify the </a:t>
            </a:r>
            <a:r>
              <a:rPr lang="en-US" dirty="0" smtClean="0"/>
              <a:t>signature and </a:t>
            </a:r>
            <a:r>
              <a:rPr lang="en-US" dirty="0"/>
              <a:t>recover the hash code.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Receiver </a:t>
            </a:r>
            <a:r>
              <a:rPr lang="en-US" dirty="0"/>
              <a:t>generates a new hash code for M and compares </a:t>
            </a:r>
            <a:r>
              <a:rPr lang="en-US" dirty="0" smtClean="0"/>
              <a:t>it with </a:t>
            </a:r>
            <a:r>
              <a:rPr lang="en-US" dirty="0"/>
              <a:t>the decrypted hash code. 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Abstractly</a:t>
            </a:r>
            <a:r>
              <a:rPr lang="en-US" dirty="0"/>
              <a:t>: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055096"/>
              </p:ext>
            </p:extLst>
          </p:nvPr>
        </p:nvGraphicFramePr>
        <p:xfrm>
          <a:off x="2416809" y="5949496"/>
          <a:ext cx="3389054" cy="633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3" imgW="1358900" imgH="254000" progId="Equation.3">
                  <p:embed/>
                </p:oleObj>
              </mc:Choice>
              <mc:Fallback>
                <p:oleObj name="Equation" r:id="rId3" imgW="1358900" imgH="254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6809" y="5949496"/>
                        <a:ext cx="3389054" cy="633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PGP Conﬁdentiality</a:t>
            </a:r>
            <a:endParaRPr lang="en-US"/>
          </a:p>
        </p:txBody>
      </p:sp>
      <p:sp>
        <p:nvSpPr>
          <p:cNvPr id="6" name="Shape_24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25"/>
          <p:cNvSpPr/>
          <p:nvPr/>
        </p:nvSpPr>
        <p:spPr>
          <a:xfrm>
            <a:off x="6604000" y="6794500"/>
            <a:ext cx="737419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hape_26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2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PGP </a:t>
            </a:r>
            <a:r>
              <a:rPr lang="en-US" dirty="0" smtClean="0"/>
              <a:t>Conﬁdentiality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PGP provides encryption for messages sent or stored as ﬁles.</a:t>
            </a:r>
          </a:p>
          <a:p>
            <a:pPr marL="114300" indent="0">
              <a:buNone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Sender </a:t>
            </a:r>
            <a:r>
              <a:rPr lang="en-US" dirty="0"/>
              <a:t>generates a message M and a random session key K.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M </a:t>
            </a:r>
            <a:r>
              <a:rPr lang="en-US" dirty="0"/>
              <a:t>is encrypted using key K.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K </a:t>
            </a:r>
            <a:r>
              <a:rPr lang="en-US" dirty="0"/>
              <a:t>is encrypted using the recipient’s public key, and </a:t>
            </a:r>
            <a:r>
              <a:rPr lang="en-US" dirty="0" smtClean="0"/>
              <a:t>prepended to </a:t>
            </a:r>
            <a:r>
              <a:rPr lang="en-US" dirty="0"/>
              <a:t>the message.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Receiver </a:t>
            </a:r>
            <a:r>
              <a:rPr lang="en-US" dirty="0"/>
              <a:t>uses his private key to recover the session key.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session key is used to decrypt the message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smtClean="0"/>
              <a:t>Abstractly: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743212"/>
              </p:ext>
            </p:extLst>
          </p:nvPr>
        </p:nvGraphicFramePr>
        <p:xfrm>
          <a:off x="2479675" y="5981700"/>
          <a:ext cx="32623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3" imgW="1308100" imgH="228600" progId="Equation.3">
                  <p:embed/>
                </p:oleObj>
              </mc:Choice>
              <mc:Fallback>
                <p:oleObj name="Equation" r:id="rId3" imgW="13081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9675" y="5981700"/>
                        <a:ext cx="3262313" cy="569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Conﬁdentiality and Authentication</a:t>
            </a:r>
            <a:endParaRPr lang="en-US"/>
          </a:p>
        </p:txBody>
      </p:sp>
      <p:sp>
        <p:nvSpPr>
          <p:cNvPr id="6" name="Shape_27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28"/>
          <p:cNvSpPr/>
          <p:nvPr/>
        </p:nvSpPr>
        <p:spPr>
          <a:xfrm>
            <a:off x="6604000" y="6794500"/>
            <a:ext cx="819355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hape_29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10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790514" y="4797278"/>
            <a:ext cx="4981819" cy="6891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But why? Why not just use private key to encrypt the message instead of session key?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029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Conﬁdentiality and </a:t>
            </a:r>
            <a:r>
              <a:rPr lang="en-US" dirty="0" smtClean="0"/>
              <a:t>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Both authentication and conﬁdentiality may be combined for </a:t>
            </a:r>
            <a:r>
              <a:rPr lang="en-US" dirty="0" smtClean="0"/>
              <a:t>a given </a:t>
            </a:r>
            <a:r>
              <a:rPr lang="en-US" dirty="0"/>
              <a:t>message.</a:t>
            </a:r>
          </a:p>
          <a:p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/>
              <a:t>the authentication step to the original message.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/>
              <a:t>the conﬁdentiality step to the resulting message.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i="1" dirty="0"/>
              <a:t>Why is it preferable to generate a signature for the </a:t>
            </a:r>
            <a:r>
              <a:rPr lang="en-US" i="1" dirty="0" smtClean="0"/>
              <a:t>plaintext message</a:t>
            </a:r>
            <a:r>
              <a:rPr lang="en-US" i="1" dirty="0"/>
              <a:t>, rather than for the encrypted message?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Lessons</a:t>
            </a:r>
            <a:endParaRPr lang="en-US"/>
          </a:p>
        </p:txBody>
      </p:sp>
      <p:sp>
        <p:nvSpPr>
          <p:cNvPr id="5" name="Shape_30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31"/>
          <p:cNvSpPr/>
          <p:nvPr/>
        </p:nvSpPr>
        <p:spPr>
          <a:xfrm>
            <a:off x="6604000" y="6794500"/>
            <a:ext cx="901290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32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73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PGP oﬀers ﬁve basic services.</a:t>
            </a:r>
          </a:p>
          <a:p>
            <a:endParaRPr lang="en-US" dirty="0"/>
          </a:p>
          <a:p>
            <a:r>
              <a:rPr lang="en-US" dirty="0"/>
              <a:t>Two of those are authentication and conﬁdentiality; these </a:t>
            </a:r>
            <a:r>
              <a:rPr lang="en-US" dirty="0" smtClean="0"/>
              <a:t>can be </a:t>
            </a:r>
            <a:r>
              <a:rPr lang="en-US" dirty="0"/>
              <a:t>combined.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PGP Services</a:t>
            </a:r>
            <a:endParaRPr lang="en-US"/>
          </a:p>
        </p:txBody>
      </p:sp>
      <p:sp>
        <p:nvSpPr>
          <p:cNvPr id="5" name="Shape_33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34"/>
          <p:cNvSpPr/>
          <p:nvPr/>
        </p:nvSpPr>
        <p:spPr>
          <a:xfrm>
            <a:off x="6604000" y="6794500"/>
            <a:ext cx="983226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35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04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PGP </a:t>
            </a:r>
            <a:r>
              <a:rPr lang="en-US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Recall that PGP supplies ﬁve basic services: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Authentication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Conﬁdentiality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Compression</a:t>
            </a: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Email </a:t>
            </a:r>
            <a:r>
              <a:rPr lang="en-US" dirty="0"/>
              <a:t>compatibility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Segmentation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Actually, only authentication and conﬁdentiality are </a:t>
            </a:r>
            <a:r>
              <a:rPr lang="en-US" dirty="0" smtClean="0"/>
              <a:t>really “</a:t>
            </a:r>
            <a:r>
              <a:rPr lang="en-US" dirty="0"/>
              <a:t>services.” The others are engineering features designed to </a:t>
            </a:r>
            <a:r>
              <a:rPr lang="en-US" dirty="0" smtClean="0"/>
              <a:t> make PGP </a:t>
            </a:r>
            <a:r>
              <a:rPr lang="en-US" dirty="0"/>
              <a:t>eﬃcient and robust.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Compression</a:t>
            </a:r>
            <a:endParaRPr lang="en-US"/>
          </a:p>
        </p:txBody>
      </p:sp>
      <p:sp>
        <p:nvSpPr>
          <p:cNvPr id="5" name="Shape_36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37"/>
          <p:cNvSpPr/>
          <p:nvPr/>
        </p:nvSpPr>
        <p:spPr>
          <a:xfrm>
            <a:off x="6604000" y="6794500"/>
            <a:ext cx="1065161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38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5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As a default, PGP compresses the message, using the </a:t>
            </a:r>
            <a:r>
              <a:rPr lang="en-US" dirty="0" smtClean="0"/>
              <a:t>ZIP compression </a:t>
            </a:r>
            <a:r>
              <a:rPr lang="en-US" dirty="0"/>
              <a:t>algorithm, after applying the signature and </a:t>
            </a:r>
            <a:r>
              <a:rPr lang="en-US" dirty="0" smtClean="0"/>
              <a:t>before encryption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It is done in this order because:</a:t>
            </a:r>
          </a:p>
          <a:p>
            <a:r>
              <a:rPr lang="en-US" dirty="0" smtClean="0"/>
              <a:t>It </a:t>
            </a:r>
            <a:r>
              <a:rPr lang="en-US" dirty="0"/>
              <a:t>is preferable to sign an uncompressed message so that </a:t>
            </a:r>
            <a:r>
              <a:rPr lang="en-US" dirty="0" smtClean="0"/>
              <a:t>the signature </a:t>
            </a:r>
            <a:r>
              <a:rPr lang="en-US" dirty="0"/>
              <a:t>does not depend on the compression algorithm.</a:t>
            </a:r>
          </a:p>
          <a:p>
            <a:endParaRPr lang="en-US" dirty="0"/>
          </a:p>
          <a:p>
            <a:r>
              <a:rPr lang="en-US" dirty="0"/>
              <a:t>Versions of the compression algorithm behave </a:t>
            </a:r>
            <a:r>
              <a:rPr lang="en-US" dirty="0" smtClean="0"/>
              <a:t>slightly diﬀerently</a:t>
            </a:r>
            <a:r>
              <a:rPr lang="en-US" dirty="0"/>
              <a:t>, though all version are interoperable.</a:t>
            </a:r>
          </a:p>
          <a:p>
            <a:endParaRPr lang="en-US" dirty="0"/>
          </a:p>
          <a:p>
            <a:r>
              <a:rPr lang="en-US" dirty="0"/>
              <a:t>Encryption after compression strengthens the encryption</a:t>
            </a:r>
            <a:r>
              <a:rPr lang="en-US" dirty="0" smtClean="0"/>
              <a:t>, since </a:t>
            </a:r>
            <a:r>
              <a:rPr lang="en-US" dirty="0"/>
              <a:t>compression reduces redundancy in the message.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Email Compatibility</a:t>
            </a:r>
            <a:endParaRPr lang="en-US"/>
          </a:p>
        </p:txBody>
      </p:sp>
      <p:sp>
        <p:nvSpPr>
          <p:cNvPr id="5" name="Shape_39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40"/>
          <p:cNvSpPr/>
          <p:nvPr/>
        </p:nvSpPr>
        <p:spPr>
          <a:xfrm>
            <a:off x="6604000" y="6794500"/>
            <a:ext cx="1147097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41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14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209630" y="708429"/>
            <a:ext cx="1319296" cy="6103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Signature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960520" y="708429"/>
            <a:ext cx="1548547" cy="6103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Compression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940660" y="708429"/>
            <a:ext cx="1319296" cy="6103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Encryption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4584837" y="905704"/>
            <a:ext cx="319772" cy="19689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564978" y="905704"/>
            <a:ext cx="319772" cy="19689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57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</a:t>
            </a:r>
            <a:r>
              <a:rPr lang="en-US" dirty="0" smtClean="0"/>
              <a:t>Compatibility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PGP always involves encryption. Encrypted text contains </a:t>
            </a:r>
            <a:r>
              <a:rPr lang="en-US" dirty="0" smtClean="0"/>
              <a:t>arbitrary 8</a:t>
            </a:r>
            <a:r>
              <a:rPr lang="en-US" dirty="0"/>
              <a:t>-bit octets. However, many email systems would choke on </a:t>
            </a:r>
            <a:r>
              <a:rPr lang="en-US" dirty="0" smtClean="0"/>
              <a:t>certain bit </a:t>
            </a:r>
            <a:r>
              <a:rPr lang="en-US" dirty="0"/>
              <a:t>strings they’d interpret as control commands.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PGP uses radix-64 conversion to map groups of three octets </a:t>
            </a:r>
            <a:r>
              <a:rPr lang="en-US" dirty="0" smtClean="0"/>
              <a:t>into four </a:t>
            </a:r>
            <a:r>
              <a:rPr lang="en-US" dirty="0"/>
              <a:t>ASCII characters. Also appends a CRC for data </a:t>
            </a:r>
            <a:r>
              <a:rPr lang="en-US" dirty="0" smtClean="0"/>
              <a:t>error checking</a:t>
            </a:r>
            <a:r>
              <a:rPr lang="en-US" dirty="0"/>
              <a:t>. By default, even ASCII is converted.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Use of radix-64 expands the message by 33%. This is usually </a:t>
            </a:r>
            <a:r>
              <a:rPr lang="en-US" dirty="0" smtClean="0"/>
              <a:t> more than </a:t>
            </a:r>
            <a:r>
              <a:rPr lang="en-US" dirty="0"/>
              <a:t>oﬀset by the compression.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Segmentation and Reassembly</a:t>
            </a:r>
            <a:endParaRPr lang="en-US"/>
          </a:p>
        </p:txBody>
      </p:sp>
      <p:sp>
        <p:nvSpPr>
          <p:cNvPr id="5" name="Shape_42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43"/>
          <p:cNvSpPr/>
          <p:nvPr/>
        </p:nvSpPr>
        <p:spPr>
          <a:xfrm>
            <a:off x="6604000" y="6794500"/>
            <a:ext cx="1229032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44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1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and </a:t>
            </a:r>
            <a:r>
              <a:rPr lang="en-US" dirty="0" smtClean="0"/>
              <a:t>Reassembly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Email systems often restrict message length. Longer </a:t>
            </a:r>
            <a:r>
              <a:rPr lang="en-US" dirty="0" smtClean="0"/>
              <a:t>messages must </a:t>
            </a:r>
            <a:r>
              <a:rPr lang="en-US" dirty="0"/>
              <a:t>be broken into segments, which are mailed separately.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PGP automatically segments messages that are too large. This </a:t>
            </a:r>
            <a:r>
              <a:rPr lang="en-US" dirty="0" smtClean="0"/>
              <a:t>is done </a:t>
            </a:r>
            <a:r>
              <a:rPr lang="en-US" dirty="0"/>
              <a:t>after all of the other steps, including radix-64 </a:t>
            </a:r>
            <a:r>
              <a:rPr lang="en-US" dirty="0" smtClean="0"/>
              <a:t>conversion. Thus</a:t>
            </a:r>
            <a:r>
              <a:rPr lang="en-US" dirty="0"/>
              <a:t>, signature and session key appear only once</a:t>
            </a:r>
            <a:r>
              <a:rPr lang="en-US" dirty="0" smtClean="0"/>
              <a:t>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smtClean="0"/>
              <a:t>At </a:t>
            </a:r>
            <a:r>
              <a:rPr lang="en-US" dirty="0"/>
              <a:t>the receiving end, PGP strips oﬀ mail headers and </a:t>
            </a:r>
            <a:r>
              <a:rPr lang="en-US" dirty="0" smtClean="0"/>
              <a:t>reassembles the </a:t>
            </a:r>
            <a:r>
              <a:rPr lang="en-US" dirty="0"/>
              <a:t>message from its component pieces.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Lessons</a:t>
            </a:r>
            <a:endParaRPr lang="en-US"/>
          </a:p>
        </p:txBody>
      </p:sp>
      <p:sp>
        <p:nvSpPr>
          <p:cNvPr id="5" name="Shape_45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46"/>
          <p:cNvSpPr/>
          <p:nvPr/>
        </p:nvSpPr>
        <p:spPr>
          <a:xfrm>
            <a:off x="6604000" y="6794500"/>
            <a:ext cx="1310968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47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47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84150"/>
            <a:ext cx="7620000" cy="3216649"/>
          </a:xfrm>
        </p:spPr>
        <p:txBody>
          <a:bodyPr/>
          <a:lstStyle/>
          <a:p>
            <a:r>
              <a:rPr lang="en-US" dirty="0"/>
              <a:t>PGP provides the “services” of compression, </a:t>
            </a:r>
            <a:r>
              <a:rPr lang="en-US" dirty="0" smtClean="0"/>
              <a:t>email compatibility</a:t>
            </a:r>
            <a:r>
              <a:rPr lang="en-US" dirty="0"/>
              <a:t>, and segmentation to make the system </a:t>
            </a:r>
            <a:r>
              <a:rPr lang="en-US" dirty="0" smtClean="0"/>
              <a:t>more robust </a:t>
            </a:r>
            <a:r>
              <a:rPr lang="en-US" dirty="0"/>
              <a:t>and eﬃcient.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PGP: Key Management</a:t>
            </a:r>
            <a:endParaRPr lang="en-US"/>
          </a:p>
        </p:txBody>
      </p:sp>
      <p:sp>
        <p:nvSpPr>
          <p:cNvPr id="5" name="Shape_48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49"/>
          <p:cNvSpPr/>
          <p:nvPr/>
        </p:nvSpPr>
        <p:spPr>
          <a:xfrm>
            <a:off x="6604000" y="6794500"/>
            <a:ext cx="1392903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50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86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PGP: Key Management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Dan Fleck</a:t>
            </a:r>
          </a:p>
          <a:p>
            <a:r>
              <a:rPr lang="en-US" dirty="0" smtClean="0"/>
              <a:t>CS 469: Security Engineering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43243" y="6581001"/>
            <a:ext cx="4712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These slides are modified with permission from Bill Young (</a:t>
            </a:r>
            <a:r>
              <a:rPr lang="en-US" sz="1200" dirty="0" err="1" smtClean="0"/>
              <a:t>Univ</a:t>
            </a:r>
            <a:r>
              <a:rPr lang="en-US" sz="1200" dirty="0" smtClean="0"/>
              <a:t> of Texas)</a:t>
            </a:r>
            <a:endParaRPr lang="en-US" sz="1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Key Management</a:t>
            </a:r>
            <a:endParaRPr lang="en-US"/>
          </a:p>
        </p:txBody>
      </p:sp>
      <p:sp>
        <p:nvSpPr>
          <p:cNvPr id="6" name="Shape_51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52"/>
          <p:cNvSpPr/>
          <p:nvPr/>
        </p:nvSpPr>
        <p:spPr>
          <a:xfrm>
            <a:off x="6604000" y="6794500"/>
            <a:ext cx="1474839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hape_53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7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PGP makes use of four types of keys: one-time session </a:t>
            </a:r>
            <a:r>
              <a:rPr lang="en-US" dirty="0" smtClean="0"/>
              <a:t>symmetric keys</a:t>
            </a:r>
            <a:r>
              <a:rPr lang="en-US" dirty="0"/>
              <a:t>, public keys, private keys, passphrase-based symmetric keys.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>
                <a:solidFill>
                  <a:srgbClr val="FF6600"/>
                </a:solidFill>
              </a:rPr>
              <a:t>Session keys</a:t>
            </a:r>
            <a:r>
              <a:rPr lang="en-US" dirty="0"/>
              <a:t>: used once and generated for each new message</a:t>
            </a:r>
          </a:p>
          <a:p>
            <a:pPr marL="114300" indent="0">
              <a:buNone/>
            </a:pPr>
            <a:r>
              <a:rPr lang="en-US" dirty="0" smtClean="0">
                <a:solidFill>
                  <a:srgbClr val="FF6600"/>
                </a:solidFill>
              </a:rPr>
              <a:t>Public </a:t>
            </a:r>
            <a:r>
              <a:rPr lang="en-US" dirty="0">
                <a:solidFill>
                  <a:srgbClr val="FF6600"/>
                </a:solidFill>
              </a:rPr>
              <a:t>keys</a:t>
            </a:r>
            <a:r>
              <a:rPr lang="en-US" dirty="0"/>
              <a:t>: used in asymmetric encryption</a:t>
            </a:r>
          </a:p>
          <a:p>
            <a:pPr marL="114300" indent="0">
              <a:buNone/>
            </a:pPr>
            <a:r>
              <a:rPr lang="en-US" dirty="0" smtClean="0">
                <a:solidFill>
                  <a:srgbClr val="FF6600"/>
                </a:solidFill>
              </a:rPr>
              <a:t>Private </a:t>
            </a:r>
            <a:r>
              <a:rPr lang="en-US" dirty="0">
                <a:solidFill>
                  <a:srgbClr val="FF6600"/>
                </a:solidFill>
              </a:rPr>
              <a:t>keys</a:t>
            </a:r>
            <a:r>
              <a:rPr lang="en-US" dirty="0"/>
              <a:t>: also used in asymmetric encryption</a:t>
            </a:r>
          </a:p>
          <a:p>
            <a:pPr marL="114300" indent="0">
              <a:buNone/>
            </a:pPr>
            <a:r>
              <a:rPr lang="en-US" dirty="0" smtClean="0">
                <a:solidFill>
                  <a:srgbClr val="FF6600"/>
                </a:solidFill>
              </a:rPr>
              <a:t>Passphrase</a:t>
            </a:r>
            <a:r>
              <a:rPr lang="en-US" dirty="0">
                <a:solidFill>
                  <a:srgbClr val="FF6600"/>
                </a:solidFill>
              </a:rPr>
              <a:t>-based keys</a:t>
            </a:r>
            <a:r>
              <a:rPr lang="en-US" dirty="0"/>
              <a:t>: used to protect private keys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A single user can have multiple public/private key pairs.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Session Key Generation</a:t>
            </a:r>
            <a:endParaRPr lang="en-US"/>
          </a:p>
        </p:txBody>
      </p:sp>
      <p:sp>
        <p:nvSpPr>
          <p:cNvPr id="5" name="Shape_54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55"/>
          <p:cNvSpPr/>
          <p:nvPr/>
        </p:nvSpPr>
        <p:spPr>
          <a:xfrm>
            <a:off x="6604000" y="6794500"/>
            <a:ext cx="1556774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56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63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Key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Each session key is associated with a single message and used </a:t>
            </a:r>
            <a:r>
              <a:rPr lang="en-US" dirty="0" smtClean="0"/>
              <a:t>only once</a:t>
            </a:r>
            <a:r>
              <a:rPr lang="en-US" dirty="0"/>
              <a:t>. Key size depends on the chosen encryption algorithm E; </a:t>
            </a:r>
            <a:r>
              <a:rPr lang="en-US" dirty="0" smtClean="0"/>
              <a:t>e.g. CAST</a:t>
            </a:r>
            <a:r>
              <a:rPr lang="en-US" dirty="0"/>
              <a:t>-128: 128 bits, 3DES: 168-bits, etc.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encryption algorithm E is used to generate a new n-bit </a:t>
            </a:r>
            <a:r>
              <a:rPr lang="en-US" dirty="0" smtClean="0"/>
              <a:t>key from </a:t>
            </a:r>
            <a:r>
              <a:rPr lang="en-US" dirty="0"/>
              <a:t>a previous session key and two n/2-bit blocks </a:t>
            </a:r>
            <a:r>
              <a:rPr lang="en-US" dirty="0" smtClean="0"/>
              <a:t>generated based </a:t>
            </a:r>
            <a:r>
              <a:rPr lang="en-US" dirty="0"/>
              <a:t>on user keystrokes, including keystroke timing. The </a:t>
            </a:r>
            <a:r>
              <a:rPr lang="en-US" dirty="0" smtClean="0"/>
              <a:t>two blocks </a:t>
            </a:r>
            <a:r>
              <a:rPr lang="en-US" dirty="0"/>
              <a:t>are encrypted using E and the previous key, and </a:t>
            </a:r>
            <a:r>
              <a:rPr lang="en-US" dirty="0" smtClean="0"/>
              <a:t>combined to </a:t>
            </a:r>
            <a:r>
              <a:rPr lang="en-US" dirty="0"/>
              <a:t>form the new key.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Public/Private Key Generation</a:t>
            </a:r>
            <a:endParaRPr lang="en-US"/>
          </a:p>
        </p:txBody>
      </p:sp>
      <p:sp>
        <p:nvSpPr>
          <p:cNvPr id="5" name="Shape_57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58"/>
          <p:cNvSpPr/>
          <p:nvPr/>
        </p:nvSpPr>
        <p:spPr>
          <a:xfrm>
            <a:off x="6603999" y="6794500"/>
            <a:ext cx="1638710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59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8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Public/Private Key </a:t>
            </a:r>
            <a:r>
              <a:rPr lang="en-US" dirty="0" smtClean="0"/>
              <a:t>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For new RSA keys, an odd number n of suﬃcient size (</a:t>
            </a:r>
            <a:r>
              <a:rPr lang="en-US" dirty="0" smtClean="0"/>
              <a:t>usually &gt; </a:t>
            </a:r>
            <a:r>
              <a:rPr lang="en-US" dirty="0"/>
              <a:t>200 bits) is generated and tested for </a:t>
            </a:r>
            <a:r>
              <a:rPr lang="en-US" dirty="0" err="1"/>
              <a:t>primality</a:t>
            </a:r>
            <a:r>
              <a:rPr lang="en-US" dirty="0"/>
              <a:t>. If it is not prime</a:t>
            </a:r>
            <a:r>
              <a:rPr lang="en-US" dirty="0" smtClean="0"/>
              <a:t>, then </a:t>
            </a:r>
            <a:r>
              <a:rPr lang="en-US" dirty="0"/>
              <a:t>repeat with another randomly generated number, until </a:t>
            </a:r>
            <a:r>
              <a:rPr lang="en-US" dirty="0" smtClean="0"/>
              <a:t>a prime </a:t>
            </a:r>
            <a:r>
              <a:rPr lang="en-US" dirty="0"/>
              <a:t>is found.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Primes appear in the neighborhood of n about every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ln</a:t>
            </a:r>
            <a:r>
              <a:rPr lang="en-US" dirty="0"/>
              <a:t>(n) = </a:t>
            </a:r>
            <a:r>
              <a:rPr lang="en-US" dirty="0" err="1"/>
              <a:t>lg</a:t>
            </a:r>
            <a:r>
              <a:rPr lang="en-US" baseline="-25000" dirty="0" err="1"/>
              <a:t>e</a:t>
            </a:r>
            <a:r>
              <a:rPr lang="en-US" dirty="0"/>
              <a:t> (n</a:t>
            </a:r>
            <a:r>
              <a:rPr lang="en-US" dirty="0" smtClean="0"/>
              <a:t>)  numbers</a:t>
            </a:r>
            <a:r>
              <a:rPr lang="en-US" dirty="0"/>
              <a:t>. Since we can exclude even numbers, to ﬁnd a prime </a:t>
            </a:r>
            <a:r>
              <a:rPr lang="en-US" dirty="0" smtClean="0"/>
              <a:t>of around </a:t>
            </a:r>
            <a:r>
              <a:rPr lang="en-US" dirty="0"/>
              <a:t>200 bits, it takes about </a:t>
            </a:r>
            <a:r>
              <a:rPr lang="en-US" dirty="0" err="1"/>
              <a:t>ln</a:t>
            </a:r>
            <a:r>
              <a:rPr lang="en-US" dirty="0"/>
              <a:t>(</a:t>
            </a:r>
            <a:r>
              <a:rPr lang="en-US" dirty="0" smtClean="0"/>
              <a:t>2</a:t>
            </a:r>
            <a:r>
              <a:rPr lang="en-US" baseline="30000" dirty="0" smtClean="0"/>
              <a:t>200</a:t>
            </a:r>
            <a:r>
              <a:rPr lang="en-US" dirty="0" smtClean="0"/>
              <a:t>)</a:t>
            </a:r>
            <a:r>
              <a:rPr lang="en-US" dirty="0"/>
              <a:t>/2 = 70 tries.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This is an expensive operation, but performed </a:t>
            </a:r>
            <a:r>
              <a:rPr lang="en-US" dirty="0" smtClean="0"/>
              <a:t>relatively infrequently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Encrypting the Private Key</a:t>
            </a:r>
            <a:endParaRPr lang="en-US"/>
          </a:p>
        </p:txBody>
      </p:sp>
      <p:sp>
        <p:nvSpPr>
          <p:cNvPr id="5" name="Shape_60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61"/>
          <p:cNvSpPr/>
          <p:nvPr/>
        </p:nvSpPr>
        <p:spPr>
          <a:xfrm>
            <a:off x="6604000" y="6794500"/>
            <a:ext cx="1720645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62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60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Encrypting the Private </a:t>
            </a:r>
            <a:r>
              <a:rPr lang="en-US" dirty="0" smtClean="0"/>
              <a:t>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private key is stored encrypted with a user-supplied passphrase:</a:t>
            </a:r>
          </a:p>
          <a:p>
            <a:pPr marL="114300" indent="0">
              <a:buNone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user selects a passphrase for encrypting private keys.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a new public/private key pair is generated, the </a:t>
            </a:r>
            <a:r>
              <a:rPr lang="en-US" dirty="0" smtClean="0"/>
              <a:t>system asks </a:t>
            </a:r>
            <a:r>
              <a:rPr lang="en-US" dirty="0"/>
              <a:t>for the passphrase. Using SHA-1, a 160-bit hash code </a:t>
            </a:r>
            <a:r>
              <a:rPr lang="en-US" dirty="0" smtClean="0"/>
              <a:t>is generated </a:t>
            </a:r>
            <a:r>
              <a:rPr lang="en-US" dirty="0"/>
              <a:t>from the passphrase, which is discarded.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private key is encrypted using CAST-128 with 128 bits </a:t>
            </a:r>
            <a:r>
              <a:rPr lang="en-US" dirty="0" smtClean="0"/>
              <a:t>of the </a:t>
            </a:r>
            <a:r>
              <a:rPr lang="en-US" dirty="0"/>
              <a:t>hash code as key. The key is then discarded.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Whenever the user wants to access the private key, he must </a:t>
            </a:r>
            <a:r>
              <a:rPr lang="en-US" dirty="0" smtClean="0"/>
              <a:t>supply the </a:t>
            </a:r>
            <a:r>
              <a:rPr lang="en-US" dirty="0"/>
              <a:t>passphrase.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Lessons</a:t>
            </a:r>
            <a:endParaRPr lang="en-US"/>
          </a:p>
        </p:txBody>
      </p:sp>
      <p:sp>
        <p:nvSpPr>
          <p:cNvPr id="5" name="Shape_63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64"/>
          <p:cNvSpPr/>
          <p:nvPr/>
        </p:nvSpPr>
        <p:spPr>
          <a:xfrm>
            <a:off x="6604000" y="6794500"/>
            <a:ext cx="1802581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65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12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PGP uses four kinds of keys: session keys, public and </a:t>
            </a:r>
            <a:r>
              <a:rPr lang="en-US" dirty="0" smtClean="0"/>
              <a:t>private keys</a:t>
            </a:r>
            <a:r>
              <a:rPr lang="en-US" dirty="0"/>
              <a:t>, and passphrase generated keys.</a:t>
            </a:r>
          </a:p>
          <a:p>
            <a:endParaRPr lang="en-US" dirty="0"/>
          </a:p>
          <a:p>
            <a:r>
              <a:rPr lang="en-US" dirty="0"/>
              <a:t>Public / private key pairs are the most expensive to generate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 smtClean="0"/>
              <a:t>Since </a:t>
            </a:r>
            <a:r>
              <a:rPr lang="en-US" dirty="0"/>
              <a:t>the security of the system depends on protecting </a:t>
            </a:r>
            <a:r>
              <a:rPr lang="en-US" dirty="0" smtClean="0"/>
              <a:t>private keys</a:t>
            </a:r>
            <a:r>
              <a:rPr lang="en-US" dirty="0"/>
              <a:t>, these are encrypted using a passphrase system.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Key Management</a:t>
            </a:r>
            <a:endParaRPr lang="en-US"/>
          </a:p>
        </p:txBody>
      </p:sp>
      <p:sp>
        <p:nvSpPr>
          <p:cNvPr id="5" name="Shape_66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67"/>
          <p:cNvSpPr/>
          <p:nvPr/>
        </p:nvSpPr>
        <p:spPr>
          <a:xfrm>
            <a:off x="6604000" y="6794500"/>
            <a:ext cx="1884516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68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2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PGP, session keys and </a:t>
            </a:r>
            <a:r>
              <a:rPr lang="en-US" dirty="0" smtClean="0"/>
              <a:t>passphrase</a:t>
            </a:r>
            <a:r>
              <a:rPr lang="en-US" dirty="0"/>
              <a:t>-based keys are generated </a:t>
            </a:r>
            <a:r>
              <a:rPr lang="en-US" dirty="0" smtClean="0"/>
              <a:t>on the </a:t>
            </a:r>
            <a:r>
              <a:rPr lang="en-US" dirty="0"/>
              <a:t>ﬂy, used once and discarded.</a:t>
            </a:r>
          </a:p>
          <a:p>
            <a:endParaRPr lang="en-US" dirty="0"/>
          </a:p>
          <a:p>
            <a:r>
              <a:rPr lang="en-US" dirty="0"/>
              <a:t>Public and private keys are persistent and need to be preserved </a:t>
            </a:r>
            <a:r>
              <a:rPr lang="en-US" dirty="0" smtClean="0"/>
              <a:t>and managed</a:t>
            </a:r>
            <a:r>
              <a:rPr lang="en-US" dirty="0"/>
              <a:t>. Recall that a user can have multiple public/private </a:t>
            </a:r>
            <a:r>
              <a:rPr lang="en-US" dirty="0" smtClean="0"/>
              <a:t>key pairs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Managing Key Pairs</a:t>
            </a:r>
            <a:endParaRPr lang="en-US"/>
          </a:p>
        </p:txBody>
      </p:sp>
      <p:sp>
        <p:nvSpPr>
          <p:cNvPr id="5" name="Shape_69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70"/>
          <p:cNvSpPr/>
          <p:nvPr/>
        </p:nvSpPr>
        <p:spPr>
          <a:xfrm>
            <a:off x="6604000" y="6794500"/>
            <a:ext cx="1966452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71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81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Key </a:t>
            </a:r>
            <a:r>
              <a:rPr lang="en-US" dirty="0" smtClean="0"/>
              <a:t>Pairs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Given that a user may have multiple public/private key pairs, </a:t>
            </a:r>
            <a:r>
              <a:rPr lang="en-US" dirty="0" smtClean="0"/>
              <a:t>how do </a:t>
            </a:r>
            <a:r>
              <a:rPr lang="en-US" dirty="0"/>
              <a:t>we know which public key was used to encrypt a message.</a:t>
            </a:r>
          </a:p>
          <a:p>
            <a:endParaRPr lang="en-US" dirty="0"/>
          </a:p>
          <a:p>
            <a:r>
              <a:rPr lang="en-US" dirty="0"/>
              <a:t>Send the public key along with the message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i="1" dirty="0">
                <a:solidFill>
                  <a:srgbClr val="FF0000"/>
                </a:solidFill>
              </a:rPr>
              <a:t>Ineﬃcient, </a:t>
            </a:r>
            <a:r>
              <a:rPr lang="en-US" i="1" dirty="0" smtClean="0">
                <a:solidFill>
                  <a:srgbClr val="FF0000"/>
                </a:solidFill>
              </a:rPr>
              <a:t>since the </a:t>
            </a:r>
            <a:r>
              <a:rPr lang="en-US" i="1" dirty="0">
                <a:solidFill>
                  <a:srgbClr val="FF0000"/>
                </a:solidFill>
              </a:rPr>
              <a:t>key might be thousands of bits</a:t>
            </a:r>
            <a:r>
              <a:rPr lang="en-US" i="1" dirty="0" smtClean="0">
                <a:solidFill>
                  <a:srgbClr val="FF0000"/>
                </a:solidFill>
              </a:rPr>
              <a:t>.</a:t>
            </a:r>
            <a:br>
              <a:rPr lang="en-US" i="1" dirty="0" smtClean="0">
                <a:solidFill>
                  <a:srgbClr val="FF0000"/>
                </a:solidFill>
              </a:rPr>
            </a:br>
            <a:endParaRPr lang="en-US" i="1" dirty="0">
              <a:solidFill>
                <a:srgbClr val="FF0000"/>
              </a:solidFill>
            </a:endParaRPr>
          </a:p>
          <a:p>
            <a:r>
              <a:rPr lang="en-US" dirty="0" smtClean="0"/>
              <a:t>Associate </a:t>
            </a:r>
            <a:r>
              <a:rPr lang="en-US" dirty="0"/>
              <a:t>a unique ID with each key pair and send that </a:t>
            </a:r>
            <a:r>
              <a:rPr lang="en-US" dirty="0" smtClean="0"/>
              <a:t>with the </a:t>
            </a:r>
            <a:r>
              <a:rPr lang="en-US" dirty="0"/>
              <a:t>message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i="1" dirty="0">
                <a:solidFill>
                  <a:srgbClr val="FF0000"/>
                </a:solidFill>
              </a:rPr>
              <a:t>Would require that all senders know </a:t>
            </a:r>
            <a:r>
              <a:rPr lang="en-US" i="1" dirty="0" smtClean="0">
                <a:solidFill>
                  <a:srgbClr val="FF0000"/>
                </a:solidFill>
              </a:rPr>
              <a:t>that mapping </a:t>
            </a:r>
            <a:r>
              <a:rPr lang="en-US" i="1" dirty="0">
                <a:solidFill>
                  <a:srgbClr val="FF0000"/>
                </a:solidFill>
              </a:rPr>
              <a:t>of keys to ID’s for all recipients.</a:t>
            </a:r>
          </a:p>
          <a:p>
            <a:endParaRPr lang="en-US" dirty="0"/>
          </a:p>
          <a:p>
            <a:r>
              <a:rPr lang="en-US" dirty="0"/>
              <a:t>Generate an ID likely to be unique for a given user. This </a:t>
            </a:r>
            <a:r>
              <a:rPr lang="en-US" dirty="0" smtClean="0"/>
              <a:t>is PGP’s </a:t>
            </a:r>
            <a:r>
              <a:rPr lang="en-US" dirty="0"/>
              <a:t>solution. </a:t>
            </a:r>
            <a:r>
              <a:rPr lang="en-US" i="1" dirty="0">
                <a:solidFill>
                  <a:srgbClr val="FF0000"/>
                </a:solidFill>
              </a:rPr>
              <a:t>Use the least signiﬁcant 64-bits of the key </a:t>
            </a:r>
            <a:r>
              <a:rPr lang="en-US" i="1" dirty="0" smtClean="0">
                <a:solidFill>
                  <a:srgbClr val="FF0000"/>
                </a:solidFill>
              </a:rPr>
              <a:t>as the </a:t>
            </a:r>
            <a:r>
              <a:rPr lang="en-US" i="1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This is used by the receiver to verify that he has such a key on </a:t>
            </a:r>
            <a:r>
              <a:rPr lang="en-US" dirty="0" smtClean="0"/>
              <a:t>his “</a:t>
            </a:r>
            <a:r>
              <a:rPr lang="en-US" dirty="0"/>
              <a:t>key ring.” The associated private key is used for the decryption.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Key Rings: Private Key Ring</a:t>
            </a:r>
            <a:endParaRPr lang="en-US"/>
          </a:p>
        </p:txBody>
      </p:sp>
      <p:sp>
        <p:nvSpPr>
          <p:cNvPr id="5" name="Shape_72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73"/>
          <p:cNvSpPr/>
          <p:nvPr/>
        </p:nvSpPr>
        <p:spPr>
          <a:xfrm>
            <a:off x="6604000" y="6794500"/>
            <a:ext cx="2048387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74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46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Rings: Private Key </a:t>
            </a:r>
            <a:r>
              <a:rPr lang="en-US" dirty="0" smtClean="0"/>
              <a:t>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Each user maintains two key ring data structures: a private-</a:t>
            </a:r>
            <a:r>
              <a:rPr lang="en-US" dirty="0" smtClean="0"/>
              <a:t>key ring </a:t>
            </a:r>
            <a:r>
              <a:rPr lang="en-US" dirty="0"/>
              <a:t>for his own public/private key pairs, and a public-key ring </a:t>
            </a:r>
            <a:r>
              <a:rPr lang="en-US" dirty="0" smtClean="0"/>
              <a:t>for the </a:t>
            </a:r>
            <a:r>
              <a:rPr lang="en-US" dirty="0"/>
              <a:t>public keys of correspondents.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private key ring is a table of rows containing:</a:t>
            </a:r>
          </a:p>
          <a:p>
            <a:pPr marL="1144588" indent="-1030288">
              <a:buNone/>
            </a:pPr>
            <a:r>
              <a:rPr lang="en-US" dirty="0" smtClean="0">
                <a:solidFill>
                  <a:srgbClr val="FF6600"/>
                </a:solidFill>
              </a:rPr>
              <a:t>Timestamp</a:t>
            </a:r>
            <a:r>
              <a:rPr lang="en-US" dirty="0"/>
              <a:t>: </a:t>
            </a:r>
            <a:r>
              <a:rPr lang="en-US" dirty="0" smtClean="0"/>
              <a:t>when </a:t>
            </a:r>
            <a:r>
              <a:rPr lang="en-US" dirty="0"/>
              <a:t>the key pair was generated.</a:t>
            </a:r>
          </a:p>
          <a:p>
            <a:pPr marL="1144588" indent="-1030288">
              <a:buNone/>
            </a:pPr>
            <a:r>
              <a:rPr lang="en-US" dirty="0" smtClean="0">
                <a:solidFill>
                  <a:srgbClr val="FF6600"/>
                </a:solidFill>
              </a:rPr>
              <a:t>Key </a:t>
            </a:r>
            <a:r>
              <a:rPr lang="en-US" dirty="0">
                <a:solidFill>
                  <a:srgbClr val="FF6600"/>
                </a:solidFill>
              </a:rPr>
              <a:t>ID</a:t>
            </a:r>
            <a:r>
              <a:rPr lang="en-US" dirty="0"/>
              <a:t>: </a:t>
            </a:r>
            <a:r>
              <a:rPr lang="en-US" dirty="0" smtClean="0"/>
              <a:t>64 </a:t>
            </a:r>
            <a:r>
              <a:rPr lang="en-US" dirty="0"/>
              <a:t>least signiﬁcant digits of the public key.</a:t>
            </a:r>
          </a:p>
          <a:p>
            <a:pPr marL="1144588" indent="-1030288">
              <a:buNone/>
            </a:pPr>
            <a:r>
              <a:rPr lang="en-US" dirty="0" smtClean="0">
                <a:solidFill>
                  <a:srgbClr val="FF6600"/>
                </a:solidFill>
              </a:rPr>
              <a:t>Public </a:t>
            </a:r>
            <a:r>
              <a:rPr lang="en-US" dirty="0">
                <a:solidFill>
                  <a:srgbClr val="FF6600"/>
                </a:solidFill>
              </a:rPr>
              <a:t>key</a:t>
            </a:r>
            <a:r>
              <a:rPr lang="en-US" dirty="0"/>
              <a:t>: </a:t>
            </a:r>
            <a:r>
              <a:rPr lang="en-US" dirty="0" smtClean="0"/>
              <a:t>the </a:t>
            </a:r>
            <a:r>
              <a:rPr lang="en-US" dirty="0"/>
              <a:t>public portion of the key.</a:t>
            </a:r>
          </a:p>
          <a:p>
            <a:pPr marL="1144588" indent="-1030288">
              <a:buNone/>
            </a:pPr>
            <a:r>
              <a:rPr lang="en-US" dirty="0" smtClean="0">
                <a:solidFill>
                  <a:srgbClr val="FF6600"/>
                </a:solidFill>
              </a:rPr>
              <a:t>Private </a:t>
            </a:r>
            <a:r>
              <a:rPr lang="en-US" dirty="0">
                <a:solidFill>
                  <a:srgbClr val="FF6600"/>
                </a:solidFill>
              </a:rPr>
              <a:t>key</a:t>
            </a:r>
            <a:r>
              <a:rPr lang="en-US" dirty="0"/>
              <a:t>: </a:t>
            </a:r>
            <a:r>
              <a:rPr lang="en-US" dirty="0" smtClean="0"/>
              <a:t>the </a:t>
            </a:r>
            <a:r>
              <a:rPr lang="en-US" dirty="0"/>
              <a:t>private portion, encrypted using a passphrase.</a:t>
            </a:r>
          </a:p>
          <a:p>
            <a:pPr marL="1144588" indent="-1030288">
              <a:buNone/>
            </a:pPr>
            <a:r>
              <a:rPr lang="en-US" dirty="0" smtClean="0">
                <a:solidFill>
                  <a:srgbClr val="FF6600"/>
                </a:solidFill>
              </a:rPr>
              <a:t>User </a:t>
            </a:r>
            <a:r>
              <a:rPr lang="en-US" dirty="0">
                <a:solidFill>
                  <a:srgbClr val="FF6600"/>
                </a:solidFill>
              </a:rPr>
              <a:t>ID</a:t>
            </a:r>
            <a:r>
              <a:rPr lang="en-US" dirty="0"/>
              <a:t>: </a:t>
            </a:r>
            <a:r>
              <a:rPr lang="en-US" dirty="0" smtClean="0"/>
              <a:t>usually </a:t>
            </a:r>
            <a:r>
              <a:rPr lang="en-US" dirty="0"/>
              <a:t>the user’s email address. May be diﬀerent </a:t>
            </a:r>
            <a:r>
              <a:rPr lang="en-US" dirty="0" smtClean="0"/>
              <a:t>for diﬀerent </a:t>
            </a:r>
            <a:r>
              <a:rPr lang="en-US" dirty="0"/>
              <a:t>key pairs.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Public Key Ring</a:t>
            </a:r>
            <a:endParaRPr lang="en-US"/>
          </a:p>
        </p:txBody>
      </p:sp>
      <p:sp>
        <p:nvSpPr>
          <p:cNvPr id="5" name="Shape_75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76"/>
          <p:cNvSpPr/>
          <p:nvPr/>
        </p:nvSpPr>
        <p:spPr>
          <a:xfrm>
            <a:off x="6604000" y="6794500"/>
            <a:ext cx="2130322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77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96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Key </a:t>
            </a:r>
            <a:r>
              <a:rPr lang="en-US" dirty="0" smtClean="0"/>
              <a:t>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Public keys of other users are stored on a user’s public-key ring</a:t>
            </a:r>
            <a:r>
              <a:rPr lang="en-US" dirty="0" smtClean="0"/>
              <a:t>. 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This </a:t>
            </a:r>
            <a:r>
              <a:rPr lang="en-US" dirty="0"/>
              <a:t>is a table of rows containing (among other ﬁelds):</a:t>
            </a:r>
          </a:p>
          <a:p>
            <a:pPr marL="1484313" indent="-1370013">
              <a:buNone/>
              <a:tabLst>
                <a:tab pos="1484313" algn="l"/>
              </a:tabLst>
            </a:pPr>
            <a:r>
              <a:rPr lang="en-US" dirty="0" smtClean="0">
                <a:solidFill>
                  <a:srgbClr val="FF6600"/>
                </a:solidFill>
              </a:rPr>
              <a:t>Timestamp</a:t>
            </a:r>
            <a:r>
              <a:rPr lang="en-US" dirty="0"/>
              <a:t>: when the entry was generated.</a:t>
            </a:r>
          </a:p>
          <a:p>
            <a:pPr marL="1484313" indent="-1370013">
              <a:buNone/>
              <a:tabLst>
                <a:tab pos="1484313" algn="l"/>
              </a:tabLst>
            </a:pPr>
            <a:r>
              <a:rPr lang="en-US" dirty="0" smtClean="0">
                <a:solidFill>
                  <a:srgbClr val="FF6600"/>
                </a:solidFill>
              </a:rPr>
              <a:t>Key </a:t>
            </a:r>
            <a:r>
              <a:rPr lang="en-US" dirty="0">
                <a:solidFill>
                  <a:srgbClr val="FF6600"/>
                </a:solidFill>
              </a:rPr>
              <a:t>ID</a:t>
            </a:r>
            <a:r>
              <a:rPr lang="en-US" dirty="0"/>
              <a:t>: </a:t>
            </a:r>
            <a:r>
              <a:rPr lang="en-US" dirty="0" smtClean="0"/>
              <a:t>	64 </a:t>
            </a:r>
            <a:r>
              <a:rPr lang="en-US" dirty="0"/>
              <a:t>least signiﬁcant digits of this entry.</a:t>
            </a:r>
          </a:p>
          <a:p>
            <a:pPr marL="1484313" indent="-1370013">
              <a:buNone/>
              <a:tabLst>
                <a:tab pos="1484313" algn="l"/>
              </a:tabLst>
            </a:pPr>
            <a:r>
              <a:rPr lang="en-US" dirty="0" smtClean="0">
                <a:solidFill>
                  <a:srgbClr val="FF6600"/>
                </a:solidFill>
              </a:rPr>
              <a:t>Public </a:t>
            </a:r>
            <a:r>
              <a:rPr lang="en-US" dirty="0">
                <a:solidFill>
                  <a:srgbClr val="FF6600"/>
                </a:solidFill>
              </a:rPr>
              <a:t>key</a:t>
            </a:r>
            <a:r>
              <a:rPr lang="en-US" dirty="0"/>
              <a:t>: </a:t>
            </a:r>
            <a:r>
              <a:rPr lang="en-US" dirty="0" smtClean="0"/>
              <a:t>	the </a:t>
            </a:r>
            <a:r>
              <a:rPr lang="en-US" dirty="0"/>
              <a:t>public key for the entry.</a:t>
            </a:r>
          </a:p>
          <a:p>
            <a:pPr marL="1484313" indent="-1370013">
              <a:buNone/>
              <a:tabLst>
                <a:tab pos="1484313" algn="l"/>
              </a:tabLst>
            </a:pPr>
            <a:r>
              <a:rPr lang="en-US" dirty="0" smtClean="0">
                <a:solidFill>
                  <a:srgbClr val="FF6600"/>
                </a:solidFill>
              </a:rPr>
              <a:t>User </a:t>
            </a:r>
            <a:r>
              <a:rPr lang="en-US" dirty="0">
                <a:solidFill>
                  <a:srgbClr val="FF6600"/>
                </a:solidFill>
              </a:rPr>
              <a:t>ID</a:t>
            </a:r>
            <a:r>
              <a:rPr lang="en-US" dirty="0"/>
              <a:t>: </a:t>
            </a:r>
            <a:r>
              <a:rPr lang="en-US" dirty="0" smtClean="0"/>
              <a:t>	Identiﬁer </a:t>
            </a:r>
            <a:r>
              <a:rPr lang="en-US" dirty="0"/>
              <a:t>for the owner of this key. Multiple IDs </a:t>
            </a:r>
            <a:r>
              <a:rPr lang="en-US" dirty="0" smtClean="0"/>
              <a:t>may </a:t>
            </a:r>
            <a:br>
              <a:rPr lang="en-US" dirty="0" smtClean="0"/>
            </a:br>
            <a:r>
              <a:rPr lang="en-US" dirty="0" smtClean="0"/>
              <a:t>be </a:t>
            </a:r>
            <a:r>
              <a:rPr lang="en-US" dirty="0"/>
              <a:t>associated with a single public key.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public key can be indexed by either User ID or Key ID.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Retrieving a Private Key</a:t>
            </a:r>
            <a:endParaRPr lang="en-US"/>
          </a:p>
        </p:txBody>
      </p:sp>
      <p:sp>
        <p:nvSpPr>
          <p:cNvPr id="5" name="Shape_78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79"/>
          <p:cNvSpPr/>
          <p:nvPr/>
        </p:nvSpPr>
        <p:spPr>
          <a:xfrm>
            <a:off x="6604000" y="6794500"/>
            <a:ext cx="2212258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80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37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a Private </a:t>
            </a:r>
            <a:r>
              <a:rPr lang="en-US" dirty="0" smtClean="0"/>
              <a:t>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Whenever PGP must use a private key, </a:t>
            </a:r>
            <a:r>
              <a:rPr lang="en-US" dirty="0" smtClean="0"/>
              <a:t>it </a:t>
            </a:r>
            <a:r>
              <a:rPr lang="en-US" dirty="0"/>
              <a:t>must decrypt it. </a:t>
            </a:r>
            <a:r>
              <a:rPr lang="en-US" dirty="0" smtClean="0"/>
              <a:t>For example</a:t>
            </a:r>
            <a:r>
              <a:rPr lang="en-US" dirty="0"/>
              <a:t>, suppose R receives a message encrypted with K</a:t>
            </a:r>
            <a:r>
              <a:rPr lang="en-US" baseline="-25000" dirty="0"/>
              <a:t>R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PGP </a:t>
            </a:r>
            <a:r>
              <a:rPr lang="en-US" dirty="0"/>
              <a:t>retrieves receiver’s encrypted private key from </a:t>
            </a:r>
            <a:r>
              <a:rPr lang="en-US" dirty="0" smtClean="0"/>
              <a:t>the private</a:t>
            </a:r>
            <a:r>
              <a:rPr lang="en-US" dirty="0"/>
              <a:t>-key ring, using the Key ID ﬁeld in the session </a:t>
            </a:r>
            <a:r>
              <a:rPr lang="en-US" dirty="0" smtClean="0"/>
              <a:t>key component </a:t>
            </a:r>
            <a:r>
              <a:rPr lang="en-US" dirty="0"/>
              <a:t>of the message as an index.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PGP </a:t>
            </a:r>
            <a:r>
              <a:rPr lang="en-US" dirty="0"/>
              <a:t>prompts the user for the passphrase to recover </a:t>
            </a:r>
            <a:r>
              <a:rPr lang="en-US" dirty="0" smtClean="0"/>
              <a:t>the unencrypted </a:t>
            </a:r>
            <a:r>
              <a:rPr lang="en-US" dirty="0"/>
              <a:t>private key.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PGP </a:t>
            </a:r>
            <a:r>
              <a:rPr lang="en-US" dirty="0"/>
              <a:t>recovers the session key and decrypts the message.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Validity of Public Key</a:t>
            </a:r>
            <a:endParaRPr lang="en-US"/>
          </a:p>
        </p:txBody>
      </p:sp>
      <p:sp>
        <p:nvSpPr>
          <p:cNvPr id="5" name="Shape_81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82"/>
          <p:cNvSpPr/>
          <p:nvPr/>
        </p:nvSpPr>
        <p:spPr>
          <a:xfrm>
            <a:off x="6604000" y="6794500"/>
            <a:ext cx="2294193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83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2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Validity of Public </a:t>
            </a:r>
            <a:r>
              <a:rPr lang="en-US" dirty="0" smtClean="0"/>
              <a:t>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Associated with each public key in the user’s public key ring is </a:t>
            </a:r>
            <a:r>
              <a:rPr lang="en-US" dirty="0" smtClean="0"/>
              <a:t>a </a:t>
            </a:r>
            <a:r>
              <a:rPr lang="en-US" b="1" dirty="0" smtClean="0"/>
              <a:t>key </a:t>
            </a:r>
            <a:r>
              <a:rPr lang="en-US" b="1" dirty="0"/>
              <a:t>legitimacy ﬁeld </a:t>
            </a:r>
            <a:r>
              <a:rPr lang="en-US" dirty="0"/>
              <a:t>that indicates the extent to which PGP </a:t>
            </a:r>
            <a:r>
              <a:rPr lang="en-US" dirty="0" smtClean="0"/>
              <a:t>trusts that </a:t>
            </a:r>
            <a:r>
              <a:rPr lang="en-US" dirty="0"/>
              <a:t>this is a valid public key for this user.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Legitimacy is determined from certiﬁcates and chains </a:t>
            </a:r>
            <a:r>
              <a:rPr lang="en-US" dirty="0" smtClean="0"/>
              <a:t>of certiﬁcates</a:t>
            </a:r>
            <a:r>
              <a:rPr lang="en-US" dirty="0"/>
              <a:t>, the user’s assessment of the trust to be assigned to </a:t>
            </a:r>
            <a:r>
              <a:rPr lang="en-US" dirty="0" smtClean="0"/>
              <a:t>the key</a:t>
            </a:r>
            <a:r>
              <a:rPr lang="en-US" dirty="0"/>
              <a:t>, and various heuristics for computing trust.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Revoking Public Keys</a:t>
            </a:r>
            <a:endParaRPr lang="en-US"/>
          </a:p>
        </p:txBody>
      </p:sp>
      <p:sp>
        <p:nvSpPr>
          <p:cNvPr id="5" name="Shape_84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85"/>
          <p:cNvSpPr/>
          <p:nvPr/>
        </p:nvSpPr>
        <p:spPr>
          <a:xfrm>
            <a:off x="6604000" y="6794500"/>
            <a:ext cx="2376129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86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9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Public </a:t>
            </a:r>
            <a:r>
              <a:rPr lang="en-US" dirty="0" smtClean="0"/>
              <a:t>Keys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 user may wish to revoke a public key because</a:t>
            </a:r>
            <a:r>
              <a:rPr lang="en-US" dirty="0" smtClean="0"/>
              <a:t>: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 smtClean="0"/>
              <a:t>compromise </a:t>
            </a:r>
            <a:r>
              <a:rPr lang="en-US" dirty="0"/>
              <a:t>is suspected, or</a:t>
            </a:r>
          </a:p>
          <a:p>
            <a:r>
              <a:rPr lang="en-US" dirty="0" smtClean="0"/>
              <a:t>to </a:t>
            </a:r>
            <a:r>
              <a:rPr lang="en-US" dirty="0"/>
              <a:t>limit the period of use of the key.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The owner issues a signed key revocation certiﬁcate. Recipients </a:t>
            </a:r>
            <a:r>
              <a:rPr lang="en-US" dirty="0" smtClean="0"/>
              <a:t>are expected </a:t>
            </a:r>
            <a:r>
              <a:rPr lang="en-US" dirty="0"/>
              <a:t>to update their public-key rings.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Coming up: Lessons</a:t>
            </a:r>
            <a:endParaRPr lang="en-US"/>
          </a:p>
        </p:txBody>
      </p:sp>
      <p:sp>
        <p:nvSpPr>
          <p:cNvPr id="5" name="Shape_87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88"/>
          <p:cNvSpPr/>
          <p:nvPr/>
        </p:nvSpPr>
        <p:spPr>
          <a:xfrm>
            <a:off x="6604000" y="6794500"/>
            <a:ext cx="2458064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89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30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77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PGP user must manage his own private keys and </a:t>
            </a:r>
            <a:r>
              <a:rPr lang="en-US" dirty="0" smtClean="0"/>
              <a:t>the public </a:t>
            </a:r>
            <a:r>
              <a:rPr lang="en-US" dirty="0"/>
              <a:t>keys of others.</a:t>
            </a:r>
          </a:p>
          <a:p>
            <a:endParaRPr lang="en-US" dirty="0"/>
          </a:p>
          <a:p>
            <a:r>
              <a:rPr lang="en-US" dirty="0"/>
              <a:t>These are stored on separate keys rings</a:t>
            </a:r>
            <a:r>
              <a:rPr lang="en-US" dirty="0" smtClean="0"/>
              <a:t>. </a:t>
            </a:r>
            <a:br>
              <a:rPr lang="en-US" dirty="0" smtClean="0"/>
            </a:br>
            <a:endParaRPr lang="en-US" dirty="0"/>
          </a:p>
          <a:p>
            <a:r>
              <a:rPr lang="en-US" dirty="0" smtClean="0"/>
              <a:t>Private </a:t>
            </a:r>
            <a:r>
              <a:rPr lang="en-US" dirty="0"/>
              <a:t>keys are protected by encryption; public keys </a:t>
            </a:r>
            <a:r>
              <a:rPr lang="en-US" dirty="0" smtClean="0"/>
              <a:t>are stored </a:t>
            </a:r>
            <a:r>
              <a:rPr lang="en-US" dirty="0"/>
              <a:t>with certiﬁcates attesting to their trustworthiness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 smtClean="0"/>
              <a:t>Keys </a:t>
            </a:r>
            <a:r>
              <a:rPr lang="en-US" dirty="0"/>
              <a:t>can be revoked.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End of presentation</a:t>
            </a:r>
            <a:endParaRPr lang="en-US"/>
          </a:p>
        </p:txBody>
      </p:sp>
      <p:sp>
        <p:nvSpPr>
          <p:cNvPr id="5" name="Shape_90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_91"/>
          <p:cNvSpPr/>
          <p:nvPr/>
        </p:nvSpPr>
        <p:spPr>
          <a:xfrm>
            <a:off x="6604000" y="6794500"/>
            <a:ext cx="2540000" cy="63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hape_92"/>
          <p:cNvSpPr/>
          <p:nvPr/>
        </p:nvSpPr>
        <p:spPr>
          <a:xfrm>
            <a:off x="8470900" y="5486400"/>
            <a:ext cx="673100" cy="6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31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85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650</TotalTime>
  <Words>2009</Words>
  <Application>Microsoft Macintosh PowerPoint</Application>
  <PresentationFormat>On-screen Show (4:3)</PresentationFormat>
  <Paragraphs>277</Paragraphs>
  <Slides>31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Adjacency</vt:lpstr>
      <vt:lpstr>Equation</vt:lpstr>
      <vt:lpstr>Pretty Good Privacy</vt:lpstr>
      <vt:lpstr>Pretty Good Privacy</vt:lpstr>
      <vt:lpstr>Zimmermann’s Motivation</vt:lpstr>
      <vt:lpstr>Did Zimmermann Succeed?</vt:lpstr>
      <vt:lpstr>PGP</vt:lpstr>
      <vt:lpstr>Growth of PGP</vt:lpstr>
      <vt:lpstr>Lessons</vt:lpstr>
      <vt:lpstr>PGP Services</vt:lpstr>
      <vt:lpstr>PGP Authentication</vt:lpstr>
      <vt:lpstr>PGP Conﬁdentiality</vt:lpstr>
      <vt:lpstr>Conﬁdentiality and Authentication</vt:lpstr>
      <vt:lpstr>Lessons</vt:lpstr>
      <vt:lpstr>PGP Services</vt:lpstr>
      <vt:lpstr>Compression</vt:lpstr>
      <vt:lpstr>Email Compatibility</vt:lpstr>
      <vt:lpstr>Segmentation and Reassembly</vt:lpstr>
      <vt:lpstr>Lessons</vt:lpstr>
      <vt:lpstr>PGP: Key Management</vt:lpstr>
      <vt:lpstr>Key Management</vt:lpstr>
      <vt:lpstr>Session Key Generation</vt:lpstr>
      <vt:lpstr>Public/Private Key Generation</vt:lpstr>
      <vt:lpstr>Encrypting the Private Key</vt:lpstr>
      <vt:lpstr>Lessons</vt:lpstr>
      <vt:lpstr>Key Management</vt:lpstr>
      <vt:lpstr>Managing Key Pairs</vt:lpstr>
      <vt:lpstr>Key Rings: Private Key Ring</vt:lpstr>
      <vt:lpstr>Public Key Ring</vt:lpstr>
      <vt:lpstr>Retrieving a Private Key</vt:lpstr>
      <vt:lpstr>Validity of Public Key</vt:lpstr>
      <vt:lpstr>Revoking Public Keys</vt:lpstr>
      <vt:lpstr>Lessons</vt:lpstr>
    </vt:vector>
  </TitlesOfParts>
  <Company>George Mason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Dan Fleck</dc:creator>
  <cp:lastModifiedBy>Dan Fleck</cp:lastModifiedBy>
  <cp:revision>107</cp:revision>
  <dcterms:created xsi:type="dcterms:W3CDTF">2013-07-03T16:36:50Z</dcterms:created>
  <dcterms:modified xsi:type="dcterms:W3CDTF">2013-11-11T15:36:50Z</dcterms:modified>
</cp:coreProperties>
</file>