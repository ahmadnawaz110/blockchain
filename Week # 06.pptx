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4"/>
  </p:notesMasterIdLst>
  <p:sldIdLst>
    <p:sldId id="319" r:id="rId2"/>
    <p:sldId id="257" r:id="rId3"/>
    <p:sldId id="258" r:id="rId4"/>
    <p:sldId id="259" r:id="rId5"/>
    <p:sldId id="260" r:id="rId6"/>
    <p:sldId id="32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 type="screen4x3"/>
  <p:notesSz cx="6858000" cy="9144000"/>
  <p:embeddedFontLst>
    <p:embeddedFont>
      <p:font typeface="Economica" panose="020B0604020202020204" charset="0"/>
      <p:regular r:id="rId35"/>
      <p:bold r:id="rId36"/>
      <p:italic r:id="rId37"/>
      <p:boldItalic r:id="rId38"/>
    </p:embeddedFont>
    <p:embeddedFont>
      <p:font typeface="Georgia" panose="02040502050405020303" pitchFamily="18" charset="0"/>
      <p:regular r:id="rId39"/>
      <p:bold r:id="rId40"/>
      <p:italic r:id="rId41"/>
      <p:bold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0da53a58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0da53a58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a0da53a587_0_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0da53a58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a0da53a58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a0da53a587_0_1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0da53a58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0da53a58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a0da53a587_0_2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0da53a58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a0da53a58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a0da53a587_0_3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0da53a5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0da53a5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a0da53a587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6" name="Google Shape;1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1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2" name="Google Shape;15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9" name="Google Shape;15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6" name="Google Shape;16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7" name="Google Shape;167;p2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3" name="Google Shape;17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2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0" name="Google Shape;1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2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a0da53a58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a0da53a58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a0da53a587_0_4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a0da53a58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a0da53a58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a0da53a587_0_5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0da53a587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0da53a587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a0da53a587_0_3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9" name="Google Shape;2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2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23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24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25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26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4" name="Google Shape;2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1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27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1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30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0" name="Google Shape;2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31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7" name="Google Shape;27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2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5" name="Google Shape;15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" name="Google Shape;26;p4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ibertystreeteconomics.newyorkfed.org/2013/02/historical-echoes-cash-or-credit-payments-and-finance-in-ancient-rome.html#.V1GF-PkrLcs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subTitle" idx="1"/>
          </p:nvPr>
        </p:nvSpPr>
        <p:spPr>
          <a:xfrm>
            <a:off x="4495800" y="4876800"/>
            <a:ext cx="411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endParaRPr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40EB38B-38D7-6A13-F293-9AE0EC4117B6}"/>
              </a:ext>
            </a:extLst>
          </p:cNvPr>
          <p:cNvSpPr txBox="1">
            <a:spLocks noChangeArrowheads="1"/>
          </p:cNvSpPr>
          <p:nvPr/>
        </p:nvSpPr>
        <p:spPr>
          <a:xfrm>
            <a:off x="43640" y="5410200"/>
            <a:ext cx="4114800" cy="1269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None/>
              <a:defRPr sz="21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l">
              <a:lnSpc>
                <a:spcPct val="90000"/>
              </a:lnSpc>
              <a:defRPr/>
            </a:pPr>
            <a:endParaRPr lang="en-US" altLang="zh-TW" sz="1500" dirty="0">
              <a:latin typeface="+mj-lt"/>
            </a:endParaRPr>
          </a:p>
        </p:txBody>
      </p:sp>
      <p:sp>
        <p:nvSpPr>
          <p:cNvPr id="6" name="Google Shape;72;p14"/>
          <p:cNvSpPr txBox="1">
            <a:spLocks noGrp="1"/>
          </p:cNvSpPr>
          <p:nvPr>
            <p:ph type="ctrTitle"/>
          </p:nvPr>
        </p:nvSpPr>
        <p:spPr>
          <a:xfrm>
            <a:off x="2741225" y="2306675"/>
            <a:ext cx="3683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600" dirty="0"/>
              <a:t>Distributed Ledger Technology</a:t>
            </a:r>
            <a:endParaRPr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4600"/>
              <a:t>Outline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What is DLT? 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Byzantine Generals Problem (BGP)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DLT Types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Components of DLT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Economica"/>
              <a:buChar char="●"/>
            </a:pPr>
            <a:r>
              <a:rPr lang="en-US" sz="3000" dirty="0">
                <a:latin typeface="Economica"/>
                <a:ea typeface="Economica"/>
                <a:cs typeface="Economica"/>
                <a:sym typeface="Economica"/>
              </a:rPr>
              <a:t>DLT Applications</a:t>
            </a:r>
            <a:endParaRPr sz="3000" dirty="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3000" dirty="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dirty="0"/>
              <a:t>What is Ledger?</a:t>
            </a:r>
            <a:endParaRPr dirty="0"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Ledgers are the foundations of </a:t>
            </a:r>
            <a:r>
              <a:rPr lang="en-US" sz="2600" b="1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accounting</a:t>
            </a: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 — a system by which people establish who owns what, who has what, and who owes what to whom.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third party has always had to register and oversee transactions and maintain accounts. This makes sense as it provides a basis for validation, and allows people conducting a trade of value to trust one another.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growth of global trade and commerce has led to the creation of a vast network of ledger systems, which are vulnerable to downtime, misinterpretation and fraud, the repercussions of which can be catastrophic and far-reaching</a:t>
            </a:r>
            <a:endParaRPr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Ledger Sample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70458"/>
            <a:ext cx="9144001" cy="2718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What is Distributed Ledger?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“A distributed ledger is a type of data structure which resides across multiple computer devices, generally spread across locations or regions.” </a:t>
            </a:r>
            <a:endParaRPr sz="28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- Linux Foundation</a:t>
            </a:r>
            <a:endParaRPr sz="2800" dirty="0">
              <a:solidFill>
                <a:srgbClr val="444444"/>
              </a:solidFill>
              <a:highlight>
                <a:srgbClr val="FFFFFF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EBD09-8E32-A6A4-8E23-FECA0708D682}"/>
              </a:ext>
            </a:extLst>
          </p:cNvPr>
          <p:cNvSpPr txBox="1"/>
          <p:nvPr/>
        </p:nvSpPr>
        <p:spPr>
          <a:xfrm>
            <a:off x="308114" y="1157502"/>
            <a:ext cx="83041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Economica"/>
                <a:sym typeface="Open Sans"/>
              </a:rPr>
              <a:t>DLT stands for Distributed Ledger Technology. It's a decentralized database that's distributed across multiple nodes or locations. Each participant in the network has a copy of the ledger, and transactions are recorded across all copies simultaneously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Economica"/>
                <a:sym typeface="Open Sans"/>
              </a:rPr>
              <a:t>DLT provides a secure and transparent way of recording transactions without the need for a central authority or intermediary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Economica"/>
                <a:sym typeface="Open Sans"/>
              </a:rPr>
              <a:t>Blockchain is a popular example of DLT, but there are other types of distributed ledger technologies as well, including Directed Acyclic Graphs (DAGs) and </a:t>
            </a:r>
            <a:r>
              <a:rPr lang="en-US" sz="2800" dirty="0" err="1">
                <a:solidFill>
                  <a:srgbClr val="444444"/>
                </a:solidFill>
                <a:latin typeface="Economica"/>
                <a:sym typeface="Open Sans"/>
              </a:rPr>
              <a:t>Hashgraph</a:t>
            </a:r>
            <a:endParaRPr lang="en-US" sz="2800" dirty="0">
              <a:solidFill>
                <a:srgbClr val="444444"/>
              </a:solidFill>
              <a:latin typeface="Economica"/>
              <a:sym typeface="Open Sans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444444"/>
                </a:solidFill>
                <a:latin typeface="Economica"/>
                <a:sym typeface="Open Sans"/>
              </a:rPr>
              <a:t>These technologies are often associated with cryptocurrencies but have applications across various industries, including finance, supply chain management, healthcare, and more</a:t>
            </a:r>
          </a:p>
        </p:txBody>
      </p:sp>
      <p:sp>
        <p:nvSpPr>
          <p:cNvPr id="4" name="Google Shape;108;p19">
            <a:extLst>
              <a:ext uri="{FF2B5EF4-FFF2-40B4-BE49-F238E27FC236}">
                <a16:creationId xmlns:a16="http://schemas.microsoft.com/office/drawing/2014/main" id="{D1E98FD8-258C-D2C1-CCD3-0762959915CA}"/>
              </a:ext>
            </a:extLst>
          </p:cNvPr>
          <p:cNvSpPr txBox="1">
            <a:spLocks/>
          </p:cNvSpPr>
          <p:nvPr/>
        </p:nvSpPr>
        <p:spPr>
          <a:xfrm>
            <a:off x="401152" y="581033"/>
            <a:ext cx="8520600" cy="40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4200"/>
            </a:pPr>
            <a:r>
              <a:rPr lang="en-US" sz="3200" dirty="0"/>
              <a:t>What is Distributed Ledger Technology?</a:t>
            </a:r>
          </a:p>
        </p:txBody>
      </p:sp>
    </p:spTree>
    <p:extLst>
      <p:ext uri="{BB962C8B-B14F-4D97-AF65-F5344CB8AC3E}">
        <p14:creationId xmlns:p14="http://schemas.microsoft.com/office/powerpoint/2010/main" val="3244395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411092" y="7336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dirty="0"/>
              <a:t>What is Distributed Ledger Technology?</a:t>
            </a:r>
            <a:endParaRPr dirty="0"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411092" y="1200848"/>
            <a:ext cx="8520600" cy="3319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just"/>
            <a:r>
              <a:rPr lang="en-US" sz="28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Distributed Ledger Technology includes blockchain technologies and smart contracts. While distributed ledgers existed prior to Bitcoin, the Bitcoin blockchain marks the convergence of a host of technologies, including timestamping of transactions, Peer-to-Peer (P2P) networks, cryptography, and shared computational power, along with a new consensus algorithm</a:t>
            </a:r>
            <a:endParaRPr sz="28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8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8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1C2E4-D1EA-B2C2-2420-0374B0FFC8D0}"/>
              </a:ext>
            </a:extLst>
          </p:cNvPr>
          <p:cNvSpPr txBox="1">
            <a:spLocks/>
          </p:cNvSpPr>
          <p:nvPr/>
        </p:nvSpPr>
        <p:spPr>
          <a:xfrm>
            <a:off x="411092" y="4187991"/>
            <a:ext cx="8520600" cy="211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 dirty="0"/>
              <a:t>In summary, distributed ledger technology generally consist of three basic components: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data model</a:t>
            </a:r>
            <a:r>
              <a:rPr lang="en-US" dirty="0">
                <a:solidFill>
                  <a:schemeClr val="tx1"/>
                </a:solidFill>
              </a:rPr>
              <a:t>, that capture the current state of the ledger </a:t>
            </a:r>
          </a:p>
          <a:p>
            <a:r>
              <a:rPr lang="en-US" dirty="0">
                <a:solidFill>
                  <a:srgbClr val="FF0000"/>
                </a:solidFill>
              </a:rPr>
              <a:t>A language </a:t>
            </a:r>
            <a:r>
              <a:rPr lang="en-US" b="1" dirty="0">
                <a:solidFill>
                  <a:schemeClr val="tx1"/>
                </a:solidFill>
              </a:rPr>
              <a:t>of transaction that changes that changes the ledger state</a:t>
            </a:r>
          </a:p>
          <a:p>
            <a:r>
              <a:rPr lang="en-US" dirty="0">
                <a:solidFill>
                  <a:srgbClr val="FF0000"/>
                </a:solidFill>
              </a:rPr>
              <a:t>A protocol </a:t>
            </a:r>
            <a:r>
              <a:rPr lang="en-US" dirty="0">
                <a:solidFill>
                  <a:schemeClr val="tx1"/>
                </a:solidFill>
              </a:rPr>
              <a:t>used to build consensus among participants around which transaction will be accepted, and in what order, by the ledger</a:t>
            </a:r>
          </a:p>
          <a:p>
            <a:pPr marL="114300" indent="0">
              <a:buFont typeface="Open Sans"/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A8C2C-1A2B-6735-AF02-B76147897676}"/>
              </a:ext>
            </a:extLst>
          </p:cNvPr>
          <p:cNvSpPr txBox="1"/>
          <p:nvPr/>
        </p:nvSpPr>
        <p:spPr>
          <a:xfrm>
            <a:off x="2385391" y="6301410"/>
            <a:ext cx="5078895" cy="31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 dirty="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What is the need?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04975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Town Analogy</a:t>
            </a:r>
            <a:endParaRPr dirty="0"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470991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Imagine that there is a small town of 10 people.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Each person participates in the economy and has specific job. e.g.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○"/>
            </a:pPr>
            <a:r>
              <a:rPr lang="en-US" sz="24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Alice harvests crops. Bob catches fish. Others are responsible for building houses, cooking meals, and other crucial tasks for the town to flourish.</a:t>
            </a:r>
            <a:endParaRPr sz="24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One day, Alice wants to trade crops for fish but realizes that the crops aren’t yet ready for harvest.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She asks Bob to make the trade anyway. He agrees and says Alice can repay the favor after she has harvested her crops.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Over time, though, the two may have too many favors to keep up with. The system only gets more chaotic when the other townspeople are factored in.</a:t>
            </a:r>
            <a:endParaRPr sz="24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Town Analogy</a:t>
            </a:r>
            <a:endParaRPr dirty="0"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Alice, Bob, and the other villagers in the community agree to appoint a man named John to be the sole keeper of the town ledger.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John is in charge of keeping track of all favors and loans, as well as repayments, making sure everyone is contributing to the local economy.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John writes all favors down on a sheet of paper that only he can access.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Although this system works for a little while, issues arise when John realizes how much power he has compared to the other villagers.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Town Analogy</a:t>
            </a:r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John is often bribed by people to add or erase favors from the ledger.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John’s power goes unchecked until one day the townspeople finally get tired of this system.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They decide to create a distributed ledger, meaning everyone in the town has access to the same piece of paper and pen.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ledger is placed in the town square for everyone to record both favors and repayments.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Any disputes are settled through community votes.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favor system becomes transparent and far less corrupt than when John was the only one in charge of the ledger.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Town Analogy Conclusion</a:t>
            </a: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Today’s distributed ledger technology is an attempt to solve an age-old problem of recordkeeping.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main difference is that the solutions being developed and used today are vastly more complex and powerful than a pen and paper ledger. 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600" dirty="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Distributed ledger technology solutions are trying to be scalable enough to help the town, regardless if the population is 10 or 10 million.</a:t>
            </a:r>
            <a:endParaRPr sz="2600" dirty="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3194" y="0"/>
            <a:ext cx="5297611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DLT Types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67925"/>
            <a:ext cx="9143998" cy="2808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DLT Types: Blockchain</a:t>
            </a:r>
            <a:endParaRPr/>
          </a:p>
        </p:txBody>
      </p:sp>
      <p:sp>
        <p:nvSpPr>
          <p:cNvPr id="163" name="Google Shape;163;p2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“A blockchain is a peer-to-peer distributed ledger forged by consensus, combined with a system for "smart contracts" and other assistive technologies."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- hyperledger.org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DLT Types: Directed Acyclic Graph</a:t>
            </a:r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mathematics a DAG is a graph that travels in one direction without cycles connecting the other edges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collection of individual transactions where each transaction is linked to at least one other transaction in the following way: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○"/>
            </a:pPr>
            <a:r>
              <a:rPr lang="en-US" sz="24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Directed:</a:t>
            </a: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The links point in the same direction with earlier transactions linked to later transactions, and so on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○"/>
            </a:pPr>
            <a:r>
              <a:rPr lang="en-US" sz="24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Acyclic:</a:t>
            </a: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Loops are not possible. A transaction cannot loop back on itself after linking to another transaction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○"/>
            </a:pPr>
            <a:r>
              <a:rPr lang="en-US" sz="24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Graph:</a:t>
            </a: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The mesh of connected transactions can be represented as nodes in a graph network, in which nodes are joined to each other by links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en-US"/>
              <a:t>DLT Types: Directed Acyclic Graph</a:t>
            </a:r>
            <a:endParaRPr/>
          </a:p>
        </p:txBody>
      </p:sp>
      <p:pic>
        <p:nvPicPr>
          <p:cNvPr id="177" name="Google Shape;17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74844"/>
            <a:ext cx="9144002" cy="3822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601" y="200176"/>
            <a:ext cx="8424797" cy="6087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DLT Types: Hashgraph</a:t>
            </a:r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Hashgraph there can be multiple transactions stored on the ledger on the same timestamp. 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All transactions are stored in a parallel structure. 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Every record on the ledger is called an “Event.”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events are mined in order of their occurrence, so that no event is left behind.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DLT Types: Hashgraph</a:t>
            </a:r>
            <a:endParaRPr/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05371"/>
            <a:ext cx="9144001" cy="461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DLT Types: Holochain</a:t>
            </a:r>
            <a:endParaRPr/>
          </a:p>
        </p:txBody>
      </p:sp>
      <p:sp>
        <p:nvSpPr>
          <p:cNvPr id="206" name="Google Shape;206;p3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Holochian DLT is said to be one of the most advanced levels of ledgers out there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Its an agent-centric instead of data-centric structure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This network avoids using any global consensus protocol by providing every agent with its very own forking system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400"/>
              <a:buFont typeface="Economica"/>
              <a:buChar char="●"/>
            </a:pPr>
            <a:r>
              <a:rPr lang="en-US" sz="24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Holochain solves the problems of scalability and makes the network growth easy. </a:t>
            </a:r>
            <a:endParaRPr sz="24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Basic Components of DLT</a:t>
            </a:r>
            <a:endParaRPr/>
          </a:p>
        </p:txBody>
      </p:sp>
      <p:sp>
        <p:nvSpPr>
          <p:cNvPr id="213" name="Google Shape;213;p3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data model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that captures the current state of the ledger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language of transactions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that changes the ledger state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protocol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used to build consensus among participants around which transactions will be accepted, and in what order, by the ledger</a:t>
            </a:r>
            <a:endParaRPr sz="26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Origin of Distributed Ledger</a:t>
            </a:r>
            <a:endParaRPr/>
          </a:p>
        </p:txBody>
      </p:sp>
      <p:sp>
        <p:nvSpPr>
          <p:cNvPr id="220" name="Google Shape;220;p3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DLT has its </a:t>
            </a:r>
            <a:r>
              <a:rPr lang="en-US" sz="2600">
                <a:solidFill>
                  <a:schemeClr val="hlink"/>
                </a:solidFill>
                <a:uFill>
                  <a:noFill/>
                </a:uFill>
                <a:latin typeface="Economica"/>
                <a:ea typeface="Economica"/>
                <a:cs typeface="Economica"/>
                <a:sym typeface="Economica"/>
                <a:hlinkClick r:id="rId3"/>
              </a:rPr>
              <a:t>earliest history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in the Roman Empire, which hosted a banking system that allowed people to participate in transactions across other regions belonging to the empire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3937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600"/>
              <a:buFont typeface="Economica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Use of DLT was held back in modern computers due to a dilemma known as </a:t>
            </a:r>
            <a:r>
              <a:rPr lang="en-US" sz="26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Byzantine Generals Problem (BGP)</a:t>
            </a:r>
            <a:endParaRPr sz="2600" b="1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600"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SzPts val="4200"/>
              <a:buNone/>
            </a:pPr>
            <a:r>
              <a:rPr lang="en-US"/>
              <a:t>The Byzantine Generals Problem</a:t>
            </a:r>
            <a:endParaRPr/>
          </a:p>
        </p:txBody>
      </p:sp>
      <p:pic>
        <p:nvPicPr>
          <p:cNvPr id="227" name="Google Shape;22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7789"/>
            <a:ext cx="9144001" cy="4112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BGP</a:t>
            </a:r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 commanding general must send an order to his </a:t>
            </a:r>
            <a:r>
              <a:rPr lang="en-US" sz="2600" i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n - 1</a:t>
            </a: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 lieutenant generals such that: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IC1: All loyal generals obey the same order</a:t>
            </a:r>
            <a:endParaRPr sz="26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26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IC2: If the commanding general is loyal, then every loyal lieutenant obeys the order he sends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BGP</a:t>
            </a:r>
            <a:endParaRPr/>
          </a:p>
        </p:txBody>
      </p:sp>
      <p:sp>
        <p:nvSpPr>
          <p:cNvPr id="241" name="Google Shape;241;p38"/>
          <p:cNvSpPr txBox="1">
            <a:spLocks noGrp="1"/>
          </p:cNvSpPr>
          <p:nvPr>
            <p:ph type="body" idx="1"/>
          </p:nvPr>
        </p:nvSpPr>
        <p:spPr>
          <a:xfrm>
            <a:off x="311700" y="14812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The generals are so far apart from each other that messengers are required in order for the generals to communicate.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One or more lieutenants and messengers may be traitors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Given these conditions and the commander-lieutenant set-up, can the army execute a strategy?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Solution to the problem relies on an algorithm that can guarantee that: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All loyal lieutenant generals decide upon the same plan of action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914400" marR="0" lvl="1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○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Few traitors cannot cause the loyal lieutenants to adopt a bad plan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5638" y="0"/>
            <a:ext cx="5692713" cy="670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BGP</a:t>
            </a:r>
            <a:endParaRPr/>
          </a:p>
        </p:txBody>
      </p:sp>
      <p:sp>
        <p:nvSpPr>
          <p:cNvPr id="254" name="Google Shape;254;p40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Figure 1 — The Lieutenant 2 is a traitor who purposely changes the message that is to be passed to Lieutenant 1.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Now Lieutenant 1 has received 2 messages and does not know which one to follow.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Assuming Lieutenant 1 follows the Commander because of rank, 1/3rd of the army is weaker by force as Lieutenant 2 is a traitor and this creates a lot of confusion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However what if the Commander is a traitor (as explained in Figure 2). Now 2/3rd of the total army has followed the incorrect order and failure is certain.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0200" y="4763"/>
            <a:ext cx="5943600" cy="68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BGP</a:t>
            </a:r>
            <a:endParaRPr/>
          </a:p>
        </p:txBody>
      </p:sp>
      <p:sp>
        <p:nvSpPr>
          <p:cNvPr id="267" name="Google Shape;267;p42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Figure 3 and Figure 4, we have just added 1 more Lieutenant and 1 more type of message, e.g. ‘Not sure’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Immediately the complexity of finding a consensus between all the Lieutenants and the Commander is increased.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Imagine the exponential increase when there are hundreds of Lieutenants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It becomes even more complex when there is no commander and lieutenant, instead everybody is of equal hierarchy</a:t>
            </a:r>
            <a:endParaRPr sz="16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/>
              <a:t>BGP</a:t>
            </a:r>
            <a:endParaRPr/>
          </a:p>
        </p:txBody>
      </p:sp>
      <p:sp>
        <p:nvSpPr>
          <p:cNvPr id="274" name="Google Shape;274;p4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All participating nodes have to agree upon every message that is transmitted between the nodes.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If a group of nodes is corrupt or the message that they transmit is corrupt then still the network as a whole should not be affected by it and should resist this ‘Attack’. </a:t>
            </a:r>
            <a:endParaRPr sz="2800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In short, the network in its entirety has to agree upon every message transmitted in the network. This agreement is called as </a:t>
            </a:r>
            <a:r>
              <a:rPr lang="en-US" sz="2800" b="1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consensus</a:t>
            </a:r>
            <a:endParaRPr sz="2800" b="1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marL="457200" marR="0" lvl="0" indent="-406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2800"/>
              <a:buFont typeface="Economica"/>
              <a:buChar char="●"/>
            </a:pPr>
            <a:r>
              <a:rPr lang="en-US" sz="2800">
                <a:solidFill>
                  <a:srgbClr val="444444"/>
                </a:solidFill>
                <a:latin typeface="Economica"/>
                <a:ea typeface="Economica"/>
                <a:cs typeface="Economica"/>
                <a:sym typeface="Economica"/>
              </a:rPr>
              <a:t>Bitcoin provided a convincing consensus protocol, called proof of work, to solve the Byzantine Generals Problem</a:t>
            </a:r>
            <a:endParaRPr sz="2800" b="1">
              <a:solidFill>
                <a:srgbClr val="444444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 Book</a:t>
            </a:r>
            <a:endParaRPr/>
          </a:p>
        </p:txBody>
      </p:sp>
      <p:sp>
        <p:nvSpPr>
          <p:cNvPr id="281" name="Google Shape;281;p4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latin typeface="Economica"/>
                <a:ea typeface="Economica"/>
                <a:cs typeface="Economica"/>
                <a:sym typeface="Economica"/>
              </a:rPr>
              <a:t>Bitcoin and Cryptocurrency Technologies</a:t>
            </a:r>
            <a:endParaRPr sz="3600" b="1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Authors: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Arvind Narayanan, Joseph Bonneau, Edward Felten, Andrew Miller, Steven Goldfeder</a:t>
            </a: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3000">
              <a:latin typeface="Economica"/>
              <a:ea typeface="Economica"/>
              <a:cs typeface="Economica"/>
              <a:sym typeface="Economica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solidFill>
                  <a:srgbClr val="1C4587"/>
                </a:solidFill>
                <a:latin typeface="Economica"/>
                <a:ea typeface="Economica"/>
                <a:cs typeface="Economica"/>
                <a:sym typeface="Economica"/>
              </a:rPr>
              <a:t>Publisher:</a:t>
            </a:r>
            <a:r>
              <a:rPr lang="en-US" sz="3000">
                <a:latin typeface="Economica"/>
                <a:ea typeface="Economica"/>
                <a:cs typeface="Economica"/>
                <a:sym typeface="Economica"/>
              </a:rPr>
              <a:t> Princeton University Press</a:t>
            </a:r>
            <a:endParaRPr sz="3000">
              <a:solidFill>
                <a:srgbClr val="577688"/>
              </a:solidFill>
              <a:highlight>
                <a:srgbClr val="F6FBFC"/>
              </a:highlight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1653</Words>
  <Application>Microsoft Office PowerPoint</Application>
  <PresentationFormat>On-screen Show (4:3)</PresentationFormat>
  <Paragraphs>144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Georgia</vt:lpstr>
      <vt:lpstr>Open Sans</vt:lpstr>
      <vt:lpstr>Calibri</vt:lpstr>
      <vt:lpstr>Economica</vt:lpstr>
      <vt:lpstr>Luxe</vt:lpstr>
      <vt:lpstr>Distributed Ledger Technology</vt:lpstr>
      <vt:lpstr>Outline</vt:lpstr>
      <vt:lpstr>What is Ledger?</vt:lpstr>
      <vt:lpstr>Ledger Sample</vt:lpstr>
      <vt:lpstr>What is Distributed Ledger?</vt:lpstr>
      <vt:lpstr>PowerPoint Presentation</vt:lpstr>
      <vt:lpstr>What is Distributed Ledger Technology?</vt:lpstr>
      <vt:lpstr>The Town Analogy</vt:lpstr>
      <vt:lpstr>The Town Analogy</vt:lpstr>
      <vt:lpstr>The Town Analogy</vt:lpstr>
      <vt:lpstr>The Town Analogy Conclusion</vt:lpstr>
      <vt:lpstr>PowerPoint Presentation</vt:lpstr>
      <vt:lpstr>PowerPoint Presentation</vt:lpstr>
      <vt:lpstr>DLT Types</vt:lpstr>
      <vt:lpstr>DLT Types: Blockchain</vt:lpstr>
      <vt:lpstr>DLT Types: Directed Acyclic Graph</vt:lpstr>
      <vt:lpstr>DLT Types: Directed Acyclic Graph</vt:lpstr>
      <vt:lpstr>PowerPoint Presentation</vt:lpstr>
      <vt:lpstr>DLT Types: Hashgraph</vt:lpstr>
      <vt:lpstr>DLT Types: Hashgraph</vt:lpstr>
      <vt:lpstr>DLT Types: Holochain</vt:lpstr>
      <vt:lpstr>Basic Components of DLT</vt:lpstr>
      <vt:lpstr>Origin of Distributed Ledger</vt:lpstr>
      <vt:lpstr>The Byzantine Generals Problem</vt:lpstr>
      <vt:lpstr>BGP</vt:lpstr>
      <vt:lpstr>BGP</vt:lpstr>
      <vt:lpstr>PowerPoint Presentation</vt:lpstr>
      <vt:lpstr>BGP</vt:lpstr>
      <vt:lpstr>PowerPoint Presentation</vt:lpstr>
      <vt:lpstr>BGP</vt:lpstr>
      <vt:lpstr>BGP</vt:lpstr>
      <vt:lpstr>Reference 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Mubariz Rehman</cp:lastModifiedBy>
  <cp:revision>13</cp:revision>
  <dcterms:modified xsi:type="dcterms:W3CDTF">2024-03-26T05:26:31Z</dcterms:modified>
</cp:coreProperties>
</file>