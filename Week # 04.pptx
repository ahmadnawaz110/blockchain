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31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Economica" panose="020B0604020202020204" charset="0"/>
      <p:regular r:id="rId32"/>
      <p:bold r:id="rId33"/>
      <p:italic r:id="rId34"/>
      <p:boldItalic r:id="rId35"/>
    </p:embeddedFont>
    <p:embeddedFont>
      <p:font typeface="Georgia" panose="02040502050405020303" pitchFamily="18" charset="0"/>
      <p:regular r:id="rId36"/>
      <p:bold r:id="rId37"/>
      <p:italic r:id="rId38"/>
      <p:boldItalic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+8XWPhNdZucz5yZmIKLM57mZE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5A3F02-EECF-472F-8959-CB2B2F48F8DE}">
  <a:tblStyle styleId="{FF5A3F02-EECF-472F-8959-CB2B2F48F8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39766e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39766e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7039766e02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039766e0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039766e0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7039766e02_0_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039766e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039766e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7039766e02_0_1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039766e0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039766e0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7039766e02_0_8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039766e02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039766e02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7039766e02_0_11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039766e0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039766e0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7039766e02_0_12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039766e0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039766e0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7039766e02_0_8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039766e0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039766e0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7039766e02_0_12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39766e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39766e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7039766e02_0_13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039766e0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039766e0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7039766e02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039766e0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039766e0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7039766e02_0_9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039766e0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039766e0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7039766e02_0_14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039766e0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039766e0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7039766e02_0_9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039766e0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039766e0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7039766e02_0_14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039766e02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039766e02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7039766e02_0_15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039766e0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039766e0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7039766e02_0_2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039766e0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039766e0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7039766e02_0_4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039766e0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039766e0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7039766e02_0_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039766e0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039766e0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7039766e02_0_5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039766e0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039766e0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7039766e02_0_6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039766e02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039766e02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7039766e02_0_6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039766e02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7039766e02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7039766e02_0_15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039766e02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039766e02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7039766e02_0_16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039766e02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039766e02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7039766e02_0_17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039766e0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039766e0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7039766e02_0_7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7039766e0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7039766e0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7039766e02_0_17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039766e02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039766e02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7039766e02_0_18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6f0f40772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5" name="Google Shape;265;g6f0f40772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6f0f40772d_0_15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f130a460c_0_519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6f130a460c_0_519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6f130a460c_0_519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6f130a460c_0_519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6f130a460c_0_5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6f130a460c_0_53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6f130a460c_0_5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f130a460c_0_53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6f130a460c_0_53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f130a460c_0_525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6f130a460c_0_525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6f130a460c_0_525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6f130a460c_0_5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6f130a460c_0_5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6f130a460c_0_53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6f130a460c_0_53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g6f130a460c_0_53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f130a460c_0_5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6f130a460c_0_54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6f130a460c_0_54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g6f130a460c_0_543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g6f130a460c_0_54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6f130a460c_0_547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6f130a460c_0_547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g6f130a460c_0_54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6f130a460c_0_55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g6f130a460c_0_55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g6f130a460c_0_551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g6f130a460c_0_551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6f130a460c_0_55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g6f130a460c_0_55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f130a460c_0_558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4" name="Google Shape;54;g6f130a460c_0_5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f130a460c_0_56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6f130a460c_0_56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6f130a460c_0_56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g6f130a460c_0_56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f130a460c_0_5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f130a460c_0_5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6f130a460c_0_5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g6f130a460c_0_5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6f130a460c_0_5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6f130a460c_0_5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f130a460c_0_5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6f130a460c_0_51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6f130a460c_0_5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ode_(networking)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/ethereum-blockchai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subTitle" idx="1"/>
          </p:nvPr>
        </p:nvSpPr>
        <p:spPr>
          <a:xfrm>
            <a:off x="4495800" y="4876800"/>
            <a:ext cx="411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40EB38B-38D7-6A13-F293-9AE0EC4117B6}"/>
              </a:ext>
            </a:extLst>
          </p:cNvPr>
          <p:cNvSpPr txBox="1">
            <a:spLocks noChangeArrowheads="1"/>
          </p:cNvSpPr>
          <p:nvPr/>
        </p:nvSpPr>
        <p:spPr>
          <a:xfrm>
            <a:off x="43640" y="5410200"/>
            <a:ext cx="4114800" cy="126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>
              <a:lnSpc>
                <a:spcPct val="90000"/>
              </a:lnSpc>
              <a:defRPr/>
            </a:pPr>
            <a:endParaRPr lang="en-US" altLang="zh-TW" sz="15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112A3-6EF3-64DB-DB92-502E89EB044F}"/>
              </a:ext>
            </a:extLst>
          </p:cNvPr>
          <p:cNvSpPr txBox="1"/>
          <p:nvPr/>
        </p:nvSpPr>
        <p:spPr>
          <a:xfrm>
            <a:off x="4391891" y="4887695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Week </a:t>
            </a:r>
            <a:r>
              <a:rPr lang="en-US" sz="2400"/>
              <a:t># 04</a:t>
            </a:r>
            <a:endParaRPr lang="en-US" sz="2400" dirty="0"/>
          </a:p>
        </p:txBody>
      </p:sp>
      <p:sp>
        <p:nvSpPr>
          <p:cNvPr id="72" name="Google Shape;72;p1"/>
          <p:cNvSpPr txBox="1">
            <a:spLocks noGrp="1"/>
          </p:cNvSpPr>
          <p:nvPr>
            <p:ph type="ctrTitle"/>
          </p:nvPr>
        </p:nvSpPr>
        <p:spPr>
          <a:xfrm>
            <a:off x="1771174" y="1732448"/>
            <a:ext cx="5449252" cy="126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 sz="4600" dirty="0"/>
            </a:br>
            <a:br>
              <a:rPr lang="en-US" sz="4600" dirty="0"/>
            </a:br>
            <a:r>
              <a:rPr lang="en-US" sz="4600" dirty="0"/>
              <a:t>Blockchain </a:t>
            </a:r>
            <a:br>
              <a:rPr lang="en-US" sz="4600" dirty="0"/>
            </a:br>
            <a:r>
              <a:rPr lang="en-US" sz="4600" dirty="0"/>
              <a:t>Variants</a:t>
            </a:r>
            <a:endParaRPr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039766e02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Variants</a:t>
            </a:r>
            <a:endParaRPr/>
          </a:p>
        </p:txBody>
      </p:sp>
      <p:sp>
        <p:nvSpPr>
          <p:cNvPr id="81" name="Google Shape;81;g7039766e02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Public 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Private 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Hybrid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Consortium/Federated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Permissioned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039766e02_0_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we need different blockchains?</a:t>
            </a:r>
            <a:endParaRPr/>
          </a:p>
        </p:txBody>
      </p:sp>
      <p:sp>
        <p:nvSpPr>
          <p:cNvPr id="88" name="Google Shape;88;g7039766e02_0_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most basic need or application of a blockchain is to carry out transactions or exchange of information through a secure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way people use 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and distributed ledger technology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or network vary from case to case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Cryptocurrencies should have public access so that they can be used by  mainstream users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In comparison, a banks’s blockchain should be closed for outside access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Cant have single blockchain for everything!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b="1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Questions: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Why there are so many search engines and browsers when only one can serve the purpose?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039766e02_0_1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Blockchain</a:t>
            </a:r>
            <a:endParaRPr/>
          </a:p>
        </p:txBody>
      </p:sp>
      <p:sp>
        <p:nvSpPr>
          <p:cNvPr id="95" name="Google Shape;95;g7039766e02_0_1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public blockchain is a non-restrictive, permission-less distributed ledger system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Anyone who has access to the internet can sign in on a blockchain platform to become an authorized node and be a part of the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node or user which is a part of the public blockchain is authorized to access current and past records, verify transactions or do proof-of-work for an incoming block, and do mining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most basic use of public blockchains is for mining and exchanging cryptocurrencies e.g. Bitcoin, Ethereum, Litecoin, etc</a:t>
            </a:r>
            <a:endParaRPr sz="26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039766e02_0_8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Public Blockchain: Trustable</a:t>
            </a:r>
            <a:endParaRPr/>
          </a:p>
        </p:txBody>
      </p:sp>
      <p:sp>
        <p:nvSpPr>
          <p:cNvPr id="102" name="Google Shape;102;g7039766e02_0_8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Two nodes or participants do not need to worry about the authenticity of the other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Nodes don’t need to personally know or trust the other nodes as the process of proof-of-work makes sure there can be no fraud in transactions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Users can trust public blockchains blindly without feeling the needing to trust individual nodes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039766e02_0_1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Public Blockchain: Secure</a:t>
            </a:r>
            <a:endParaRPr/>
          </a:p>
        </p:txBody>
      </p:sp>
      <p:sp>
        <p:nvSpPr>
          <p:cNvPr id="109" name="Google Shape;109;g7039766e02_0_1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There can be as many participants or nodes in a public network which makes it a secure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larger the network, greater the distribution of records and harder it is for hackers to hack the entire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Every 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uFill>
                  <a:noFill/>
                </a:uFill>
                <a:latin typeface="Economica"/>
                <a:ea typeface="Economica"/>
                <a:cs typeface="Economica"/>
                <a:sym typeface="Economica"/>
                <a:hlinkClick r:id="rId3"/>
              </a:rPr>
              <a:t>node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will do verification of transactions and proof-of-work which makes every transaction and block legitimate.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Due to these practices and thoughtful cryptogenic encrypting methods, a public blockchain is much safer than the private 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039766e02_0_1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Benefits of Public Blockchain: Open and Transparent</a:t>
            </a:r>
            <a:endParaRPr sz="4000"/>
          </a:p>
        </p:txBody>
      </p:sp>
      <p:sp>
        <p:nvSpPr>
          <p:cNvPr id="116" name="Google Shape;116;g7039766e02_0_12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Public blockchain is open and the data is transparent to all the participant nodes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A copy of the blockchain records or digital ledger is available at every authorized node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makes the entire blockchain system completely open and transparent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No one shows a fake transaction or hides an existing one as every node has an updated copy of the database at any given point of time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039766e02_0_8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Drawbacks of Public Blockchain: Lower TPS</a:t>
            </a:r>
            <a:endParaRPr/>
          </a:p>
        </p:txBody>
      </p:sp>
      <p:sp>
        <p:nvSpPr>
          <p:cNvPr id="123" name="Google Shape;123;g7039766e02_0_8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rate of transactions per second in a public blockchain is very low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is because it is a huge network with a lot of nodes and for every node to verify a transaction and do proof-of-work is time-consuming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is why public blockchains like Bitcoin can process only 7 transactions per second or 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uFill>
                  <a:noFill/>
                </a:uFill>
                <a:latin typeface="Economica"/>
                <a:ea typeface="Economica"/>
                <a:cs typeface="Economica"/>
                <a:sym typeface="Economica"/>
                <a:hlinkClick r:id="rId3"/>
              </a:rPr>
              <a:t>Ethereum network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has a rate of 15 TPS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On the other hand, a private network such as Visa has a rate of 24,000 TPS indicating a huge difference in speed of transaction processing and execution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039766e02_0_1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Drawbacks of Public Blockchain: Scalability Issues</a:t>
            </a:r>
            <a:endParaRPr/>
          </a:p>
        </p:txBody>
      </p:sp>
      <p:sp>
        <p:nvSpPr>
          <p:cNvPr id="130" name="Google Shape;130;g7039766e02_0_12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Public blockchain have a slow rate of processing and completing transactions, this causes issues in scalability as well.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more we try to increase the size of the network, the slower it will get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However, solutions like Bitcoin’s Lightning Network helps in overcoming this problem. It maintains a rate of the transaction as we increase the size of the network.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039766e02_0_1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Drawbacks of Public Blockchain: High Energy Consumption</a:t>
            </a:r>
            <a:endParaRPr sz="3600"/>
          </a:p>
        </p:txBody>
      </p:sp>
      <p:sp>
        <p:nvSpPr>
          <p:cNvPr id="137" name="Google Shape;137;g7039766e02_0_13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process of proof-of-work is highly energy consuming as it needs specialized systems (hardware components) to run a special algorithm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It is a matter of concern from both an environmental and economical standpoint.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For example, the Bitcoin’s proof-of-work mechanism is so costly that it consumes as much energy as the country of Ireland!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039766e02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Private Blockchain</a:t>
            </a:r>
            <a:endParaRPr/>
          </a:p>
        </p:txBody>
      </p:sp>
      <p:sp>
        <p:nvSpPr>
          <p:cNvPr id="144" name="Google Shape;144;g7039766e02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private blockchain is a restrictive or permission blockchain operative only in a closed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usually used within an organization or enterprises where only selected members are participants of a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level of security, authorizations, permissions, accessibility is in the hands of the controlling organization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 networks are deployed for voting, supply chain management, digital identity, asset ownership,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039766e02_0_9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Private Blockchain: Speed</a:t>
            </a:r>
            <a:endParaRPr/>
          </a:p>
        </p:txBody>
      </p:sp>
      <p:sp>
        <p:nvSpPr>
          <p:cNvPr id="151" name="Google Shape;151;g7039766e02_0_9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blockchains’ transactions occur at greater speed as compared to public blockchains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That means the transactions per second (TPS) rate is higher in the case of private blockchains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is because there is a limited number of nodes in a private network as opposed to a public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fastens the consensus or verification process of a transaction by all the nodes in a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can facilitate the transactions at a rate of up to thousands or hundred thousand TPS at a 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039766e02_0_1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Private Blockchain: Scalability</a:t>
            </a:r>
            <a:endParaRPr/>
          </a:p>
        </p:txBody>
      </p:sp>
      <p:sp>
        <p:nvSpPr>
          <p:cNvPr id="158" name="Google Shape;158;g7039766e02_0_14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pretty scalable if we choose the right size of private blockchain as per needs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For instance, if there is an organization that needs a blockchain of only 20 nodes, they can easily deploy one. Then after expansion, if they need to add more nodes, they can easily do so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makes private blockchains very scalable as it gives an organization the flexibility to increase or decrease the size of their network without much effort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039766e02_0_9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Blockchain: Needs Trust-building</a:t>
            </a:r>
            <a:endParaRPr sz="3800"/>
          </a:p>
        </p:txBody>
      </p:sp>
      <p:sp>
        <p:nvSpPr>
          <p:cNvPr id="165" name="Google Shape;165;g7039766e02_0_9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 far as a public blockchain is concerned, it is like an open book or as we call it, an open ledger. This ensures the security and legitimacy of every user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Whereas, in a private network, there are limited participants in a restricted network. Especially within an organization, where colleagues know each other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They need to build trust to transmit confidential information within a network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39766e02_0_14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Blockchain: Lower Security</a:t>
            </a:r>
            <a:endParaRPr/>
          </a:p>
        </p:txBody>
      </p:sp>
      <p:sp>
        <p:nvSpPr>
          <p:cNvPr id="172" name="Google Shape;172;g7039766e02_0_14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 a private blockchain network has lesser number of nodes or participants, it runs a higher risk of a security breach.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If anyone of the nodes gains access to the central management system, it can gain access to all the nodes in the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makes it easier for a node to hack the entire private blockchain and misuse the information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039766e02_0_15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Blockchain: Centralized</a:t>
            </a:r>
            <a:endParaRPr/>
          </a:p>
        </p:txBody>
      </p:sp>
      <p:sp>
        <p:nvSpPr>
          <p:cNvPr id="179" name="Google Shape;179;g7039766e02_0_15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restricted, that is they need a central Identity and Access Management (IAM) system for functioning properly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system has all the monitoring and administrative rights. It gives permissions to add a new node in the network or decide the level of access they get for the information stored in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whole system contradicts the idea of decentralization which is one of the pillars of blockchain technology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039766e02_0_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Hybrid Blockchain</a:t>
            </a:r>
            <a:endParaRPr/>
          </a:p>
        </p:txBody>
      </p:sp>
      <p:sp>
        <p:nvSpPr>
          <p:cNvPr id="186" name="Google Shape;186;g7039766e02_0_2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combination of public and private blockchain, used by an individual entity that reaps the benefits of both approaches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Users can control who gets access to which data stored in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Only a selected section of data or records from the blockchain can be allowed to go public keeping the rest as confidential in the private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Suitable for a company with top to bottom hierarchy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Top management is allowed to access both public and private parts of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Rest of the employees can only access public part of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7039766e02_0_4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vs. Private vs. Hybrid</a:t>
            </a:r>
            <a:endParaRPr/>
          </a:p>
        </p:txBody>
      </p:sp>
      <p:pic>
        <p:nvPicPr>
          <p:cNvPr id="193" name="Google Shape;193;g7039766e02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9982"/>
            <a:ext cx="9144001" cy="3547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039766e02_0_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Consortium Blockchain</a:t>
            </a:r>
            <a:endParaRPr/>
          </a:p>
        </p:txBody>
      </p:sp>
      <p:sp>
        <p:nvSpPr>
          <p:cNvPr id="200" name="Google Shape;200;g7039766e02_0_3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consortium blockchain is a semi-decentralized type where more than one organization manages a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More than one organizations can act as a node in this type of blockchain and exchange information or do mining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Only a certain number of nodes defined in advance have the authority to validate transactions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Consortium blockchains are typically used by banks, government organizations, etc.</a:t>
            </a:r>
            <a:endParaRPr sz="1350">
              <a:solidFill>
                <a:srgbClr val="44444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7039766e02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238" y="152400"/>
            <a:ext cx="6985531" cy="65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7039766e02_0_6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Permissioned Blockchain</a:t>
            </a:r>
            <a:endParaRPr/>
          </a:p>
        </p:txBody>
      </p:sp>
      <p:sp>
        <p:nvSpPr>
          <p:cNvPr id="213" name="Google Shape;213;g7039766e02_0_6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are blockchain networks that require access to be part of it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these blockchain types, a control layer runs on top of the blockchain that governs the actions performed by the allowed participants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Blockchains are built such that they grant special permissions to each participant for specific functions to be performed—like read, access and write information on the blockchains</a:t>
            </a:r>
            <a:endParaRPr sz="1300">
              <a:solidFill>
                <a:srgbClr val="11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039766e02_0_6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Efficient Performance</a:t>
            </a:r>
            <a:endParaRPr sz="3500"/>
          </a:p>
        </p:txBody>
      </p:sp>
      <p:sp>
        <p:nvSpPr>
          <p:cNvPr id="220" name="Google Shape;220;g7039766e02_0_6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offer better performance than private blockchains because of the limited number of nodes on the platform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removes the unnecessary computations required to reach consensus on the network, improving the overall performance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 top of that, permissioned networks have their own pre-determined nodes for validating a transaction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039766e02_0_15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Benefits of Permissioned Blockchain: Proper Governance Structure</a:t>
            </a:r>
            <a:endParaRPr sz="3000"/>
          </a:p>
        </p:txBody>
      </p:sp>
      <p:sp>
        <p:nvSpPr>
          <p:cNvPr id="227" name="Google Shape;227;g7039766e02_0_15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networks come with an appropriate structure of governance, this means that they are organized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Administrators require less time to update the rules over the network, which is considerably faster when compared to public blockchains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Public blockchain network suffers from the consensus problem as not all nodes work together to get the new update implemented. These nodes might place their self-interest above the needs of the blockchain, which, in return, means slower updates to the whole network.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comparison, permissioned blockchain doesn’t have the problem, as the nodes work together to move the updates faster.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039766e02_0_16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Decentralized</a:t>
            </a:r>
            <a:endParaRPr/>
          </a:p>
        </p:txBody>
      </p:sp>
      <p:sp>
        <p:nvSpPr>
          <p:cNvPr id="234" name="Google Shape;234;g7039766e02_0_16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networks make proper use of blockchain, including utilizing its decentralized nature for data storage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7039766e02_0_17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Cost Effective</a:t>
            </a:r>
            <a:endParaRPr/>
          </a:p>
        </p:txBody>
      </p:sp>
      <p:sp>
        <p:nvSpPr>
          <p:cNvPr id="241" name="Google Shape;241;g7039766e02_0_17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are more cost-effective because the validation process is limited to few nodes so rest of the nodes don't have to perform proof of work everytime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39766e02_0_7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Drawbacks of Permissioned Blockchain: Compromised Security</a:t>
            </a:r>
            <a:endParaRPr sz="3400"/>
          </a:p>
        </p:txBody>
      </p:sp>
      <p:sp>
        <p:nvSpPr>
          <p:cNvPr id="248" name="Google Shape;248;g7039766e02_0_7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security of a permissioned network is as good as the member’s integrity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means that a small section of a permissioned system can work together to modify the data stored within the network, resulting in compromising the integrity of the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To resolve it, the system should have proper permissions set so those bad actors cannot merge together to cause the desired effect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039766e02_0_17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Drawbacks</a:t>
            </a:r>
            <a:r>
              <a:rPr lang="en-US" sz="3500"/>
              <a:t> of Permissioned Blockchain: Control, Censorship and Regulation</a:t>
            </a:r>
            <a:endParaRPr/>
          </a:p>
        </p:txBody>
      </p:sp>
      <p:sp>
        <p:nvSpPr>
          <p:cNvPr id="255" name="Google Shape;255;g7039766e02_0_17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regulations bring censorship to the network, where the authority can restrict a transaction or control it from happening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These are a threat to any business or organization who is using the permissioned network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approach also stops the permissioned network from making the most out of the whole blockchain ecosystem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039766e02_0_18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Permissioned vs. Permissionless Blockchain</a:t>
            </a:r>
            <a:endParaRPr/>
          </a:p>
        </p:txBody>
      </p:sp>
      <p:graphicFrame>
        <p:nvGraphicFramePr>
          <p:cNvPr id="262" name="Google Shape;262;g7039766e02_0_182"/>
          <p:cNvGraphicFramePr/>
          <p:nvPr/>
        </p:nvGraphicFramePr>
        <p:xfrm>
          <a:off x="341213" y="1672850"/>
          <a:ext cx="8461575" cy="4935025"/>
        </p:xfrm>
        <a:graphic>
          <a:graphicData uri="http://schemas.openxmlformats.org/drawingml/2006/table">
            <a:tbl>
              <a:tblPr>
                <a:noFill/>
                <a:tableStyleId>{FF5A3F02-EECF-472F-8959-CB2B2F48F8DE}</a:tableStyleId>
              </a:tblPr>
              <a:tblGrid>
                <a:gridCol w="282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Category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Permissioned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Permissionless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Speed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Faster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Slower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Privacy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Private Membership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Transparent and open - Anyone can become a member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Ownership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Managed by predefined group of nodes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Public ownership - No one owns the network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Decentralization Nature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Partially decentralized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Truly decentralized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Cost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Cost effective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Not-so cost effective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Security</a:t>
                      </a:r>
                      <a:endParaRPr sz="2000"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Less secure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More secure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f0f40772d_0_15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269" name="Google Shape;269;g6f0f40772d_0_15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latin typeface="Economica"/>
                <a:ea typeface="Economica"/>
                <a:cs typeface="Economica"/>
                <a:sym typeface="Economica"/>
              </a:rPr>
              <a:t>Bitcoin and Cryptocurrency Technologies</a:t>
            </a:r>
            <a:endParaRPr sz="3600" b="1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Authors: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Arvind Narayanan, Joseph Bonneau, Edward Felten, Andrew Miller, Steven Goldfeder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Publisher: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Princeton University Press</a:t>
            </a:r>
            <a:endParaRPr sz="3000">
              <a:solidFill>
                <a:srgbClr val="577688"/>
              </a:solidFill>
              <a:highlight>
                <a:srgbClr val="F6FBFC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1864</Words>
  <Application>Microsoft Office PowerPoint</Application>
  <PresentationFormat>On-screen Show (4:3)</PresentationFormat>
  <Paragraphs>170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Georgia</vt:lpstr>
      <vt:lpstr>Arial</vt:lpstr>
      <vt:lpstr>Economica</vt:lpstr>
      <vt:lpstr>Calibri</vt:lpstr>
      <vt:lpstr>Open Sans</vt:lpstr>
      <vt:lpstr>Luxe</vt:lpstr>
      <vt:lpstr>  Blockchain  Variants</vt:lpstr>
      <vt:lpstr>Blockchain Variants</vt:lpstr>
      <vt:lpstr>Why we need different blockchains?</vt:lpstr>
      <vt:lpstr>Public Blockchain</vt:lpstr>
      <vt:lpstr>Benefits of Public Blockchain: Trustable</vt:lpstr>
      <vt:lpstr>Benefits of Public Blockchain: Secure</vt:lpstr>
      <vt:lpstr>Benefits of Public Blockchain: Open and Transparent</vt:lpstr>
      <vt:lpstr>Drawbacks of Public Blockchain: Lower TPS</vt:lpstr>
      <vt:lpstr>Drawbacks of Public Blockchain: Scalability Issues</vt:lpstr>
      <vt:lpstr>Drawbacks of Public Blockchain: High Energy Consumption</vt:lpstr>
      <vt:lpstr>Private Blockchain</vt:lpstr>
      <vt:lpstr>Benefits of Private Blockchain: Speed</vt:lpstr>
      <vt:lpstr>Benefits of Private Blockchain: Scalability</vt:lpstr>
      <vt:lpstr>Drawbacks of Private Blockchain: Needs Trust-building</vt:lpstr>
      <vt:lpstr>Drawbacks of Private Blockchain: Lower Security</vt:lpstr>
      <vt:lpstr>Drawbacks of Private Blockchain: Centralized</vt:lpstr>
      <vt:lpstr>Hybrid Blockchain</vt:lpstr>
      <vt:lpstr>Public vs. Private vs. Hybrid</vt:lpstr>
      <vt:lpstr>Consortium Blockchain</vt:lpstr>
      <vt:lpstr>PowerPoint Presentation</vt:lpstr>
      <vt:lpstr>Permissioned Blockchain</vt:lpstr>
      <vt:lpstr>Benefits of Permissioned Blockchain: Efficient Performance</vt:lpstr>
      <vt:lpstr>Benefits of Permissioned Blockchain: Proper Governance Structure</vt:lpstr>
      <vt:lpstr>Benefits of Permissioned Blockchain: Decentralized</vt:lpstr>
      <vt:lpstr>Benefits of Permissioned Blockchain: Cost Effective</vt:lpstr>
      <vt:lpstr>Drawbacks of Permissioned Blockchain: Compromised Security</vt:lpstr>
      <vt:lpstr>Drawbacks of Permissioned Blockchain: Control, Censorship and Regulation</vt:lpstr>
      <vt:lpstr>Permissioned vs. Permissionless Blockchain</vt:lpstr>
      <vt:lpstr>Reference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bahadur</dc:creator>
  <cp:lastModifiedBy>Mubariz Rehman</cp:lastModifiedBy>
  <cp:revision>5</cp:revision>
  <dcterms:created xsi:type="dcterms:W3CDTF">2010-01-24T17:29:57Z</dcterms:created>
  <dcterms:modified xsi:type="dcterms:W3CDTF">2024-03-17T10:34:53Z</dcterms:modified>
</cp:coreProperties>
</file>