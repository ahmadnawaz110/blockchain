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heme/themeOverride1.xml" ContentType="application/vnd.openxmlformats-officedocument.themeOverr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44"/>
  </p:notesMasterIdLst>
  <p:sldIdLst>
    <p:sldId id="274" r:id="rId2"/>
    <p:sldId id="728" r:id="rId3"/>
    <p:sldId id="623" r:id="rId4"/>
    <p:sldId id="718" r:id="rId5"/>
    <p:sldId id="729" r:id="rId6"/>
    <p:sldId id="671" r:id="rId7"/>
    <p:sldId id="681" r:id="rId8"/>
    <p:sldId id="687" r:id="rId9"/>
    <p:sldId id="790" r:id="rId10"/>
    <p:sldId id="791" r:id="rId11"/>
    <p:sldId id="792" r:id="rId12"/>
    <p:sldId id="704" r:id="rId13"/>
    <p:sldId id="706" r:id="rId14"/>
    <p:sldId id="689" r:id="rId15"/>
    <p:sldId id="730" r:id="rId16"/>
    <p:sldId id="707" r:id="rId17"/>
    <p:sldId id="638" r:id="rId18"/>
    <p:sldId id="639" r:id="rId19"/>
    <p:sldId id="708" r:id="rId20"/>
    <p:sldId id="731" r:id="rId21"/>
    <p:sldId id="645" r:id="rId22"/>
    <p:sldId id="732" r:id="rId23"/>
    <p:sldId id="710" r:id="rId24"/>
    <p:sldId id="711" r:id="rId25"/>
    <p:sldId id="712" r:id="rId26"/>
    <p:sldId id="653" r:id="rId27"/>
    <p:sldId id="733" r:id="rId28"/>
    <p:sldId id="655" r:id="rId29"/>
    <p:sldId id="656" r:id="rId30"/>
    <p:sldId id="657" r:id="rId31"/>
    <p:sldId id="658" r:id="rId32"/>
    <p:sldId id="659" r:id="rId33"/>
    <p:sldId id="662" r:id="rId34"/>
    <p:sldId id="734" r:id="rId35"/>
    <p:sldId id="660" r:id="rId36"/>
    <p:sldId id="736" r:id="rId37"/>
    <p:sldId id="668" r:id="rId38"/>
    <p:sldId id="740" r:id="rId39"/>
    <p:sldId id="741" r:id="rId40"/>
    <p:sldId id="788" r:id="rId41"/>
    <p:sldId id="743" r:id="rId42"/>
    <p:sldId id="787" r:id="rId43"/>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C4E84D-62CC-4DB8-906D-574F39D8C2E4}" v="53" dt="2023-09-13T10:00:18.637"/>
  </p1510:revLst>
</p1510:revInfo>
</file>

<file path=ppt/tableStyles.xml><?xml version="1.0" encoding="utf-8"?>
<a:tblStyleLst xmlns:a="http://schemas.openxmlformats.org/drawingml/2006/main" def="{5C22544A-7EE6-4342-B048-85BDC9FD1C3A}">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4"/>
    <p:restoredTop sz="76600" autoAdjust="0"/>
  </p:normalViewPr>
  <p:slideViewPr>
    <p:cSldViewPr>
      <p:cViewPr varScale="1">
        <p:scale>
          <a:sx n="47" d="100"/>
          <a:sy n="47" d="100"/>
        </p:scale>
        <p:origin x="1956"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2BC4E84D-62CC-4DB8-906D-574F39D8C2E4}"/>
    <pc:docChg chg="undo redo custSel delSld modSld">
      <pc:chgData name="Asif Muhammad" userId="6b0af2cb-2f76-400b-94d9-178b55ef4f85" providerId="ADAL" clId="{2BC4E84D-62CC-4DB8-906D-574F39D8C2E4}" dt="2023-09-13T12:37:49.769" v="165" actId="6549"/>
      <pc:docMkLst>
        <pc:docMk/>
      </pc:docMkLst>
      <pc:sldChg chg="modSp mod">
        <pc:chgData name="Asif Muhammad" userId="6b0af2cb-2f76-400b-94d9-178b55ef4f85" providerId="ADAL" clId="{2BC4E84D-62CC-4DB8-906D-574F39D8C2E4}" dt="2023-09-09T10:34:04.835" v="6" actId="6549"/>
        <pc:sldMkLst>
          <pc:docMk/>
          <pc:sldMk cId="0" sldId="274"/>
        </pc:sldMkLst>
        <pc:spChg chg="mod">
          <ac:chgData name="Asif Muhammad" userId="6b0af2cb-2f76-400b-94d9-178b55ef4f85" providerId="ADAL" clId="{2BC4E84D-62CC-4DB8-906D-574F39D8C2E4}" dt="2023-09-09T10:34:04.835" v="6" actId="6549"/>
          <ac:spMkLst>
            <pc:docMk/>
            <pc:sldMk cId="0" sldId="274"/>
            <ac:spMk id="72706" creationId="{94A20A77-4FBD-6D4F-6FF5-0A9F26CE4A26}"/>
          </ac:spMkLst>
        </pc:spChg>
      </pc:sldChg>
      <pc:sldChg chg="del">
        <pc:chgData name="Asif Muhammad" userId="6b0af2cb-2f76-400b-94d9-178b55ef4f85" providerId="ADAL" clId="{2BC4E84D-62CC-4DB8-906D-574F39D8C2E4}" dt="2023-09-09T10:34:13.205" v="7" actId="47"/>
        <pc:sldMkLst>
          <pc:docMk/>
          <pc:sldMk cId="0" sldId="594"/>
        </pc:sldMkLst>
      </pc:sldChg>
      <pc:sldChg chg="modSp mod">
        <pc:chgData name="Asif Muhammad" userId="6b0af2cb-2f76-400b-94d9-178b55ef4f85" providerId="ADAL" clId="{2BC4E84D-62CC-4DB8-906D-574F39D8C2E4}" dt="2023-09-09T10:36:35.754" v="12" actId="20577"/>
        <pc:sldMkLst>
          <pc:docMk/>
          <pc:sldMk cId="0" sldId="623"/>
        </pc:sldMkLst>
        <pc:spChg chg="mod">
          <ac:chgData name="Asif Muhammad" userId="6b0af2cb-2f76-400b-94d9-178b55ef4f85" providerId="ADAL" clId="{2BC4E84D-62CC-4DB8-906D-574F39D8C2E4}" dt="2023-09-09T10:36:35.754" v="12" actId="20577"/>
          <ac:spMkLst>
            <pc:docMk/>
            <pc:sldMk cId="0" sldId="623"/>
            <ac:spMk id="18433" creationId="{325B3ED7-3C0F-754D-4C9B-82ACB85389C7}"/>
          </ac:spMkLst>
        </pc:spChg>
        <pc:spChg chg="mod">
          <ac:chgData name="Asif Muhammad" userId="6b0af2cb-2f76-400b-94d9-178b55ef4f85" providerId="ADAL" clId="{2BC4E84D-62CC-4DB8-906D-574F39D8C2E4}" dt="2023-09-09T10:35:50.635" v="10" actId="20577"/>
          <ac:spMkLst>
            <pc:docMk/>
            <pc:sldMk cId="0" sldId="623"/>
            <ac:spMk id="18434" creationId="{321636E9-9C41-E272-DB68-74B47649F90F}"/>
          </ac:spMkLst>
        </pc:spChg>
      </pc:sldChg>
      <pc:sldChg chg="modSp">
        <pc:chgData name="Asif Muhammad" userId="6b0af2cb-2f76-400b-94d9-178b55ef4f85" providerId="ADAL" clId="{2BC4E84D-62CC-4DB8-906D-574F39D8C2E4}" dt="2023-09-11T08:25:34.689" v="142" actId="14100"/>
        <pc:sldMkLst>
          <pc:docMk/>
          <pc:sldMk cId="0" sldId="638"/>
        </pc:sldMkLst>
        <pc:spChg chg="mod">
          <ac:chgData name="Asif Muhammad" userId="6b0af2cb-2f76-400b-94d9-178b55ef4f85" providerId="ADAL" clId="{2BC4E84D-62CC-4DB8-906D-574F39D8C2E4}" dt="2023-09-11T08:25:34.689" v="142" actId="14100"/>
          <ac:spMkLst>
            <pc:docMk/>
            <pc:sldMk cId="0" sldId="638"/>
            <ac:spMk id="40962" creationId="{7F243EDA-F52F-DEE3-E627-F8B63A66656C}"/>
          </ac:spMkLst>
        </pc:spChg>
      </pc:sldChg>
      <pc:sldChg chg="modSp mod">
        <pc:chgData name="Asif Muhammad" userId="6b0af2cb-2f76-400b-94d9-178b55ef4f85" providerId="ADAL" clId="{2BC4E84D-62CC-4DB8-906D-574F39D8C2E4}" dt="2023-09-11T08:25:39.839" v="143" actId="14100"/>
        <pc:sldMkLst>
          <pc:docMk/>
          <pc:sldMk cId="0" sldId="639"/>
        </pc:sldMkLst>
        <pc:spChg chg="mod">
          <ac:chgData name="Asif Muhammad" userId="6b0af2cb-2f76-400b-94d9-178b55ef4f85" providerId="ADAL" clId="{2BC4E84D-62CC-4DB8-906D-574F39D8C2E4}" dt="2023-09-11T08:25:39.839" v="143" actId="14100"/>
          <ac:spMkLst>
            <pc:docMk/>
            <pc:sldMk cId="0" sldId="639"/>
            <ac:spMk id="43010" creationId="{6E52EDAE-CE20-330F-7F5F-DB5F560C1E23}"/>
          </ac:spMkLst>
        </pc:spChg>
      </pc:sldChg>
      <pc:sldChg chg="modSp mod">
        <pc:chgData name="Asif Muhammad" userId="6b0af2cb-2f76-400b-94d9-178b55ef4f85" providerId="ADAL" clId="{2BC4E84D-62CC-4DB8-906D-574F39D8C2E4}" dt="2023-09-10T13:54:14.093" v="56" actId="255"/>
        <pc:sldMkLst>
          <pc:docMk/>
          <pc:sldMk cId="0" sldId="645"/>
        </pc:sldMkLst>
        <pc:spChg chg="mod">
          <ac:chgData name="Asif Muhammad" userId="6b0af2cb-2f76-400b-94d9-178b55ef4f85" providerId="ADAL" clId="{2BC4E84D-62CC-4DB8-906D-574F39D8C2E4}" dt="2023-09-10T13:54:14.093" v="56" actId="255"/>
          <ac:spMkLst>
            <pc:docMk/>
            <pc:sldMk cId="0" sldId="645"/>
            <ac:spMk id="48130" creationId="{768C4772-201C-757B-580B-A1BAC15351CF}"/>
          </ac:spMkLst>
        </pc:spChg>
      </pc:sldChg>
      <pc:sldChg chg="modSp mod">
        <pc:chgData name="Asif Muhammad" userId="6b0af2cb-2f76-400b-94d9-178b55ef4f85" providerId="ADAL" clId="{2BC4E84D-62CC-4DB8-906D-574F39D8C2E4}" dt="2023-09-10T14:00:03.291" v="133" actId="404"/>
        <pc:sldMkLst>
          <pc:docMk/>
          <pc:sldMk cId="0" sldId="653"/>
        </pc:sldMkLst>
        <pc:spChg chg="mod">
          <ac:chgData name="Asif Muhammad" userId="6b0af2cb-2f76-400b-94d9-178b55ef4f85" providerId="ADAL" clId="{2BC4E84D-62CC-4DB8-906D-574F39D8C2E4}" dt="2023-09-10T14:00:03.291" v="133" actId="404"/>
          <ac:spMkLst>
            <pc:docMk/>
            <pc:sldMk cId="0" sldId="653"/>
            <ac:spMk id="57346" creationId="{DF4C5ADF-4CA4-565E-D593-861A17B56064}"/>
          </ac:spMkLst>
        </pc:spChg>
      </pc:sldChg>
      <pc:sldChg chg="modSp mod">
        <pc:chgData name="Asif Muhammad" userId="6b0af2cb-2f76-400b-94d9-178b55ef4f85" providerId="ADAL" clId="{2BC4E84D-62CC-4DB8-906D-574F39D8C2E4}" dt="2023-09-11T08:26:07.212" v="146" actId="14100"/>
        <pc:sldMkLst>
          <pc:docMk/>
          <pc:sldMk cId="0" sldId="655"/>
        </pc:sldMkLst>
        <pc:spChg chg="mod">
          <ac:chgData name="Asif Muhammad" userId="6b0af2cb-2f76-400b-94d9-178b55ef4f85" providerId="ADAL" clId="{2BC4E84D-62CC-4DB8-906D-574F39D8C2E4}" dt="2023-09-11T08:26:07.212" v="146" actId="14100"/>
          <ac:spMkLst>
            <pc:docMk/>
            <pc:sldMk cId="0" sldId="655"/>
            <ac:spMk id="60418" creationId="{CA13A1D2-BBB5-9502-10C3-E4D74DFFCFE0}"/>
          </ac:spMkLst>
        </pc:spChg>
      </pc:sldChg>
      <pc:sldChg chg="modSp mod">
        <pc:chgData name="Asif Muhammad" userId="6b0af2cb-2f76-400b-94d9-178b55ef4f85" providerId="ADAL" clId="{2BC4E84D-62CC-4DB8-906D-574F39D8C2E4}" dt="2023-09-11T08:22:51.819" v="139" actId="12"/>
        <pc:sldMkLst>
          <pc:docMk/>
          <pc:sldMk cId="0" sldId="656"/>
        </pc:sldMkLst>
        <pc:spChg chg="mod">
          <ac:chgData name="Asif Muhammad" userId="6b0af2cb-2f76-400b-94d9-178b55ef4f85" providerId="ADAL" clId="{2BC4E84D-62CC-4DB8-906D-574F39D8C2E4}" dt="2023-09-11T08:22:51.819" v="139" actId="12"/>
          <ac:spMkLst>
            <pc:docMk/>
            <pc:sldMk cId="0" sldId="656"/>
            <ac:spMk id="62466" creationId="{31D50A34-FF55-04D4-785F-E7DA42DC5A6F}"/>
          </ac:spMkLst>
        </pc:spChg>
      </pc:sldChg>
      <pc:sldChg chg="modNotesTx">
        <pc:chgData name="Asif Muhammad" userId="6b0af2cb-2f76-400b-94d9-178b55ef4f85" providerId="ADAL" clId="{2BC4E84D-62CC-4DB8-906D-574F39D8C2E4}" dt="2023-09-13T12:34:58.131" v="161" actId="20577"/>
        <pc:sldMkLst>
          <pc:docMk/>
          <pc:sldMk cId="0" sldId="659"/>
        </pc:sldMkLst>
      </pc:sldChg>
      <pc:sldChg chg="modNotesTx">
        <pc:chgData name="Asif Muhammad" userId="6b0af2cb-2f76-400b-94d9-178b55ef4f85" providerId="ADAL" clId="{2BC4E84D-62CC-4DB8-906D-574F39D8C2E4}" dt="2023-09-13T12:37:49.769" v="165" actId="6549"/>
        <pc:sldMkLst>
          <pc:docMk/>
          <pc:sldMk cId="0" sldId="662"/>
        </pc:sldMkLst>
      </pc:sldChg>
      <pc:sldChg chg="modSp mod">
        <pc:chgData name="Asif Muhammad" userId="6b0af2cb-2f76-400b-94d9-178b55ef4f85" providerId="ADAL" clId="{2BC4E84D-62CC-4DB8-906D-574F39D8C2E4}" dt="2023-09-10T12:26:26.476" v="43" actId="403"/>
        <pc:sldMkLst>
          <pc:docMk/>
          <pc:sldMk cId="0" sldId="671"/>
        </pc:sldMkLst>
        <pc:spChg chg="mod">
          <ac:chgData name="Asif Muhammad" userId="6b0af2cb-2f76-400b-94d9-178b55ef4f85" providerId="ADAL" clId="{2BC4E84D-62CC-4DB8-906D-574F39D8C2E4}" dt="2023-09-10T12:26:26.476" v="43" actId="403"/>
          <ac:spMkLst>
            <pc:docMk/>
            <pc:sldMk cId="0" sldId="671"/>
            <ac:spMk id="23554" creationId="{AC179D17-463F-B2CE-15BA-5362E9C8C664}"/>
          </ac:spMkLst>
        </pc:spChg>
      </pc:sldChg>
      <pc:sldChg chg="modSp mod">
        <pc:chgData name="Asif Muhammad" userId="6b0af2cb-2f76-400b-94d9-178b55ef4f85" providerId="ADAL" clId="{2BC4E84D-62CC-4DB8-906D-574F39D8C2E4}" dt="2023-09-09T10:42:02.787" v="39" actId="255"/>
        <pc:sldMkLst>
          <pc:docMk/>
          <pc:sldMk cId="0" sldId="681"/>
        </pc:sldMkLst>
        <pc:spChg chg="mod">
          <ac:chgData name="Asif Muhammad" userId="6b0af2cb-2f76-400b-94d9-178b55ef4f85" providerId="ADAL" clId="{2BC4E84D-62CC-4DB8-906D-574F39D8C2E4}" dt="2023-09-09T10:42:02.787" v="39" actId="255"/>
          <ac:spMkLst>
            <pc:docMk/>
            <pc:sldMk cId="0" sldId="681"/>
            <ac:spMk id="24578" creationId="{6BDDC99B-F0AA-3B05-980D-D87FF5FCB191}"/>
          </ac:spMkLst>
        </pc:spChg>
      </pc:sldChg>
      <pc:sldChg chg="modSp modNotesTx">
        <pc:chgData name="Asif Muhammad" userId="6b0af2cb-2f76-400b-94d9-178b55ef4f85" providerId="ADAL" clId="{2BC4E84D-62CC-4DB8-906D-574F39D8C2E4}" dt="2023-09-11T08:25:22.527" v="140" actId="14100"/>
        <pc:sldMkLst>
          <pc:docMk/>
          <pc:sldMk cId="0" sldId="689"/>
        </pc:sldMkLst>
        <pc:spChg chg="mod">
          <ac:chgData name="Asif Muhammad" userId="6b0af2cb-2f76-400b-94d9-178b55ef4f85" providerId="ADAL" clId="{2BC4E84D-62CC-4DB8-906D-574F39D8C2E4}" dt="2023-09-11T08:25:22.527" v="140" actId="14100"/>
          <ac:spMkLst>
            <pc:docMk/>
            <pc:sldMk cId="0" sldId="689"/>
            <ac:spMk id="35842" creationId="{48D261AB-DFA6-E27C-AA27-A18F6623D84A}"/>
          </ac:spMkLst>
        </pc:spChg>
      </pc:sldChg>
      <pc:sldChg chg="modSp mod">
        <pc:chgData name="Asif Muhammad" userId="6b0af2cb-2f76-400b-94d9-178b55ef4f85" providerId="ADAL" clId="{2BC4E84D-62CC-4DB8-906D-574F39D8C2E4}" dt="2023-09-10T12:41:14.299" v="52" actId="20577"/>
        <pc:sldMkLst>
          <pc:docMk/>
          <pc:sldMk cId="0" sldId="704"/>
        </pc:sldMkLst>
        <pc:spChg chg="mod">
          <ac:chgData name="Asif Muhammad" userId="6b0af2cb-2f76-400b-94d9-178b55ef4f85" providerId="ADAL" clId="{2BC4E84D-62CC-4DB8-906D-574F39D8C2E4}" dt="2023-09-10T12:41:14.299" v="52" actId="20577"/>
          <ac:spMkLst>
            <pc:docMk/>
            <pc:sldMk cId="0" sldId="704"/>
            <ac:spMk id="31746" creationId="{DCD69086-BD6B-CFBB-5A79-A978AE06C048}"/>
          </ac:spMkLst>
        </pc:spChg>
      </pc:sldChg>
      <pc:sldChg chg="modSp mod">
        <pc:chgData name="Asif Muhammad" userId="6b0af2cb-2f76-400b-94d9-178b55ef4f85" providerId="ADAL" clId="{2BC4E84D-62CC-4DB8-906D-574F39D8C2E4}" dt="2023-09-10T13:55:15.332" v="63" actId="6549"/>
        <pc:sldMkLst>
          <pc:docMk/>
          <pc:sldMk cId="0" sldId="706"/>
        </pc:sldMkLst>
        <pc:spChg chg="mod">
          <ac:chgData name="Asif Muhammad" userId="6b0af2cb-2f76-400b-94d9-178b55ef4f85" providerId="ADAL" clId="{2BC4E84D-62CC-4DB8-906D-574F39D8C2E4}" dt="2023-09-10T13:55:15.332" v="63" actId="6549"/>
          <ac:spMkLst>
            <pc:docMk/>
            <pc:sldMk cId="0" sldId="706"/>
            <ac:spMk id="33794" creationId="{99E32F17-4EAE-5CA7-D247-3F6B5F932E6F}"/>
          </ac:spMkLst>
        </pc:spChg>
      </pc:sldChg>
      <pc:sldChg chg="modSp mod modNotesTx">
        <pc:chgData name="Asif Muhammad" userId="6b0af2cb-2f76-400b-94d9-178b55ef4f85" providerId="ADAL" clId="{2BC4E84D-62CC-4DB8-906D-574F39D8C2E4}" dt="2023-09-11T08:25:28.865" v="141" actId="14100"/>
        <pc:sldMkLst>
          <pc:docMk/>
          <pc:sldMk cId="0" sldId="707"/>
        </pc:sldMkLst>
        <pc:spChg chg="mod">
          <ac:chgData name="Asif Muhammad" userId="6b0af2cb-2f76-400b-94d9-178b55ef4f85" providerId="ADAL" clId="{2BC4E84D-62CC-4DB8-906D-574F39D8C2E4}" dt="2023-09-11T08:25:28.865" v="141" actId="14100"/>
          <ac:spMkLst>
            <pc:docMk/>
            <pc:sldMk cId="0" sldId="707"/>
            <ac:spMk id="38914" creationId="{1902EC17-B824-B32A-62A7-CE6DD0EA2AC9}"/>
          </ac:spMkLst>
        </pc:spChg>
      </pc:sldChg>
      <pc:sldChg chg="modSp mod">
        <pc:chgData name="Asif Muhammad" userId="6b0af2cb-2f76-400b-94d9-178b55ef4f85" providerId="ADAL" clId="{2BC4E84D-62CC-4DB8-906D-574F39D8C2E4}" dt="2023-09-10T13:54:28.988" v="58" actId="403"/>
        <pc:sldMkLst>
          <pc:docMk/>
          <pc:sldMk cId="0" sldId="708"/>
        </pc:sldMkLst>
        <pc:spChg chg="mod">
          <ac:chgData name="Asif Muhammad" userId="6b0af2cb-2f76-400b-94d9-178b55ef4f85" providerId="ADAL" clId="{2BC4E84D-62CC-4DB8-906D-574F39D8C2E4}" dt="2023-09-10T13:54:28.988" v="58" actId="403"/>
          <ac:spMkLst>
            <pc:docMk/>
            <pc:sldMk cId="0" sldId="708"/>
            <ac:spMk id="45058" creationId="{F8F6E2AB-0AE8-568B-B68D-24242839EC3B}"/>
          </ac:spMkLst>
        </pc:spChg>
      </pc:sldChg>
      <pc:sldChg chg="modSp mod">
        <pc:chgData name="Asif Muhammad" userId="6b0af2cb-2f76-400b-94d9-178b55ef4f85" providerId="ADAL" clId="{2BC4E84D-62CC-4DB8-906D-574F39D8C2E4}" dt="2023-09-10T13:57:43.101" v="119" actId="1035"/>
        <pc:sldMkLst>
          <pc:docMk/>
          <pc:sldMk cId="0" sldId="710"/>
        </pc:sldMkLst>
        <pc:spChg chg="mod">
          <ac:chgData name="Asif Muhammad" userId="6b0af2cb-2f76-400b-94d9-178b55ef4f85" providerId="ADAL" clId="{2BC4E84D-62CC-4DB8-906D-574F39D8C2E4}" dt="2023-09-10T13:57:36.103" v="116" actId="1035"/>
          <ac:spMkLst>
            <pc:docMk/>
            <pc:sldMk cId="0" sldId="710"/>
            <ac:spMk id="358" creationId="{F38BF65A-7A22-9AC9-D322-3BD32CD9CA6E}"/>
          </ac:spMkLst>
        </pc:spChg>
        <pc:spChg chg="mod">
          <ac:chgData name="Asif Muhammad" userId="6b0af2cb-2f76-400b-94d9-178b55ef4f85" providerId="ADAL" clId="{2BC4E84D-62CC-4DB8-906D-574F39D8C2E4}" dt="2023-09-10T13:57:14.520" v="107" actId="6549"/>
          <ac:spMkLst>
            <pc:docMk/>
            <pc:sldMk cId="0" sldId="710"/>
            <ac:spMk id="51201" creationId="{BFF9F5F8-931C-699A-C3D1-61D95A778901}"/>
          </ac:spMkLst>
        </pc:spChg>
        <pc:spChg chg="mod">
          <ac:chgData name="Asif Muhammad" userId="6b0af2cb-2f76-400b-94d9-178b55ef4f85" providerId="ADAL" clId="{2BC4E84D-62CC-4DB8-906D-574F39D8C2E4}" dt="2023-09-10T13:57:32.344" v="115" actId="1036"/>
          <ac:spMkLst>
            <pc:docMk/>
            <pc:sldMk cId="0" sldId="710"/>
            <ac:spMk id="51204" creationId="{81B42627-2973-C1D0-F6D4-CA5DF79CAFA1}"/>
          </ac:spMkLst>
        </pc:spChg>
        <pc:spChg chg="mod">
          <ac:chgData name="Asif Muhammad" userId="6b0af2cb-2f76-400b-94d9-178b55ef4f85" providerId="ADAL" clId="{2BC4E84D-62CC-4DB8-906D-574F39D8C2E4}" dt="2023-09-10T13:57:43.101" v="119" actId="1035"/>
          <ac:spMkLst>
            <pc:docMk/>
            <pc:sldMk cId="0" sldId="710"/>
            <ac:spMk id="51206" creationId="{35EE4B79-1A7D-147D-6842-7F0D742E88B1}"/>
          </ac:spMkLst>
        </pc:spChg>
        <pc:picChg chg="mod">
          <ac:chgData name="Asif Muhammad" userId="6b0af2cb-2f76-400b-94d9-178b55ef4f85" providerId="ADAL" clId="{2BC4E84D-62CC-4DB8-906D-574F39D8C2E4}" dt="2023-09-10T13:57:25.215" v="111" actId="1036"/>
          <ac:picMkLst>
            <pc:docMk/>
            <pc:sldMk cId="0" sldId="710"/>
            <ac:picMk id="51202" creationId="{17A40FE1-3BDB-6D70-10C6-2D79F60337E9}"/>
          </ac:picMkLst>
        </pc:picChg>
        <pc:cxnChg chg="mod">
          <ac:chgData name="Asif Muhammad" userId="6b0af2cb-2f76-400b-94d9-178b55ef4f85" providerId="ADAL" clId="{2BC4E84D-62CC-4DB8-906D-574F39D8C2E4}" dt="2023-09-10T13:57:32.344" v="115" actId="1036"/>
          <ac:cxnSpMkLst>
            <pc:docMk/>
            <pc:sldMk cId="0" sldId="710"/>
            <ac:cxnSpMk id="51205" creationId="{4EFE34C6-821B-D851-4F35-9CAC92DD5BB4}"/>
          </ac:cxnSpMkLst>
        </pc:cxnChg>
        <pc:cxnChg chg="mod">
          <ac:chgData name="Asif Muhammad" userId="6b0af2cb-2f76-400b-94d9-178b55ef4f85" providerId="ADAL" clId="{2BC4E84D-62CC-4DB8-906D-574F39D8C2E4}" dt="2023-09-10T13:57:43.101" v="119" actId="1035"/>
          <ac:cxnSpMkLst>
            <pc:docMk/>
            <pc:sldMk cId="0" sldId="710"/>
            <ac:cxnSpMk id="51207" creationId="{94CC13B4-DC9E-A0E6-65EF-EE2999CC6E8B}"/>
          </ac:cxnSpMkLst>
        </pc:cxnChg>
      </pc:sldChg>
      <pc:sldChg chg="modSp mod">
        <pc:chgData name="Asif Muhammad" userId="6b0af2cb-2f76-400b-94d9-178b55ef4f85" providerId="ADAL" clId="{2BC4E84D-62CC-4DB8-906D-574F39D8C2E4}" dt="2023-09-11T08:25:58.207" v="145" actId="14100"/>
        <pc:sldMkLst>
          <pc:docMk/>
          <pc:sldMk cId="0" sldId="711"/>
        </pc:sldMkLst>
        <pc:spChg chg="mod">
          <ac:chgData name="Asif Muhammad" userId="6b0af2cb-2f76-400b-94d9-178b55ef4f85" providerId="ADAL" clId="{2BC4E84D-62CC-4DB8-906D-574F39D8C2E4}" dt="2023-09-11T08:25:58.207" v="145" actId="14100"/>
          <ac:spMkLst>
            <pc:docMk/>
            <pc:sldMk cId="0" sldId="711"/>
            <ac:spMk id="53250" creationId="{CE0362FC-4FE4-1E64-C428-61EBD9C6A6AE}"/>
          </ac:spMkLst>
        </pc:spChg>
      </pc:sldChg>
      <pc:sldChg chg="modSp mod">
        <pc:chgData name="Asif Muhammad" userId="6b0af2cb-2f76-400b-94d9-178b55ef4f85" providerId="ADAL" clId="{2BC4E84D-62CC-4DB8-906D-574F39D8C2E4}" dt="2023-09-10T13:59:40.876" v="130" actId="14100"/>
        <pc:sldMkLst>
          <pc:docMk/>
          <pc:sldMk cId="0" sldId="712"/>
        </pc:sldMkLst>
        <pc:spChg chg="mod">
          <ac:chgData name="Asif Muhammad" userId="6b0af2cb-2f76-400b-94d9-178b55ef4f85" providerId="ADAL" clId="{2BC4E84D-62CC-4DB8-906D-574F39D8C2E4}" dt="2023-09-10T13:59:08.980" v="127" actId="403"/>
          <ac:spMkLst>
            <pc:docMk/>
            <pc:sldMk cId="0" sldId="712"/>
            <ac:spMk id="55298" creationId="{CFD9BF9A-06BE-DE0B-D42E-A1502B4DEB85}"/>
          </ac:spMkLst>
        </pc:spChg>
        <pc:spChg chg="mod">
          <ac:chgData name="Asif Muhammad" userId="6b0af2cb-2f76-400b-94d9-178b55ef4f85" providerId="ADAL" clId="{2BC4E84D-62CC-4DB8-906D-574F39D8C2E4}" dt="2023-09-10T13:59:40.876" v="130" actId="14100"/>
          <ac:spMkLst>
            <pc:docMk/>
            <pc:sldMk cId="0" sldId="712"/>
            <ac:spMk id="55301" creationId="{03D39D00-B5C1-BD7E-3FB0-C9CF65914920}"/>
          </ac:spMkLst>
        </pc:spChg>
      </pc:sldChg>
      <pc:sldChg chg="modSp mod">
        <pc:chgData name="Asif Muhammad" userId="6b0af2cb-2f76-400b-94d9-178b55ef4f85" providerId="ADAL" clId="{2BC4E84D-62CC-4DB8-906D-574F39D8C2E4}" dt="2023-09-09T10:38:59.456" v="13" actId="255"/>
        <pc:sldMkLst>
          <pc:docMk/>
          <pc:sldMk cId="0" sldId="718"/>
        </pc:sldMkLst>
        <pc:spChg chg="mod">
          <ac:chgData name="Asif Muhammad" userId="6b0af2cb-2f76-400b-94d9-178b55ef4f85" providerId="ADAL" clId="{2BC4E84D-62CC-4DB8-906D-574F39D8C2E4}" dt="2023-09-09T10:38:59.456" v="13" actId="255"/>
          <ac:spMkLst>
            <pc:docMk/>
            <pc:sldMk cId="0" sldId="718"/>
            <ac:spMk id="20482" creationId="{FBB9A6B2-4F54-131B-E8E8-E16A90BFFDA9}"/>
          </ac:spMkLst>
        </pc:spChg>
      </pc:sldChg>
      <pc:sldChg chg="modSp mod">
        <pc:chgData name="Asif Muhammad" userId="6b0af2cb-2f76-400b-94d9-178b55ef4f85" providerId="ADAL" clId="{2BC4E84D-62CC-4DB8-906D-574F39D8C2E4}" dt="2023-09-09T10:34:54.806" v="8" actId="6549"/>
        <pc:sldMkLst>
          <pc:docMk/>
          <pc:sldMk cId="0" sldId="728"/>
        </pc:sldMkLst>
        <pc:spChg chg="mod">
          <ac:chgData name="Asif Muhammad" userId="6b0af2cb-2f76-400b-94d9-178b55ef4f85" providerId="ADAL" clId="{2BC4E84D-62CC-4DB8-906D-574F39D8C2E4}" dt="2023-09-09T10:34:54.806" v="8" actId="6549"/>
          <ac:spMkLst>
            <pc:docMk/>
            <pc:sldMk cId="0" sldId="728"/>
            <ac:spMk id="3" creationId="{1E194F36-C5C9-A908-2070-744CF7312FF4}"/>
          </ac:spMkLst>
        </pc:spChg>
      </pc:sldChg>
      <pc:sldChg chg="modSp">
        <pc:chgData name="Asif Muhammad" userId="6b0af2cb-2f76-400b-94d9-178b55ef4f85" providerId="ADAL" clId="{2BC4E84D-62CC-4DB8-906D-574F39D8C2E4}" dt="2023-09-13T09:59:24.431" v="147" actId="14100"/>
        <pc:sldMkLst>
          <pc:docMk/>
          <pc:sldMk cId="0" sldId="736"/>
        </pc:sldMkLst>
        <pc:spChg chg="mod">
          <ac:chgData name="Asif Muhammad" userId="6b0af2cb-2f76-400b-94d9-178b55ef4f85" providerId="ADAL" clId="{2BC4E84D-62CC-4DB8-906D-574F39D8C2E4}" dt="2023-09-13T09:59:24.431" v="147" actId="14100"/>
          <ac:spMkLst>
            <pc:docMk/>
            <pc:sldMk cId="0" sldId="736"/>
            <ac:spMk id="75777" creationId="{218B3A38-6F94-CEC9-43B3-F9C7CB79BCDA}"/>
          </ac:spMkLst>
        </pc:spChg>
      </pc:sldChg>
      <pc:sldChg chg="modSp">
        <pc:chgData name="Asif Muhammad" userId="6b0af2cb-2f76-400b-94d9-178b55ef4f85" providerId="ADAL" clId="{2BC4E84D-62CC-4DB8-906D-574F39D8C2E4}" dt="2023-09-13T10:00:06.715" v="150" actId="1076"/>
        <pc:sldMkLst>
          <pc:docMk/>
          <pc:sldMk cId="0" sldId="741"/>
        </pc:sldMkLst>
        <pc:picChg chg="mod">
          <ac:chgData name="Asif Muhammad" userId="6b0af2cb-2f76-400b-94d9-178b55ef4f85" providerId="ADAL" clId="{2BC4E84D-62CC-4DB8-906D-574F39D8C2E4}" dt="2023-09-13T10:00:06.715" v="150" actId="1076"/>
          <ac:picMkLst>
            <pc:docMk/>
            <pc:sldMk cId="0" sldId="741"/>
            <ac:picMk id="81921" creationId="{4F4A7393-3962-25FF-1DA4-28DE758C9259}"/>
          </ac:picMkLst>
        </pc:picChg>
      </pc:sldChg>
      <pc:sldChg chg="modSp">
        <pc:chgData name="Asif Muhammad" userId="6b0af2cb-2f76-400b-94d9-178b55ef4f85" providerId="ADAL" clId="{2BC4E84D-62CC-4DB8-906D-574F39D8C2E4}" dt="2023-09-13T10:00:18.637" v="151" actId="1076"/>
        <pc:sldMkLst>
          <pc:docMk/>
          <pc:sldMk cId="0" sldId="788"/>
        </pc:sldMkLst>
        <pc:picChg chg="mod">
          <ac:chgData name="Asif Muhammad" userId="6b0af2cb-2f76-400b-94d9-178b55ef4f85" providerId="ADAL" clId="{2BC4E84D-62CC-4DB8-906D-574F39D8C2E4}" dt="2023-09-13T10:00:18.637" v="151" actId="1076"/>
          <ac:picMkLst>
            <pc:docMk/>
            <pc:sldMk cId="0" sldId="788"/>
            <ac:picMk id="83969" creationId="{B3E4CD5E-F38B-19C8-312D-73B621903158}"/>
          </ac:picMkLst>
        </pc:picChg>
      </pc:sldChg>
      <pc:sldChg chg="modSp mod">
        <pc:chgData name="Asif Muhammad" userId="6b0af2cb-2f76-400b-94d9-178b55ef4f85" providerId="ADAL" clId="{2BC4E84D-62CC-4DB8-906D-574F39D8C2E4}" dt="2023-09-09T10:44:59.042" v="41" actId="6549"/>
        <pc:sldMkLst>
          <pc:docMk/>
          <pc:sldMk cId="0" sldId="791"/>
        </pc:sldMkLst>
        <pc:spChg chg="mod">
          <ac:chgData name="Asif Muhammad" userId="6b0af2cb-2f76-400b-94d9-178b55ef4f85" providerId="ADAL" clId="{2BC4E84D-62CC-4DB8-906D-574F39D8C2E4}" dt="2023-09-09T10:44:59.042" v="41" actId="6549"/>
          <ac:spMkLst>
            <pc:docMk/>
            <pc:sldMk cId="0" sldId="791"/>
            <ac:spMk id="28675" creationId="{E68517E1-92B3-DD1E-13A2-22A25040678F}"/>
          </ac:spMkLst>
        </pc:spChg>
      </pc:sldChg>
      <pc:sldChg chg="modSp">
        <pc:chgData name="Asif Muhammad" userId="6b0af2cb-2f76-400b-94d9-178b55ef4f85" providerId="ADAL" clId="{2BC4E84D-62CC-4DB8-906D-574F39D8C2E4}" dt="2023-09-10T13:55:23.638" v="64" actId="403"/>
        <pc:sldMkLst>
          <pc:docMk/>
          <pc:sldMk cId="0" sldId="792"/>
        </pc:sldMkLst>
        <pc:spChg chg="mod">
          <ac:chgData name="Asif Muhammad" userId="6b0af2cb-2f76-400b-94d9-178b55ef4f85" providerId="ADAL" clId="{2BC4E84D-62CC-4DB8-906D-574F39D8C2E4}" dt="2023-09-10T13:55:23.638" v="64" actId="403"/>
          <ac:spMkLst>
            <pc:docMk/>
            <pc:sldMk cId="0" sldId="792"/>
            <ac:spMk id="83974" creationId="{695AD79E-9E82-C822-BE3A-31B3828D5DB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BD2F564-D92C-3D58-7716-3E84F9EC6F7A}"/>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1" name="Rectangle 3">
            <a:extLst>
              <a:ext uri="{FF2B5EF4-FFF2-40B4-BE49-F238E27FC236}">
                <a16:creationId xmlns:a16="http://schemas.microsoft.com/office/drawing/2014/main" id="{07A14A96-77A6-E439-A11D-12DC793590FA}"/>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p>
        </p:txBody>
      </p:sp>
      <p:sp>
        <p:nvSpPr>
          <p:cNvPr id="13316" name="Rectangle 4">
            <a:extLst>
              <a:ext uri="{FF2B5EF4-FFF2-40B4-BE49-F238E27FC236}">
                <a16:creationId xmlns:a16="http://schemas.microsoft.com/office/drawing/2014/main" id="{EBC22E48-77A6-3BCC-F8D8-DFC185FE218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a:extLst>
              <a:ext uri="{FF2B5EF4-FFF2-40B4-BE49-F238E27FC236}">
                <a16:creationId xmlns:a16="http://schemas.microsoft.com/office/drawing/2014/main" id="{7499306E-77FA-2F0F-7C27-BCDE0FFE9E8C}"/>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a:extLst>
              <a:ext uri="{FF2B5EF4-FFF2-40B4-BE49-F238E27FC236}">
                <a16:creationId xmlns:a16="http://schemas.microsoft.com/office/drawing/2014/main" id="{76970015-61CB-349A-1329-E7E4C7437119}"/>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5" name="Rectangle 7">
            <a:extLst>
              <a:ext uri="{FF2B5EF4-FFF2-40B4-BE49-F238E27FC236}">
                <a16:creationId xmlns:a16="http://schemas.microsoft.com/office/drawing/2014/main" id="{9917AE07-95E2-B030-281A-C3917755213F}"/>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94E5855B-0BAF-4DEE-B3F9-D78A386B6422}"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steemit.com/money/@thecryptodrive/a-lesson-in-anonymity-bitcoin-dash-monero-and-zcash"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a:extLst>
              <a:ext uri="{FF2B5EF4-FFF2-40B4-BE49-F238E27FC236}">
                <a16:creationId xmlns:a16="http://schemas.microsoft.com/office/drawing/2014/main" id="{F8E304CC-FA39-4F29-4BF5-418E6A870B8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C630D0EA-F46F-40D0-9072-8FECC5E5D9E1}" type="slidenum">
              <a:rPr lang="en-US" altLang="en-US"/>
              <a:pPr>
                <a:spcBef>
                  <a:spcPct val="0"/>
                </a:spcBef>
              </a:pPr>
              <a:t>1</a:t>
            </a:fld>
            <a:endParaRPr lang="en-US" altLang="en-US"/>
          </a:p>
        </p:txBody>
      </p:sp>
      <p:sp>
        <p:nvSpPr>
          <p:cNvPr id="15362" name="Rectangle 2">
            <a:extLst>
              <a:ext uri="{FF2B5EF4-FFF2-40B4-BE49-F238E27FC236}">
                <a16:creationId xmlns:a16="http://schemas.microsoft.com/office/drawing/2014/main" id="{F0CEBAA7-9160-3FB1-281D-BDA093DD55B9}"/>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265D02C6-82CC-5D20-D709-E42F9F9A7008}"/>
              </a:ext>
            </a:extLst>
          </p:cNvPr>
          <p:cNvSpPr>
            <a:spLocks noGrp="1" noChangeArrowheads="1"/>
          </p:cNvSpPr>
          <p:nvPr>
            <p:ph type="body" idx="1"/>
          </p:nvPr>
        </p:nvSpPr>
        <p:spPr/>
        <p:txBody>
          <a:bodyPr/>
          <a:lstStyle/>
          <a:p>
            <a:pPr eaLnBrk="1" hangingPunct="1">
              <a:defRPr/>
            </a:pPr>
            <a:endParaRPr lang="fr-FR">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457" name="Google Shape;43;p9:notes">
            <a:extLst>
              <a:ext uri="{FF2B5EF4-FFF2-40B4-BE49-F238E27FC236}">
                <a16:creationId xmlns:a16="http://schemas.microsoft.com/office/drawing/2014/main" id="{637FB1D1-47E2-D576-72EC-251B043B6B5A}"/>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19458" name="Google Shape;44;p9:notes">
            <a:extLst>
              <a:ext uri="{FF2B5EF4-FFF2-40B4-BE49-F238E27FC236}">
                <a16:creationId xmlns:a16="http://schemas.microsoft.com/office/drawing/2014/main" id="{816E8AB3-B4AC-5719-3570-B483CC5E5A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buClr>
                <a:srgbClr val="000000"/>
              </a:buClr>
            </a:pPr>
            <a:endParaRPr lang="en-US" altLang="en-US" sz="110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5" name="Google Shape;55;p17:notes">
            <a:extLst>
              <a:ext uri="{FF2B5EF4-FFF2-40B4-BE49-F238E27FC236}">
                <a16:creationId xmlns:a16="http://schemas.microsoft.com/office/drawing/2014/main" id="{4E0D29C8-B01A-04E5-AF78-7A367AFC03FC}"/>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21506" name="Google Shape;56;p17:notes">
            <a:extLst>
              <a:ext uri="{FF2B5EF4-FFF2-40B4-BE49-F238E27FC236}">
                <a16:creationId xmlns:a16="http://schemas.microsoft.com/office/drawing/2014/main" id="{94D76D9E-37EF-DE7A-C757-0CD1F798625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buClr>
                <a:srgbClr val="000000"/>
              </a:buClr>
            </a:pPr>
            <a:endParaRPr lang="en-US" altLang="en-US" sz="110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6625" name="Google Shape;156;p45:notes">
            <a:extLst>
              <a:ext uri="{FF2B5EF4-FFF2-40B4-BE49-F238E27FC236}">
                <a16:creationId xmlns:a16="http://schemas.microsoft.com/office/drawing/2014/main" id="{2B50A3B4-8D4E-D136-079C-A4884AF1E987}"/>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26626" name="Google Shape;157;p45:notes">
            <a:extLst>
              <a:ext uri="{FF2B5EF4-FFF2-40B4-BE49-F238E27FC236}">
                <a16:creationId xmlns:a16="http://schemas.microsoft.com/office/drawing/2014/main" id="{039B3CB5-2B33-8151-5668-F2E181603BC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sz="110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rPr>
              <a:t>Analogy of talking on the phone and having a lag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Espace réservé de l'image des diapositives 1">
            <a:extLst>
              <a:ext uri="{FF2B5EF4-FFF2-40B4-BE49-F238E27FC236}">
                <a16:creationId xmlns:a16="http://schemas.microsoft.com/office/drawing/2014/main" id="{C919F868-E278-BF5F-8476-0D5C37312BF3}"/>
              </a:ext>
            </a:extLst>
          </p:cNvPr>
          <p:cNvSpPr>
            <a:spLocks noGrp="1" noRot="1" noChangeAspect="1" noChangeArrowheads="1" noTextEdit="1"/>
          </p:cNvSpPr>
          <p:nvPr>
            <p:ph type="sldImg"/>
          </p:nvPr>
        </p:nvSpPr>
        <p:spPr>
          <a:ln/>
        </p:spPr>
      </p:sp>
      <p:sp>
        <p:nvSpPr>
          <p:cNvPr id="30722" name="Espace réservé des commentaires 2">
            <a:extLst>
              <a:ext uri="{FF2B5EF4-FFF2-40B4-BE49-F238E27FC236}">
                <a16:creationId xmlns:a16="http://schemas.microsoft.com/office/drawing/2014/main" id="{8F2352C6-5FCB-F9E2-A4B2-B044FBA7213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en-US">
              <a:latin typeface="Arial" panose="020B0604020202020204" pitchFamily="34" charset="0"/>
              <a:ea typeface="ＭＳ Ｐゴシック" panose="020B0600070205080204" pitchFamily="34" charset="-128"/>
            </a:endParaRPr>
          </a:p>
        </p:txBody>
      </p:sp>
      <p:sp>
        <p:nvSpPr>
          <p:cNvPr id="30723" name="Espace réservé du numéro de diapositive 3">
            <a:extLst>
              <a:ext uri="{FF2B5EF4-FFF2-40B4-BE49-F238E27FC236}">
                <a16:creationId xmlns:a16="http://schemas.microsoft.com/office/drawing/2014/main" id="{098EA673-0252-120A-7014-19A218DD423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E48CB25-5762-4C68-8C9F-6AB43D1D3B53}" type="slidenum">
              <a:rPr lang="en-US" altLang="en-US"/>
              <a:pPr>
                <a:spcBef>
                  <a:spcPct val="0"/>
                </a:spcBef>
              </a:pPr>
              <a:t>11</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DFD984D4-DD66-FF1D-83DC-8D5BDD5CD3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64BF118A-55AA-4931-A6A1-9CE412488D0B}" type="slidenum">
              <a:rPr lang="en-US" altLang="en-US" sz="1100"/>
              <a:pPr>
                <a:spcBef>
                  <a:spcPct val="0"/>
                </a:spcBef>
              </a:pPr>
              <a:t>12</a:t>
            </a:fld>
            <a:endParaRPr lang="en-US" altLang="en-US" sz="1100"/>
          </a:p>
        </p:txBody>
      </p:sp>
      <p:sp>
        <p:nvSpPr>
          <p:cNvPr id="32770" name="Rectangle 2">
            <a:extLst>
              <a:ext uri="{FF2B5EF4-FFF2-40B4-BE49-F238E27FC236}">
                <a16:creationId xmlns:a16="http://schemas.microsoft.com/office/drawing/2014/main" id="{655D367A-AD2E-9505-1DDD-552BE09A71CD}"/>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56B25C9E-A780-26FA-C23E-B424CFFB84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C43DB549-CB49-FB83-76B8-9949D9AB5DC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A9CB5C26-85D5-4A13-9BA9-770B66A1C8CA}" type="slidenum">
              <a:rPr lang="en-US" altLang="en-US" sz="1100"/>
              <a:pPr>
                <a:spcBef>
                  <a:spcPct val="0"/>
                </a:spcBef>
              </a:pPr>
              <a:t>13</a:t>
            </a:fld>
            <a:endParaRPr lang="en-US" altLang="en-US" sz="1100"/>
          </a:p>
        </p:txBody>
      </p:sp>
      <p:sp>
        <p:nvSpPr>
          <p:cNvPr id="34818" name="Rectangle 2">
            <a:extLst>
              <a:ext uri="{FF2B5EF4-FFF2-40B4-BE49-F238E27FC236}">
                <a16:creationId xmlns:a16="http://schemas.microsoft.com/office/drawing/2014/main" id="{DA111EDD-6F06-C881-1689-DED0D0FCF6E0}"/>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7B606F14-8221-FCBC-4D76-33C2F72F95E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The resilience of BFT is optimal: at least 3 </a:t>
            </a:r>
            <a:r>
              <a:rPr lang="en-US" altLang="en-US" i="1" dirty="0">
                <a:latin typeface="Arial" panose="020B0604020202020204" pitchFamily="34" charset="0"/>
                <a:ea typeface="ＭＳ Ｐゴシック" panose="020B0600070205080204" pitchFamily="34" charset="-128"/>
              </a:rPr>
              <a:t>f </a:t>
            </a:r>
            <a:r>
              <a:rPr lang="en-US" altLang="en-US" dirty="0">
                <a:latin typeface="Arial" panose="020B0604020202020204" pitchFamily="34" charset="0"/>
                <a:ea typeface="ＭＳ Ｐゴシック" panose="020B0600070205080204" pitchFamily="34" charset="-128"/>
              </a:rPr>
              <a:t>+ 1 replicas are necessary to provide the safety and liveness properties under our assumptions when up to </a:t>
            </a:r>
            <a:r>
              <a:rPr lang="en-US" altLang="en-US" i="1" dirty="0">
                <a:latin typeface="Arial" panose="020B0604020202020204" pitchFamily="34" charset="0"/>
                <a:ea typeface="ＭＳ Ｐゴシック" panose="020B0600070205080204" pitchFamily="34" charset="-128"/>
              </a:rPr>
              <a:t>f </a:t>
            </a:r>
            <a:r>
              <a:rPr lang="en-US" altLang="en-US" dirty="0">
                <a:latin typeface="Arial" panose="020B0604020202020204" pitchFamily="34" charset="0"/>
                <a:ea typeface="ＭＳ Ｐゴシック" panose="020B0600070205080204" pitchFamily="34" charset="-128"/>
              </a:rPr>
              <a:t>replicas are faulty. To understand the bound on the number of faulty replicas, consider a replicated service that implements a mutable variable with read and write operations. To provide liveness, the service may have to return a reply before the request is received by more than </a:t>
            </a:r>
            <a:r>
              <a:rPr lang="en-US" altLang="en-US" i="1" dirty="0">
                <a:latin typeface="Arial" panose="020B0604020202020204" pitchFamily="34" charset="0"/>
                <a:ea typeface="ＭＳ Ｐゴシック" panose="020B0600070205080204" pitchFamily="34" charset="-128"/>
              </a:rPr>
              <a:t>n</a:t>
            </a:r>
            <a:r>
              <a:rPr lang="en-US" altLang="en-US" dirty="0">
                <a:latin typeface="Arial" panose="020B0604020202020204" pitchFamily="34" charset="0"/>
                <a:ea typeface="ＭＳ Ｐゴシック" panose="020B0600070205080204" pitchFamily="34" charset="-128"/>
              </a:rPr>
              <a:t>− </a:t>
            </a:r>
            <a:r>
              <a:rPr lang="en-US" altLang="en-US" i="1" dirty="0">
                <a:latin typeface="Arial" panose="020B0604020202020204" pitchFamily="34" charset="0"/>
                <a:ea typeface="ＭＳ Ｐゴシック" panose="020B0600070205080204" pitchFamily="34" charset="-128"/>
              </a:rPr>
              <a:t>f </a:t>
            </a:r>
            <a:r>
              <a:rPr lang="en-US" altLang="en-US" dirty="0">
                <a:latin typeface="Arial" panose="020B0604020202020204" pitchFamily="34" charset="0"/>
                <a:ea typeface="ＭＳ Ｐゴシック" panose="020B0600070205080204" pitchFamily="34" charset="-128"/>
              </a:rPr>
              <a:t>replicas, since </a:t>
            </a:r>
            <a:r>
              <a:rPr lang="en-US" altLang="en-US" i="1" dirty="0">
                <a:latin typeface="Arial" panose="020B0604020202020204" pitchFamily="34" charset="0"/>
                <a:ea typeface="ＭＳ Ｐゴシック" panose="020B0600070205080204" pitchFamily="34" charset="-128"/>
              </a:rPr>
              <a:t>f </a:t>
            </a:r>
            <a:r>
              <a:rPr lang="en-US" altLang="en-US" dirty="0">
                <a:latin typeface="Arial" panose="020B0604020202020204" pitchFamily="34" charset="0"/>
                <a:ea typeface="ＭＳ Ｐゴシック" panose="020B0600070205080204" pitchFamily="34" charset="-128"/>
              </a:rPr>
              <a:t>replicas might be faulty and not responding. Therefore, the service may reply to a write request after the new value is written only to a set </a:t>
            </a:r>
            <a:r>
              <a:rPr lang="en-US" altLang="en-US" i="1" dirty="0">
                <a:latin typeface="Arial" panose="020B0604020202020204" pitchFamily="34" charset="0"/>
                <a:ea typeface="ＭＳ Ｐゴシック" panose="020B0600070205080204" pitchFamily="34" charset="-128"/>
              </a:rPr>
              <a:t>W </a:t>
            </a:r>
            <a:r>
              <a:rPr lang="en-US" altLang="en-US" dirty="0">
                <a:latin typeface="Arial" panose="020B0604020202020204" pitchFamily="34" charset="0"/>
                <a:ea typeface="ＭＳ Ｐゴシック" panose="020B0600070205080204" pitchFamily="34" charset="-128"/>
              </a:rPr>
              <a:t>with </a:t>
            </a:r>
            <a:r>
              <a:rPr lang="en-US" altLang="en-US" i="1" dirty="0">
                <a:latin typeface="Arial" panose="020B0604020202020204" pitchFamily="34" charset="0"/>
                <a:ea typeface="ＭＳ Ｐゴシック" panose="020B0600070205080204" pitchFamily="34" charset="-128"/>
              </a:rPr>
              <a:t>n </a:t>
            </a:r>
            <a:r>
              <a:rPr lang="en-US" altLang="en-US" dirty="0">
                <a:latin typeface="Arial" panose="020B0604020202020204" pitchFamily="34" charset="0"/>
                <a:ea typeface="ＭＳ Ｐゴシック" panose="020B0600070205080204" pitchFamily="34" charset="-128"/>
              </a:rPr>
              <a:t>− </a:t>
            </a:r>
            <a:r>
              <a:rPr lang="en-US" altLang="en-US" i="1" dirty="0">
                <a:latin typeface="Arial" panose="020B0604020202020204" pitchFamily="34" charset="0"/>
                <a:ea typeface="ＭＳ Ｐゴシック" panose="020B0600070205080204" pitchFamily="34" charset="-128"/>
              </a:rPr>
              <a:t>f </a:t>
            </a:r>
            <a:r>
              <a:rPr lang="en-US" altLang="en-US" dirty="0">
                <a:latin typeface="Arial" panose="020B0604020202020204" pitchFamily="34" charset="0"/>
                <a:ea typeface="ＭＳ Ｐゴシック" panose="020B0600070205080204" pitchFamily="34" charset="-128"/>
              </a:rPr>
              <a:t>replicas. If later a client issues a read request, it may receive a reply based on the state of a set </a:t>
            </a:r>
            <a:r>
              <a:rPr lang="en-US" altLang="en-US" i="1" dirty="0">
                <a:latin typeface="Arial" panose="020B0604020202020204" pitchFamily="34" charset="0"/>
                <a:ea typeface="ＭＳ Ｐゴシック" panose="020B0600070205080204" pitchFamily="34" charset="-128"/>
              </a:rPr>
              <a:t>R </a:t>
            </a:r>
            <a:r>
              <a:rPr lang="en-US" altLang="en-US" dirty="0">
                <a:latin typeface="Arial" panose="020B0604020202020204" pitchFamily="34" charset="0"/>
                <a:ea typeface="ＭＳ Ｐゴシック" panose="020B0600070205080204" pitchFamily="34" charset="-128"/>
              </a:rPr>
              <a:t>with </a:t>
            </a:r>
            <a:r>
              <a:rPr lang="en-US" altLang="en-US" i="1" dirty="0">
                <a:latin typeface="Arial" panose="020B0604020202020204" pitchFamily="34" charset="0"/>
                <a:ea typeface="ＭＳ Ｐゴシック" panose="020B0600070205080204" pitchFamily="34" charset="-128"/>
              </a:rPr>
              <a:t>n</a:t>
            </a:r>
            <a:r>
              <a:rPr lang="en-US" altLang="en-US" dirty="0">
                <a:latin typeface="Arial" panose="020B0604020202020204" pitchFamily="34" charset="0"/>
                <a:ea typeface="ＭＳ Ｐゴシック" panose="020B0600070205080204" pitchFamily="34" charset="-128"/>
              </a:rPr>
              <a:t>− </a:t>
            </a:r>
            <a:r>
              <a:rPr lang="en-US" altLang="en-US" i="1" dirty="0">
                <a:latin typeface="Arial" panose="020B0604020202020204" pitchFamily="34" charset="0"/>
                <a:ea typeface="ＭＳ Ｐゴシック" panose="020B0600070205080204" pitchFamily="34" charset="-128"/>
              </a:rPr>
              <a:t>f </a:t>
            </a:r>
            <a:r>
              <a:rPr lang="en-US" altLang="en-US" dirty="0">
                <a:latin typeface="Arial" panose="020B0604020202020204" pitchFamily="34" charset="0"/>
                <a:ea typeface="ＭＳ Ｐゴシック" panose="020B0600070205080204" pitchFamily="34" charset="-128"/>
              </a:rPr>
              <a:t>replicas. </a:t>
            </a:r>
            <a:r>
              <a:rPr lang="en-US" altLang="en-US" i="1" dirty="0">
                <a:latin typeface="Arial" panose="020B0604020202020204" pitchFamily="34" charset="0"/>
                <a:ea typeface="ＭＳ Ｐゴシック" panose="020B0600070205080204" pitchFamily="34" charset="-128"/>
              </a:rPr>
              <a:t>R </a:t>
            </a:r>
            <a:r>
              <a:rPr lang="en-US" altLang="en-US" dirty="0">
                <a:latin typeface="Arial" panose="020B0604020202020204" pitchFamily="34" charset="0"/>
                <a:ea typeface="ＭＳ Ｐゴシック" panose="020B0600070205080204" pitchFamily="34" charset="-128"/>
              </a:rPr>
              <a:t>and </a:t>
            </a:r>
            <a:r>
              <a:rPr lang="en-US" altLang="en-US" i="1" dirty="0">
                <a:latin typeface="Arial" panose="020B0604020202020204" pitchFamily="34" charset="0"/>
                <a:ea typeface="ＭＳ Ｐゴシック" panose="020B0600070205080204" pitchFamily="34" charset="-128"/>
              </a:rPr>
              <a:t>W </a:t>
            </a:r>
            <a:r>
              <a:rPr lang="en-US" altLang="en-US" dirty="0">
                <a:latin typeface="Arial" panose="020B0604020202020204" pitchFamily="34" charset="0"/>
                <a:ea typeface="ＭＳ Ｐゴシック" panose="020B0600070205080204" pitchFamily="34" charset="-128"/>
              </a:rPr>
              <a:t>may have only </a:t>
            </a:r>
            <a:r>
              <a:rPr lang="en-US" altLang="en-US" i="1" dirty="0">
                <a:latin typeface="Arial" panose="020B0604020202020204" pitchFamily="34" charset="0"/>
                <a:ea typeface="ＭＳ Ｐゴシック" panose="020B0600070205080204" pitchFamily="34" charset="-128"/>
              </a:rPr>
              <a:t>n</a:t>
            </a:r>
            <a:r>
              <a:rPr lang="en-US" altLang="en-US" dirty="0">
                <a:latin typeface="Arial" panose="020B0604020202020204" pitchFamily="34" charset="0"/>
                <a:ea typeface="ＭＳ Ｐゴシック" panose="020B0600070205080204" pitchFamily="34" charset="-128"/>
              </a:rPr>
              <a:t>−2 </a:t>
            </a:r>
            <a:r>
              <a:rPr lang="en-US" altLang="en-US" i="1" dirty="0">
                <a:latin typeface="Arial" panose="020B0604020202020204" pitchFamily="34" charset="0"/>
                <a:ea typeface="ＭＳ Ｐゴシック" panose="020B0600070205080204" pitchFamily="34" charset="-128"/>
              </a:rPr>
              <a:t>f </a:t>
            </a:r>
            <a:r>
              <a:rPr lang="en-US" altLang="en-US" dirty="0">
                <a:latin typeface="Arial" panose="020B0604020202020204" pitchFamily="34" charset="0"/>
                <a:ea typeface="ＭＳ Ｐゴシック" panose="020B0600070205080204" pitchFamily="34" charset="-128"/>
              </a:rPr>
              <a:t>replicas in common. Additionally, it is possible that the </a:t>
            </a:r>
            <a:r>
              <a:rPr lang="en-US" altLang="en-US" i="1" dirty="0">
                <a:latin typeface="Arial" panose="020B0604020202020204" pitchFamily="34" charset="0"/>
                <a:ea typeface="ＭＳ Ｐゴシック" panose="020B0600070205080204" pitchFamily="34" charset="-128"/>
              </a:rPr>
              <a:t>f </a:t>
            </a:r>
            <a:r>
              <a:rPr lang="en-US" altLang="en-US" dirty="0">
                <a:latin typeface="Arial" panose="020B0604020202020204" pitchFamily="34" charset="0"/>
                <a:ea typeface="ＭＳ Ｐゴシック" panose="020B0600070205080204" pitchFamily="34" charset="-128"/>
              </a:rPr>
              <a:t>replicas that did not respond are not faulty and, therefore, </a:t>
            </a:r>
            <a:r>
              <a:rPr lang="en-US" altLang="en-US" i="1" dirty="0">
                <a:latin typeface="Arial" panose="020B0604020202020204" pitchFamily="34" charset="0"/>
                <a:ea typeface="ＭＳ Ｐゴシック" panose="020B0600070205080204" pitchFamily="34" charset="-128"/>
              </a:rPr>
              <a:t>f </a:t>
            </a:r>
            <a:r>
              <a:rPr lang="en-US" altLang="en-US" dirty="0">
                <a:latin typeface="Arial" panose="020B0604020202020204" pitchFamily="34" charset="0"/>
                <a:ea typeface="ＭＳ Ｐゴシック" panose="020B0600070205080204" pitchFamily="34" charset="-128"/>
              </a:rPr>
              <a:t>of those that responded might be faulty. As a result, the intersection between </a:t>
            </a:r>
            <a:r>
              <a:rPr lang="en-US" altLang="en-US" i="1" dirty="0">
                <a:latin typeface="Arial" panose="020B0604020202020204" pitchFamily="34" charset="0"/>
                <a:ea typeface="ＭＳ Ｐゴシック" panose="020B0600070205080204" pitchFamily="34" charset="-128"/>
              </a:rPr>
              <a:t>R </a:t>
            </a:r>
            <a:r>
              <a:rPr lang="en-US" altLang="en-US" dirty="0">
                <a:latin typeface="Arial" panose="020B0604020202020204" pitchFamily="34" charset="0"/>
                <a:ea typeface="ＭＳ Ｐゴシック" panose="020B0600070205080204" pitchFamily="34" charset="-128"/>
              </a:rPr>
              <a:t>and </a:t>
            </a:r>
            <a:r>
              <a:rPr lang="en-US" altLang="en-US" i="1" dirty="0">
                <a:latin typeface="Arial" panose="020B0604020202020204" pitchFamily="34" charset="0"/>
                <a:ea typeface="ＭＳ Ｐゴシック" panose="020B0600070205080204" pitchFamily="34" charset="-128"/>
              </a:rPr>
              <a:t>W </a:t>
            </a:r>
            <a:r>
              <a:rPr lang="en-US" altLang="en-US" dirty="0">
                <a:latin typeface="Arial" panose="020B0604020202020204" pitchFamily="34" charset="0"/>
                <a:ea typeface="ＭＳ Ｐゴシック" panose="020B0600070205080204" pitchFamily="34" charset="-128"/>
              </a:rPr>
              <a:t>may contain only </a:t>
            </a:r>
            <a:r>
              <a:rPr lang="en-US" altLang="en-US" i="1" dirty="0">
                <a:latin typeface="Arial" panose="020B0604020202020204" pitchFamily="34" charset="0"/>
                <a:ea typeface="ＭＳ Ｐゴシック" panose="020B0600070205080204" pitchFamily="34" charset="-128"/>
              </a:rPr>
              <a:t>n </a:t>
            </a:r>
            <a:r>
              <a:rPr lang="en-US" altLang="en-US" dirty="0">
                <a:latin typeface="Arial" panose="020B0604020202020204" pitchFamily="34" charset="0"/>
                <a:ea typeface="ＭＳ Ｐゴシック" panose="020B0600070205080204" pitchFamily="34" charset="-128"/>
              </a:rPr>
              <a:t>− 3 </a:t>
            </a:r>
            <a:r>
              <a:rPr lang="en-US" altLang="en-US" i="1" dirty="0">
                <a:latin typeface="Arial" panose="020B0604020202020204" pitchFamily="34" charset="0"/>
                <a:ea typeface="ＭＳ Ｐゴシック" panose="020B0600070205080204" pitchFamily="34" charset="-128"/>
              </a:rPr>
              <a:t>f </a:t>
            </a:r>
            <a:r>
              <a:rPr lang="en-US" altLang="en-US" dirty="0">
                <a:latin typeface="Arial" panose="020B0604020202020204" pitchFamily="34" charset="0"/>
                <a:ea typeface="ＭＳ Ｐゴシック" panose="020B0600070205080204" pitchFamily="34" charset="-128"/>
              </a:rPr>
              <a:t>nonfaulty replicas. It is impossible to ensure that the read returns the correct value unless </a:t>
            </a:r>
            <a:r>
              <a:rPr lang="en-US" altLang="en-US" i="1" dirty="0">
                <a:latin typeface="Arial" panose="020B0604020202020204" pitchFamily="34" charset="0"/>
                <a:ea typeface="ＭＳ Ｐゴシック" panose="020B0600070205080204" pitchFamily="34" charset="-128"/>
              </a:rPr>
              <a:t>R </a:t>
            </a:r>
            <a:r>
              <a:rPr lang="en-US" altLang="en-US" dirty="0">
                <a:latin typeface="Arial" panose="020B0604020202020204" pitchFamily="34" charset="0"/>
                <a:ea typeface="ＭＳ Ｐゴシック" panose="020B0600070205080204" pitchFamily="34" charset="-128"/>
              </a:rPr>
              <a:t>and </a:t>
            </a:r>
          </a:p>
          <a:p>
            <a:r>
              <a:rPr lang="en-US" altLang="en-US" i="1" dirty="0">
                <a:latin typeface="Arial" panose="020B0604020202020204" pitchFamily="34" charset="0"/>
                <a:ea typeface="ＭＳ Ｐゴシック" panose="020B0600070205080204" pitchFamily="34" charset="-128"/>
              </a:rPr>
              <a:t>W </a:t>
            </a:r>
            <a:r>
              <a:rPr lang="en-US" altLang="en-US" dirty="0">
                <a:latin typeface="Arial" panose="020B0604020202020204" pitchFamily="34" charset="0"/>
                <a:ea typeface="ＭＳ Ｐゴシック" panose="020B0600070205080204" pitchFamily="34" charset="-128"/>
              </a:rPr>
              <a:t>have at least one nonfaulty replica in common; therefore </a:t>
            </a:r>
            <a:r>
              <a:rPr lang="en-US" altLang="en-US" i="1" dirty="0">
                <a:latin typeface="Arial" panose="020B0604020202020204" pitchFamily="34" charset="0"/>
                <a:ea typeface="ＭＳ Ｐゴシック" panose="020B0600070205080204" pitchFamily="34" charset="-128"/>
              </a:rPr>
              <a:t>n </a:t>
            </a:r>
            <a:r>
              <a:rPr lang="en-US" altLang="en-US" dirty="0">
                <a:latin typeface="Arial" panose="020B0604020202020204" pitchFamily="34" charset="0"/>
                <a:ea typeface="ＭＳ Ｐゴシック" panose="020B0600070205080204" pitchFamily="34" charset="-128"/>
              </a:rPr>
              <a:t>&gt; 3 </a:t>
            </a:r>
            <a:r>
              <a:rPr lang="en-US" altLang="en-US" i="1" dirty="0">
                <a:latin typeface="Arial" panose="020B0604020202020204" pitchFamily="34" charset="0"/>
                <a:ea typeface="ＭＳ Ｐゴシック" panose="020B0600070205080204" pitchFamily="34" charset="-128"/>
              </a:rPr>
              <a:t>f </a:t>
            </a:r>
            <a:r>
              <a:rPr lang="en-US" altLang="en-US" dirty="0">
                <a:latin typeface="Arial" panose="020B0604020202020204" pitchFamily="34" charset="0"/>
                <a:ea typeface="ＭＳ Ｐゴシック" panose="020B0600070205080204" pitchFamily="34" charset="-128"/>
              </a:rPr>
              <a:t>.</a:t>
            </a:r>
            <a:br>
              <a:rPr lang="en-US" altLang="en-US" dirty="0">
                <a:latin typeface="Arial" panose="020B0604020202020204" pitchFamily="34" charset="0"/>
                <a:ea typeface="ＭＳ Ｐゴシック" panose="020B0600070205080204" pitchFamily="34" charset="-128"/>
              </a:rPr>
            </a:br>
            <a:endParaRPr lang="en-US" altLang="en-US"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5" name="Google Shape;170;p48:notes">
            <a:extLst>
              <a:ext uri="{FF2B5EF4-FFF2-40B4-BE49-F238E27FC236}">
                <a16:creationId xmlns:a16="http://schemas.microsoft.com/office/drawing/2014/main" id="{C8BD434F-DB38-A7C1-3465-A4713D123EB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and Raft are two well-known consensus algorithms used in distributed computing to ensure that a group of nodes or servers can agree on a consistent state or decision despite failures and network partitions. Both algorithms aim to solve the consensus problem, but they do so with different approaches and trade-offs. Here's an overview of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and Raft:</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1. **Introduction:**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is one of the earliest consensus algorithms, introduced by Leslie </a:t>
            </a:r>
            <a:r>
              <a:rPr lang="en-GB" altLang="en-US" dirty="0" err="1">
                <a:latin typeface="Arial" panose="020B0604020202020204" pitchFamily="34" charset="0"/>
                <a:ea typeface="ＭＳ Ｐゴシック" panose="020B0600070205080204" pitchFamily="34" charset="-128"/>
              </a:rPr>
              <a:t>Lamport</a:t>
            </a:r>
            <a:r>
              <a:rPr lang="en-GB" altLang="en-US" dirty="0">
                <a:latin typeface="Arial" panose="020B0604020202020204" pitchFamily="34" charset="0"/>
                <a:ea typeface="ＭＳ Ｐゴシック" panose="020B0600070205080204" pitchFamily="34" charset="-128"/>
              </a:rPr>
              <a:t> in 1989. It is known for its mathematical rigor and has been the basis for many distributed systems and databases.</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2. **Complexity:**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is often considered complex and can be challenging to understand and implement correctly. It's known for its various phases, including Phase 1 (Prepare), Phase 2 (Accept), and Phase 3 (Learn).</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3. **Scalability:** While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is a robust consensus algorithm, it can become complex to manage in larger clusters due to its message complexity and the need for multiple rounds of communication.</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4. **Liveness:**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guarantees safety, meaning it ensures that no conflicting decisions are made. However, it does not guarantee liveness, which means it may not always reach a decision if there are persistent failures or network partitions.</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**Raft:**</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1. **Introduction:** Raft is a newer consensus algorithm introduced by Diego </a:t>
            </a:r>
            <a:r>
              <a:rPr lang="en-GB" altLang="en-US" dirty="0" err="1">
                <a:latin typeface="Arial" panose="020B0604020202020204" pitchFamily="34" charset="0"/>
                <a:ea typeface="ＭＳ Ｐゴシック" panose="020B0600070205080204" pitchFamily="34" charset="-128"/>
              </a:rPr>
              <a:t>Ongaro</a:t>
            </a:r>
            <a:r>
              <a:rPr lang="en-GB" altLang="en-US" dirty="0">
                <a:latin typeface="Arial" panose="020B0604020202020204" pitchFamily="34" charset="0"/>
                <a:ea typeface="ＭＳ Ｐゴシック" panose="020B0600070205080204" pitchFamily="34" charset="-128"/>
              </a:rPr>
              <a:t> and John </a:t>
            </a:r>
            <a:r>
              <a:rPr lang="en-GB" altLang="en-US" dirty="0" err="1">
                <a:latin typeface="Arial" panose="020B0604020202020204" pitchFamily="34" charset="0"/>
                <a:ea typeface="ＭＳ Ｐゴシック" panose="020B0600070205080204" pitchFamily="34" charset="-128"/>
              </a:rPr>
              <a:t>Ousterhout</a:t>
            </a:r>
            <a:r>
              <a:rPr lang="en-GB" altLang="en-US" dirty="0">
                <a:latin typeface="Arial" panose="020B0604020202020204" pitchFamily="34" charset="0"/>
                <a:ea typeface="ＭＳ Ｐゴシック" panose="020B0600070205080204" pitchFamily="34" charset="-128"/>
              </a:rPr>
              <a:t> in 2013. It was designed to be more understandable and easier to implement compared to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2. **Simplicity:** Raft is praised for its simplicity and clarity. It uses a leader-follower approach, where one node (the leader) is responsible for coordinating the consensus process, making it easier to reason about.</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3. **Scalability:** Raft is considered more scalable and easier to manage in larger clusters compared to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Its leader-follower model simplifies communication.</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4. **Liveness:** Raft prioritizes liveness over safety. It ensures that the system continues to make progress (liveness) even if it means possibly making conflicting decisions under certain conditions. However, it still guarantees safety under normal conditions.</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**Comparison:**</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is often regarded as more complex and challenging to implement correctly, whereas Raft is designed for simplicity and ease of understanding.</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 Raft is generally considered more suitable for educational purposes and practical implementations in distributed systems, while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is more theoretical.</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has been widely used in real-world systems, while Raft gained popularity due to its simplicity and ease of adoption.</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In summary, both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and Raft are consensus algorithms that aim to solve the same problem but take different approaches. Raft is often preferred for its simplicity and understandability, making it a popular choice for building distributed systems, while </a:t>
            </a:r>
            <a:r>
              <a:rPr lang="en-GB" altLang="en-US" dirty="0" err="1">
                <a:latin typeface="Arial" panose="020B0604020202020204" pitchFamily="34" charset="0"/>
                <a:ea typeface="ＭＳ Ｐゴシック" panose="020B0600070205080204" pitchFamily="34" charset="-128"/>
              </a:rPr>
              <a:t>Paxos</a:t>
            </a:r>
            <a:r>
              <a:rPr lang="en-GB" altLang="en-US" dirty="0">
                <a:latin typeface="Arial" panose="020B0604020202020204" pitchFamily="34" charset="0"/>
                <a:ea typeface="ＭＳ Ｐゴシック" panose="020B0600070205080204" pitchFamily="34" charset="-128"/>
              </a:rPr>
              <a:t> has a longer history and has been used extensively in various applications. The choice between them depends on the specific requirements and complexity of the distributed system being designed.</a:t>
            </a:r>
            <a:endParaRPr lang="en-US" altLang="en-US" dirty="0">
              <a:latin typeface="Arial" panose="020B0604020202020204" pitchFamily="34" charset="0"/>
              <a:ea typeface="ＭＳ Ｐゴシック" panose="020B0600070205080204" pitchFamily="34" charset="-128"/>
            </a:endParaRPr>
          </a:p>
        </p:txBody>
      </p:sp>
      <p:sp>
        <p:nvSpPr>
          <p:cNvPr id="36866" name="Google Shape;171;p48:notes">
            <a:extLst>
              <a:ext uri="{FF2B5EF4-FFF2-40B4-BE49-F238E27FC236}">
                <a16:creationId xmlns:a16="http://schemas.microsoft.com/office/drawing/2014/main" id="{98625ACE-3145-0567-3402-39018A711897}"/>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9937" name="Google Shape;164;p47:notes">
            <a:extLst>
              <a:ext uri="{FF2B5EF4-FFF2-40B4-BE49-F238E27FC236}">
                <a16:creationId xmlns:a16="http://schemas.microsoft.com/office/drawing/2014/main" id="{2C7E1F62-8584-033E-5DC6-92666F9428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GB" altLang="en-US" dirty="0">
                <a:latin typeface="Arial" panose="020B0604020202020204" pitchFamily="34" charset="0"/>
                <a:ea typeface="ＭＳ Ｐゴシック" panose="020B0600070205080204" pitchFamily="34" charset="-128"/>
              </a:rPr>
              <a:t>The Fischer-Lynch-Paterson (FLP) impossibility result is a fundamental theorem in distributed computing that demonstrates the impossibility of achieving consensus in a distributed system when there is even a single faulty (Byzantine) node in an asynchronous network. This result was first proven by Fischer, Lynch, and Paterson in their 1985 paper titled "Impossibility of Distributed Consensus with One Faulty Process."</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Here's a simplified explanation of the FLP impossibility result:</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1. **Consensus Problem:** Consensus is a fundamental problem in distributed computing, where a group of nodes in a network must agree on a single value or decision among multiple proposed values. The goal is for all correct nodes to eventually reach the same decision.</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2. **Byzantine Faults:** In the FLP theorem, the focus is on Byzantine faults, which are the most challenging type of faults in distributed systems. A Byzantine node can behave arbitrarily, including sending incorrect or conflicting information to other nodes.</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3. **Asynchronous Network:** The FLP theorem assumes an asynchronous network, where there are no bounds on message delivery times, and nodes may experience arbitrary delays.</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The FLP theorem proves that, in an asynchronous network with at least one faulty (Byzantine) node, there is no deterministic algorithm that can guarantee consensus, regardless of the time taken for message delivery or the </a:t>
            </a:r>
            <a:r>
              <a:rPr lang="en-GB" altLang="en-US" dirty="0" err="1">
                <a:latin typeface="Arial" panose="020B0604020202020204" pitchFamily="34" charset="0"/>
                <a:ea typeface="ＭＳ Ｐゴシック" panose="020B0600070205080204" pitchFamily="34" charset="-128"/>
              </a:rPr>
              <a:t>behavior</a:t>
            </a:r>
            <a:r>
              <a:rPr lang="en-GB" altLang="en-US" dirty="0">
                <a:latin typeface="Arial" panose="020B0604020202020204" pitchFamily="34" charset="0"/>
                <a:ea typeface="ＭＳ Ｐゴシック" panose="020B0600070205080204" pitchFamily="34" charset="-128"/>
              </a:rPr>
              <a:t> of the nodes.</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In simpler terms, even with perfect communication and the ability to wait indefinitely for messages, it is impossible to ensure that all nodes agree on a common value if there is even one Byzantine node in the system.</a:t>
            </a:r>
          </a:p>
          <a:p>
            <a:pPr>
              <a:spcBef>
                <a:spcPct val="0"/>
              </a:spcBef>
            </a:pPr>
            <a:endParaRPr lang="en-GB" altLang="en-US" dirty="0">
              <a:latin typeface="Arial" panose="020B0604020202020204" pitchFamily="34" charset="0"/>
              <a:ea typeface="ＭＳ Ｐゴシック" panose="020B0600070205080204" pitchFamily="34" charset="-128"/>
            </a:endParaRPr>
          </a:p>
          <a:p>
            <a:pPr>
              <a:spcBef>
                <a:spcPct val="0"/>
              </a:spcBef>
            </a:pPr>
            <a:r>
              <a:rPr lang="en-GB" altLang="en-US" dirty="0">
                <a:latin typeface="Arial" panose="020B0604020202020204" pitchFamily="34" charset="0"/>
                <a:ea typeface="ＭＳ Ｐゴシック" panose="020B0600070205080204" pitchFamily="34" charset="-128"/>
              </a:rPr>
              <a:t>To work around this impossibility result, distributed systems often employ various strategies and heuristics, such as introducing redundancy, using probabilistic algorithms, or assuming bounds on message delays. These approaches can improve the practical likelihood of achieving consensus in the presence of faults, even though deterministic algorithms cannot provide a guarantee in the worst-case scenario described by the FLP theorem.</a:t>
            </a:r>
            <a:endParaRPr lang="en-US" altLang="en-US" dirty="0">
              <a:latin typeface="Arial" panose="020B0604020202020204" pitchFamily="34" charset="0"/>
              <a:ea typeface="ＭＳ Ｐゴシック" panose="020B0600070205080204" pitchFamily="34" charset="-128"/>
            </a:endParaRPr>
          </a:p>
        </p:txBody>
      </p:sp>
      <p:sp>
        <p:nvSpPr>
          <p:cNvPr id="39938" name="Google Shape;165;p47:notes">
            <a:extLst>
              <a:ext uri="{FF2B5EF4-FFF2-40B4-BE49-F238E27FC236}">
                <a16:creationId xmlns:a16="http://schemas.microsoft.com/office/drawing/2014/main" id="{05B847AA-9E3E-D4BA-64CB-FC97DB65C026}"/>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1985" name="Google Shape;182;p50:notes">
            <a:extLst>
              <a:ext uri="{FF2B5EF4-FFF2-40B4-BE49-F238E27FC236}">
                <a16:creationId xmlns:a16="http://schemas.microsoft.com/office/drawing/2014/main" id="{5C686363-4E08-6ADC-4749-01EC9E2B304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41986" name="Google Shape;183;p50:notes">
            <a:extLst>
              <a:ext uri="{FF2B5EF4-FFF2-40B4-BE49-F238E27FC236}">
                <a16:creationId xmlns:a16="http://schemas.microsoft.com/office/drawing/2014/main" id="{FA6952D0-13E1-A0EE-F902-2E72DB7FBD04}"/>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033" name="Google Shape;188;p51:notes">
            <a:extLst>
              <a:ext uri="{FF2B5EF4-FFF2-40B4-BE49-F238E27FC236}">
                <a16:creationId xmlns:a16="http://schemas.microsoft.com/office/drawing/2014/main" id="{0DDC6F3B-6ADE-B6EB-ACB7-DBF05E7CE9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44034" name="Google Shape;189;p51:notes">
            <a:extLst>
              <a:ext uri="{FF2B5EF4-FFF2-40B4-BE49-F238E27FC236}">
                <a16:creationId xmlns:a16="http://schemas.microsoft.com/office/drawing/2014/main" id="{77E592BC-C2A1-B206-F1A4-9A541CD88C64}"/>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6081" name="Google Shape;188;p51:notes">
            <a:extLst>
              <a:ext uri="{FF2B5EF4-FFF2-40B4-BE49-F238E27FC236}">
                <a16:creationId xmlns:a16="http://schemas.microsoft.com/office/drawing/2014/main" id="{99374821-FDA0-85F0-C5E5-60A6992920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46082" name="Google Shape;189;p51:notes">
            <a:extLst>
              <a:ext uri="{FF2B5EF4-FFF2-40B4-BE49-F238E27FC236}">
                <a16:creationId xmlns:a16="http://schemas.microsoft.com/office/drawing/2014/main" id="{7F3EC1A8-34E8-505D-9E50-BCBC579D21A8}"/>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9153" name="Google Shape;223;p59:notes">
            <a:extLst>
              <a:ext uri="{FF2B5EF4-FFF2-40B4-BE49-F238E27FC236}">
                <a16:creationId xmlns:a16="http://schemas.microsoft.com/office/drawing/2014/main" id="{9D998121-D714-54F9-91E3-EE42F0232BBA}"/>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49154" name="Google Shape;224;p59:notes">
            <a:extLst>
              <a:ext uri="{FF2B5EF4-FFF2-40B4-BE49-F238E27FC236}">
                <a16:creationId xmlns:a16="http://schemas.microsoft.com/office/drawing/2014/main" id="{161EB53E-C21F-9B99-6FE8-CA505992568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sz="110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49155" name="Google Shape;225;p59:notes">
            <a:extLst>
              <a:ext uri="{FF2B5EF4-FFF2-40B4-BE49-F238E27FC236}">
                <a16:creationId xmlns:a16="http://schemas.microsoft.com/office/drawing/2014/main" id="{D250F91D-FCD5-8BEC-7946-A9AA59FD74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nchor="t"/>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lgn="l">
              <a:spcBef>
                <a:spcPct val="0"/>
              </a:spcBef>
              <a:buClr>
                <a:srgbClr val="000000"/>
              </a:buClr>
            </a:pPr>
            <a:fld id="{0AF1B2EC-DCCE-4850-9BCA-9F81CCA9E264}" type="slidenum">
              <a:rPr lang="fr-FR" altLang="en-US" sz="1400">
                <a:solidFill>
                  <a:srgbClr val="000000"/>
                </a:solidFill>
                <a:cs typeface="Arial" panose="020B0604020202020204" pitchFamily="34" charset="0"/>
                <a:sym typeface="Arial" panose="020B0604020202020204" pitchFamily="34" charset="0"/>
              </a:rPr>
              <a:pPr algn="l">
                <a:spcBef>
                  <a:spcPct val="0"/>
                </a:spcBef>
                <a:buClr>
                  <a:srgbClr val="000000"/>
                </a:buClr>
              </a:pPr>
              <a:t>21</a:t>
            </a:fld>
            <a:endParaRPr lang="fr-FR" altLang="en-US" sz="1400">
              <a:solidFill>
                <a:srgbClr val="000000"/>
              </a:solidFill>
              <a:cs typeface="Arial" panose="020B0604020202020204" pitchFamily="34" charset="0"/>
              <a:sym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2225" name="Google Shape;348;p67:notes">
            <a:extLst>
              <a:ext uri="{FF2B5EF4-FFF2-40B4-BE49-F238E27FC236}">
                <a16:creationId xmlns:a16="http://schemas.microsoft.com/office/drawing/2014/main" id="{D7AE8E88-08A7-304A-AEC2-C71039BC6F2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52226" name="Google Shape;349;p67:notes">
            <a:extLst>
              <a:ext uri="{FF2B5EF4-FFF2-40B4-BE49-F238E27FC236}">
                <a16:creationId xmlns:a16="http://schemas.microsoft.com/office/drawing/2014/main" id="{41579B60-6B23-C648-8502-A1E062203D68}"/>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3" name="Google Shape;360;p68:notes">
            <a:extLst>
              <a:ext uri="{FF2B5EF4-FFF2-40B4-BE49-F238E27FC236}">
                <a16:creationId xmlns:a16="http://schemas.microsoft.com/office/drawing/2014/main" id="{A41E7661-6DD2-E155-D903-CADF74B2639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54274" name="Google Shape;361;p68:notes">
            <a:extLst>
              <a:ext uri="{FF2B5EF4-FFF2-40B4-BE49-F238E27FC236}">
                <a16:creationId xmlns:a16="http://schemas.microsoft.com/office/drawing/2014/main" id="{EF605A36-E76F-F4E4-CE7D-FFA374D64489}"/>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6321" name="Google Shape;366;p69:notes">
            <a:extLst>
              <a:ext uri="{FF2B5EF4-FFF2-40B4-BE49-F238E27FC236}">
                <a16:creationId xmlns:a16="http://schemas.microsoft.com/office/drawing/2014/main" id="{F8DB2275-675E-1F3D-2658-E507BA2AA4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56322" name="Google Shape;367;p69:notes">
            <a:extLst>
              <a:ext uri="{FF2B5EF4-FFF2-40B4-BE49-F238E27FC236}">
                <a16:creationId xmlns:a16="http://schemas.microsoft.com/office/drawing/2014/main" id="{EEE3D91A-5154-22F8-62BC-8C10655994B7}"/>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8369" name="Google Shape;381;p70:notes">
            <a:extLst>
              <a:ext uri="{FF2B5EF4-FFF2-40B4-BE49-F238E27FC236}">
                <a16:creationId xmlns:a16="http://schemas.microsoft.com/office/drawing/2014/main" id="{48D2B567-AADE-A7BC-EE02-510E0C446A1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58370" name="Google Shape;382;p70:notes">
            <a:extLst>
              <a:ext uri="{FF2B5EF4-FFF2-40B4-BE49-F238E27FC236}">
                <a16:creationId xmlns:a16="http://schemas.microsoft.com/office/drawing/2014/main" id="{C4172493-0887-FD65-3ED8-9CDAA1180D8C}"/>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41" name="Google Shape;393;p72:notes">
            <a:extLst>
              <a:ext uri="{FF2B5EF4-FFF2-40B4-BE49-F238E27FC236}">
                <a16:creationId xmlns:a16="http://schemas.microsoft.com/office/drawing/2014/main" id="{5796FEF6-E7B1-6E65-1B01-7D61812E63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61442" name="Google Shape;394;p72:notes">
            <a:extLst>
              <a:ext uri="{FF2B5EF4-FFF2-40B4-BE49-F238E27FC236}">
                <a16:creationId xmlns:a16="http://schemas.microsoft.com/office/drawing/2014/main" id="{64934C0E-A72E-4CDC-C287-B976EF049D18}"/>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3489" name="Google Shape;399;p73:notes">
            <a:extLst>
              <a:ext uri="{FF2B5EF4-FFF2-40B4-BE49-F238E27FC236}">
                <a16:creationId xmlns:a16="http://schemas.microsoft.com/office/drawing/2014/main" id="{7172B4E4-8C52-13D8-0599-6A285C7B6E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63490" name="Google Shape;400;p73:notes">
            <a:extLst>
              <a:ext uri="{FF2B5EF4-FFF2-40B4-BE49-F238E27FC236}">
                <a16:creationId xmlns:a16="http://schemas.microsoft.com/office/drawing/2014/main" id="{C47C258A-9CCF-903A-14B2-649BC72E88B5}"/>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5537" name="Google Shape;405;p74:notes">
            <a:extLst>
              <a:ext uri="{FF2B5EF4-FFF2-40B4-BE49-F238E27FC236}">
                <a16:creationId xmlns:a16="http://schemas.microsoft.com/office/drawing/2014/main" id="{CE57CE79-CAE9-63B5-622F-6EEC134700A2}"/>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65538" name="Google Shape;406;p74:notes">
            <a:extLst>
              <a:ext uri="{FF2B5EF4-FFF2-40B4-BE49-F238E27FC236}">
                <a16:creationId xmlns:a16="http://schemas.microsoft.com/office/drawing/2014/main" id="{82AE08D4-64BA-56E3-CBA5-6C07534D2E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rPr>
              <a:t>If Alice has 100x more computing power than Bob it doesn</a:t>
            </a:r>
            <a:r>
              <a:rPr lang="en-US" altLang="fr-FR"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rPr>
              <a:t>’</a:t>
            </a:r>
            <a:r>
              <a:rPr lang="en-US"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rPr>
              <a:t>t mean she always wins the race. It means she has about a 99% chance of wining. In the long run Bob will create 1% of the blocks</a:t>
            </a:r>
            <a:endParaRPr lang="fr-FR"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7585" name="Google Shape;424;p76:notes">
            <a:extLst>
              <a:ext uri="{FF2B5EF4-FFF2-40B4-BE49-F238E27FC236}">
                <a16:creationId xmlns:a16="http://schemas.microsoft.com/office/drawing/2014/main" id="{9E5C991F-6E7E-5369-E5B0-2C37F6519F9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67586" name="Google Shape;425;p76:notes">
            <a:extLst>
              <a:ext uri="{FF2B5EF4-FFF2-40B4-BE49-F238E27FC236}">
                <a16:creationId xmlns:a16="http://schemas.microsoft.com/office/drawing/2014/main" id="{F068E19D-DF14-BEA5-5721-E8F74D6DB10B}"/>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9633" name="Google Shape;430;p77:notes">
            <a:extLst>
              <a:ext uri="{FF2B5EF4-FFF2-40B4-BE49-F238E27FC236}">
                <a16:creationId xmlns:a16="http://schemas.microsoft.com/office/drawing/2014/main" id="{566C60C5-2952-B754-E30C-4F33C1BFEE20}"/>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69634" name="Google Shape;431;p77:notes">
            <a:extLst>
              <a:ext uri="{FF2B5EF4-FFF2-40B4-BE49-F238E27FC236}">
                <a16:creationId xmlns:a16="http://schemas.microsoft.com/office/drawing/2014/main" id="{5BE59B8A-A9A7-2E65-9B51-C4015CFAF44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rPr>
              <a:t>what happens if time b/w blocks is too low or too high. 2016</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681" name="Google Shape;455;p81:notes">
            <a:extLst>
              <a:ext uri="{FF2B5EF4-FFF2-40B4-BE49-F238E27FC236}">
                <a16:creationId xmlns:a16="http://schemas.microsoft.com/office/drawing/2014/main" id="{34BDA118-5702-1750-2459-3F41AE77874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GB" altLang="en-US" dirty="0">
                <a:latin typeface="Arial" panose="020B0604020202020204" pitchFamily="34" charset="0"/>
                <a:ea typeface="ＭＳ Ｐゴシック" panose="020B0600070205080204" pitchFamily="34" charset="-128"/>
              </a:rPr>
              <a:t>This is quite an important property, because, once again, it allows us to get rid of centralization. We don’t need any centralized authority verifying that miners are doing their job correctly. Any node or any miner can instantly verify that a block found by another miner satisfies this proof-of-work property.</a:t>
            </a:r>
            <a:endParaRPr lang="en-US" altLang="en-US" dirty="0">
              <a:latin typeface="Arial" panose="020B0604020202020204" pitchFamily="34" charset="0"/>
              <a:ea typeface="ＭＳ Ｐゴシック" panose="020B0600070205080204" pitchFamily="34" charset="-128"/>
            </a:endParaRPr>
          </a:p>
        </p:txBody>
      </p:sp>
      <p:sp>
        <p:nvSpPr>
          <p:cNvPr id="71682" name="Google Shape;456;p81:notes">
            <a:extLst>
              <a:ext uri="{FF2B5EF4-FFF2-40B4-BE49-F238E27FC236}">
                <a16:creationId xmlns:a16="http://schemas.microsoft.com/office/drawing/2014/main" id="{A98068DB-904B-5AB3-2614-B9F80B7EBF2E}"/>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4753" name="Google Shape;437;p79:notes">
            <a:extLst>
              <a:ext uri="{FF2B5EF4-FFF2-40B4-BE49-F238E27FC236}">
                <a16:creationId xmlns:a16="http://schemas.microsoft.com/office/drawing/2014/main" id="{97B8C488-EC6B-CDEE-847C-CB468D1ADC3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74754" name="Google Shape;438;p79:notes">
            <a:extLst>
              <a:ext uri="{FF2B5EF4-FFF2-40B4-BE49-F238E27FC236}">
                <a16:creationId xmlns:a16="http://schemas.microsoft.com/office/drawing/2014/main" id="{C38A2CDA-27AE-318C-B366-53319F559EA9}"/>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6801" name="Google Shape;288;p63:notes">
            <a:extLst>
              <a:ext uri="{FF2B5EF4-FFF2-40B4-BE49-F238E27FC236}">
                <a16:creationId xmlns:a16="http://schemas.microsoft.com/office/drawing/2014/main" id="{D9E89A92-91BF-9392-C419-E23159A7F09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76802" name="Google Shape;289;p63:notes">
            <a:extLst>
              <a:ext uri="{FF2B5EF4-FFF2-40B4-BE49-F238E27FC236}">
                <a16:creationId xmlns:a16="http://schemas.microsoft.com/office/drawing/2014/main" id="{C88F6B55-76B7-A948-20B3-41BDE28D5769}"/>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8849" name="Google Shape;501;p89:notes">
            <a:extLst>
              <a:ext uri="{FF2B5EF4-FFF2-40B4-BE49-F238E27FC236}">
                <a16:creationId xmlns:a16="http://schemas.microsoft.com/office/drawing/2014/main" id="{0AC27A21-A54D-7E52-FE23-02A27B4E567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
        <p:nvSpPr>
          <p:cNvPr id="78850" name="Google Shape;502;p89:notes">
            <a:extLst>
              <a:ext uri="{FF2B5EF4-FFF2-40B4-BE49-F238E27FC236}">
                <a16:creationId xmlns:a16="http://schemas.microsoft.com/office/drawing/2014/main" id="{A446C71E-B302-51E8-AF56-AA1AA6C13F9B}"/>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897" name="Google Shape;215;g3ca962e7e5_0_5:notes">
            <a:extLst>
              <a:ext uri="{FF2B5EF4-FFF2-40B4-BE49-F238E27FC236}">
                <a16:creationId xmlns:a16="http://schemas.microsoft.com/office/drawing/2014/main" id="{5F05065D-53E4-B02B-50BE-A67CC4C1B5F1}"/>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80898" name="Google Shape;216;g3ca962e7e5_0_5:notes">
            <a:extLst>
              <a:ext uri="{FF2B5EF4-FFF2-40B4-BE49-F238E27FC236}">
                <a16:creationId xmlns:a16="http://schemas.microsoft.com/office/drawing/2014/main" id="{155164EE-348F-2178-CEBF-5D68B238225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a:latin typeface="Arial" panose="020B0604020202020204" pitchFamily="34" charset="0"/>
                <a:ea typeface="ＭＳ Ｐゴシック" panose="020B0600070205080204" pitchFamily="34" charset="-128"/>
              </a:rPr>
              <a:t>Notes on public transactions: This refers to basic implementations of proof of work. There are other ways to obfuscate transaction parties and amounts present in many </a:t>
            </a:r>
            <a:r>
              <a:rPr lang="en-US" altLang="fr-FR">
                <a:latin typeface="Arial" panose="020B0604020202020204" pitchFamily="34" charset="0"/>
                <a:ea typeface="ＭＳ Ｐゴシック" panose="020B0600070205080204" pitchFamily="34" charset="-128"/>
              </a:rPr>
              <a:t>‘</a:t>
            </a:r>
            <a:r>
              <a:rPr lang="en-US" altLang="en-US">
                <a:latin typeface="Arial" panose="020B0604020202020204" pitchFamily="34" charset="0"/>
                <a:ea typeface="ＭＳ Ｐゴシック" panose="020B0600070205080204" pitchFamily="34" charset="-128"/>
              </a:rPr>
              <a:t>privacy currencies</a:t>
            </a:r>
            <a:r>
              <a:rPr lang="en-US" altLang="fr-FR">
                <a:latin typeface="Arial" panose="020B0604020202020204" pitchFamily="34" charset="0"/>
                <a:ea typeface="ＭＳ Ｐゴシック" panose="020B0600070205080204" pitchFamily="34" charset="-128"/>
              </a:rPr>
              <a:t>’</a:t>
            </a:r>
            <a:r>
              <a:rPr lang="en-US" altLang="en-US">
                <a:latin typeface="Arial" panose="020B0604020202020204" pitchFamily="34" charset="0"/>
                <a:ea typeface="ＭＳ Ｐゴシック" panose="020B0600070205080204" pitchFamily="34" charset="-128"/>
              </a:rPr>
              <a:t> today. See ZKsnarks (Zcash), Ring signatures and confidential transactions (Monero and dash), among others.</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See for basic overview: </a:t>
            </a:r>
            <a:r>
              <a:rPr lang="en-US" altLang="en-US" u="sng">
                <a:solidFill>
                  <a:schemeClr val="hlink"/>
                </a:solidFill>
                <a:latin typeface="Arial" panose="020B0604020202020204" pitchFamily="34" charset="0"/>
                <a:ea typeface="ＭＳ Ｐゴシック" panose="020B0600070205080204" pitchFamily="34" charset="-128"/>
                <a:hlinkClick r:id="rId3"/>
              </a:rPr>
              <a:t>https://steemit.com/money/@thecryptodrive/a-lesson-in-anonymity-bitcoin-dash-monero-and-zcash</a:t>
            </a:r>
            <a:endParaRPr lang="fr-FR" altLang="en-US">
              <a:latin typeface="Arial" panose="020B0604020202020204" pitchFamily="34" charset="0"/>
              <a:ea typeface="ＭＳ Ｐゴシック" panose="020B0600070205080204" pitchFamily="34" charset="-128"/>
            </a:endParaRPr>
          </a:p>
          <a:p>
            <a:pPr>
              <a:spcBef>
                <a:spcPct val="0"/>
              </a:spcBef>
            </a:pPr>
            <a:r>
              <a:rPr lang="en-US" altLang="en-US">
                <a:latin typeface="Arial" panose="020B0604020202020204" pitchFamily="34" charset="0"/>
                <a:ea typeface="ＭＳ Ｐゴシック" panose="020B0600070205080204" pitchFamily="34" charset="-128"/>
              </a:rPr>
              <a:t> </a:t>
            </a:r>
            <a:endParaRPr lang="fr-FR"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2945" name="Google Shape;221;g3ca962e7e5_0_20:notes">
            <a:extLst>
              <a:ext uri="{FF2B5EF4-FFF2-40B4-BE49-F238E27FC236}">
                <a16:creationId xmlns:a16="http://schemas.microsoft.com/office/drawing/2014/main" id="{A325EF15-0ECB-9EEF-2C5E-DC3B28578672}"/>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82946" name="Google Shape;222;g3ca962e7e5_0_20:notes">
            <a:extLst>
              <a:ext uri="{FF2B5EF4-FFF2-40B4-BE49-F238E27FC236}">
                <a16:creationId xmlns:a16="http://schemas.microsoft.com/office/drawing/2014/main" id="{56ED8141-C147-021A-C09F-6F12953A9C0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4993" name="Google Shape;221;g3ca962e7e5_0_20:notes">
            <a:extLst>
              <a:ext uri="{FF2B5EF4-FFF2-40B4-BE49-F238E27FC236}">
                <a16:creationId xmlns:a16="http://schemas.microsoft.com/office/drawing/2014/main" id="{4A6CB10B-8EF2-737A-A94F-ABAA17686D7C}"/>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84994" name="Google Shape;222;g3ca962e7e5_0_20:notes">
            <a:extLst>
              <a:ext uri="{FF2B5EF4-FFF2-40B4-BE49-F238E27FC236}">
                <a16:creationId xmlns:a16="http://schemas.microsoft.com/office/drawing/2014/main" id="{2D54BC73-B3E4-9F40-ABC3-76CEEC2CD1B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7041" name="Google Shape;229;g3ca962e7e5_0_0:notes">
            <a:extLst>
              <a:ext uri="{FF2B5EF4-FFF2-40B4-BE49-F238E27FC236}">
                <a16:creationId xmlns:a16="http://schemas.microsoft.com/office/drawing/2014/main" id="{9D070E9B-27BF-D92F-8D0E-E59BEB3FC6B0}"/>
              </a:ext>
            </a:extLst>
          </p:cNvPr>
          <p:cNvSpPr>
            <a:spLocks noGrp="1" noRot="1" noChangeAspect="1" noTextEdit="1"/>
          </p:cNvSpPr>
          <p:nvPr>
            <p:ph type="sldImg" idx="2"/>
          </p:nvPr>
        </p:nvSpPr>
        <p:spPr>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87042" name="Google Shape;230;g3ca962e7e5_0_0:notes">
            <a:extLst>
              <a:ext uri="{FF2B5EF4-FFF2-40B4-BE49-F238E27FC236}">
                <a16:creationId xmlns:a16="http://schemas.microsoft.com/office/drawing/2014/main" id="{C94CD25C-A21B-1DF0-28EA-D9FE2A96999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sz="4000">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4">
            <a:extLst>
              <a:ext uri="{FF2B5EF4-FFF2-40B4-BE49-F238E27FC236}">
                <a16:creationId xmlns:a16="http://schemas.microsoft.com/office/drawing/2014/main" id="{D69DBA5D-7BFE-0E21-7963-00A4D22EA2F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41D43D7-1090-0E16-C161-6771ED8A2A9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063EDC1-9A3A-79EA-E0FC-675DC6147CB3}"/>
              </a:ext>
            </a:extLst>
          </p:cNvPr>
          <p:cNvSpPr>
            <a:spLocks noGrp="1" noChangeArrowheads="1"/>
          </p:cNvSpPr>
          <p:nvPr>
            <p:ph type="sldNum" sz="quarter" idx="12"/>
          </p:nvPr>
        </p:nvSpPr>
        <p:spPr>
          <a:ln/>
        </p:spPr>
        <p:txBody>
          <a:bodyPr/>
          <a:lstStyle>
            <a:lvl1pPr>
              <a:defRPr/>
            </a:lvl1pPr>
          </a:lstStyle>
          <a:p>
            <a:fld id="{93DC732A-52BE-4111-9717-EBEF0B7F13D0}" type="slidenum">
              <a:rPr lang="en-US" altLang="en-US"/>
              <a:pPr/>
              <a:t>‹#›</a:t>
            </a:fld>
            <a:endParaRPr lang="en-US" altLang="en-US"/>
          </a:p>
        </p:txBody>
      </p:sp>
    </p:spTree>
    <p:extLst>
      <p:ext uri="{BB962C8B-B14F-4D97-AF65-F5344CB8AC3E}">
        <p14:creationId xmlns:p14="http://schemas.microsoft.com/office/powerpoint/2010/main" val="621422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629FD672-BFED-30D6-516E-1E463D1CD55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9F8A28E-D278-29B3-E021-8933840B027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7DFBD76-E641-7DD6-FD13-FE91BE728AD9}"/>
              </a:ext>
            </a:extLst>
          </p:cNvPr>
          <p:cNvSpPr>
            <a:spLocks noGrp="1" noChangeArrowheads="1"/>
          </p:cNvSpPr>
          <p:nvPr>
            <p:ph type="sldNum" sz="quarter" idx="12"/>
          </p:nvPr>
        </p:nvSpPr>
        <p:spPr>
          <a:ln/>
        </p:spPr>
        <p:txBody>
          <a:bodyPr/>
          <a:lstStyle>
            <a:lvl1pPr>
              <a:defRPr/>
            </a:lvl1pPr>
          </a:lstStyle>
          <a:p>
            <a:fld id="{54AFB715-9BAA-466F-BD26-510BF652CDA2}" type="slidenum">
              <a:rPr lang="en-US" altLang="en-US"/>
              <a:pPr/>
              <a:t>‹#›</a:t>
            </a:fld>
            <a:endParaRPr lang="en-US" altLang="en-US"/>
          </a:p>
        </p:txBody>
      </p:sp>
    </p:spTree>
    <p:extLst>
      <p:ext uri="{BB962C8B-B14F-4D97-AF65-F5344CB8AC3E}">
        <p14:creationId xmlns:p14="http://schemas.microsoft.com/office/powerpoint/2010/main" val="3976026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4">
            <a:extLst>
              <a:ext uri="{FF2B5EF4-FFF2-40B4-BE49-F238E27FC236}">
                <a16:creationId xmlns:a16="http://schemas.microsoft.com/office/drawing/2014/main" id="{3BEFC2A7-2973-1324-3B6D-D7245C6FC46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43F655F-82AA-7C48-DF5A-57543072D96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47D6C90-83CF-D1F0-95DC-C6534D9C5DDC}"/>
              </a:ext>
            </a:extLst>
          </p:cNvPr>
          <p:cNvSpPr>
            <a:spLocks noGrp="1" noChangeArrowheads="1"/>
          </p:cNvSpPr>
          <p:nvPr>
            <p:ph type="sldNum" sz="quarter" idx="12"/>
          </p:nvPr>
        </p:nvSpPr>
        <p:spPr>
          <a:ln/>
        </p:spPr>
        <p:txBody>
          <a:bodyPr/>
          <a:lstStyle>
            <a:lvl1pPr>
              <a:defRPr/>
            </a:lvl1pPr>
          </a:lstStyle>
          <a:p>
            <a:fld id="{279745F1-9B08-4388-BAE4-DE7E429C2972}" type="slidenum">
              <a:rPr lang="en-US" altLang="en-US"/>
              <a:pPr/>
              <a:t>‹#›</a:t>
            </a:fld>
            <a:endParaRPr lang="en-US" altLang="en-US"/>
          </a:p>
        </p:txBody>
      </p:sp>
    </p:spTree>
    <p:extLst>
      <p:ext uri="{BB962C8B-B14F-4D97-AF65-F5344CB8AC3E}">
        <p14:creationId xmlns:p14="http://schemas.microsoft.com/office/powerpoint/2010/main" val="2534179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a:extLst>
              <a:ext uri="{FF2B5EF4-FFF2-40B4-BE49-F238E27FC236}">
                <a16:creationId xmlns:a16="http://schemas.microsoft.com/office/drawing/2014/main" id="{7706C2F8-2932-1AB6-5465-3727D7471AF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9008C4D-9D4B-7236-697A-90C1C1A188C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A1BE586-6C5C-B7C1-2008-BA7EDFB0B6EE}"/>
              </a:ext>
            </a:extLst>
          </p:cNvPr>
          <p:cNvSpPr>
            <a:spLocks noGrp="1" noChangeArrowheads="1"/>
          </p:cNvSpPr>
          <p:nvPr>
            <p:ph type="sldNum" sz="quarter" idx="12"/>
          </p:nvPr>
        </p:nvSpPr>
        <p:spPr>
          <a:ln/>
        </p:spPr>
        <p:txBody>
          <a:bodyPr/>
          <a:lstStyle>
            <a:lvl1pPr>
              <a:defRPr/>
            </a:lvl1pPr>
          </a:lstStyle>
          <a:p>
            <a:fld id="{DD60E590-69CE-439D-B77F-89C34DE32B42}" type="slidenum">
              <a:rPr lang="en-US" altLang="en-US"/>
              <a:pPr/>
              <a:t>‹#›</a:t>
            </a:fld>
            <a:endParaRPr lang="en-US" altLang="en-US"/>
          </a:p>
        </p:txBody>
      </p:sp>
    </p:spTree>
    <p:extLst>
      <p:ext uri="{BB962C8B-B14F-4D97-AF65-F5344CB8AC3E}">
        <p14:creationId xmlns:p14="http://schemas.microsoft.com/office/powerpoint/2010/main" val="3895963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4">
            <a:extLst>
              <a:ext uri="{FF2B5EF4-FFF2-40B4-BE49-F238E27FC236}">
                <a16:creationId xmlns:a16="http://schemas.microsoft.com/office/drawing/2014/main" id="{B6797A38-5895-54BC-B443-B2589BF18AA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62AC8513-673E-2036-42D2-119E4B9094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24B883DD-B68C-F029-1539-9B0032A213B9}"/>
              </a:ext>
            </a:extLst>
          </p:cNvPr>
          <p:cNvSpPr>
            <a:spLocks noGrp="1" noChangeArrowheads="1"/>
          </p:cNvSpPr>
          <p:nvPr>
            <p:ph type="sldNum" sz="quarter" idx="12"/>
          </p:nvPr>
        </p:nvSpPr>
        <p:spPr>
          <a:ln/>
        </p:spPr>
        <p:txBody>
          <a:bodyPr/>
          <a:lstStyle>
            <a:lvl1pPr>
              <a:defRPr/>
            </a:lvl1pPr>
          </a:lstStyle>
          <a:p>
            <a:fld id="{728C6580-1F32-4F24-8B1D-5DFE4D7149CC}" type="slidenum">
              <a:rPr lang="en-US" altLang="en-US"/>
              <a:pPr/>
              <a:t>‹#›</a:t>
            </a:fld>
            <a:endParaRPr lang="en-US" altLang="en-US"/>
          </a:p>
        </p:txBody>
      </p:sp>
    </p:spTree>
    <p:extLst>
      <p:ext uri="{BB962C8B-B14F-4D97-AF65-F5344CB8AC3E}">
        <p14:creationId xmlns:p14="http://schemas.microsoft.com/office/powerpoint/2010/main" val="2856834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Rectangle 4">
            <a:extLst>
              <a:ext uri="{FF2B5EF4-FFF2-40B4-BE49-F238E27FC236}">
                <a16:creationId xmlns:a16="http://schemas.microsoft.com/office/drawing/2014/main" id="{A4557763-B83D-AFE0-BB70-3DB9EC820FC6}"/>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085DE0EA-D962-FD07-0F12-28EC8762CE9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E37556D6-D3C9-E656-66D8-EE660F6C27A8}"/>
              </a:ext>
            </a:extLst>
          </p:cNvPr>
          <p:cNvSpPr>
            <a:spLocks noGrp="1" noChangeArrowheads="1"/>
          </p:cNvSpPr>
          <p:nvPr>
            <p:ph type="sldNum" sz="quarter" idx="12"/>
          </p:nvPr>
        </p:nvSpPr>
        <p:spPr>
          <a:ln/>
        </p:spPr>
        <p:txBody>
          <a:bodyPr/>
          <a:lstStyle>
            <a:lvl1pPr>
              <a:defRPr/>
            </a:lvl1pPr>
          </a:lstStyle>
          <a:p>
            <a:fld id="{418DEF18-0360-46CF-A674-1B80A886435E}" type="slidenum">
              <a:rPr lang="en-US" altLang="en-US"/>
              <a:pPr/>
              <a:t>‹#›</a:t>
            </a:fld>
            <a:endParaRPr lang="en-US" altLang="en-US"/>
          </a:p>
        </p:txBody>
      </p:sp>
    </p:spTree>
    <p:extLst>
      <p:ext uri="{BB962C8B-B14F-4D97-AF65-F5344CB8AC3E}">
        <p14:creationId xmlns:p14="http://schemas.microsoft.com/office/powerpoint/2010/main" val="1500795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220C4BB-AB7C-A001-0C5B-3B978A139B19}"/>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4AC54C2F-37FA-BC56-FD17-8E11C742E3E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B78D9DC-AFE4-EB10-C004-5E98697C576F}"/>
              </a:ext>
            </a:extLst>
          </p:cNvPr>
          <p:cNvSpPr>
            <a:spLocks noGrp="1" noChangeArrowheads="1"/>
          </p:cNvSpPr>
          <p:nvPr>
            <p:ph type="sldNum" sz="quarter" idx="12"/>
          </p:nvPr>
        </p:nvSpPr>
        <p:spPr>
          <a:ln/>
        </p:spPr>
        <p:txBody>
          <a:bodyPr/>
          <a:lstStyle>
            <a:lvl1pPr>
              <a:defRPr/>
            </a:lvl1pPr>
          </a:lstStyle>
          <a:p>
            <a:fld id="{9E1600FF-0A06-47D0-B670-F57E229AAC77}" type="slidenum">
              <a:rPr lang="en-US" altLang="en-US"/>
              <a:pPr/>
              <a:t>‹#›</a:t>
            </a:fld>
            <a:endParaRPr lang="en-US" altLang="en-US"/>
          </a:p>
        </p:txBody>
      </p:sp>
    </p:spTree>
    <p:extLst>
      <p:ext uri="{BB962C8B-B14F-4D97-AF65-F5344CB8AC3E}">
        <p14:creationId xmlns:p14="http://schemas.microsoft.com/office/powerpoint/2010/main" val="3530574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77BDB580-0FBF-A05C-953A-1E2B29EA4B7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1F4EE9F-68F7-CB7F-2CD8-6820A055BE9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C59747E-7A00-E3C8-AEAB-AD709D510A88}"/>
              </a:ext>
            </a:extLst>
          </p:cNvPr>
          <p:cNvSpPr>
            <a:spLocks noGrp="1" noChangeArrowheads="1"/>
          </p:cNvSpPr>
          <p:nvPr>
            <p:ph type="sldNum" sz="quarter" idx="12"/>
          </p:nvPr>
        </p:nvSpPr>
        <p:spPr>
          <a:ln/>
        </p:spPr>
        <p:txBody>
          <a:bodyPr/>
          <a:lstStyle>
            <a:lvl1pPr>
              <a:defRPr/>
            </a:lvl1pPr>
          </a:lstStyle>
          <a:p>
            <a:fld id="{10334337-9C0C-4A56-AD8D-BC263F095318}" type="slidenum">
              <a:rPr lang="en-US" altLang="en-US"/>
              <a:pPr/>
              <a:t>‹#›</a:t>
            </a:fld>
            <a:endParaRPr lang="en-US" altLang="en-US"/>
          </a:p>
        </p:txBody>
      </p:sp>
    </p:spTree>
    <p:extLst>
      <p:ext uri="{BB962C8B-B14F-4D97-AF65-F5344CB8AC3E}">
        <p14:creationId xmlns:p14="http://schemas.microsoft.com/office/powerpoint/2010/main" val="3307180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64A59233-ACDD-F4F3-71B8-C854B46EDA3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3AF6EA3-D5E4-ECF4-96EA-0CFF57FC519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2E18201-0433-E034-ADC2-1949D345AE2A}"/>
              </a:ext>
            </a:extLst>
          </p:cNvPr>
          <p:cNvSpPr>
            <a:spLocks noGrp="1" noChangeArrowheads="1"/>
          </p:cNvSpPr>
          <p:nvPr>
            <p:ph type="sldNum" sz="quarter" idx="12"/>
          </p:nvPr>
        </p:nvSpPr>
        <p:spPr>
          <a:ln/>
        </p:spPr>
        <p:txBody>
          <a:bodyPr/>
          <a:lstStyle>
            <a:lvl1pPr>
              <a:defRPr/>
            </a:lvl1pPr>
          </a:lstStyle>
          <a:p>
            <a:fld id="{E0A17915-5F3F-428A-8000-CA7FD0DE4F19}" type="slidenum">
              <a:rPr lang="en-US" altLang="en-US"/>
              <a:pPr/>
              <a:t>‹#›</a:t>
            </a:fld>
            <a:endParaRPr lang="en-US" altLang="en-US"/>
          </a:p>
        </p:txBody>
      </p:sp>
    </p:spTree>
    <p:extLst>
      <p:ext uri="{BB962C8B-B14F-4D97-AF65-F5344CB8AC3E}">
        <p14:creationId xmlns:p14="http://schemas.microsoft.com/office/powerpoint/2010/main" val="3460692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1ED6BFD9-A52F-7196-2710-A5119E65A81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4399ACA-B36D-8737-8F53-920C22DAD0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D29CDD5-0D74-D7CC-AFD6-A6993015F181}"/>
              </a:ext>
            </a:extLst>
          </p:cNvPr>
          <p:cNvSpPr>
            <a:spLocks noGrp="1" noChangeArrowheads="1"/>
          </p:cNvSpPr>
          <p:nvPr>
            <p:ph type="sldNum" sz="quarter" idx="12"/>
          </p:nvPr>
        </p:nvSpPr>
        <p:spPr>
          <a:ln/>
        </p:spPr>
        <p:txBody>
          <a:bodyPr/>
          <a:lstStyle>
            <a:lvl1pPr>
              <a:defRPr/>
            </a:lvl1pPr>
          </a:lstStyle>
          <a:p>
            <a:fld id="{8E297A6F-BADC-4C11-AF39-492288E8D372}" type="slidenum">
              <a:rPr lang="en-US" altLang="en-US"/>
              <a:pPr/>
              <a:t>‹#›</a:t>
            </a:fld>
            <a:endParaRPr lang="en-US" altLang="en-US"/>
          </a:p>
        </p:txBody>
      </p:sp>
    </p:spTree>
    <p:extLst>
      <p:ext uri="{BB962C8B-B14F-4D97-AF65-F5344CB8AC3E}">
        <p14:creationId xmlns:p14="http://schemas.microsoft.com/office/powerpoint/2010/main" val="2960522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72250" y="533400"/>
            <a:ext cx="2114550" cy="5592763"/>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228600" y="533400"/>
            <a:ext cx="6191250" cy="559276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482806B2-264F-35EC-25AF-B5D1BD426B2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255EBFA-6938-4AC6-3E62-80C1906C0F0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E3D8EE3-242F-707D-11FB-EDC46DDD6472}"/>
              </a:ext>
            </a:extLst>
          </p:cNvPr>
          <p:cNvSpPr>
            <a:spLocks noGrp="1" noChangeArrowheads="1"/>
          </p:cNvSpPr>
          <p:nvPr>
            <p:ph type="sldNum" sz="quarter" idx="12"/>
          </p:nvPr>
        </p:nvSpPr>
        <p:spPr>
          <a:ln/>
        </p:spPr>
        <p:txBody>
          <a:bodyPr/>
          <a:lstStyle>
            <a:lvl1pPr>
              <a:defRPr/>
            </a:lvl1pPr>
          </a:lstStyle>
          <a:p>
            <a:fld id="{8690CF33-AC44-4B18-BA5D-40D97EDAB8AE}" type="slidenum">
              <a:rPr lang="en-US" altLang="en-US"/>
              <a:pPr/>
              <a:t>‹#›</a:t>
            </a:fld>
            <a:endParaRPr lang="en-US" altLang="en-US"/>
          </a:p>
        </p:txBody>
      </p:sp>
    </p:spTree>
    <p:extLst>
      <p:ext uri="{BB962C8B-B14F-4D97-AF65-F5344CB8AC3E}">
        <p14:creationId xmlns:p14="http://schemas.microsoft.com/office/powerpoint/2010/main" val="1744726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57200" y="274637"/>
            <a:ext cx="8229600" cy="1143000"/>
          </a:xfrm>
          <a:prstGeom prst="rect">
            <a:avLst/>
          </a:prstGeom>
        </p:spPr>
        <p:txBody>
          <a:bodyPr spcFirstLastPara="1" lIns="91425" tIns="91425" rIns="91425" bIns="91425" anchor="b"/>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dirty="0"/>
          </a:p>
        </p:txBody>
      </p:sp>
      <p:sp>
        <p:nvSpPr>
          <p:cNvPr id="15" name="Google Shape;15;p3"/>
          <p:cNvSpPr txBox="1">
            <a:spLocks noGrp="1"/>
          </p:cNvSpPr>
          <p:nvPr>
            <p:ph type="body" idx="1"/>
          </p:nvPr>
        </p:nvSpPr>
        <p:spPr>
          <a:xfrm>
            <a:off x="457200" y="1600201"/>
            <a:ext cx="8229600" cy="4967575"/>
          </a:xfrm>
          <a:prstGeom prst="rect">
            <a:avLst/>
          </a:prstGeom>
        </p:spPr>
        <p:txBody>
          <a:bodyPr spcFirstLastPara="1" lIns="91425" tIns="91425" rIns="91425" bIns="91425"/>
          <a:lstStyle>
            <a:lvl1pPr marL="457200" lvl="0" indent="-419100">
              <a:spcBef>
                <a:spcPts val="600"/>
              </a:spcBef>
              <a:spcAft>
                <a:spcPts val="0"/>
              </a:spcAft>
              <a:buSzPts val="3000"/>
              <a:buFont typeface="Wingdings" pitchFamily="2" charset="2"/>
              <a:buChar char="Ø"/>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dirty="0"/>
          </a:p>
        </p:txBody>
      </p:sp>
    </p:spTree>
    <p:extLst>
      <p:ext uri="{BB962C8B-B14F-4D97-AF65-F5344CB8AC3E}">
        <p14:creationId xmlns:p14="http://schemas.microsoft.com/office/powerpoint/2010/main" val="3676017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55DA8D9-94BE-315F-6D7C-E41C4167E3CA}"/>
              </a:ext>
            </a:extLst>
          </p:cNvPr>
          <p:cNvSpPr>
            <a:spLocks noGrp="1" noChangeArrowheads="1"/>
          </p:cNvSpPr>
          <p:nvPr>
            <p:ph type="title"/>
          </p:nvPr>
        </p:nvSpPr>
        <p:spPr bwMode="auto">
          <a:xfrm>
            <a:off x="228600" y="7620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1E72AAB-93FE-97F7-0B56-B3D6F53CE534}"/>
              </a:ext>
            </a:extLst>
          </p:cNvPr>
          <p:cNvSpPr>
            <a:spLocks noGrp="1" noChangeArrowheads="1"/>
          </p:cNvSpPr>
          <p:nvPr>
            <p:ph type="body" idx="1"/>
          </p:nvPr>
        </p:nvSpPr>
        <p:spPr bwMode="auto">
          <a:xfrm>
            <a:off x="457200" y="1676400"/>
            <a:ext cx="8229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4" name="Rectangle 4">
            <a:extLst>
              <a:ext uri="{FF2B5EF4-FFF2-40B4-BE49-F238E27FC236}">
                <a16:creationId xmlns:a16="http://schemas.microsoft.com/office/drawing/2014/main" id="{7A642151-F7CB-96F2-2378-2B0C393B93A5}"/>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mn-cs"/>
              </a:defRPr>
            </a:lvl1pPr>
          </a:lstStyle>
          <a:p>
            <a:pPr>
              <a:defRPr/>
            </a:pPr>
            <a:endParaRPr lang="en-US"/>
          </a:p>
        </p:txBody>
      </p:sp>
      <p:sp>
        <p:nvSpPr>
          <p:cNvPr id="5125" name="Rectangle 5">
            <a:extLst>
              <a:ext uri="{FF2B5EF4-FFF2-40B4-BE49-F238E27FC236}">
                <a16:creationId xmlns:a16="http://schemas.microsoft.com/office/drawing/2014/main" id="{52A137B1-F442-8F09-64B1-4033C7078165}"/>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mn-cs"/>
              </a:defRPr>
            </a:lvl1pPr>
          </a:lstStyle>
          <a:p>
            <a:pPr>
              <a:defRPr/>
            </a:pPr>
            <a:endParaRPr lang="en-US"/>
          </a:p>
        </p:txBody>
      </p:sp>
      <p:sp>
        <p:nvSpPr>
          <p:cNvPr id="5126" name="Rectangle 6">
            <a:extLst>
              <a:ext uri="{FF2B5EF4-FFF2-40B4-BE49-F238E27FC236}">
                <a16:creationId xmlns:a16="http://schemas.microsoft.com/office/drawing/2014/main" id="{AF7A9DDB-56BD-5C6F-B4B7-97B0E1C8EBD2}"/>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35C61FC4-7DF3-48A4-B241-AF64188EF59C}" type="slidenum">
              <a:rPr lang="en-US" altLang="en-US"/>
              <a:pPr/>
              <a:t>‹#›</a:t>
            </a:fld>
            <a:endParaRPr lang="en-US" altLang="en-US"/>
          </a:p>
        </p:txBody>
      </p:sp>
      <p:sp>
        <p:nvSpPr>
          <p:cNvPr id="5129" name="Text Box 9">
            <a:extLst>
              <a:ext uri="{FF2B5EF4-FFF2-40B4-BE49-F238E27FC236}">
                <a16:creationId xmlns:a16="http://schemas.microsoft.com/office/drawing/2014/main" id="{F72397DB-AF50-393D-B49D-5F83537CA19A}"/>
              </a:ext>
            </a:extLst>
          </p:cNvPr>
          <p:cNvSpPr txBox="1">
            <a:spLocks noChangeArrowheads="1"/>
          </p:cNvSpPr>
          <p:nvPr/>
        </p:nvSpPr>
        <p:spPr bwMode="auto">
          <a:xfrm>
            <a:off x="0" y="0"/>
            <a:ext cx="9144000" cy="400050"/>
          </a:xfrm>
          <a:prstGeom prst="rect">
            <a:avLst/>
          </a:prstGeom>
          <a:solidFill>
            <a:schemeClr val="bg1">
              <a:lumMod val="85000"/>
            </a:schemeClr>
          </a:solidFill>
          <a:ln w="9525">
            <a:solidFill>
              <a:schemeClr val="bg1">
                <a:lumMod val="95000"/>
              </a:schemeClr>
            </a:solidFill>
            <a:miter lim="800000"/>
            <a:headEnd/>
            <a:tailEnd/>
          </a:ln>
          <a:effectLst/>
        </p:spPr>
        <p:txBody>
          <a:bodyPr>
            <a:spAutoFit/>
          </a:bodyPr>
          <a:lstStyle/>
          <a:p>
            <a:pPr eaLnBrk="1" hangingPunct="1">
              <a:spcBef>
                <a:spcPct val="50000"/>
              </a:spcBef>
              <a:defRPr/>
            </a:pPr>
            <a:r>
              <a:rPr lang="en-US" sz="2000" b="1" dirty="0">
                <a:solidFill>
                  <a:schemeClr val="tx1">
                    <a:lumMod val="95000"/>
                    <a:lumOff val="5000"/>
                  </a:schemeClr>
                </a:solidFill>
                <a:latin typeface="Arial" charset="0"/>
                <a:ea typeface="ＭＳ Ｐゴシック" charset="0"/>
              </a:rPr>
              <a:t>Lecture 06- </a:t>
            </a:r>
            <a:r>
              <a:rPr lang="en-US" sz="2000" b="1" dirty="0" err="1">
                <a:solidFill>
                  <a:schemeClr val="tx1">
                    <a:lumMod val="95000"/>
                    <a:lumOff val="5000"/>
                  </a:schemeClr>
                </a:solidFill>
                <a:latin typeface="Arial" charset="0"/>
                <a:ea typeface="ＭＳ Ｐゴシック" charset="0"/>
              </a:rPr>
              <a:t>PoW</a:t>
            </a:r>
            <a:r>
              <a:rPr lang="en-US" sz="2000" b="1" dirty="0">
                <a:solidFill>
                  <a:schemeClr val="tx1">
                    <a:lumMod val="95000"/>
                    <a:lumOff val="5000"/>
                  </a:schemeClr>
                </a:solidFill>
                <a:latin typeface="Arial" charset="0"/>
                <a:ea typeface="ＭＳ Ｐゴシック" charset="0"/>
              </a:rPr>
              <a:t> and </a:t>
            </a:r>
            <a:r>
              <a:rPr lang="en-US" sz="2000" b="1" dirty="0" err="1">
                <a:solidFill>
                  <a:schemeClr val="tx1">
                    <a:lumMod val="95000"/>
                    <a:lumOff val="5000"/>
                  </a:schemeClr>
                </a:solidFill>
                <a:latin typeface="Arial" charset="0"/>
                <a:ea typeface="ＭＳ Ｐゴシック" charset="0"/>
              </a:rPr>
              <a:t>PoS</a:t>
            </a:r>
            <a:endParaRPr lang="en-US" sz="2000" b="1" dirty="0">
              <a:solidFill>
                <a:schemeClr val="tx1">
                  <a:lumMod val="95000"/>
                  <a:lumOff val="5000"/>
                </a:schemeClr>
              </a:solidFill>
              <a:latin typeface="Arial" charset="0"/>
              <a:ea typeface="ＭＳ Ｐゴシック" charset="0"/>
            </a:endParaRPr>
          </a:p>
        </p:txBody>
      </p:sp>
    </p:spTree>
  </p:cSld>
  <p:clrMap bg1="lt1" tx1="dk1" bg2="lt2" tx2="dk2" accent1="accent1" accent2="accent2" accent3="accent3" accent4="accent4" accent5="accent5" accent6="accent6" hlink="hlink" folHlink="folHlink"/>
  <p:sldLayoutIdLst>
    <p:sldLayoutId id="2147484202" r:id="rId1"/>
    <p:sldLayoutId id="2147484203" r:id="rId2"/>
    <p:sldLayoutId id="2147484204" r:id="rId3"/>
    <p:sldLayoutId id="2147484205" r:id="rId4"/>
    <p:sldLayoutId id="2147484206" r:id="rId5"/>
    <p:sldLayoutId id="2147484207" r:id="rId6"/>
    <p:sldLayoutId id="2147484208" r:id="rId7"/>
    <p:sldLayoutId id="2147484209" r:id="rId8"/>
    <p:sldLayoutId id="2147484210" r:id="rId9"/>
    <p:sldLayoutId id="2147484211" r:id="rId10"/>
    <p:sldLayoutId id="2147484212" r:id="rId11"/>
    <p:sldLayoutId id="2147484213" r:id="rId12"/>
  </p:sldLayoutIdLst>
  <p:hf hdr="0" ftr="0" dt="0"/>
  <p:txStyles>
    <p:titleStyle>
      <a:lvl1pPr algn="l" rtl="0" eaLnBrk="0" fontAlgn="base" hangingPunct="0">
        <a:spcBef>
          <a:spcPct val="0"/>
        </a:spcBef>
        <a:spcAft>
          <a:spcPct val="0"/>
        </a:spcAft>
        <a:defRPr sz="3600" b="1">
          <a:solidFill>
            <a:schemeClr val="tx2"/>
          </a:solidFill>
          <a:latin typeface="+mj-lt"/>
          <a:ea typeface="+mj-ea"/>
          <a:cs typeface="ＭＳ Ｐゴシック" charset="0"/>
        </a:defRPr>
      </a:lvl1pPr>
      <a:lvl2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2pPr>
      <a:lvl3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3pPr>
      <a:lvl4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4pPr>
      <a:lvl5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5pPr>
      <a:lvl6pPr marL="457200" algn="l" rtl="0" fontAlgn="base">
        <a:spcBef>
          <a:spcPct val="0"/>
        </a:spcBef>
        <a:spcAft>
          <a:spcPct val="0"/>
        </a:spcAft>
        <a:defRPr sz="3600" b="1">
          <a:solidFill>
            <a:schemeClr val="tx2"/>
          </a:solidFill>
          <a:latin typeface="Trebuchet MS" charset="0"/>
          <a:ea typeface="ＭＳ Ｐゴシック" charset="0"/>
        </a:defRPr>
      </a:lvl6pPr>
      <a:lvl7pPr marL="914400" algn="l" rtl="0" fontAlgn="base">
        <a:spcBef>
          <a:spcPct val="0"/>
        </a:spcBef>
        <a:spcAft>
          <a:spcPct val="0"/>
        </a:spcAft>
        <a:defRPr sz="3600" b="1">
          <a:solidFill>
            <a:schemeClr val="tx2"/>
          </a:solidFill>
          <a:latin typeface="Trebuchet MS" charset="0"/>
          <a:ea typeface="ＭＳ Ｐゴシック" charset="0"/>
        </a:defRPr>
      </a:lvl7pPr>
      <a:lvl8pPr marL="1371600" algn="l" rtl="0" fontAlgn="base">
        <a:spcBef>
          <a:spcPct val="0"/>
        </a:spcBef>
        <a:spcAft>
          <a:spcPct val="0"/>
        </a:spcAft>
        <a:defRPr sz="3600" b="1">
          <a:solidFill>
            <a:schemeClr val="tx2"/>
          </a:solidFill>
          <a:latin typeface="Trebuchet MS" charset="0"/>
          <a:ea typeface="ＭＳ Ｐゴシック" charset="0"/>
        </a:defRPr>
      </a:lvl8pPr>
      <a:lvl9pPr marL="1828800" algn="l" rtl="0" fontAlgn="base">
        <a:spcBef>
          <a:spcPct val="0"/>
        </a:spcBef>
        <a:spcAft>
          <a:spcPct val="0"/>
        </a:spcAft>
        <a:defRPr sz="3600" b="1">
          <a:solidFill>
            <a:schemeClr val="tx2"/>
          </a:solidFill>
          <a:latin typeface="Trebuchet MS"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94A20A77-4FBD-6D4F-6FF5-0A9F26CE4A26}"/>
              </a:ext>
            </a:extLst>
          </p:cNvPr>
          <p:cNvSpPr>
            <a:spLocks noGrp="1" noChangeArrowheads="1"/>
          </p:cNvSpPr>
          <p:nvPr>
            <p:ph type="ctrTitle"/>
          </p:nvPr>
        </p:nvSpPr>
        <p:spPr>
          <a:xfrm>
            <a:off x="304800" y="1752600"/>
            <a:ext cx="8458200" cy="3124200"/>
          </a:xfrm>
        </p:spPr>
        <p:txBody>
          <a:bodyPr/>
          <a:lstStyle/>
          <a:p>
            <a:pPr algn="ctr" eaLnBrk="1" hangingPunct="1">
              <a:defRPr/>
            </a:pPr>
            <a:r>
              <a:rPr lang="en-US" dirty="0">
                <a:solidFill>
                  <a:srgbClr val="0000FF"/>
                </a:solidFill>
                <a:cs typeface="+mj-cs"/>
              </a:rPr>
              <a:t>Lecture 06 </a:t>
            </a:r>
            <a:br>
              <a:rPr lang="en-US" dirty="0">
                <a:solidFill>
                  <a:srgbClr val="0000FF"/>
                </a:solidFill>
                <a:cs typeface="+mj-cs"/>
              </a:rPr>
            </a:br>
            <a:r>
              <a:rPr lang="en-US" dirty="0" err="1">
                <a:solidFill>
                  <a:schemeClr val="tx1">
                    <a:lumMod val="95000"/>
                    <a:lumOff val="5000"/>
                  </a:schemeClr>
                </a:solidFill>
              </a:rPr>
              <a:t>PoW</a:t>
            </a:r>
            <a:r>
              <a:rPr lang="en-US" dirty="0">
                <a:solidFill>
                  <a:schemeClr val="tx1">
                    <a:lumMod val="95000"/>
                    <a:lumOff val="5000"/>
                  </a:schemeClr>
                </a:solidFill>
              </a:rPr>
              <a:t> and </a:t>
            </a:r>
            <a:r>
              <a:rPr lang="en-US" dirty="0" err="1">
                <a:solidFill>
                  <a:schemeClr val="tx1">
                    <a:lumMod val="95000"/>
                    <a:lumOff val="5000"/>
                  </a:schemeClr>
                </a:solidFill>
              </a:rPr>
              <a:t>PoS</a:t>
            </a:r>
            <a:endParaRPr lang="en-US" dirty="0">
              <a:solidFill>
                <a:srgbClr val="0000FF"/>
              </a:solidFill>
              <a:cs typeface="+mj-cs"/>
            </a:endParaRPr>
          </a:p>
        </p:txBody>
      </p:sp>
      <p:sp>
        <p:nvSpPr>
          <p:cNvPr id="2" name="Slide Number Placeholder 1">
            <a:extLst>
              <a:ext uri="{FF2B5EF4-FFF2-40B4-BE49-F238E27FC236}">
                <a16:creationId xmlns:a16="http://schemas.microsoft.com/office/drawing/2014/main" id="{E1AB382E-0599-4399-FC22-E9E1F2DE5075}"/>
              </a:ext>
            </a:extLst>
          </p:cNvPr>
          <p:cNvSpPr>
            <a:spLocks noGrp="1"/>
          </p:cNvSpPr>
          <p:nvPr>
            <p:ph type="sldNum" sz="quarter" idx="12"/>
          </p:nvPr>
        </p:nvSpPr>
        <p:spPr/>
        <p:txBody>
          <a:bodyPr/>
          <a:lstStyle/>
          <a:p>
            <a:fld id="{93DC732A-52BE-4111-9717-EBEF0B7F13D0}" type="slidenum">
              <a:rPr lang="en-US" altLang="en-US" smtClean="0"/>
              <a:pPr/>
              <a:t>1</a:t>
            </a:fld>
            <a:endParaRPr lang="en-US"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re 1">
            <a:extLst>
              <a:ext uri="{FF2B5EF4-FFF2-40B4-BE49-F238E27FC236}">
                <a16:creationId xmlns:a16="http://schemas.microsoft.com/office/drawing/2014/main" id="{434A4227-A16E-580F-C57C-0A25E989AE4F}"/>
              </a:ext>
            </a:extLst>
          </p:cNvPr>
          <p:cNvSpPr>
            <a:spLocks noGrp="1" noChangeArrowheads="1"/>
          </p:cNvSpPr>
          <p:nvPr>
            <p:ph type="title"/>
          </p:nvPr>
        </p:nvSpPr>
        <p:spPr/>
        <p:txBody>
          <a:bodyPr/>
          <a:lstStyle/>
          <a:p>
            <a:r>
              <a:rPr lang="fr-FR" altLang="en-US"/>
              <a:t>Roadmap </a:t>
            </a:r>
          </a:p>
        </p:txBody>
      </p:sp>
      <p:sp>
        <p:nvSpPr>
          <p:cNvPr id="3" name="Espace réservé du contenu 2">
            <a:extLst>
              <a:ext uri="{FF2B5EF4-FFF2-40B4-BE49-F238E27FC236}">
                <a16:creationId xmlns:a16="http://schemas.microsoft.com/office/drawing/2014/main" id="{1E194F36-C5C9-A908-2070-744CF7312FF4}"/>
              </a:ext>
            </a:extLst>
          </p:cNvPr>
          <p:cNvSpPr>
            <a:spLocks noGrp="1"/>
          </p:cNvSpPr>
          <p:nvPr>
            <p:ph idx="1"/>
          </p:nvPr>
        </p:nvSpPr>
        <p:spPr/>
        <p:txBody>
          <a:bodyPr/>
          <a:lstStyle/>
          <a:p>
            <a:pPr>
              <a:defRPr/>
            </a:pPr>
            <a:r>
              <a:rPr lang="fr-FR" sz="2800" dirty="0" err="1">
                <a:solidFill>
                  <a:srgbClr val="FF3300"/>
                </a:solidFill>
              </a:rPr>
              <a:t>Centralized</a:t>
            </a:r>
            <a:r>
              <a:rPr lang="fr-FR" sz="2800" dirty="0">
                <a:solidFill>
                  <a:srgbClr val="FF3300"/>
                </a:solidFill>
              </a:rPr>
              <a:t> and </a:t>
            </a:r>
            <a:r>
              <a:rPr lang="fr-FR" sz="2800" dirty="0" err="1">
                <a:solidFill>
                  <a:srgbClr val="FF3300"/>
                </a:solidFill>
              </a:rPr>
              <a:t>decentralized</a:t>
            </a:r>
            <a:r>
              <a:rPr lang="fr-FR" sz="2800" dirty="0">
                <a:solidFill>
                  <a:srgbClr val="FF3300"/>
                </a:solidFill>
              </a:rPr>
              <a:t> </a:t>
            </a:r>
            <a:r>
              <a:rPr lang="fr-FR" sz="2800" dirty="0" err="1">
                <a:solidFill>
                  <a:srgbClr val="FF3300"/>
                </a:solidFill>
              </a:rPr>
              <a:t>systems</a:t>
            </a:r>
            <a:endParaRPr lang="fr-FR" sz="2800" dirty="0">
              <a:solidFill>
                <a:srgbClr val="FF3300"/>
              </a:solidFill>
            </a:endParaRPr>
          </a:p>
          <a:p>
            <a:pPr>
              <a:defRPr/>
            </a:pPr>
            <a:r>
              <a:rPr lang="fr-FR" sz="2800" dirty="0" err="1">
                <a:solidFill>
                  <a:schemeClr val="bg1">
                    <a:lumMod val="75000"/>
                  </a:schemeClr>
                </a:solidFill>
              </a:rPr>
              <a:t>Distributed</a:t>
            </a:r>
            <a:r>
              <a:rPr lang="fr-FR" sz="2800" dirty="0">
                <a:solidFill>
                  <a:schemeClr val="bg1">
                    <a:lumMod val="75000"/>
                  </a:schemeClr>
                </a:solidFill>
              </a:rPr>
              <a:t> Consensus</a:t>
            </a:r>
          </a:p>
          <a:p>
            <a:pPr>
              <a:defRPr/>
            </a:pPr>
            <a:r>
              <a:rPr lang="fr-FR" sz="2800" dirty="0">
                <a:solidFill>
                  <a:schemeClr val="bg1">
                    <a:lumMod val="75000"/>
                  </a:schemeClr>
                </a:solidFill>
              </a:rPr>
              <a:t>Consensus </a:t>
            </a:r>
            <a:r>
              <a:rPr lang="fr-FR" sz="2800" dirty="0" err="1">
                <a:solidFill>
                  <a:schemeClr val="bg1">
                    <a:lumMod val="75000"/>
                  </a:schemeClr>
                </a:solidFill>
              </a:rPr>
              <a:t>problem</a:t>
            </a:r>
            <a:r>
              <a:rPr lang="fr-FR" sz="2800" dirty="0">
                <a:solidFill>
                  <a:schemeClr val="bg1">
                    <a:lumMod val="75000"/>
                  </a:schemeClr>
                </a:solidFill>
              </a:rPr>
              <a:t> in </a:t>
            </a:r>
            <a:r>
              <a:rPr lang="fr-FR" sz="2800" dirty="0" err="1">
                <a:solidFill>
                  <a:schemeClr val="bg1">
                    <a:lumMod val="75000"/>
                  </a:schemeClr>
                </a:solidFill>
              </a:rPr>
              <a:t>Bitcoin</a:t>
            </a:r>
            <a:endParaRPr lang="fr-FR" sz="2800" dirty="0">
              <a:solidFill>
                <a:schemeClr val="bg1">
                  <a:lumMod val="75000"/>
                </a:schemeClr>
              </a:solidFill>
            </a:endParaRPr>
          </a:p>
          <a:p>
            <a:pPr>
              <a:defRPr/>
            </a:pPr>
            <a:r>
              <a:rPr lang="fr-FR" sz="2800" dirty="0" err="1">
                <a:solidFill>
                  <a:schemeClr val="bg1">
                    <a:lumMod val="75000"/>
                  </a:schemeClr>
                </a:solidFill>
              </a:rPr>
              <a:t>Bitcoin</a:t>
            </a:r>
            <a:r>
              <a:rPr lang="fr-FR" sz="2800" dirty="0">
                <a:solidFill>
                  <a:schemeClr val="bg1">
                    <a:lumMod val="75000"/>
                  </a:schemeClr>
                </a:solidFill>
              </a:rPr>
              <a:t> Consensus </a:t>
            </a:r>
            <a:r>
              <a:rPr lang="fr-FR" sz="2800" dirty="0" err="1">
                <a:solidFill>
                  <a:schemeClr val="bg1">
                    <a:lumMod val="75000"/>
                  </a:schemeClr>
                </a:solidFill>
              </a:rPr>
              <a:t>Algorithm</a:t>
            </a:r>
            <a:endParaRPr lang="fr-FR" sz="2800" dirty="0">
              <a:solidFill>
                <a:schemeClr val="bg1">
                  <a:lumMod val="75000"/>
                </a:schemeClr>
              </a:solidFill>
            </a:endParaRPr>
          </a:p>
          <a:p>
            <a:pPr lvl="1">
              <a:defRPr/>
            </a:pPr>
            <a:r>
              <a:rPr lang="fr-FR" sz="2400" dirty="0" err="1">
                <a:solidFill>
                  <a:schemeClr val="bg1">
                    <a:lumMod val="75000"/>
                  </a:schemeClr>
                </a:solidFill>
              </a:rPr>
              <a:t>Incentives</a:t>
            </a:r>
            <a:r>
              <a:rPr lang="fr-FR" sz="2400" dirty="0">
                <a:solidFill>
                  <a:schemeClr val="bg1">
                    <a:lumMod val="75000"/>
                  </a:schemeClr>
                </a:solidFill>
              </a:rPr>
              <a:t> for </a:t>
            </a:r>
            <a:r>
              <a:rPr lang="fr-FR" sz="2400" dirty="0" err="1">
                <a:solidFill>
                  <a:schemeClr val="bg1">
                    <a:lumMod val="75000"/>
                  </a:schemeClr>
                </a:solidFill>
              </a:rPr>
              <a:t>miners</a:t>
            </a:r>
            <a:r>
              <a:rPr lang="fr-FR" sz="2400" dirty="0">
                <a:solidFill>
                  <a:schemeClr val="bg1">
                    <a:lumMod val="75000"/>
                  </a:schemeClr>
                </a:solidFill>
              </a:rPr>
              <a:t>, Proof of </a:t>
            </a:r>
            <a:r>
              <a:rPr lang="fr-FR" sz="2400" dirty="0" err="1">
                <a:solidFill>
                  <a:schemeClr val="bg1">
                    <a:lumMod val="75000"/>
                  </a:schemeClr>
                </a:solidFill>
              </a:rPr>
              <a:t>work</a:t>
            </a:r>
            <a:r>
              <a:rPr lang="fr-FR" sz="2400" dirty="0">
                <a:solidFill>
                  <a:schemeClr val="bg1">
                    <a:lumMod val="75000"/>
                  </a:schemeClr>
                </a:solidFill>
              </a:rPr>
              <a:t>, Limitations</a:t>
            </a:r>
          </a:p>
        </p:txBody>
      </p:sp>
      <p:sp>
        <p:nvSpPr>
          <p:cNvPr id="2" name="Slide Number Placeholder 1">
            <a:extLst>
              <a:ext uri="{FF2B5EF4-FFF2-40B4-BE49-F238E27FC236}">
                <a16:creationId xmlns:a16="http://schemas.microsoft.com/office/drawing/2014/main" id="{6EA450C7-EEB5-3093-D982-8C1F967D1121}"/>
              </a:ext>
            </a:extLst>
          </p:cNvPr>
          <p:cNvSpPr>
            <a:spLocks noGrp="1"/>
          </p:cNvSpPr>
          <p:nvPr>
            <p:ph type="sldNum" sz="quarter" idx="12"/>
          </p:nvPr>
        </p:nvSpPr>
        <p:spPr/>
        <p:txBody>
          <a:bodyPr/>
          <a:lstStyle/>
          <a:p>
            <a:fld id="{54AFB715-9BAA-466F-BD26-510BF652CDA2}" type="slidenum">
              <a:rPr lang="en-US" altLang="en-US" smtClean="0"/>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Google Shape;46;p11">
            <a:extLst>
              <a:ext uri="{FF2B5EF4-FFF2-40B4-BE49-F238E27FC236}">
                <a16:creationId xmlns:a16="http://schemas.microsoft.com/office/drawing/2014/main" id="{325B3ED7-3C0F-754D-4C9B-82ACB85389C7}"/>
              </a:ext>
            </a:extLst>
          </p:cNvPr>
          <p:cNvSpPr>
            <a:spLocks noGrp="1" noChangeArrowheads="1"/>
          </p:cNvSpPr>
          <p:nvPr>
            <p:ph type="title"/>
          </p:nvPr>
        </p:nvSpPr>
        <p:spPr/>
        <p:txBody>
          <a:bodyPr/>
          <a:lstStyle/>
          <a:p>
            <a:pPr>
              <a:buClr>
                <a:srgbClr val="000000"/>
              </a:buClr>
              <a:buFont typeface="Trebuchet MS" panose="020B0603020202020204" pitchFamily="34" charset="0"/>
              <a:buNone/>
            </a:pPr>
            <a:r>
              <a:rPr lang="fr-FR" altLang="en-US" dirty="0" err="1">
                <a:solidFill>
                  <a:srgbClr val="000000"/>
                </a:solidFill>
                <a:sym typeface="Trebuchet MS" panose="020B0603020202020204" pitchFamily="34" charset="0"/>
              </a:rPr>
              <a:t>Centralization</a:t>
            </a:r>
            <a:r>
              <a:rPr lang="fr-FR" altLang="en-US" dirty="0">
                <a:solidFill>
                  <a:srgbClr val="000000"/>
                </a:solidFill>
                <a:sym typeface="Trebuchet MS" panose="020B0603020202020204" pitchFamily="34" charset="0"/>
              </a:rPr>
              <a:t> vs. </a:t>
            </a:r>
            <a:r>
              <a:rPr lang="fr-FR" altLang="en-US" dirty="0" err="1">
                <a:solidFill>
                  <a:srgbClr val="000000"/>
                </a:solidFill>
                <a:sym typeface="Trebuchet MS" panose="020B0603020202020204" pitchFamily="34" charset="0"/>
              </a:rPr>
              <a:t>Decentralization</a:t>
            </a:r>
            <a:endParaRPr lang="fr-FR" altLang="en-US" dirty="0"/>
          </a:p>
        </p:txBody>
      </p:sp>
      <p:sp>
        <p:nvSpPr>
          <p:cNvPr id="18434" name="Google Shape;47;p11">
            <a:extLst>
              <a:ext uri="{FF2B5EF4-FFF2-40B4-BE49-F238E27FC236}">
                <a16:creationId xmlns:a16="http://schemas.microsoft.com/office/drawing/2014/main" id="{321636E9-9C41-E272-DB68-74B47649F90F}"/>
              </a:ext>
            </a:extLst>
          </p:cNvPr>
          <p:cNvSpPr>
            <a:spLocks noGrp="1" noChangeArrowheads="1"/>
          </p:cNvSpPr>
          <p:nvPr>
            <p:ph idx="1"/>
          </p:nvPr>
        </p:nvSpPr>
        <p:spPr/>
        <p:txBody>
          <a:bodyPr/>
          <a:lstStyle/>
          <a:p>
            <a:pPr>
              <a:spcBef>
                <a:spcPct val="0"/>
              </a:spcBef>
              <a:buClr>
                <a:srgbClr val="000000"/>
              </a:buClr>
            </a:pPr>
            <a:r>
              <a:rPr lang="fr-FR" altLang="en-US" sz="3000" dirty="0" err="1">
                <a:solidFill>
                  <a:srgbClr val="000000"/>
                </a:solidFill>
                <a:latin typeface="Trebuchet MS" panose="020B0603020202020204" pitchFamily="34" charset="0"/>
                <a:sym typeface="Trebuchet MS" panose="020B0603020202020204" pitchFamily="34" charset="0"/>
              </a:rPr>
              <a:t>Competing</a:t>
            </a:r>
            <a:r>
              <a:rPr lang="fr-FR" altLang="en-US" sz="3000" dirty="0">
                <a:solidFill>
                  <a:srgbClr val="000000"/>
                </a:solidFill>
                <a:latin typeface="Trebuchet MS" panose="020B0603020202020204" pitchFamily="34" charset="0"/>
                <a:sym typeface="Trebuchet MS" panose="020B0603020202020204" pitchFamily="34" charset="0"/>
              </a:rPr>
              <a:t> </a:t>
            </a:r>
            <a:r>
              <a:rPr lang="fr-FR" altLang="en-US" sz="3000" dirty="0" err="1">
                <a:solidFill>
                  <a:srgbClr val="000000"/>
                </a:solidFill>
                <a:latin typeface="Trebuchet MS" panose="020B0603020202020204" pitchFamily="34" charset="0"/>
                <a:sym typeface="Trebuchet MS" panose="020B0603020202020204" pitchFamily="34" charset="0"/>
              </a:rPr>
              <a:t>paradigms</a:t>
            </a:r>
            <a:r>
              <a:rPr lang="fr-FR" altLang="en-US" sz="3000" dirty="0">
                <a:solidFill>
                  <a:srgbClr val="000000"/>
                </a:solidFill>
                <a:latin typeface="Trebuchet MS" panose="020B0603020202020204" pitchFamily="34" charset="0"/>
                <a:sym typeface="Trebuchet MS" panose="020B0603020202020204" pitchFamily="34" charset="0"/>
              </a:rPr>
              <a:t> </a:t>
            </a:r>
            <a:r>
              <a:rPr lang="fr-FR" altLang="en-US" sz="3000" dirty="0" err="1">
                <a:solidFill>
                  <a:srgbClr val="000000"/>
                </a:solidFill>
                <a:latin typeface="Trebuchet MS" panose="020B0603020202020204" pitchFamily="34" charset="0"/>
                <a:sym typeface="Trebuchet MS" panose="020B0603020202020204" pitchFamily="34" charset="0"/>
              </a:rPr>
              <a:t>that</a:t>
            </a:r>
            <a:r>
              <a:rPr lang="fr-FR" altLang="en-US" sz="3000" dirty="0">
                <a:solidFill>
                  <a:srgbClr val="000000"/>
                </a:solidFill>
                <a:latin typeface="Trebuchet MS" panose="020B0603020202020204" pitchFamily="34" charset="0"/>
                <a:sym typeface="Trebuchet MS" panose="020B0603020202020204" pitchFamily="34" charset="0"/>
              </a:rPr>
              <a:t> </a:t>
            </a:r>
            <a:r>
              <a:rPr lang="fr-FR" altLang="en-US" sz="3000" dirty="0" err="1">
                <a:solidFill>
                  <a:srgbClr val="000000"/>
                </a:solidFill>
                <a:latin typeface="Trebuchet MS" panose="020B0603020202020204" pitchFamily="34" charset="0"/>
                <a:sym typeface="Trebuchet MS" panose="020B0603020202020204" pitchFamily="34" charset="0"/>
              </a:rPr>
              <a:t>underlie</a:t>
            </a:r>
            <a:r>
              <a:rPr lang="fr-FR" altLang="en-US" sz="3000" dirty="0">
                <a:solidFill>
                  <a:srgbClr val="000000"/>
                </a:solidFill>
                <a:latin typeface="Trebuchet MS" panose="020B0603020202020204" pitchFamily="34" charset="0"/>
                <a:sym typeface="Trebuchet MS" panose="020B0603020202020204" pitchFamily="34" charset="0"/>
              </a:rPr>
              <a:t> </a:t>
            </a:r>
            <a:r>
              <a:rPr lang="fr-FR" altLang="en-US" sz="3000" dirty="0" err="1">
                <a:solidFill>
                  <a:srgbClr val="000000"/>
                </a:solidFill>
                <a:latin typeface="Trebuchet MS" panose="020B0603020202020204" pitchFamily="34" charset="0"/>
                <a:sym typeface="Trebuchet MS" panose="020B0603020202020204" pitchFamily="34" charset="0"/>
              </a:rPr>
              <a:t>many</a:t>
            </a:r>
            <a:r>
              <a:rPr lang="fr-FR" altLang="en-US" sz="3000" dirty="0">
                <a:solidFill>
                  <a:srgbClr val="000000"/>
                </a:solidFill>
                <a:latin typeface="Trebuchet MS" panose="020B0603020202020204" pitchFamily="34" charset="0"/>
                <a:sym typeface="Trebuchet MS" panose="020B0603020202020204" pitchFamily="34" charset="0"/>
              </a:rPr>
              <a:t> digital technologies</a:t>
            </a:r>
          </a:p>
          <a:p>
            <a:pPr>
              <a:spcBef>
                <a:spcPct val="0"/>
              </a:spcBef>
              <a:buClr>
                <a:srgbClr val="000000"/>
              </a:buClr>
            </a:pPr>
            <a:endParaRPr lang="fr-FR" altLang="en-US" sz="3000" dirty="0">
              <a:solidFill>
                <a:srgbClr val="000000"/>
              </a:solidFill>
              <a:latin typeface="Trebuchet MS" panose="020B0603020202020204" pitchFamily="34" charset="0"/>
              <a:sym typeface="Trebuchet MS" panose="020B0603020202020204" pitchFamily="34" charset="0"/>
            </a:endParaRPr>
          </a:p>
          <a:p>
            <a:pPr>
              <a:spcBef>
                <a:spcPct val="0"/>
              </a:spcBef>
              <a:buClr>
                <a:srgbClr val="000000"/>
              </a:buClr>
            </a:pPr>
            <a:r>
              <a:rPr lang="fr-FR" altLang="en-US" sz="3000" dirty="0" err="1">
                <a:solidFill>
                  <a:srgbClr val="000000"/>
                </a:solidFill>
                <a:latin typeface="Trebuchet MS" panose="020B0603020202020204" pitchFamily="34" charset="0"/>
                <a:sym typeface="Trebuchet MS" panose="020B0603020202020204" pitchFamily="34" charset="0"/>
              </a:rPr>
              <a:t>Decentralized</a:t>
            </a:r>
            <a:r>
              <a:rPr lang="fr-FR" altLang="en-US" sz="3000" dirty="0">
                <a:solidFill>
                  <a:srgbClr val="000000"/>
                </a:solidFill>
                <a:latin typeface="Trebuchet MS" panose="020B0603020202020204" pitchFamily="34" charset="0"/>
                <a:sym typeface="Trebuchet MS" panose="020B0603020202020204" pitchFamily="34" charset="0"/>
              </a:rPr>
              <a:t> and Distributed </a:t>
            </a:r>
            <a:r>
              <a:rPr lang="fr-FR" altLang="en-US" sz="3000" dirty="0" err="1">
                <a:solidFill>
                  <a:srgbClr val="000000"/>
                </a:solidFill>
                <a:latin typeface="Trebuchet MS" panose="020B0603020202020204" pitchFamily="34" charset="0"/>
                <a:sym typeface="Trebuchet MS" panose="020B0603020202020204" pitchFamily="34" charset="0"/>
              </a:rPr>
              <a:t>Systems</a:t>
            </a:r>
            <a:r>
              <a:rPr lang="fr-FR" altLang="en-US" sz="3000" dirty="0">
                <a:solidFill>
                  <a:srgbClr val="000000"/>
                </a:solidFill>
                <a:latin typeface="Trebuchet MS" panose="020B0603020202020204" pitchFamily="34" charset="0"/>
                <a:sym typeface="Trebuchet MS" panose="020B0603020202020204" pitchFamily="34" charset="0"/>
              </a:rPr>
              <a:t>? </a:t>
            </a:r>
            <a:endParaRPr lang="fr-FR" altLang="en-US" dirty="0"/>
          </a:p>
        </p:txBody>
      </p:sp>
      <p:sp>
        <p:nvSpPr>
          <p:cNvPr id="2" name="Slide Number Placeholder 1">
            <a:extLst>
              <a:ext uri="{FF2B5EF4-FFF2-40B4-BE49-F238E27FC236}">
                <a16:creationId xmlns:a16="http://schemas.microsoft.com/office/drawing/2014/main" id="{75FCFFE7-D17A-1884-E2F5-F9423C87F350}"/>
              </a:ext>
            </a:extLst>
          </p:cNvPr>
          <p:cNvSpPr>
            <a:spLocks noGrp="1"/>
          </p:cNvSpPr>
          <p:nvPr>
            <p:ph type="sldNum" sz="quarter" idx="12"/>
          </p:nvPr>
        </p:nvSpPr>
        <p:spPr/>
        <p:txBody>
          <a:bodyPr/>
          <a:lstStyle/>
          <a:p>
            <a:fld id="{54AFB715-9BAA-466F-BD26-510BF652CDA2}" type="slidenum">
              <a:rPr lang="en-US" altLang="en-US" smtClean="0"/>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Google Shape;58;p13">
            <a:extLst>
              <a:ext uri="{FF2B5EF4-FFF2-40B4-BE49-F238E27FC236}">
                <a16:creationId xmlns:a16="http://schemas.microsoft.com/office/drawing/2014/main" id="{75837E89-9DA5-1D02-4443-3F9E0C3758AB}"/>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Aspects of decentralization in Bitcoin</a:t>
            </a:r>
            <a:endParaRPr lang="fr-FR" altLang="en-US"/>
          </a:p>
        </p:txBody>
      </p:sp>
      <p:sp>
        <p:nvSpPr>
          <p:cNvPr id="20482" name="Google Shape;59;p13">
            <a:extLst>
              <a:ext uri="{FF2B5EF4-FFF2-40B4-BE49-F238E27FC236}">
                <a16:creationId xmlns:a16="http://schemas.microsoft.com/office/drawing/2014/main" id="{FBB9A6B2-4F54-131B-E8E8-E16A90BFFDA9}"/>
              </a:ext>
            </a:extLst>
          </p:cNvPr>
          <p:cNvSpPr>
            <a:spLocks noGrp="1" noChangeArrowheads="1"/>
          </p:cNvSpPr>
          <p:nvPr>
            <p:ph type="body" idx="1"/>
          </p:nvPr>
        </p:nvSpPr>
        <p:spPr>
          <a:xfrm>
            <a:off x="457200" y="1600200"/>
            <a:ext cx="8229600" cy="4967288"/>
          </a:xfrm>
        </p:spPr>
        <p:txBody>
          <a:bodyPr/>
          <a:lstStyle/>
          <a:p>
            <a:pPr indent="-381000">
              <a:lnSpc>
                <a:spcPct val="115000"/>
              </a:lnSpc>
              <a:spcBef>
                <a:spcPct val="0"/>
              </a:spcBef>
              <a:spcAft>
                <a:spcPct val="0"/>
              </a:spcAft>
              <a:buClr>
                <a:srgbClr val="000000"/>
              </a:buClr>
              <a:buSzTx/>
              <a:buFont typeface="Trebuchet MS" panose="020B0603020202020204" pitchFamily="34" charset="0"/>
              <a:buAutoNum type="arabicPeriod"/>
            </a:pPr>
            <a:r>
              <a:rPr lang="fr-FR" altLang="en-US" dirty="0" err="1">
                <a:solidFill>
                  <a:srgbClr val="000000"/>
                </a:solidFill>
                <a:latin typeface="Trebuchet MS" panose="020B0603020202020204" pitchFamily="34" charset="0"/>
                <a:sym typeface="Trebuchet MS" panose="020B0603020202020204" pitchFamily="34" charset="0"/>
              </a:rPr>
              <a:t>Who</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maintains</a:t>
            </a:r>
            <a:r>
              <a:rPr lang="fr-FR" altLang="en-US" dirty="0">
                <a:solidFill>
                  <a:srgbClr val="000000"/>
                </a:solidFill>
                <a:latin typeface="Trebuchet MS" panose="020B0603020202020204" pitchFamily="34" charset="0"/>
                <a:sym typeface="Trebuchet MS" panose="020B0603020202020204" pitchFamily="34" charset="0"/>
              </a:rPr>
              <a:t> the </a:t>
            </a:r>
            <a:r>
              <a:rPr lang="fr-FR" altLang="en-US" dirty="0" err="1">
                <a:solidFill>
                  <a:srgbClr val="000000"/>
                </a:solidFill>
                <a:latin typeface="Trebuchet MS" panose="020B0603020202020204" pitchFamily="34" charset="0"/>
                <a:sym typeface="Trebuchet MS" panose="020B0603020202020204" pitchFamily="34" charset="0"/>
              </a:rPr>
              <a:t>ledger</a:t>
            </a:r>
            <a:r>
              <a:rPr lang="fr-FR" altLang="en-US" dirty="0">
                <a:solidFill>
                  <a:srgbClr val="000000"/>
                </a:solidFill>
                <a:latin typeface="Trebuchet MS" panose="020B0603020202020204" pitchFamily="34" charset="0"/>
                <a:sym typeface="Trebuchet MS" panose="020B0603020202020204" pitchFamily="34" charset="0"/>
              </a:rPr>
              <a:t>?</a:t>
            </a:r>
            <a:endParaRPr lang="fr-FR" altLang="en-US" dirty="0"/>
          </a:p>
          <a:p>
            <a:pPr indent="-381000">
              <a:lnSpc>
                <a:spcPct val="115000"/>
              </a:lnSpc>
              <a:spcBef>
                <a:spcPct val="0"/>
              </a:spcBef>
              <a:spcAft>
                <a:spcPct val="0"/>
              </a:spcAft>
              <a:buClr>
                <a:srgbClr val="000000"/>
              </a:buClr>
              <a:buSzTx/>
              <a:buFont typeface="Trebuchet MS" panose="020B0603020202020204" pitchFamily="34" charset="0"/>
              <a:buAutoNum type="arabicPeriod"/>
            </a:pPr>
            <a:r>
              <a:rPr lang="fr-FR" altLang="en-US" dirty="0" err="1">
                <a:solidFill>
                  <a:srgbClr val="000000"/>
                </a:solidFill>
                <a:latin typeface="Trebuchet MS" panose="020B0603020202020204" pitchFamily="34" charset="0"/>
                <a:sym typeface="Trebuchet MS" panose="020B0603020202020204" pitchFamily="34" charset="0"/>
              </a:rPr>
              <a:t>Who</a:t>
            </a:r>
            <a:r>
              <a:rPr lang="fr-FR" altLang="en-US" dirty="0">
                <a:solidFill>
                  <a:srgbClr val="000000"/>
                </a:solidFill>
                <a:latin typeface="Trebuchet MS" panose="020B0603020202020204" pitchFamily="34" charset="0"/>
                <a:sym typeface="Trebuchet MS" panose="020B0603020202020204" pitchFamily="34" charset="0"/>
              </a:rPr>
              <a:t> has </a:t>
            </a:r>
            <a:r>
              <a:rPr lang="fr-FR" altLang="en-US" dirty="0" err="1">
                <a:solidFill>
                  <a:srgbClr val="000000"/>
                </a:solidFill>
                <a:latin typeface="Trebuchet MS" panose="020B0603020202020204" pitchFamily="34" charset="0"/>
                <a:sym typeface="Trebuchet MS" panose="020B0603020202020204" pitchFamily="34" charset="0"/>
              </a:rPr>
              <a:t>authority</a:t>
            </a:r>
            <a:r>
              <a:rPr lang="fr-FR" altLang="en-US" dirty="0">
                <a:solidFill>
                  <a:srgbClr val="000000"/>
                </a:solidFill>
                <a:latin typeface="Trebuchet MS" panose="020B0603020202020204" pitchFamily="34" charset="0"/>
                <a:sym typeface="Trebuchet MS" panose="020B0603020202020204" pitchFamily="34" charset="0"/>
              </a:rPr>
              <a:t> over </a:t>
            </a:r>
            <a:r>
              <a:rPr lang="fr-FR" altLang="en-US" dirty="0" err="1">
                <a:solidFill>
                  <a:srgbClr val="000000"/>
                </a:solidFill>
                <a:latin typeface="Trebuchet MS" panose="020B0603020202020204" pitchFamily="34" charset="0"/>
                <a:sym typeface="Trebuchet MS" panose="020B0603020202020204" pitchFamily="34" charset="0"/>
              </a:rPr>
              <a:t>which</a:t>
            </a:r>
            <a:r>
              <a:rPr lang="fr-FR" altLang="en-US" dirty="0">
                <a:solidFill>
                  <a:srgbClr val="000000"/>
                </a:solidFill>
                <a:latin typeface="Trebuchet MS" panose="020B0603020202020204" pitchFamily="34" charset="0"/>
                <a:sym typeface="Trebuchet MS" panose="020B0603020202020204" pitchFamily="34" charset="0"/>
              </a:rPr>
              <a:t> transactions are </a:t>
            </a:r>
            <a:r>
              <a:rPr lang="fr-FR" altLang="en-US" dirty="0" err="1">
                <a:solidFill>
                  <a:srgbClr val="000000"/>
                </a:solidFill>
                <a:latin typeface="Trebuchet MS" panose="020B0603020202020204" pitchFamily="34" charset="0"/>
                <a:sym typeface="Trebuchet MS" panose="020B0603020202020204" pitchFamily="34" charset="0"/>
              </a:rPr>
              <a:t>valid</a:t>
            </a:r>
            <a:r>
              <a:rPr lang="fr-FR" altLang="en-US" dirty="0">
                <a:solidFill>
                  <a:srgbClr val="000000"/>
                </a:solidFill>
                <a:latin typeface="Trebuchet MS" panose="020B0603020202020204" pitchFamily="34" charset="0"/>
                <a:sym typeface="Trebuchet MS" panose="020B0603020202020204" pitchFamily="34" charset="0"/>
              </a:rPr>
              <a:t>?</a:t>
            </a:r>
            <a:endParaRPr lang="fr-FR" altLang="en-US" dirty="0"/>
          </a:p>
          <a:p>
            <a:pPr indent="-381000">
              <a:lnSpc>
                <a:spcPct val="115000"/>
              </a:lnSpc>
              <a:spcBef>
                <a:spcPct val="0"/>
              </a:spcBef>
              <a:spcAft>
                <a:spcPct val="0"/>
              </a:spcAft>
              <a:buClr>
                <a:srgbClr val="000000"/>
              </a:buClr>
              <a:buSzTx/>
              <a:buFont typeface="Trebuchet MS" panose="020B0603020202020204" pitchFamily="34" charset="0"/>
              <a:buAutoNum type="arabicPeriod"/>
            </a:pPr>
            <a:r>
              <a:rPr lang="fr-FR" altLang="en-US" dirty="0" err="1">
                <a:solidFill>
                  <a:srgbClr val="000000"/>
                </a:solidFill>
                <a:latin typeface="Trebuchet MS" panose="020B0603020202020204" pitchFamily="34" charset="0"/>
                <a:sym typeface="Trebuchet MS" panose="020B0603020202020204" pitchFamily="34" charset="0"/>
              </a:rPr>
              <a:t>Who</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creates</a:t>
            </a:r>
            <a:r>
              <a:rPr lang="fr-FR" altLang="en-US" dirty="0">
                <a:solidFill>
                  <a:srgbClr val="000000"/>
                </a:solidFill>
                <a:latin typeface="Trebuchet MS" panose="020B0603020202020204" pitchFamily="34" charset="0"/>
                <a:sym typeface="Trebuchet MS" panose="020B0603020202020204" pitchFamily="34" charset="0"/>
              </a:rPr>
              <a:t> new bitcoins?</a:t>
            </a:r>
            <a:endParaRPr lang="fr-FR" altLang="en-US" dirty="0"/>
          </a:p>
          <a:p>
            <a:pPr indent="-381000">
              <a:lnSpc>
                <a:spcPct val="115000"/>
              </a:lnSpc>
              <a:spcBef>
                <a:spcPct val="0"/>
              </a:spcBef>
              <a:spcAft>
                <a:spcPct val="0"/>
              </a:spcAft>
              <a:buClr>
                <a:srgbClr val="000000"/>
              </a:buClr>
              <a:buSzTx/>
              <a:buFont typeface="Trebuchet MS" panose="020B0603020202020204" pitchFamily="34" charset="0"/>
              <a:buAutoNum type="arabicPeriod"/>
            </a:pPr>
            <a:r>
              <a:rPr lang="fr-FR" altLang="en-US" dirty="0" err="1">
                <a:solidFill>
                  <a:srgbClr val="808080"/>
                </a:solidFill>
                <a:latin typeface="Trebuchet MS" panose="020B0603020202020204" pitchFamily="34" charset="0"/>
                <a:sym typeface="Trebuchet MS" panose="020B0603020202020204" pitchFamily="34" charset="0"/>
              </a:rPr>
              <a:t>Who</a:t>
            </a:r>
            <a:r>
              <a:rPr lang="fr-FR" altLang="en-US" dirty="0">
                <a:solidFill>
                  <a:srgbClr val="808080"/>
                </a:solidFill>
                <a:latin typeface="Trebuchet MS" panose="020B0603020202020204" pitchFamily="34" charset="0"/>
                <a:sym typeface="Trebuchet MS" panose="020B0603020202020204" pitchFamily="34" charset="0"/>
              </a:rPr>
              <a:t> </a:t>
            </a:r>
            <a:r>
              <a:rPr lang="fr-FR" altLang="en-US" dirty="0" err="1">
                <a:solidFill>
                  <a:srgbClr val="808080"/>
                </a:solidFill>
                <a:latin typeface="Trebuchet MS" panose="020B0603020202020204" pitchFamily="34" charset="0"/>
                <a:sym typeface="Trebuchet MS" panose="020B0603020202020204" pitchFamily="34" charset="0"/>
              </a:rPr>
              <a:t>determines</a:t>
            </a:r>
            <a:r>
              <a:rPr lang="fr-FR" altLang="en-US" dirty="0">
                <a:solidFill>
                  <a:srgbClr val="808080"/>
                </a:solidFill>
                <a:latin typeface="Trebuchet MS" panose="020B0603020202020204" pitchFamily="34" charset="0"/>
                <a:sym typeface="Trebuchet MS" panose="020B0603020202020204" pitchFamily="34" charset="0"/>
              </a:rPr>
              <a:t> how the </a:t>
            </a:r>
            <a:r>
              <a:rPr lang="fr-FR" altLang="en-US" dirty="0" err="1">
                <a:solidFill>
                  <a:srgbClr val="808080"/>
                </a:solidFill>
                <a:latin typeface="Trebuchet MS" panose="020B0603020202020204" pitchFamily="34" charset="0"/>
                <a:sym typeface="Trebuchet MS" panose="020B0603020202020204" pitchFamily="34" charset="0"/>
              </a:rPr>
              <a:t>rules</a:t>
            </a:r>
            <a:r>
              <a:rPr lang="fr-FR" altLang="en-US" dirty="0">
                <a:solidFill>
                  <a:srgbClr val="808080"/>
                </a:solidFill>
                <a:latin typeface="Trebuchet MS" panose="020B0603020202020204" pitchFamily="34" charset="0"/>
                <a:sym typeface="Trebuchet MS" panose="020B0603020202020204" pitchFamily="34" charset="0"/>
              </a:rPr>
              <a:t> of the system change?</a:t>
            </a:r>
          </a:p>
          <a:p>
            <a:pPr indent="-381000">
              <a:lnSpc>
                <a:spcPct val="115000"/>
              </a:lnSpc>
              <a:spcBef>
                <a:spcPct val="0"/>
              </a:spcBef>
              <a:spcAft>
                <a:spcPct val="0"/>
              </a:spcAft>
              <a:buClr>
                <a:srgbClr val="000000"/>
              </a:buClr>
              <a:buSzTx/>
              <a:buFont typeface="Trebuchet MS" panose="020B0603020202020204" pitchFamily="34" charset="0"/>
              <a:buAutoNum type="arabicPeriod"/>
            </a:pPr>
            <a:r>
              <a:rPr lang="fr-FR" altLang="en-US" dirty="0">
                <a:solidFill>
                  <a:srgbClr val="808080"/>
                </a:solidFill>
                <a:latin typeface="Trebuchet MS" panose="020B0603020202020204" pitchFamily="34" charset="0"/>
                <a:sym typeface="Trebuchet MS" panose="020B0603020202020204" pitchFamily="34" charset="0"/>
              </a:rPr>
              <a:t>How do bitcoins </a:t>
            </a:r>
            <a:r>
              <a:rPr lang="fr-FR" altLang="en-US" dirty="0" err="1">
                <a:solidFill>
                  <a:srgbClr val="808080"/>
                </a:solidFill>
                <a:latin typeface="Trebuchet MS" panose="020B0603020202020204" pitchFamily="34" charset="0"/>
                <a:sym typeface="Trebuchet MS" panose="020B0603020202020204" pitchFamily="34" charset="0"/>
              </a:rPr>
              <a:t>acquire</a:t>
            </a:r>
            <a:r>
              <a:rPr lang="fr-FR" altLang="en-US" dirty="0">
                <a:solidFill>
                  <a:srgbClr val="808080"/>
                </a:solidFill>
                <a:latin typeface="Trebuchet MS" panose="020B0603020202020204" pitchFamily="34" charset="0"/>
                <a:sym typeface="Trebuchet MS" panose="020B0603020202020204" pitchFamily="34" charset="0"/>
              </a:rPr>
              <a:t> exchange value?</a:t>
            </a:r>
            <a:endParaRPr lang="fr-FR" altLang="en-US" dirty="0">
              <a:solidFill>
                <a:srgbClr val="808080"/>
              </a:solidFill>
            </a:endParaRPr>
          </a:p>
          <a:p>
            <a:pPr indent="-381000">
              <a:lnSpc>
                <a:spcPct val="115000"/>
              </a:lnSpc>
              <a:spcBef>
                <a:spcPct val="0"/>
              </a:spcBef>
              <a:spcAft>
                <a:spcPct val="0"/>
              </a:spcAft>
              <a:buClr>
                <a:srgbClr val="000000"/>
              </a:buClr>
              <a:buSzTx/>
              <a:buFont typeface="Trebuchet MS" panose="020B0603020202020204" pitchFamily="34" charset="0"/>
              <a:buNone/>
            </a:pPr>
            <a:endParaRPr lang="fr-FR" altLang="en-US" dirty="0">
              <a:solidFill>
                <a:srgbClr val="000000"/>
              </a:solidFill>
              <a:latin typeface="Trebuchet MS" panose="020B0603020202020204" pitchFamily="34" charset="0"/>
              <a:sym typeface="Trebuchet MS" panose="020B0603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re 1">
            <a:extLst>
              <a:ext uri="{FF2B5EF4-FFF2-40B4-BE49-F238E27FC236}">
                <a16:creationId xmlns:a16="http://schemas.microsoft.com/office/drawing/2014/main" id="{201F69B4-773B-977A-2F46-65228D5A632A}"/>
              </a:ext>
            </a:extLst>
          </p:cNvPr>
          <p:cNvSpPr>
            <a:spLocks noGrp="1" noChangeArrowheads="1"/>
          </p:cNvSpPr>
          <p:nvPr>
            <p:ph type="title"/>
          </p:nvPr>
        </p:nvSpPr>
        <p:spPr/>
        <p:txBody>
          <a:bodyPr/>
          <a:lstStyle/>
          <a:p>
            <a:r>
              <a:rPr lang="fr-FR" altLang="en-US"/>
              <a:t>Roadmap </a:t>
            </a:r>
          </a:p>
        </p:txBody>
      </p:sp>
      <p:sp>
        <p:nvSpPr>
          <p:cNvPr id="3" name="Espace réservé du contenu 2">
            <a:extLst>
              <a:ext uri="{FF2B5EF4-FFF2-40B4-BE49-F238E27FC236}">
                <a16:creationId xmlns:a16="http://schemas.microsoft.com/office/drawing/2014/main" id="{06EC86BF-8F9B-E406-3D48-3EA97BBD31C7}"/>
              </a:ext>
            </a:extLst>
          </p:cNvPr>
          <p:cNvSpPr>
            <a:spLocks noGrp="1"/>
          </p:cNvSpPr>
          <p:nvPr>
            <p:ph idx="1"/>
          </p:nvPr>
        </p:nvSpPr>
        <p:spPr/>
        <p:txBody>
          <a:bodyPr/>
          <a:lstStyle/>
          <a:p>
            <a:pPr>
              <a:defRPr/>
            </a:pPr>
            <a:r>
              <a:rPr lang="fr-FR" sz="2800" dirty="0" err="1">
                <a:solidFill>
                  <a:schemeClr val="bg1">
                    <a:lumMod val="75000"/>
                  </a:schemeClr>
                </a:solidFill>
              </a:rPr>
              <a:t>Centralized</a:t>
            </a:r>
            <a:r>
              <a:rPr lang="fr-FR" sz="2800" dirty="0">
                <a:solidFill>
                  <a:schemeClr val="bg1">
                    <a:lumMod val="75000"/>
                  </a:schemeClr>
                </a:solidFill>
              </a:rPr>
              <a:t> and </a:t>
            </a:r>
            <a:r>
              <a:rPr lang="fr-FR" sz="2800" dirty="0" err="1">
                <a:solidFill>
                  <a:schemeClr val="bg1">
                    <a:lumMod val="75000"/>
                  </a:schemeClr>
                </a:solidFill>
              </a:rPr>
              <a:t>decentralized</a:t>
            </a:r>
            <a:r>
              <a:rPr lang="fr-FR" sz="2800" dirty="0">
                <a:solidFill>
                  <a:schemeClr val="bg1">
                    <a:lumMod val="75000"/>
                  </a:schemeClr>
                </a:solidFill>
              </a:rPr>
              <a:t> </a:t>
            </a:r>
            <a:r>
              <a:rPr lang="fr-FR" sz="2800" dirty="0" err="1">
                <a:solidFill>
                  <a:schemeClr val="bg1">
                    <a:lumMod val="75000"/>
                  </a:schemeClr>
                </a:solidFill>
              </a:rPr>
              <a:t>systems</a:t>
            </a:r>
            <a:endParaRPr lang="fr-FR" sz="2800" dirty="0">
              <a:solidFill>
                <a:schemeClr val="bg1">
                  <a:lumMod val="75000"/>
                </a:schemeClr>
              </a:solidFill>
            </a:endParaRPr>
          </a:p>
          <a:p>
            <a:pPr>
              <a:defRPr/>
            </a:pPr>
            <a:r>
              <a:rPr lang="fr-FR" sz="2800" dirty="0" err="1">
                <a:solidFill>
                  <a:srgbClr val="FF0000"/>
                </a:solidFill>
              </a:rPr>
              <a:t>Distributed</a:t>
            </a:r>
            <a:r>
              <a:rPr lang="fr-FR" sz="2800" dirty="0">
                <a:solidFill>
                  <a:srgbClr val="FF0000"/>
                </a:solidFill>
              </a:rPr>
              <a:t> Consensus</a:t>
            </a:r>
          </a:p>
          <a:p>
            <a:pPr>
              <a:defRPr/>
            </a:pPr>
            <a:r>
              <a:rPr lang="fr-FR" sz="2800" dirty="0">
                <a:solidFill>
                  <a:schemeClr val="bg1">
                    <a:lumMod val="75000"/>
                  </a:schemeClr>
                </a:solidFill>
              </a:rPr>
              <a:t>Consensus </a:t>
            </a:r>
            <a:r>
              <a:rPr lang="fr-FR" sz="2800" dirty="0" err="1">
                <a:solidFill>
                  <a:schemeClr val="bg1">
                    <a:lumMod val="75000"/>
                  </a:schemeClr>
                </a:solidFill>
              </a:rPr>
              <a:t>problem</a:t>
            </a:r>
            <a:r>
              <a:rPr lang="fr-FR" sz="2800" dirty="0">
                <a:solidFill>
                  <a:schemeClr val="bg1">
                    <a:lumMod val="75000"/>
                  </a:schemeClr>
                </a:solidFill>
              </a:rPr>
              <a:t> in </a:t>
            </a:r>
            <a:r>
              <a:rPr lang="fr-FR" sz="2800" dirty="0" err="1">
                <a:solidFill>
                  <a:schemeClr val="bg1">
                    <a:lumMod val="75000"/>
                  </a:schemeClr>
                </a:solidFill>
              </a:rPr>
              <a:t>Bitcoin</a:t>
            </a:r>
            <a:endParaRPr lang="fr-FR" sz="2800" dirty="0">
              <a:solidFill>
                <a:schemeClr val="bg1">
                  <a:lumMod val="75000"/>
                </a:schemeClr>
              </a:solidFill>
            </a:endParaRPr>
          </a:p>
          <a:p>
            <a:pPr>
              <a:defRPr/>
            </a:pPr>
            <a:r>
              <a:rPr lang="fr-FR" sz="2800" dirty="0" err="1">
                <a:solidFill>
                  <a:schemeClr val="bg1">
                    <a:lumMod val="75000"/>
                  </a:schemeClr>
                </a:solidFill>
              </a:rPr>
              <a:t>Bitcoin</a:t>
            </a:r>
            <a:r>
              <a:rPr lang="fr-FR" sz="2800" dirty="0">
                <a:solidFill>
                  <a:schemeClr val="bg1">
                    <a:lumMod val="75000"/>
                  </a:schemeClr>
                </a:solidFill>
              </a:rPr>
              <a:t> Consensus </a:t>
            </a:r>
            <a:r>
              <a:rPr lang="fr-FR" sz="2800" dirty="0" err="1">
                <a:solidFill>
                  <a:schemeClr val="bg1">
                    <a:lumMod val="75000"/>
                  </a:schemeClr>
                </a:solidFill>
              </a:rPr>
              <a:t>Algorithm</a:t>
            </a:r>
            <a:endParaRPr lang="fr-FR" sz="2800" dirty="0">
              <a:solidFill>
                <a:schemeClr val="bg1">
                  <a:lumMod val="75000"/>
                </a:schemeClr>
              </a:solidFill>
            </a:endParaRPr>
          </a:p>
          <a:p>
            <a:pPr lvl="1">
              <a:defRPr/>
            </a:pPr>
            <a:r>
              <a:rPr lang="fr-FR" sz="2400" dirty="0" err="1">
                <a:solidFill>
                  <a:schemeClr val="bg1">
                    <a:lumMod val="75000"/>
                  </a:schemeClr>
                </a:solidFill>
              </a:rPr>
              <a:t>Incentives</a:t>
            </a:r>
            <a:r>
              <a:rPr lang="fr-FR" sz="2400" dirty="0">
                <a:solidFill>
                  <a:schemeClr val="bg1">
                    <a:lumMod val="75000"/>
                  </a:schemeClr>
                </a:solidFill>
              </a:rPr>
              <a:t> for </a:t>
            </a:r>
            <a:r>
              <a:rPr lang="fr-FR" sz="2400" dirty="0" err="1">
                <a:solidFill>
                  <a:schemeClr val="bg1">
                    <a:lumMod val="75000"/>
                  </a:schemeClr>
                </a:solidFill>
              </a:rPr>
              <a:t>miners</a:t>
            </a:r>
            <a:r>
              <a:rPr lang="fr-FR" sz="2400" dirty="0">
                <a:solidFill>
                  <a:schemeClr val="bg1">
                    <a:lumMod val="75000"/>
                  </a:schemeClr>
                </a:solidFill>
              </a:rPr>
              <a:t>, Proof of </a:t>
            </a:r>
            <a:r>
              <a:rPr lang="fr-FR" sz="2400" dirty="0" err="1">
                <a:solidFill>
                  <a:schemeClr val="bg1">
                    <a:lumMod val="75000"/>
                  </a:schemeClr>
                </a:solidFill>
              </a:rPr>
              <a:t>work</a:t>
            </a:r>
            <a:r>
              <a:rPr lang="fr-FR" sz="2400" dirty="0">
                <a:solidFill>
                  <a:schemeClr val="bg1">
                    <a:lumMod val="75000"/>
                  </a:schemeClr>
                </a:solidFill>
              </a:rPr>
              <a:t> , Limitations</a:t>
            </a:r>
          </a:p>
        </p:txBody>
      </p:sp>
      <p:sp>
        <p:nvSpPr>
          <p:cNvPr id="2" name="Slide Number Placeholder 1">
            <a:extLst>
              <a:ext uri="{FF2B5EF4-FFF2-40B4-BE49-F238E27FC236}">
                <a16:creationId xmlns:a16="http://schemas.microsoft.com/office/drawing/2014/main" id="{22032F06-723C-53F8-568B-C3A9A3AA354C}"/>
              </a:ext>
            </a:extLst>
          </p:cNvPr>
          <p:cNvSpPr>
            <a:spLocks noGrp="1"/>
          </p:cNvSpPr>
          <p:nvPr>
            <p:ph type="sldNum" sz="quarter" idx="12"/>
          </p:nvPr>
        </p:nvSpPr>
        <p:spPr/>
        <p:txBody>
          <a:bodyPr/>
          <a:lstStyle/>
          <a:p>
            <a:fld id="{54AFB715-9BAA-466F-BD26-510BF652CDA2}" type="slidenum">
              <a:rPr lang="en-US" altLang="en-US" smtClean="0"/>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re 1">
            <a:extLst>
              <a:ext uri="{FF2B5EF4-FFF2-40B4-BE49-F238E27FC236}">
                <a16:creationId xmlns:a16="http://schemas.microsoft.com/office/drawing/2014/main" id="{450809F1-B8E5-EDDF-9076-DA1E787B35DF}"/>
              </a:ext>
            </a:extLst>
          </p:cNvPr>
          <p:cNvSpPr>
            <a:spLocks noGrp="1" noChangeArrowheads="1"/>
          </p:cNvSpPr>
          <p:nvPr>
            <p:ph type="title"/>
          </p:nvPr>
        </p:nvSpPr>
        <p:spPr>
          <a:xfrm>
            <a:off x="457200" y="274638"/>
            <a:ext cx="8229600" cy="1143000"/>
          </a:xfrm>
        </p:spPr>
        <p:txBody>
          <a:bodyPr/>
          <a:lstStyle/>
          <a:p>
            <a:pPr>
              <a:spcBef>
                <a:spcPct val="0"/>
              </a:spcBef>
              <a:spcAft>
                <a:spcPct val="0"/>
              </a:spcAft>
              <a:buSzTx/>
            </a:pPr>
            <a:r>
              <a:rPr lang="fr-FR" altLang="en-US">
                <a:solidFill>
                  <a:srgbClr val="000000"/>
                </a:solidFill>
                <a:sym typeface="Trebuchet MS" panose="020B0603020202020204" pitchFamily="34" charset="0"/>
              </a:rPr>
              <a:t>Decentralization </a:t>
            </a:r>
            <a:r>
              <a:rPr lang="fr-FR" altLang="en-US"/>
              <a:t>Challenges</a:t>
            </a:r>
          </a:p>
        </p:txBody>
      </p:sp>
      <p:sp>
        <p:nvSpPr>
          <p:cNvPr id="23554" name="Espace réservé du texte 2">
            <a:extLst>
              <a:ext uri="{FF2B5EF4-FFF2-40B4-BE49-F238E27FC236}">
                <a16:creationId xmlns:a16="http://schemas.microsoft.com/office/drawing/2014/main" id="{AC179D17-463F-B2CE-15BA-5362E9C8C664}"/>
              </a:ext>
            </a:extLst>
          </p:cNvPr>
          <p:cNvSpPr>
            <a:spLocks noGrp="1" noChangeArrowheads="1"/>
          </p:cNvSpPr>
          <p:nvPr>
            <p:ph type="body" idx="1"/>
          </p:nvPr>
        </p:nvSpPr>
        <p:spPr>
          <a:xfrm>
            <a:off x="457200" y="1600200"/>
            <a:ext cx="8229600" cy="4967288"/>
          </a:xfrm>
        </p:spPr>
        <p:txBody>
          <a:bodyPr/>
          <a:lstStyle/>
          <a:p>
            <a:pPr>
              <a:spcAft>
                <a:spcPct val="0"/>
              </a:spcAft>
              <a:buSzTx/>
            </a:pPr>
            <a:r>
              <a:rPr lang="fr-FR" altLang="en-US" dirty="0"/>
              <a:t>A lot more </a:t>
            </a:r>
            <a:r>
              <a:rPr lang="fr-FR" altLang="en-US" dirty="0" err="1"/>
              <a:t>when</a:t>
            </a:r>
            <a:r>
              <a:rPr lang="fr-FR" altLang="en-US" dirty="0"/>
              <a:t> </a:t>
            </a:r>
            <a:r>
              <a:rPr lang="fr-FR" altLang="en-US" dirty="0" err="1"/>
              <a:t>compared</a:t>
            </a:r>
            <a:r>
              <a:rPr lang="fr-FR" altLang="en-US" dirty="0"/>
              <a:t> to a </a:t>
            </a:r>
            <a:r>
              <a:rPr lang="fr-FR" altLang="en-US" dirty="0" err="1"/>
              <a:t>centralized</a:t>
            </a:r>
            <a:r>
              <a:rPr lang="fr-FR" altLang="en-US" dirty="0"/>
              <a:t> system. </a:t>
            </a:r>
          </a:p>
          <a:p>
            <a:pPr>
              <a:spcAft>
                <a:spcPct val="0"/>
              </a:spcAft>
              <a:buSzTx/>
            </a:pPr>
            <a:r>
              <a:rPr lang="fr-FR" altLang="en-US" dirty="0"/>
              <a:t>There </a:t>
            </a:r>
            <a:r>
              <a:rPr lang="fr-FR" altLang="en-US" dirty="0" err="1"/>
              <a:t>is</a:t>
            </a:r>
            <a:r>
              <a:rPr lang="fr-FR" altLang="en-US" dirty="0"/>
              <a:t> no global </a:t>
            </a:r>
            <a:r>
              <a:rPr lang="fr-FR" altLang="en-US" dirty="0" err="1"/>
              <a:t>clock</a:t>
            </a:r>
            <a:r>
              <a:rPr lang="fr-FR" altLang="en-US" dirty="0"/>
              <a:t> and an </a:t>
            </a:r>
            <a:r>
              <a:rPr lang="fr-FR" altLang="en-US" dirty="0" err="1"/>
              <a:t>agreed</a:t>
            </a:r>
            <a:r>
              <a:rPr lang="fr-FR" altLang="en-US" dirty="0"/>
              <a:t> </a:t>
            </a:r>
            <a:r>
              <a:rPr lang="fr-FR" altLang="en-US" dirty="0" err="1"/>
              <a:t>upon</a:t>
            </a:r>
            <a:r>
              <a:rPr lang="fr-FR" altLang="en-US" dirty="0"/>
              <a:t> notion of time. </a:t>
            </a:r>
          </a:p>
          <a:p>
            <a:pPr>
              <a:spcAft>
                <a:spcPct val="0"/>
              </a:spcAft>
              <a:buSzTx/>
            </a:pPr>
            <a:endParaRPr lang="fr-FR" altLang="en-US" dirty="0"/>
          </a:p>
          <a:p>
            <a:pPr>
              <a:spcAft>
                <a:spcPct val="0"/>
              </a:spcAft>
              <a:buSzTx/>
            </a:pPr>
            <a:r>
              <a:rPr lang="fr-FR" altLang="en-US" dirty="0"/>
              <a:t>So? </a:t>
            </a:r>
            <a:r>
              <a:rPr lang="fr-FR" altLang="en-US" dirty="0" err="1"/>
              <a:t>Why</a:t>
            </a:r>
            <a:r>
              <a:rPr lang="fr-FR" altLang="en-US" dirty="0"/>
              <a:t> </a:t>
            </a:r>
            <a:r>
              <a:rPr lang="fr-FR" altLang="en-US" dirty="0" err="1"/>
              <a:t>does</a:t>
            </a:r>
            <a:r>
              <a:rPr lang="fr-FR" altLang="en-US" dirty="0"/>
              <a:t> </a:t>
            </a:r>
            <a:r>
              <a:rPr lang="fr-FR" altLang="en-US" dirty="0" err="1"/>
              <a:t>it</a:t>
            </a:r>
            <a:r>
              <a:rPr lang="fr-FR" altLang="en-US" dirty="0"/>
              <a:t> </a:t>
            </a:r>
            <a:r>
              <a:rPr lang="fr-FR" altLang="en-US" dirty="0" err="1"/>
              <a:t>matter</a:t>
            </a:r>
            <a:r>
              <a:rPr lang="fr-FR" altLang="en-US" dirty="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re 1">
            <a:extLst>
              <a:ext uri="{FF2B5EF4-FFF2-40B4-BE49-F238E27FC236}">
                <a16:creationId xmlns:a16="http://schemas.microsoft.com/office/drawing/2014/main" id="{CC8C75E6-6030-F3FD-CCAF-E530F9E0D2ED}"/>
              </a:ext>
            </a:extLst>
          </p:cNvPr>
          <p:cNvSpPr>
            <a:spLocks noGrp="1" noChangeArrowheads="1"/>
          </p:cNvSpPr>
          <p:nvPr>
            <p:ph type="title"/>
          </p:nvPr>
        </p:nvSpPr>
        <p:spPr/>
        <p:txBody>
          <a:bodyPr/>
          <a:lstStyle/>
          <a:p>
            <a:r>
              <a:rPr lang="fr-FR" altLang="en-US"/>
              <a:t>The distributed consensus problem</a:t>
            </a:r>
          </a:p>
        </p:txBody>
      </p:sp>
      <p:sp>
        <p:nvSpPr>
          <p:cNvPr id="24578" name="Espace réservé du contenu 2">
            <a:extLst>
              <a:ext uri="{FF2B5EF4-FFF2-40B4-BE49-F238E27FC236}">
                <a16:creationId xmlns:a16="http://schemas.microsoft.com/office/drawing/2014/main" id="{6BDDC99B-F0AA-3B05-980D-D87FF5FCB191}"/>
              </a:ext>
            </a:extLst>
          </p:cNvPr>
          <p:cNvSpPr>
            <a:spLocks noGrp="1" noChangeArrowheads="1"/>
          </p:cNvSpPr>
          <p:nvPr>
            <p:ph idx="1"/>
          </p:nvPr>
        </p:nvSpPr>
        <p:spPr/>
        <p:txBody>
          <a:bodyPr/>
          <a:lstStyle/>
          <a:p>
            <a:r>
              <a:rPr lang="fr-FR" altLang="en-US" sz="2800" dirty="0"/>
              <a:t>The consensus </a:t>
            </a:r>
            <a:r>
              <a:rPr lang="fr-FR" altLang="en-US" sz="2800" dirty="0" err="1"/>
              <a:t>problem</a:t>
            </a:r>
            <a:r>
              <a:rPr lang="fr-FR" altLang="en-US" sz="2800" dirty="0"/>
              <a:t> in </a:t>
            </a:r>
            <a:r>
              <a:rPr lang="fr-FR" altLang="en-US" sz="2800" dirty="0" err="1"/>
              <a:t>distributed</a:t>
            </a:r>
            <a:r>
              <a:rPr lang="fr-FR" altLang="en-US" sz="2800" dirty="0"/>
              <a:t> </a:t>
            </a:r>
            <a:r>
              <a:rPr lang="fr-FR" altLang="en-US" sz="2800" dirty="0" err="1"/>
              <a:t>systems</a:t>
            </a:r>
            <a:r>
              <a:rPr lang="fr-FR" altLang="en-US" sz="2800" dirty="0"/>
              <a:t> </a:t>
            </a:r>
            <a:r>
              <a:rPr lang="fr-FR" altLang="en-US" sz="2800" dirty="0" err="1"/>
              <a:t>is</a:t>
            </a:r>
            <a:r>
              <a:rPr lang="fr-FR" altLang="en-US" sz="2800" dirty="0"/>
              <a:t> the </a:t>
            </a:r>
            <a:r>
              <a:rPr lang="fr-FR" altLang="en-US" sz="2800" dirty="0" err="1"/>
              <a:t>problem</a:t>
            </a:r>
            <a:r>
              <a:rPr lang="fr-FR" altLang="en-US" sz="2800" dirty="0"/>
              <a:t> of </a:t>
            </a:r>
            <a:r>
              <a:rPr lang="fr-FR" altLang="en-US" sz="2800" dirty="0" err="1"/>
              <a:t>getting</a:t>
            </a:r>
            <a:r>
              <a:rPr lang="fr-FR" altLang="en-US" sz="2800" dirty="0"/>
              <a:t> a set of </a:t>
            </a:r>
            <a:r>
              <a:rPr lang="fr-FR" altLang="en-US" sz="2800" dirty="0" err="1"/>
              <a:t>nodes</a:t>
            </a:r>
            <a:r>
              <a:rPr lang="fr-FR" altLang="en-US" sz="2800" dirty="0"/>
              <a:t> to </a:t>
            </a:r>
            <a:r>
              <a:rPr lang="fr-FR" altLang="en-US" sz="2800" dirty="0" err="1"/>
              <a:t>agree</a:t>
            </a:r>
            <a:r>
              <a:rPr lang="fr-FR" altLang="en-US" sz="2800" dirty="0"/>
              <a:t> on </a:t>
            </a:r>
            <a:r>
              <a:rPr lang="fr-FR" altLang="en-US" sz="2800" dirty="0" err="1"/>
              <a:t>something</a:t>
            </a:r>
            <a:endParaRPr lang="fr-FR" altLang="en-US" sz="2800" dirty="0"/>
          </a:p>
          <a:p>
            <a:pPr lvl="1"/>
            <a:r>
              <a:rPr lang="fr-FR" altLang="en-US" dirty="0" err="1"/>
              <a:t>it</a:t>
            </a:r>
            <a:r>
              <a:rPr lang="fr-FR" altLang="en-US" dirty="0"/>
              <a:t> </a:t>
            </a:r>
            <a:r>
              <a:rPr lang="fr-FR" altLang="en-US" dirty="0" err="1"/>
              <a:t>might</a:t>
            </a:r>
            <a:r>
              <a:rPr lang="fr-FR" altLang="en-US" dirty="0"/>
              <a:t> </a:t>
            </a:r>
            <a:r>
              <a:rPr lang="fr-FR" altLang="en-US" dirty="0" err="1"/>
              <a:t>be</a:t>
            </a:r>
            <a:r>
              <a:rPr lang="fr-FR" altLang="en-US" dirty="0"/>
              <a:t> a value</a:t>
            </a:r>
          </a:p>
          <a:p>
            <a:pPr lvl="1"/>
            <a:r>
              <a:rPr lang="fr-FR" altLang="en-US" dirty="0"/>
              <a:t>a course of action or a </a:t>
            </a:r>
            <a:r>
              <a:rPr lang="fr-FR" altLang="en-US" dirty="0" err="1"/>
              <a:t>decision</a:t>
            </a:r>
            <a:r>
              <a:rPr lang="fr-FR" altLang="en-US" dirty="0"/>
              <a:t>.</a:t>
            </a:r>
          </a:p>
          <a:p>
            <a:pPr lvl="1"/>
            <a:endParaRPr lang="fr-FR" altLang="en-US" dirty="0">
              <a:sym typeface="Trebuchet MS" panose="020B0603020202020204" pitchFamily="34" charset="0"/>
            </a:endParaRPr>
          </a:p>
          <a:p>
            <a:r>
              <a:rPr lang="fr-FR" altLang="en-US" sz="2800" dirty="0">
                <a:sym typeface="Trebuchet MS" panose="020B0603020202020204" pitchFamily="34" charset="0"/>
              </a:rPr>
              <a:t>The </a:t>
            </a:r>
            <a:r>
              <a:rPr lang="fr-FR" altLang="en-US" sz="2800" dirty="0" err="1">
                <a:sym typeface="Trebuchet MS" panose="020B0603020202020204" pitchFamily="34" charset="0"/>
              </a:rPr>
              <a:t>protocol</a:t>
            </a:r>
            <a:r>
              <a:rPr lang="fr-FR" altLang="en-US" sz="2800" dirty="0">
                <a:sym typeface="Trebuchet MS" panose="020B0603020202020204" pitchFamily="34" charset="0"/>
              </a:rPr>
              <a:t> </a:t>
            </a:r>
            <a:r>
              <a:rPr lang="fr-FR" altLang="en-US" sz="2800" dirty="0" err="1">
                <a:sym typeface="Trebuchet MS" panose="020B0603020202020204" pitchFamily="34" charset="0"/>
              </a:rPr>
              <a:t>terminates</a:t>
            </a:r>
            <a:r>
              <a:rPr lang="fr-FR" altLang="en-US" sz="2800" dirty="0">
                <a:sym typeface="Trebuchet MS" panose="020B0603020202020204" pitchFamily="34" charset="0"/>
              </a:rPr>
              <a:t> and all correct </a:t>
            </a:r>
            <a:r>
              <a:rPr lang="fr-FR" altLang="en-US" sz="2800" dirty="0" err="1">
                <a:sym typeface="Trebuchet MS" panose="020B0603020202020204" pitchFamily="34" charset="0"/>
              </a:rPr>
              <a:t>nodes</a:t>
            </a:r>
            <a:r>
              <a:rPr lang="fr-FR" altLang="en-US" sz="2800" dirty="0">
                <a:sym typeface="Trebuchet MS" panose="020B0603020202020204" pitchFamily="34" charset="0"/>
              </a:rPr>
              <a:t> </a:t>
            </a:r>
            <a:r>
              <a:rPr lang="fr-FR" altLang="en-US" sz="2800" dirty="0" err="1">
                <a:sym typeface="Trebuchet MS" panose="020B0603020202020204" pitchFamily="34" charset="0"/>
              </a:rPr>
              <a:t>decide</a:t>
            </a:r>
            <a:r>
              <a:rPr lang="fr-FR" altLang="en-US" sz="2800" dirty="0">
                <a:sym typeface="Trebuchet MS" panose="020B0603020202020204" pitchFamily="34" charset="0"/>
              </a:rPr>
              <a:t> on the </a:t>
            </a:r>
            <a:r>
              <a:rPr lang="fr-FR" altLang="en-US" sz="2800" dirty="0" err="1">
                <a:sym typeface="Trebuchet MS" panose="020B0603020202020204" pitchFamily="34" charset="0"/>
              </a:rPr>
              <a:t>same</a:t>
            </a:r>
            <a:r>
              <a:rPr lang="fr-FR" altLang="en-US" sz="2800" dirty="0">
                <a:sym typeface="Trebuchet MS" panose="020B0603020202020204" pitchFamily="34" charset="0"/>
              </a:rPr>
              <a:t> value. This value must have been </a:t>
            </a:r>
            <a:r>
              <a:rPr lang="fr-FR" altLang="en-US" sz="2800" dirty="0" err="1">
                <a:sym typeface="Trebuchet MS" panose="020B0603020202020204" pitchFamily="34" charset="0"/>
              </a:rPr>
              <a:t>proposed</a:t>
            </a:r>
            <a:r>
              <a:rPr lang="fr-FR" altLang="en-US" sz="2800" dirty="0">
                <a:sym typeface="Trebuchet MS" panose="020B0603020202020204" pitchFamily="34" charset="0"/>
              </a:rPr>
              <a:t> by </a:t>
            </a:r>
            <a:r>
              <a:rPr lang="fr-FR" altLang="en-US" sz="2800" dirty="0" err="1">
                <a:sym typeface="Trebuchet MS" panose="020B0603020202020204" pitchFamily="34" charset="0"/>
              </a:rPr>
              <a:t>some</a:t>
            </a:r>
            <a:r>
              <a:rPr lang="fr-FR" altLang="en-US" sz="2800" dirty="0">
                <a:sym typeface="Trebuchet MS" panose="020B0603020202020204" pitchFamily="34" charset="0"/>
              </a:rPr>
              <a:t> correct </a:t>
            </a:r>
            <a:r>
              <a:rPr lang="fr-FR" altLang="en-US" sz="2800" dirty="0" err="1">
                <a:sym typeface="Trebuchet MS" panose="020B0603020202020204" pitchFamily="34" charset="0"/>
              </a:rPr>
              <a:t>node</a:t>
            </a:r>
            <a:endParaRPr lang="fr-FR" altLang="en-US" sz="2800" dirty="0"/>
          </a:p>
        </p:txBody>
      </p:sp>
      <p:sp>
        <p:nvSpPr>
          <p:cNvPr id="2" name="Slide Number Placeholder 1">
            <a:extLst>
              <a:ext uri="{FF2B5EF4-FFF2-40B4-BE49-F238E27FC236}">
                <a16:creationId xmlns:a16="http://schemas.microsoft.com/office/drawing/2014/main" id="{53EE617D-789A-7EFC-7313-E8A44795C3EB}"/>
              </a:ext>
            </a:extLst>
          </p:cNvPr>
          <p:cNvSpPr>
            <a:spLocks noGrp="1"/>
          </p:cNvSpPr>
          <p:nvPr>
            <p:ph type="sldNum" sz="quarter" idx="12"/>
          </p:nvPr>
        </p:nvSpPr>
        <p:spPr/>
        <p:txBody>
          <a:bodyPr/>
          <a:lstStyle/>
          <a:p>
            <a:fld id="{54AFB715-9BAA-466F-BD26-510BF652CDA2}" type="slidenum">
              <a:rPr lang="en-US" altLang="en-US" smtClean="0"/>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Google Shape;159;p22">
            <a:extLst>
              <a:ext uri="{FF2B5EF4-FFF2-40B4-BE49-F238E27FC236}">
                <a16:creationId xmlns:a16="http://schemas.microsoft.com/office/drawing/2014/main" id="{B7B66D7D-5AEC-AD2F-4E36-844A5886DBB9}"/>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Why consensus is hard</a:t>
            </a:r>
          </a:p>
        </p:txBody>
      </p:sp>
      <p:sp>
        <p:nvSpPr>
          <p:cNvPr id="25602" name="Google Shape;160;p22">
            <a:extLst>
              <a:ext uri="{FF2B5EF4-FFF2-40B4-BE49-F238E27FC236}">
                <a16:creationId xmlns:a16="http://schemas.microsoft.com/office/drawing/2014/main" id="{C94E0561-052C-AC88-9BC6-FE5FD281818B}"/>
              </a:ext>
            </a:extLst>
          </p:cNvPr>
          <p:cNvSpPr>
            <a:spLocks noGrp="1" noChangeArrowheads="1"/>
          </p:cNvSpPr>
          <p:nvPr>
            <p:ph type="body" idx="1"/>
          </p:nvPr>
        </p:nvSpPr>
        <p:spPr>
          <a:xfrm>
            <a:off x="457200" y="1600200"/>
            <a:ext cx="8229600" cy="4967288"/>
          </a:xfrm>
        </p:spPr>
        <p:txBody>
          <a:bodyPr/>
          <a:lstStyle/>
          <a:p>
            <a:pPr marL="0" indent="0">
              <a:spcBef>
                <a:spcPct val="0"/>
              </a:spcBef>
              <a:spcAft>
                <a:spcPct val="0"/>
              </a:spcAft>
              <a:buClr>
                <a:srgbClr val="000000"/>
              </a:buClr>
              <a:buSzTx/>
              <a:buFont typeface="Trebuchet MS" panose="020B0603020202020204" pitchFamily="34" charset="0"/>
              <a:buNone/>
            </a:pPr>
            <a:r>
              <a:rPr lang="fr-FR" altLang="en-US" sz="2400">
                <a:solidFill>
                  <a:srgbClr val="000000"/>
                </a:solidFill>
                <a:latin typeface="Trebuchet MS" panose="020B0603020202020204" pitchFamily="34" charset="0"/>
                <a:sym typeface="Trebuchet MS" panose="020B0603020202020204" pitchFamily="34" charset="0"/>
              </a:rPr>
              <a:t>Nodes may crash</a:t>
            </a:r>
            <a:endParaRPr lang="fr-FR" altLang="en-US"/>
          </a:p>
          <a:p>
            <a:pPr marL="0" indent="0">
              <a:spcBef>
                <a:spcPct val="0"/>
              </a:spcBef>
              <a:spcAft>
                <a:spcPct val="0"/>
              </a:spcAft>
              <a:buClr>
                <a:srgbClr val="000000"/>
              </a:buClr>
              <a:buSzTx/>
              <a:buFont typeface="Trebuchet MS" panose="020B0603020202020204" pitchFamily="34" charset="0"/>
              <a:buNone/>
            </a:pPr>
            <a:r>
              <a:rPr lang="fr-FR" altLang="en-US" sz="2400">
                <a:solidFill>
                  <a:srgbClr val="000000"/>
                </a:solidFill>
                <a:latin typeface="Trebuchet MS" panose="020B0603020202020204" pitchFamily="34" charset="0"/>
                <a:sym typeface="Trebuchet MS" panose="020B0603020202020204" pitchFamily="34" charset="0"/>
              </a:rPr>
              <a:t>Nodes may be malicious</a:t>
            </a:r>
            <a:endParaRPr lang="fr-FR" altLang="en-US"/>
          </a:p>
          <a:p>
            <a:pPr marL="0" indent="0">
              <a:spcBef>
                <a:spcPct val="0"/>
              </a:spcBef>
              <a:spcAft>
                <a:spcPct val="0"/>
              </a:spcAft>
              <a:buClr>
                <a:srgbClr val="000000"/>
              </a:buClr>
              <a:buSzTx/>
              <a:buFont typeface="Trebuchet MS" panose="020B0603020202020204" pitchFamily="34" charset="0"/>
              <a:buNone/>
            </a:pPr>
            <a:endParaRPr lang="fr-FR" altLang="en-US" sz="240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400">
                <a:solidFill>
                  <a:srgbClr val="000000"/>
                </a:solidFill>
                <a:latin typeface="Trebuchet MS" panose="020B0603020202020204" pitchFamily="34" charset="0"/>
                <a:sym typeface="Trebuchet MS" panose="020B0603020202020204" pitchFamily="34" charset="0"/>
              </a:rPr>
              <a:t>Network is imperfect</a:t>
            </a:r>
            <a:endParaRPr lang="fr-FR" altLang="en-US"/>
          </a:p>
          <a:p>
            <a:pPr marL="0" indent="0">
              <a:spcBef>
                <a:spcPct val="0"/>
              </a:spcBef>
              <a:spcAft>
                <a:spcPct val="0"/>
              </a:spcAft>
              <a:buClr>
                <a:srgbClr val="000000"/>
              </a:buClr>
              <a:buSzTx/>
              <a:buFontTx/>
              <a:buChar char="•"/>
            </a:pPr>
            <a:r>
              <a:rPr lang="fr-FR" altLang="en-US" sz="2400">
                <a:solidFill>
                  <a:srgbClr val="000000"/>
                </a:solidFill>
                <a:latin typeface="Trebuchet MS" panose="020B0603020202020204" pitchFamily="34" charset="0"/>
                <a:sym typeface="Trebuchet MS" panose="020B0603020202020204" pitchFamily="34" charset="0"/>
              </a:rPr>
              <a:t>Not all pairs of nodes connected</a:t>
            </a:r>
            <a:endParaRPr lang="fr-FR" altLang="en-US"/>
          </a:p>
          <a:p>
            <a:pPr marL="0" indent="0">
              <a:spcBef>
                <a:spcPct val="0"/>
              </a:spcBef>
              <a:spcAft>
                <a:spcPct val="0"/>
              </a:spcAft>
              <a:buClr>
                <a:srgbClr val="000000"/>
              </a:buClr>
              <a:buSzTx/>
              <a:buFontTx/>
              <a:buChar char="•"/>
            </a:pPr>
            <a:r>
              <a:rPr lang="fr-FR" altLang="en-US" sz="2400">
                <a:solidFill>
                  <a:srgbClr val="000000"/>
                </a:solidFill>
                <a:latin typeface="Trebuchet MS" panose="020B0603020202020204" pitchFamily="34" charset="0"/>
                <a:sym typeface="Trebuchet MS" panose="020B0603020202020204" pitchFamily="34" charset="0"/>
              </a:rPr>
              <a:t>Faults in network</a:t>
            </a:r>
            <a:endParaRPr lang="fr-FR" altLang="en-US"/>
          </a:p>
          <a:p>
            <a:pPr marL="0" indent="0">
              <a:spcBef>
                <a:spcPct val="0"/>
              </a:spcBef>
              <a:spcAft>
                <a:spcPct val="0"/>
              </a:spcAft>
              <a:buClr>
                <a:srgbClr val="000000"/>
              </a:buClr>
              <a:buSzTx/>
              <a:buFontTx/>
              <a:buChar char="•"/>
            </a:pPr>
            <a:r>
              <a:rPr lang="fr-FR" altLang="en-US" sz="2400">
                <a:solidFill>
                  <a:srgbClr val="000000"/>
                </a:solidFill>
                <a:latin typeface="Trebuchet MS" panose="020B0603020202020204" pitchFamily="34" charset="0"/>
                <a:sym typeface="Trebuchet MS" panose="020B0603020202020204" pitchFamily="34" charset="0"/>
              </a:rPr>
              <a:t>Latency</a:t>
            </a:r>
            <a:endParaRPr lang="fr-FR" altLang="en-US"/>
          </a:p>
        </p:txBody>
      </p:sp>
      <p:sp>
        <p:nvSpPr>
          <p:cNvPr id="161" name="Google Shape;161;p22">
            <a:extLst>
              <a:ext uri="{FF2B5EF4-FFF2-40B4-BE49-F238E27FC236}">
                <a16:creationId xmlns:a16="http://schemas.microsoft.com/office/drawing/2014/main" id="{CF37B180-2433-7FAF-BFF5-7963E597EE8D}"/>
              </a:ext>
            </a:extLst>
          </p:cNvPr>
          <p:cNvSpPr>
            <a:spLocks noChangeArrowheads="1"/>
          </p:cNvSpPr>
          <p:nvPr/>
        </p:nvSpPr>
        <p:spPr bwMode="auto">
          <a:xfrm>
            <a:off x="2286000" y="5556250"/>
            <a:ext cx="3543300" cy="615950"/>
          </a:xfrm>
          <a:prstGeom prst="rect">
            <a:avLst/>
          </a:prstGeom>
          <a:solidFill>
            <a:srgbClr val="EFD7AE"/>
          </a:solidFill>
          <a:ln w="19050">
            <a:solidFill>
              <a:srgbClr val="E7C586"/>
            </a:solidFill>
            <a:round/>
            <a:headEnd type="none" w="sm" len="sm"/>
            <a:tailEnd type="none" w="sm" len="sm"/>
          </a:ln>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2400">
                <a:solidFill>
                  <a:srgbClr val="000000"/>
                </a:solidFill>
                <a:latin typeface="Trebuchet MS" panose="020B0603020202020204" pitchFamily="34" charset="0"/>
                <a:sym typeface="Trebuchet MS" panose="020B0603020202020204" pitchFamily="34" charset="0"/>
              </a:rPr>
              <a:t>No notion of global time</a:t>
            </a:r>
            <a:endParaRPr lang="fr-FR" altLang="en-US" sz="2800"/>
          </a:p>
        </p:txBody>
      </p:sp>
      <p:sp>
        <p:nvSpPr>
          <p:cNvPr id="162" name="Google Shape;162;p22">
            <a:extLst>
              <a:ext uri="{FF2B5EF4-FFF2-40B4-BE49-F238E27FC236}">
                <a16:creationId xmlns:a16="http://schemas.microsoft.com/office/drawing/2014/main" id="{89A70EC9-F591-5725-F300-10A9B76349BF}"/>
              </a:ext>
            </a:extLst>
          </p:cNvPr>
          <p:cNvSpPr/>
          <p:nvPr/>
        </p:nvSpPr>
        <p:spPr>
          <a:xfrm rot="5400000">
            <a:off x="1408112" y="5243513"/>
            <a:ext cx="765175" cy="685800"/>
          </a:xfrm>
          <a:prstGeom prst="bentUpArrow">
            <a:avLst>
              <a:gd name="adj1" fmla="val 17680"/>
              <a:gd name="adj2" fmla="val 14803"/>
              <a:gd name="adj3" fmla="val 25000"/>
            </a:avLst>
          </a:prstGeom>
          <a:solidFill>
            <a:srgbClr val="EFD7AE"/>
          </a:solidFill>
          <a:ln w="25400" cap="flat" cmpd="sng">
            <a:solidFill>
              <a:srgbClr val="E7C586"/>
            </a:solidFill>
            <a:prstDash val="solid"/>
            <a:round/>
            <a:headEnd type="none" w="sm" len="sm"/>
            <a:tailEnd type="none" w="sm" len="sm"/>
          </a:ln>
        </p:spPr>
        <p:txBody>
          <a:bodyPr spcFirstLastPara="1" lIns="91425" tIns="45700" rIns="91425" bIns="45700" anchor="ctr"/>
          <a:lstStyle/>
          <a:p>
            <a:pPr algn="ctr" eaLnBrk="1" hangingPunct="1">
              <a:spcBef>
                <a:spcPts val="0"/>
              </a:spcBef>
              <a:spcAft>
                <a:spcPts val="0"/>
              </a:spcAft>
              <a:buClr>
                <a:srgbClr val="000000"/>
              </a:buClr>
              <a:buFont typeface="Arial"/>
              <a:buNone/>
              <a:defRPr/>
            </a:pPr>
            <a:endParaRPr sz="14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fade">
                                      <p:cBhvr>
                                        <p:cTn id="7" dur="1"/>
                                        <p:tgtEl>
                                          <p:spTgt spid="162"/>
                                        </p:tgtEl>
                                      </p:cBhvr>
                                    </p:animEffect>
                                  </p:childTnLst>
                                </p:cTn>
                              </p:par>
                              <p:par>
                                <p:cTn id="8" presetID="10" presetClass="entr" presetSubtype="0" fill="hold" nodeType="withEffect">
                                  <p:stCondLst>
                                    <p:cond delay="0"/>
                                  </p:stCondLst>
                                  <p:childTnLst>
                                    <p:set>
                                      <p:cBhvr>
                                        <p:cTn id="9" dur="1" fill="hold">
                                          <p:stCondLst>
                                            <p:cond delay="0"/>
                                          </p:stCondLst>
                                        </p:cTn>
                                        <p:tgtEl>
                                          <p:spTgt spid="161"/>
                                        </p:tgtEl>
                                        <p:attrNameLst>
                                          <p:attrName>style.visibility</p:attrName>
                                        </p:attrNameLst>
                                      </p:cBhvr>
                                      <p:to>
                                        <p:strVal val="visible"/>
                                      </p:to>
                                    </p:set>
                                    <p:animEffect transition="in" filter="fade">
                                      <p:cBhvr>
                                        <p:cTn id="10" dur="1"/>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2" descr="underline_base">
            <a:extLst>
              <a:ext uri="{FF2B5EF4-FFF2-40B4-BE49-F238E27FC236}">
                <a16:creationId xmlns:a16="http://schemas.microsoft.com/office/drawing/2014/main" id="{B0CFEAE6-098B-B036-41B5-6E517276717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725" y="1016000"/>
            <a:ext cx="6399213"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0" name="Rectangle 45">
            <a:extLst>
              <a:ext uri="{FF2B5EF4-FFF2-40B4-BE49-F238E27FC236}">
                <a16:creationId xmlns:a16="http://schemas.microsoft.com/office/drawing/2014/main" id="{AAD10449-082A-674F-13D4-270199E85357}"/>
              </a:ext>
            </a:extLst>
          </p:cNvPr>
          <p:cNvSpPr>
            <a:spLocks noGrp="1" noChangeArrowheads="1"/>
          </p:cNvSpPr>
          <p:nvPr>
            <p:ph type="title"/>
          </p:nvPr>
        </p:nvSpPr>
        <p:spPr>
          <a:xfrm>
            <a:off x="433388" y="419100"/>
            <a:ext cx="7772400" cy="727075"/>
          </a:xfrm>
        </p:spPr>
        <p:txBody>
          <a:bodyPr/>
          <a:lstStyle/>
          <a:p>
            <a:r>
              <a:rPr lang="en-US" altLang="en-US"/>
              <a:t>Two-Army (General</a:t>
            </a:r>
            <a:r>
              <a:rPr lang="en-US" altLang="fr-FR"/>
              <a:t>’</a:t>
            </a:r>
            <a:r>
              <a:rPr lang="en-US" altLang="en-US"/>
              <a:t>s) Problem</a:t>
            </a:r>
          </a:p>
        </p:txBody>
      </p:sp>
      <p:pic>
        <p:nvPicPr>
          <p:cNvPr id="27651" name="Image 1" descr="Screen Shot 2015-10-03 at 12.53.24.jpg">
            <a:extLst>
              <a:ext uri="{FF2B5EF4-FFF2-40B4-BE49-F238E27FC236}">
                <a16:creationId xmlns:a16="http://schemas.microsoft.com/office/drawing/2014/main" id="{E91E1109-CCA1-426C-A956-4C12F35D334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778000"/>
            <a:ext cx="9144000" cy="393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4554AD7-AACB-2222-1F7D-C003BB9B7571}"/>
              </a:ext>
            </a:extLst>
          </p:cNvPr>
          <p:cNvSpPr>
            <a:spLocks noChangeArrowheads="1"/>
          </p:cNvSpPr>
          <p:nvPr/>
        </p:nvSpPr>
        <p:spPr bwMode="auto">
          <a:xfrm>
            <a:off x="0" y="1778000"/>
            <a:ext cx="2209800" cy="2514600"/>
          </a:xfrm>
          <a:prstGeom prst="rect">
            <a:avLst/>
          </a:prstGeom>
          <a:solidFill>
            <a:srgbClr val="3366FF">
              <a:alpha val="20000"/>
            </a:srgbClr>
          </a:solidFill>
          <a:ln w="9525">
            <a:solidFill>
              <a:srgbClr val="2F2F98"/>
            </a:solidFill>
            <a:miter lim="800000"/>
            <a:headEnd/>
            <a:tailEnd/>
          </a:ln>
          <a:effectLst>
            <a:outerShdw blurRad="40000" dist="23000" dir="5400000" rotWithShape="0">
              <a:srgbClr val="808080">
                <a:alpha val="34999"/>
              </a:srgbClr>
            </a:outerShdw>
          </a:effectLst>
        </p:spPr>
        <p:txBody>
          <a:bodyPr anchor="ctr"/>
          <a:lstStyle/>
          <a:p>
            <a:pPr algn="ctr" eaLnBrk="1" hangingPunct="1">
              <a:defRPr/>
            </a:pPr>
            <a:endParaRPr lang="fr-FR">
              <a:solidFill>
                <a:schemeClr val="lt1"/>
              </a:solidFill>
              <a:latin typeface="+mn-lt"/>
              <a:ea typeface="+mn-ea"/>
            </a:endParaRPr>
          </a:p>
        </p:txBody>
      </p:sp>
      <p:sp>
        <p:nvSpPr>
          <p:cNvPr id="6" name="Rectangle 5">
            <a:extLst>
              <a:ext uri="{FF2B5EF4-FFF2-40B4-BE49-F238E27FC236}">
                <a16:creationId xmlns:a16="http://schemas.microsoft.com/office/drawing/2014/main" id="{82D0BD8D-60B5-07CC-6B30-7DA85455049A}"/>
              </a:ext>
            </a:extLst>
          </p:cNvPr>
          <p:cNvSpPr>
            <a:spLocks noChangeArrowheads="1"/>
          </p:cNvSpPr>
          <p:nvPr/>
        </p:nvSpPr>
        <p:spPr bwMode="auto">
          <a:xfrm>
            <a:off x="7086600" y="1778000"/>
            <a:ext cx="2057400" cy="2514600"/>
          </a:xfrm>
          <a:prstGeom prst="rect">
            <a:avLst/>
          </a:prstGeom>
          <a:solidFill>
            <a:srgbClr val="3366FF">
              <a:alpha val="20000"/>
            </a:srgbClr>
          </a:solidFill>
          <a:ln w="9525">
            <a:solidFill>
              <a:srgbClr val="2F2F98"/>
            </a:solidFill>
            <a:miter lim="800000"/>
            <a:headEnd/>
            <a:tailEnd/>
          </a:ln>
          <a:effectLst>
            <a:outerShdw blurRad="40000" dist="23000" dir="5400000" rotWithShape="0">
              <a:srgbClr val="808080">
                <a:alpha val="34999"/>
              </a:srgbClr>
            </a:outerShdw>
          </a:effectLst>
        </p:spPr>
        <p:txBody>
          <a:bodyPr anchor="ctr"/>
          <a:lstStyle/>
          <a:p>
            <a:pPr algn="ctr" eaLnBrk="1" hangingPunct="1">
              <a:defRPr/>
            </a:pPr>
            <a:endParaRPr lang="fr-FR">
              <a:solidFill>
                <a:schemeClr val="lt1"/>
              </a:solidFill>
              <a:latin typeface="+mn-lt"/>
              <a:ea typeface="+mn-ea"/>
            </a:endParaRPr>
          </a:p>
        </p:txBody>
      </p:sp>
      <p:sp>
        <p:nvSpPr>
          <p:cNvPr id="3" name="Slide Number Placeholder 2">
            <a:extLst>
              <a:ext uri="{FF2B5EF4-FFF2-40B4-BE49-F238E27FC236}">
                <a16:creationId xmlns:a16="http://schemas.microsoft.com/office/drawing/2014/main" id="{75FAB7E3-528A-A08A-7BBF-060388FDDC89}"/>
              </a:ext>
            </a:extLst>
          </p:cNvPr>
          <p:cNvSpPr>
            <a:spLocks noGrp="1"/>
          </p:cNvSpPr>
          <p:nvPr>
            <p:ph type="sldNum" sz="quarter" idx="12"/>
          </p:nvPr>
        </p:nvSpPr>
        <p:spPr/>
        <p:txBody>
          <a:bodyPr/>
          <a:lstStyle/>
          <a:p>
            <a:fld id="{DD60E590-69CE-439D-B77F-89C34DE32B42}" type="slidenum">
              <a:rPr lang="en-US" altLang="en-US" smtClean="0"/>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2" descr="underline_base">
            <a:extLst>
              <a:ext uri="{FF2B5EF4-FFF2-40B4-BE49-F238E27FC236}">
                <a16:creationId xmlns:a16="http://schemas.microsoft.com/office/drawing/2014/main" id="{29A2D8B6-0C33-59CA-F3CF-945690C2FCA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725" y="1185863"/>
            <a:ext cx="63992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4" name="Rectangle 45">
            <a:extLst>
              <a:ext uri="{FF2B5EF4-FFF2-40B4-BE49-F238E27FC236}">
                <a16:creationId xmlns:a16="http://schemas.microsoft.com/office/drawing/2014/main" id="{49416E0C-7543-6405-6FAF-6515136200F5}"/>
              </a:ext>
            </a:extLst>
          </p:cNvPr>
          <p:cNvSpPr>
            <a:spLocks noGrp="1" noChangeArrowheads="1"/>
          </p:cNvSpPr>
          <p:nvPr>
            <p:ph type="title"/>
          </p:nvPr>
        </p:nvSpPr>
        <p:spPr>
          <a:xfrm>
            <a:off x="433388" y="588963"/>
            <a:ext cx="7772400" cy="727075"/>
          </a:xfrm>
        </p:spPr>
        <p:txBody>
          <a:bodyPr/>
          <a:lstStyle/>
          <a:p>
            <a:r>
              <a:rPr lang="en-US" altLang="en-US"/>
              <a:t>Two-Army (General</a:t>
            </a:r>
            <a:r>
              <a:rPr lang="en-US" altLang="fr-FR"/>
              <a:t>’</a:t>
            </a:r>
            <a:r>
              <a:rPr lang="en-US" altLang="en-US"/>
              <a:t>s) Problem</a:t>
            </a:r>
          </a:p>
        </p:txBody>
      </p:sp>
      <p:sp>
        <p:nvSpPr>
          <p:cNvPr id="28675" name="Rectangle 47">
            <a:extLst>
              <a:ext uri="{FF2B5EF4-FFF2-40B4-BE49-F238E27FC236}">
                <a16:creationId xmlns:a16="http://schemas.microsoft.com/office/drawing/2014/main" id="{E68517E1-92B3-DD1E-13A2-22A25040678F}"/>
              </a:ext>
            </a:extLst>
          </p:cNvPr>
          <p:cNvSpPr>
            <a:spLocks noGrp="1" noChangeArrowheads="1"/>
          </p:cNvSpPr>
          <p:nvPr>
            <p:ph type="body" sz="half" idx="2"/>
          </p:nvPr>
        </p:nvSpPr>
        <p:spPr>
          <a:xfrm>
            <a:off x="736600" y="1676400"/>
            <a:ext cx="7683500" cy="4648200"/>
          </a:xfrm>
        </p:spPr>
        <p:txBody>
          <a:bodyPr/>
          <a:lstStyle/>
          <a:p>
            <a:r>
              <a:rPr lang="fr-FR" altLang="en-US" dirty="0"/>
              <a:t>There </a:t>
            </a:r>
            <a:r>
              <a:rPr lang="fr-FR" altLang="en-US" dirty="0" err="1"/>
              <a:t>is</a:t>
            </a:r>
            <a:r>
              <a:rPr lang="fr-FR" altLang="en-US" dirty="0"/>
              <a:t> a </a:t>
            </a:r>
            <a:r>
              <a:rPr lang="fr-FR" altLang="en-US" dirty="0" err="1"/>
              <a:t>famous</a:t>
            </a:r>
            <a:r>
              <a:rPr lang="fr-FR" altLang="en-US" dirty="0"/>
              <a:t> </a:t>
            </a:r>
            <a:r>
              <a:rPr lang="fr-FR" altLang="en-US" dirty="0" err="1"/>
              <a:t>problem</a:t>
            </a:r>
            <a:r>
              <a:rPr lang="fr-FR" altLang="en-US" dirty="0"/>
              <a:t> </a:t>
            </a:r>
            <a:r>
              <a:rPr lang="fr-FR" altLang="en-US" dirty="0" err="1"/>
              <a:t>that</a:t>
            </a:r>
            <a:r>
              <a:rPr lang="fr-FR" altLang="en-US" dirty="0"/>
              <a:t> </a:t>
            </a:r>
            <a:r>
              <a:rPr lang="fr-FR" altLang="en-US" dirty="0" err="1"/>
              <a:t>illustrates</a:t>
            </a:r>
            <a:r>
              <a:rPr lang="fr-FR" altLang="en-US" dirty="0"/>
              <a:t> </a:t>
            </a:r>
            <a:r>
              <a:rPr lang="fr-FR" altLang="en-US" dirty="0" err="1"/>
              <a:t>this</a:t>
            </a:r>
            <a:r>
              <a:rPr lang="fr-FR" altLang="en-US" dirty="0"/>
              <a:t> issue. It </a:t>
            </a:r>
            <a:r>
              <a:rPr lang="fr-FR" altLang="en-US" dirty="0" err="1"/>
              <a:t>is</a:t>
            </a:r>
            <a:r>
              <a:rPr lang="fr-FR" altLang="en-US" dirty="0"/>
              <a:t> </a:t>
            </a:r>
            <a:r>
              <a:rPr lang="fr-FR" altLang="en-US" dirty="0" err="1"/>
              <a:t>called</a:t>
            </a:r>
            <a:r>
              <a:rPr lang="fr-FR" altLang="en-US" dirty="0"/>
              <a:t> the </a:t>
            </a:r>
            <a:r>
              <a:rPr lang="fr-FR" altLang="en-US" dirty="0" err="1"/>
              <a:t>two-army</a:t>
            </a:r>
            <a:r>
              <a:rPr lang="fr-FR" altLang="en-US" dirty="0"/>
              <a:t> </a:t>
            </a:r>
            <a:r>
              <a:rPr lang="fr-FR" altLang="en-US" dirty="0" err="1"/>
              <a:t>problem</a:t>
            </a:r>
            <a:r>
              <a:rPr lang="fr-FR" altLang="en-US" dirty="0"/>
              <a:t> </a:t>
            </a:r>
          </a:p>
          <a:p>
            <a:pPr lvl="1"/>
            <a:r>
              <a:rPr lang="fr-FR" altLang="en-US" sz="2800" dirty="0"/>
              <a:t>if </a:t>
            </a:r>
            <a:r>
              <a:rPr lang="fr-FR" altLang="en-US" sz="2800" dirty="0" err="1"/>
              <a:t>either</a:t>
            </a:r>
            <a:r>
              <a:rPr lang="fr-FR" altLang="en-US" sz="2800" dirty="0"/>
              <a:t> </a:t>
            </a:r>
            <a:r>
              <a:rPr lang="fr-FR" altLang="en-US" sz="2800" dirty="0" err="1"/>
              <a:t>blue</a:t>
            </a:r>
            <a:r>
              <a:rPr lang="fr-FR" altLang="en-US" sz="2800" dirty="0"/>
              <a:t> </a:t>
            </a:r>
            <a:r>
              <a:rPr lang="fr-FR" altLang="en-US" sz="2800" dirty="0" err="1"/>
              <a:t>army</a:t>
            </a:r>
            <a:r>
              <a:rPr lang="fr-FR" altLang="en-US" sz="2800" dirty="0"/>
              <a:t> </a:t>
            </a:r>
            <a:r>
              <a:rPr lang="fr-FR" altLang="en-US" sz="2800" dirty="0" err="1"/>
              <a:t>attacks</a:t>
            </a:r>
            <a:r>
              <a:rPr lang="fr-FR" altLang="en-US" sz="2800" dirty="0"/>
              <a:t> by </a:t>
            </a:r>
            <a:r>
              <a:rPr lang="fr-FR" altLang="en-US" sz="2800" dirty="0" err="1"/>
              <a:t>itself</a:t>
            </a:r>
            <a:r>
              <a:rPr lang="fr-FR" altLang="en-US" sz="2800" dirty="0"/>
              <a:t>, </a:t>
            </a:r>
            <a:r>
              <a:rPr lang="fr-FR" altLang="en-US" sz="2800" dirty="0" err="1"/>
              <a:t>it</a:t>
            </a:r>
            <a:r>
              <a:rPr lang="fr-FR" altLang="en-US" sz="2800" dirty="0"/>
              <a:t> </a:t>
            </a:r>
            <a:r>
              <a:rPr lang="fr-FR" altLang="en-US" sz="2800" dirty="0" err="1"/>
              <a:t>will</a:t>
            </a:r>
            <a:r>
              <a:rPr lang="fr-FR" altLang="en-US" sz="2800" dirty="0"/>
              <a:t> </a:t>
            </a:r>
            <a:r>
              <a:rPr lang="fr-FR" altLang="en-US" sz="2800" dirty="0" err="1"/>
              <a:t>be</a:t>
            </a:r>
            <a:r>
              <a:rPr lang="fr-FR" altLang="en-US" sz="2800" dirty="0"/>
              <a:t> </a:t>
            </a:r>
            <a:r>
              <a:rPr lang="fr-FR" altLang="en-US" sz="2800" dirty="0" err="1"/>
              <a:t>defeated</a:t>
            </a:r>
            <a:r>
              <a:rPr lang="fr-FR" altLang="en-US" sz="2800" dirty="0"/>
              <a:t>, but if the </a:t>
            </a:r>
            <a:r>
              <a:rPr lang="fr-FR" altLang="en-US" sz="2800" dirty="0" err="1"/>
              <a:t>two</a:t>
            </a:r>
            <a:r>
              <a:rPr lang="fr-FR" altLang="en-US" sz="2800" dirty="0"/>
              <a:t> </a:t>
            </a:r>
            <a:r>
              <a:rPr lang="fr-FR" altLang="en-US" sz="2800" dirty="0" err="1"/>
              <a:t>blue</a:t>
            </a:r>
            <a:r>
              <a:rPr lang="fr-FR" altLang="en-US" sz="2800" dirty="0"/>
              <a:t> </a:t>
            </a:r>
            <a:r>
              <a:rPr lang="fr-FR" altLang="en-US" sz="2800" dirty="0" err="1"/>
              <a:t>armies</a:t>
            </a:r>
            <a:r>
              <a:rPr lang="fr-FR" altLang="en-US" sz="2800" dirty="0"/>
              <a:t> </a:t>
            </a:r>
            <a:r>
              <a:rPr lang="fr-FR" altLang="en-US" sz="2800" dirty="0" err="1"/>
              <a:t>attack</a:t>
            </a:r>
            <a:r>
              <a:rPr lang="fr-FR" altLang="en-US" sz="2800" dirty="0"/>
              <a:t> </a:t>
            </a:r>
            <a:r>
              <a:rPr lang="fr-FR" altLang="en-US" sz="2800" dirty="0" err="1"/>
              <a:t>simultaneously</a:t>
            </a:r>
            <a:r>
              <a:rPr lang="fr-FR" altLang="en-US" sz="2800" dirty="0"/>
              <a:t>, </a:t>
            </a:r>
            <a:r>
              <a:rPr lang="fr-FR" altLang="en-US" sz="2800" dirty="0" err="1"/>
              <a:t>they</a:t>
            </a:r>
            <a:r>
              <a:rPr lang="fr-FR" altLang="en-US" sz="2800" dirty="0"/>
              <a:t> </a:t>
            </a:r>
            <a:r>
              <a:rPr lang="fr-FR" altLang="en-US" sz="2800" dirty="0" err="1"/>
              <a:t>will</a:t>
            </a:r>
            <a:r>
              <a:rPr lang="fr-FR" altLang="en-US" sz="2800" dirty="0"/>
              <a:t> </a:t>
            </a:r>
            <a:r>
              <a:rPr lang="fr-FR" altLang="en-US" sz="2800" dirty="0" err="1"/>
              <a:t>be</a:t>
            </a:r>
            <a:r>
              <a:rPr lang="fr-FR" altLang="en-US" sz="2800" dirty="0"/>
              <a:t> </a:t>
            </a:r>
            <a:r>
              <a:rPr lang="fr-FR" altLang="en-US" sz="2800" dirty="0" err="1"/>
              <a:t>victorious</a:t>
            </a:r>
            <a:r>
              <a:rPr lang="fr-FR" altLang="en-US" sz="2800" dirty="0"/>
              <a:t>.</a:t>
            </a:r>
          </a:p>
          <a:p>
            <a:pPr lvl="1"/>
            <a:r>
              <a:rPr lang="fr-FR" altLang="en-US" sz="2800" dirty="0" err="1"/>
              <a:t>Their</a:t>
            </a:r>
            <a:r>
              <a:rPr lang="fr-FR" altLang="en-US" sz="2800" dirty="0"/>
              <a:t> </a:t>
            </a:r>
            <a:r>
              <a:rPr lang="fr-FR" altLang="en-US" sz="2800" dirty="0" err="1"/>
              <a:t>only</a:t>
            </a:r>
            <a:r>
              <a:rPr lang="fr-FR" altLang="en-US" sz="2800" dirty="0"/>
              <a:t> communication medium </a:t>
            </a:r>
            <a:r>
              <a:rPr lang="fr-FR" altLang="en-US" sz="2800" dirty="0" err="1"/>
              <a:t>is</a:t>
            </a:r>
            <a:r>
              <a:rPr lang="fr-FR" altLang="en-US" sz="2800" dirty="0"/>
              <a:t> to </a:t>
            </a:r>
            <a:r>
              <a:rPr lang="fr-FR" altLang="en-US" sz="2800" dirty="0" err="1"/>
              <a:t>send</a:t>
            </a:r>
            <a:r>
              <a:rPr lang="fr-FR" altLang="en-US" sz="2800" dirty="0"/>
              <a:t> </a:t>
            </a:r>
            <a:r>
              <a:rPr lang="fr-FR" altLang="en-US" sz="2800" dirty="0" err="1"/>
              <a:t>messengers</a:t>
            </a:r>
            <a:r>
              <a:rPr lang="fr-FR" altLang="en-US" sz="2800" dirty="0"/>
              <a:t> </a:t>
            </a:r>
            <a:r>
              <a:rPr lang="fr-FR" altLang="en-US" sz="2800" dirty="0" err="1"/>
              <a:t>into</a:t>
            </a:r>
            <a:r>
              <a:rPr lang="fr-FR" altLang="en-US" sz="2800" dirty="0"/>
              <a:t> the </a:t>
            </a:r>
            <a:r>
              <a:rPr lang="fr-FR" altLang="en-US" sz="2800" dirty="0" err="1"/>
              <a:t>valley</a:t>
            </a:r>
            <a:r>
              <a:rPr lang="fr-FR" altLang="en-US" sz="2800" dirty="0"/>
              <a:t>, </a:t>
            </a:r>
            <a:r>
              <a:rPr lang="fr-FR" altLang="en-US" sz="2800" dirty="0" err="1"/>
              <a:t>where</a:t>
            </a:r>
            <a:r>
              <a:rPr lang="fr-FR" altLang="en-US" sz="2800" dirty="0"/>
              <a:t> </a:t>
            </a:r>
            <a:r>
              <a:rPr lang="fr-FR" altLang="en-US" sz="2800" dirty="0" err="1"/>
              <a:t>they</a:t>
            </a:r>
            <a:r>
              <a:rPr lang="fr-FR" altLang="en-US" sz="2800" dirty="0"/>
              <a:t> </a:t>
            </a:r>
            <a:r>
              <a:rPr lang="fr-FR" altLang="en-US" sz="2800" dirty="0" err="1"/>
              <a:t>might</a:t>
            </a:r>
            <a:r>
              <a:rPr lang="fr-FR" altLang="en-US" sz="2800" dirty="0"/>
              <a:t> </a:t>
            </a:r>
            <a:r>
              <a:rPr lang="fr-FR" altLang="en-US" sz="2800" dirty="0" err="1"/>
              <a:t>be</a:t>
            </a:r>
            <a:r>
              <a:rPr lang="fr-FR" altLang="en-US" sz="2800" dirty="0"/>
              <a:t> </a:t>
            </a:r>
            <a:r>
              <a:rPr lang="fr-FR" altLang="en-US" sz="2800" dirty="0" err="1"/>
              <a:t>captured</a:t>
            </a:r>
            <a:r>
              <a:rPr lang="fr-FR" altLang="en-US" sz="2800" dirty="0"/>
              <a:t> and the message </a:t>
            </a:r>
            <a:r>
              <a:rPr lang="fr-FR" altLang="en-US" sz="2800" dirty="0" err="1"/>
              <a:t>lost</a:t>
            </a:r>
            <a:r>
              <a:rPr lang="fr-FR" altLang="en-US" sz="2800" dirty="0"/>
              <a:t> </a:t>
            </a:r>
            <a:endParaRPr lang="fr-FR" altLang="en-US" b="1" dirty="0"/>
          </a:p>
        </p:txBody>
      </p:sp>
      <p:sp>
        <p:nvSpPr>
          <p:cNvPr id="2" name="Slide Number Placeholder 1">
            <a:extLst>
              <a:ext uri="{FF2B5EF4-FFF2-40B4-BE49-F238E27FC236}">
                <a16:creationId xmlns:a16="http://schemas.microsoft.com/office/drawing/2014/main" id="{1CA4D453-DA47-8417-A62C-41E31A81723D}"/>
              </a:ext>
            </a:extLst>
          </p:cNvPr>
          <p:cNvSpPr>
            <a:spLocks noGrp="1"/>
          </p:cNvSpPr>
          <p:nvPr>
            <p:ph type="sldNum" sz="quarter" idx="12"/>
          </p:nvPr>
        </p:nvSpPr>
        <p:spPr/>
        <p:txBody>
          <a:bodyPr/>
          <a:lstStyle/>
          <a:p>
            <a:fld id="{DD60E590-69CE-439D-B77F-89C34DE32B42}" type="slidenum">
              <a:rPr lang="en-US" altLang="en-US" smtClean="0"/>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2" descr="underline_base">
            <a:extLst>
              <a:ext uri="{FF2B5EF4-FFF2-40B4-BE49-F238E27FC236}">
                <a16:creationId xmlns:a16="http://schemas.microsoft.com/office/drawing/2014/main" id="{B8CA0337-9BAE-73D8-B88A-3B3BFF20F18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25" y="1033463"/>
            <a:ext cx="6399213"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Rectangle 45">
            <a:extLst>
              <a:ext uri="{FF2B5EF4-FFF2-40B4-BE49-F238E27FC236}">
                <a16:creationId xmlns:a16="http://schemas.microsoft.com/office/drawing/2014/main" id="{C639C797-35F9-AB8A-AD33-9BDCD39D71AE}"/>
              </a:ext>
            </a:extLst>
          </p:cNvPr>
          <p:cNvSpPr>
            <a:spLocks noGrp="1" noChangeArrowheads="1"/>
          </p:cNvSpPr>
          <p:nvPr>
            <p:ph type="title"/>
          </p:nvPr>
        </p:nvSpPr>
        <p:spPr>
          <a:xfrm>
            <a:off x="433388" y="436563"/>
            <a:ext cx="7772400" cy="727075"/>
          </a:xfrm>
        </p:spPr>
        <p:txBody>
          <a:bodyPr/>
          <a:lstStyle/>
          <a:p>
            <a:r>
              <a:rPr lang="en-US" altLang="en-US"/>
              <a:t>Two-Army (General</a:t>
            </a:r>
            <a:r>
              <a:rPr lang="en-US" altLang="fr-FR"/>
              <a:t>’</a:t>
            </a:r>
            <a:r>
              <a:rPr lang="en-US" altLang="en-US"/>
              <a:t>s) Problem</a:t>
            </a:r>
          </a:p>
        </p:txBody>
      </p:sp>
      <p:sp>
        <p:nvSpPr>
          <p:cNvPr id="83974" name="Rectangle 47">
            <a:extLst>
              <a:ext uri="{FF2B5EF4-FFF2-40B4-BE49-F238E27FC236}">
                <a16:creationId xmlns:a16="http://schemas.microsoft.com/office/drawing/2014/main" id="{695AD79E-9E82-C822-BE3A-31B3828D5DB0}"/>
              </a:ext>
            </a:extLst>
          </p:cNvPr>
          <p:cNvSpPr>
            <a:spLocks noGrp="1" noChangeArrowheads="1"/>
          </p:cNvSpPr>
          <p:nvPr>
            <p:ph type="body" sz="half" idx="2"/>
          </p:nvPr>
        </p:nvSpPr>
        <p:spPr>
          <a:xfrm>
            <a:off x="736600" y="1524000"/>
            <a:ext cx="7683500" cy="4648200"/>
          </a:xfrm>
        </p:spPr>
        <p:txBody>
          <a:bodyPr/>
          <a:lstStyle/>
          <a:p>
            <a:r>
              <a:rPr lang="fr-FR" altLang="en-US" dirty="0"/>
              <a:t>It can </a:t>
            </a:r>
            <a:r>
              <a:rPr lang="fr-FR" altLang="en-US" dirty="0" err="1"/>
              <a:t>be</a:t>
            </a:r>
            <a:r>
              <a:rPr lang="fr-FR" altLang="en-US" dirty="0"/>
              <a:t> </a:t>
            </a:r>
            <a:r>
              <a:rPr lang="fr-FR" altLang="en-US" dirty="0" err="1"/>
              <a:t>proven</a:t>
            </a:r>
            <a:r>
              <a:rPr lang="fr-FR" altLang="en-US" dirty="0"/>
              <a:t> </a:t>
            </a:r>
            <a:r>
              <a:rPr lang="fr-FR" altLang="en-US" dirty="0" err="1"/>
              <a:t>that</a:t>
            </a:r>
            <a:r>
              <a:rPr lang="fr-FR" altLang="en-US" dirty="0"/>
              <a:t> no </a:t>
            </a:r>
            <a:r>
              <a:rPr lang="fr-FR" altLang="en-US" dirty="0" err="1"/>
              <a:t>protocol</a:t>
            </a:r>
            <a:r>
              <a:rPr lang="fr-FR" altLang="en-US" dirty="0"/>
              <a:t> to </a:t>
            </a:r>
            <a:r>
              <a:rPr lang="fr-FR" altLang="en-US" dirty="0" err="1"/>
              <a:t>synchronize</a:t>
            </a:r>
            <a:r>
              <a:rPr lang="fr-FR" altLang="en-US" dirty="0"/>
              <a:t> the </a:t>
            </a:r>
            <a:r>
              <a:rPr lang="fr-FR" altLang="en-US" dirty="0" err="1"/>
              <a:t>attack</a:t>
            </a:r>
            <a:r>
              <a:rPr lang="fr-FR" altLang="en-US" dirty="0"/>
              <a:t> </a:t>
            </a:r>
            <a:r>
              <a:rPr lang="fr-FR" altLang="en-US" dirty="0" err="1"/>
              <a:t>exists</a:t>
            </a:r>
            <a:r>
              <a:rPr lang="fr-FR" altLang="en-US" dirty="0"/>
              <a:t> </a:t>
            </a:r>
            <a:r>
              <a:rPr lang="fr-FR" altLang="en-US" dirty="0" err="1"/>
              <a:t>neither</a:t>
            </a:r>
            <a:r>
              <a:rPr lang="fr-FR" altLang="en-US" dirty="0"/>
              <a:t> of the </a:t>
            </a:r>
            <a:r>
              <a:rPr lang="fr-FR" altLang="en-US" dirty="0" err="1"/>
              <a:t>two</a:t>
            </a:r>
            <a:r>
              <a:rPr lang="fr-FR" altLang="en-US" dirty="0"/>
              <a:t> </a:t>
            </a:r>
            <a:r>
              <a:rPr lang="fr-FR" altLang="en-US" dirty="0" err="1"/>
              <a:t>commanders</a:t>
            </a:r>
            <a:r>
              <a:rPr lang="fr-FR" altLang="en-US" dirty="0"/>
              <a:t> can </a:t>
            </a:r>
            <a:r>
              <a:rPr lang="fr-FR" altLang="en-US" dirty="0" err="1"/>
              <a:t>be</a:t>
            </a:r>
            <a:r>
              <a:rPr lang="fr-FR" altLang="en-US" dirty="0"/>
              <a:t> certain </a:t>
            </a:r>
            <a:r>
              <a:rPr lang="fr-FR" altLang="en-US" dirty="0" err="1"/>
              <a:t>that</a:t>
            </a:r>
            <a:r>
              <a:rPr lang="fr-FR" altLang="en-US" dirty="0"/>
              <a:t> the </a:t>
            </a:r>
            <a:r>
              <a:rPr lang="fr-FR" altLang="en-US" dirty="0" err="1"/>
              <a:t>other</a:t>
            </a:r>
            <a:r>
              <a:rPr lang="fr-FR" altLang="en-US" dirty="0"/>
              <a:t> one has </a:t>
            </a:r>
            <a:r>
              <a:rPr lang="fr-FR" altLang="en-US" dirty="0" err="1"/>
              <a:t>received</a:t>
            </a:r>
            <a:r>
              <a:rPr lang="fr-FR" altLang="en-US" dirty="0"/>
              <a:t> the message </a:t>
            </a:r>
          </a:p>
          <a:p>
            <a:endParaRPr lang="fr-FR" altLang="en-US" b="1" dirty="0"/>
          </a:p>
          <a:p>
            <a:pPr lvl="1"/>
            <a:r>
              <a:rPr lang="fr-FR" altLang="en-US" dirty="0"/>
              <a:t>First </a:t>
            </a:r>
            <a:r>
              <a:rPr lang="fr-FR" altLang="en-US" dirty="0" err="1"/>
              <a:t>general</a:t>
            </a:r>
            <a:r>
              <a:rPr lang="fr-FR" altLang="en-US" dirty="0"/>
              <a:t>: "Attack at 0900 on August 10." </a:t>
            </a:r>
          </a:p>
          <a:p>
            <a:pPr lvl="1"/>
            <a:r>
              <a:rPr lang="fr-FR" altLang="en-US" dirty="0"/>
              <a:t>Second </a:t>
            </a:r>
            <a:r>
              <a:rPr lang="fr-FR" altLang="en-US" dirty="0" err="1"/>
              <a:t>general</a:t>
            </a:r>
            <a:r>
              <a:rPr lang="fr-FR" altLang="en-US" dirty="0"/>
              <a:t>: "I </a:t>
            </a:r>
            <a:r>
              <a:rPr lang="fr-FR" altLang="en-US" dirty="0" err="1"/>
              <a:t>received</a:t>
            </a:r>
            <a:r>
              <a:rPr lang="fr-FR" altLang="en-US" dirty="0"/>
              <a:t> </a:t>
            </a:r>
            <a:r>
              <a:rPr lang="fr-FR" altLang="en-US" dirty="0" err="1"/>
              <a:t>your</a:t>
            </a:r>
            <a:r>
              <a:rPr lang="fr-FR" altLang="en-US" dirty="0"/>
              <a:t> message and </a:t>
            </a:r>
            <a:r>
              <a:rPr lang="fr-FR" altLang="en-US" dirty="0" err="1"/>
              <a:t>will</a:t>
            </a:r>
            <a:r>
              <a:rPr lang="fr-FR" altLang="en-US" dirty="0"/>
              <a:t> </a:t>
            </a:r>
            <a:r>
              <a:rPr lang="fr-FR" altLang="en-US" dirty="0" err="1"/>
              <a:t>attack</a:t>
            </a:r>
            <a:r>
              <a:rPr lang="fr-FR" altLang="en-US" dirty="0"/>
              <a:t> at 0900 on August 10."</a:t>
            </a:r>
          </a:p>
          <a:p>
            <a:pPr lvl="1"/>
            <a:r>
              <a:rPr lang="fr-FR" altLang="en-US" dirty="0"/>
              <a:t>First </a:t>
            </a:r>
            <a:r>
              <a:rPr lang="fr-FR" altLang="en-US" dirty="0" err="1"/>
              <a:t>general</a:t>
            </a:r>
            <a:r>
              <a:rPr lang="fr-FR" altLang="en-US" dirty="0"/>
              <a:t>: "I </a:t>
            </a:r>
            <a:r>
              <a:rPr lang="fr-FR" altLang="en-US" dirty="0" err="1"/>
              <a:t>received</a:t>
            </a:r>
            <a:r>
              <a:rPr lang="fr-FR" altLang="en-US" dirty="0"/>
              <a:t> </a:t>
            </a:r>
            <a:r>
              <a:rPr lang="fr-FR" altLang="en-US" dirty="0" err="1"/>
              <a:t>your</a:t>
            </a:r>
            <a:r>
              <a:rPr lang="fr-FR" altLang="en-US" dirty="0"/>
              <a:t> confirmation of the </a:t>
            </a:r>
            <a:r>
              <a:rPr lang="fr-FR" altLang="en-US" dirty="0" err="1"/>
              <a:t>planned</a:t>
            </a:r>
            <a:r>
              <a:rPr lang="fr-FR" altLang="en-US" dirty="0"/>
              <a:t> </a:t>
            </a:r>
            <a:r>
              <a:rPr lang="fr-FR" altLang="en-US" dirty="0" err="1"/>
              <a:t>attack</a:t>
            </a:r>
            <a:r>
              <a:rPr lang="fr-FR" altLang="en-US" dirty="0"/>
              <a:t> at 0900 on August 10. »</a:t>
            </a:r>
          </a:p>
          <a:p>
            <a:pPr lvl="1"/>
            <a:r>
              <a:rPr lang="fr-FR" altLang="en-US" b="1" dirty="0"/>
              <a:t>….</a:t>
            </a:r>
          </a:p>
        </p:txBody>
      </p:sp>
      <p:sp>
        <p:nvSpPr>
          <p:cNvPr id="2" name="Slide Number Placeholder 1">
            <a:extLst>
              <a:ext uri="{FF2B5EF4-FFF2-40B4-BE49-F238E27FC236}">
                <a16:creationId xmlns:a16="http://schemas.microsoft.com/office/drawing/2014/main" id="{9A9FE94A-026C-C516-E986-65D273135866}"/>
              </a:ext>
            </a:extLst>
          </p:cNvPr>
          <p:cNvSpPr>
            <a:spLocks noGrp="1"/>
          </p:cNvSpPr>
          <p:nvPr>
            <p:ph type="sldNum" sz="quarter" idx="12"/>
          </p:nvPr>
        </p:nvSpPr>
        <p:spPr/>
        <p:txBody>
          <a:bodyPr/>
          <a:lstStyle/>
          <a:p>
            <a:fld id="{DD60E590-69CE-439D-B77F-89C34DE32B42}" type="slidenum">
              <a:rPr lang="en-US" altLang="en-US" smtClean="0"/>
              <a:pPr/>
              <a:t>11</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3974">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3974">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397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BCD049DA-DEAC-7C44-BFCB-AB6AB8B7143D}"/>
              </a:ext>
            </a:extLst>
          </p:cNvPr>
          <p:cNvSpPr>
            <a:spLocks noGrp="1" noChangeArrowheads="1"/>
          </p:cNvSpPr>
          <p:nvPr>
            <p:ph type="title"/>
          </p:nvPr>
        </p:nvSpPr>
        <p:spPr/>
        <p:txBody>
          <a:bodyPr/>
          <a:lstStyle/>
          <a:p>
            <a:r>
              <a:rPr lang="en-US" altLang="en-US" dirty="0">
                <a:latin typeface="Arial" panose="020B0604020202020204" pitchFamily="34" charset="0"/>
              </a:rPr>
              <a:t>Byzantine General</a:t>
            </a:r>
            <a:r>
              <a:rPr lang="en-US" altLang="fr-FR" dirty="0">
                <a:latin typeface="Arial" panose="020B0604020202020204" pitchFamily="34" charset="0"/>
              </a:rPr>
              <a:t>’</a:t>
            </a:r>
            <a:r>
              <a:rPr lang="en-US" altLang="en-US" dirty="0">
                <a:latin typeface="Arial" panose="020B0604020202020204" pitchFamily="34" charset="0"/>
              </a:rPr>
              <a:t>s Problem</a:t>
            </a:r>
          </a:p>
        </p:txBody>
      </p:sp>
      <p:sp>
        <p:nvSpPr>
          <p:cNvPr id="31746" name="Rectangle 3">
            <a:extLst>
              <a:ext uri="{FF2B5EF4-FFF2-40B4-BE49-F238E27FC236}">
                <a16:creationId xmlns:a16="http://schemas.microsoft.com/office/drawing/2014/main" id="{DCD69086-BD6B-CFBB-5A79-A978AE06C048}"/>
              </a:ext>
            </a:extLst>
          </p:cNvPr>
          <p:cNvSpPr>
            <a:spLocks noGrp="1" noChangeArrowheads="1"/>
          </p:cNvSpPr>
          <p:nvPr>
            <p:ph type="body" idx="1"/>
          </p:nvPr>
        </p:nvSpPr>
        <p:spPr/>
        <p:txBody>
          <a:bodyPr/>
          <a:lstStyle/>
          <a:p>
            <a:pPr>
              <a:lnSpc>
                <a:spcPct val="70000"/>
              </a:lnSpc>
            </a:pPr>
            <a:r>
              <a:rPr lang="en-US" altLang="en-US" sz="2400" dirty="0"/>
              <a:t>The Problem: </a:t>
            </a:r>
            <a:r>
              <a:rPr lang="ja-JP" altLang="en-US" sz="2400" dirty="0"/>
              <a:t>“</a:t>
            </a:r>
            <a:r>
              <a:rPr lang="en-US" altLang="ja-JP" sz="2400" dirty="0"/>
              <a:t>Several divisions of the Byzantine army are camped outside an enemy city, each division commanded by its own general.  After observing the enemy, they must decide upon a common plan of action.  Some of the generals may be traitors, trying to prevent the loyal generals from reaching agreement.</a:t>
            </a:r>
            <a:r>
              <a:rPr lang="ja-JP" altLang="en-US" sz="2400" dirty="0"/>
              <a:t>”</a:t>
            </a:r>
            <a:endParaRPr lang="en-US" altLang="ja-JP" sz="2400" dirty="0"/>
          </a:p>
          <a:p>
            <a:pPr>
              <a:lnSpc>
                <a:spcPct val="70000"/>
              </a:lnSpc>
            </a:pPr>
            <a:r>
              <a:rPr lang="en-US" altLang="en-US" sz="2400" dirty="0"/>
              <a:t>Goal:</a:t>
            </a:r>
          </a:p>
          <a:p>
            <a:pPr lvl="1">
              <a:lnSpc>
                <a:spcPct val="70000"/>
              </a:lnSpc>
            </a:pPr>
            <a:r>
              <a:rPr lang="en-US" altLang="en-US" sz="1800" dirty="0"/>
              <a:t>All loyal generals decide upon the same plan of action.</a:t>
            </a:r>
          </a:p>
          <a:p>
            <a:pPr lvl="1">
              <a:lnSpc>
                <a:spcPct val="70000"/>
              </a:lnSpc>
            </a:pPr>
            <a:r>
              <a:rPr lang="en-US" altLang="en-US" sz="1800" dirty="0"/>
              <a:t>A small number of traitors cannot cause the loyal generals to adopt a bad plan.</a:t>
            </a:r>
            <a:endParaRPr lang="en-US" altLang="en-US" sz="2400" dirty="0"/>
          </a:p>
          <a:p>
            <a:pPr>
              <a:lnSpc>
                <a:spcPct val="70000"/>
              </a:lnSpc>
            </a:pPr>
            <a:r>
              <a:rPr lang="en-US" altLang="en-US" sz="2400" dirty="0"/>
              <a:t>The paper considers a slightly different version from the standpoint of one general (i.e., process) and multiple lieutenants.</a:t>
            </a:r>
          </a:p>
          <a:p>
            <a:pPr>
              <a:lnSpc>
                <a:spcPct val="70000"/>
              </a:lnSpc>
            </a:pPr>
            <a:r>
              <a:rPr lang="en-US" altLang="en-US" sz="2400" dirty="0"/>
              <a:t>Goal:</a:t>
            </a:r>
          </a:p>
          <a:p>
            <a:pPr lvl="1">
              <a:lnSpc>
                <a:spcPct val="70000"/>
              </a:lnSpc>
            </a:pPr>
            <a:r>
              <a:rPr lang="en-US" altLang="en-US" sz="1800" dirty="0"/>
              <a:t>All loyal lieutenants obey the same order.</a:t>
            </a:r>
          </a:p>
          <a:p>
            <a:pPr lvl="1">
              <a:lnSpc>
                <a:spcPct val="70000"/>
              </a:lnSpc>
            </a:pPr>
            <a:r>
              <a:rPr lang="en-US" altLang="en-US" sz="1800" dirty="0"/>
              <a:t>If the commanding general is loyal, every loyal lieutenant obeys the order he sends.</a:t>
            </a:r>
          </a:p>
          <a:p>
            <a:pPr lvl="1">
              <a:lnSpc>
                <a:spcPct val="70000"/>
              </a:lnSpc>
            </a:pPr>
            <a:endParaRPr lang="en-US" altLang="en-US" sz="1800" dirty="0"/>
          </a:p>
        </p:txBody>
      </p:sp>
      <p:sp>
        <p:nvSpPr>
          <p:cNvPr id="31747" name="Text Box 4">
            <a:extLst>
              <a:ext uri="{FF2B5EF4-FFF2-40B4-BE49-F238E27FC236}">
                <a16:creationId xmlns:a16="http://schemas.microsoft.com/office/drawing/2014/main" id="{BB89F5AB-CC9D-CF09-1EFF-EFF56B72A76A}"/>
              </a:ext>
            </a:extLst>
          </p:cNvPr>
          <p:cNvSpPr txBox="1">
            <a:spLocks noChangeArrowheads="1"/>
          </p:cNvSpPr>
          <p:nvPr/>
        </p:nvSpPr>
        <p:spPr bwMode="auto">
          <a:xfrm>
            <a:off x="622300" y="6415088"/>
            <a:ext cx="80391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200" i="1"/>
              <a:t>Lamport, Shostak, Pease.  The Byzantine General</a:t>
            </a:r>
            <a:r>
              <a:rPr lang="en-US" altLang="fr-FR" sz="1200" i="1"/>
              <a:t>’</a:t>
            </a:r>
            <a:r>
              <a:rPr lang="en-US" altLang="en-US" sz="1200" i="1"/>
              <a:t>s Problem. ACM TOPLAS, 4,3, July 1982, 382-401.</a:t>
            </a:r>
          </a:p>
        </p:txBody>
      </p:sp>
      <p:sp>
        <p:nvSpPr>
          <p:cNvPr id="31748" name="Slide Number Placeholder 6">
            <a:extLst>
              <a:ext uri="{FF2B5EF4-FFF2-40B4-BE49-F238E27FC236}">
                <a16:creationId xmlns:a16="http://schemas.microsoft.com/office/drawing/2014/main" id="{E83898C8-9298-3802-3F79-CF3E1199656E}"/>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0901F876-D49D-4795-86C8-384F1BF494F8}" type="slidenum">
              <a:rPr lang="en-US" altLang="en-US" sz="1400"/>
              <a:pPr>
                <a:spcBef>
                  <a:spcPct val="0"/>
                </a:spcBef>
                <a:buFontTx/>
                <a:buNone/>
              </a:pPr>
              <a:t>12</a:t>
            </a:fld>
            <a:endParaRPr lang="en-US" alt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73B162E5-F407-C443-875C-4A53D921540C}"/>
              </a:ext>
            </a:extLst>
          </p:cNvPr>
          <p:cNvSpPr>
            <a:spLocks noGrp="1" noChangeArrowheads="1"/>
          </p:cNvSpPr>
          <p:nvPr>
            <p:ph type="title"/>
          </p:nvPr>
        </p:nvSpPr>
        <p:spPr/>
        <p:txBody>
          <a:bodyPr/>
          <a:lstStyle/>
          <a:p>
            <a:r>
              <a:rPr lang="en-US" altLang="en-US">
                <a:latin typeface="Arial" panose="020B0604020202020204" pitchFamily="34" charset="0"/>
              </a:rPr>
              <a:t>Impossibility Results</a:t>
            </a:r>
          </a:p>
        </p:txBody>
      </p:sp>
      <p:sp>
        <p:nvSpPr>
          <p:cNvPr id="33794" name="Content Placeholder 23">
            <a:extLst>
              <a:ext uri="{FF2B5EF4-FFF2-40B4-BE49-F238E27FC236}">
                <a16:creationId xmlns:a16="http://schemas.microsoft.com/office/drawing/2014/main" id="{99E32F17-4EAE-5CA7-D247-3F6B5F932E6F}"/>
              </a:ext>
            </a:extLst>
          </p:cNvPr>
          <p:cNvSpPr>
            <a:spLocks noGrp="1" noChangeArrowheads="1"/>
          </p:cNvSpPr>
          <p:nvPr>
            <p:ph idx="1"/>
          </p:nvPr>
        </p:nvSpPr>
        <p:spPr>
          <a:xfrm>
            <a:off x="457200" y="4557713"/>
            <a:ext cx="8475663" cy="1690687"/>
          </a:xfrm>
        </p:spPr>
        <p:txBody>
          <a:bodyPr/>
          <a:lstStyle/>
          <a:p>
            <a:pPr>
              <a:lnSpc>
                <a:spcPct val="80000"/>
              </a:lnSpc>
            </a:pPr>
            <a:r>
              <a:rPr lang="en-US" altLang="en-US" sz="2400" dirty="0"/>
              <a:t>No solution for three processes can handle a single traitor.</a:t>
            </a:r>
          </a:p>
          <a:p>
            <a:pPr>
              <a:lnSpc>
                <a:spcPct val="80000"/>
              </a:lnSpc>
            </a:pPr>
            <a:endParaRPr lang="en-US" altLang="en-US" sz="2400" dirty="0"/>
          </a:p>
          <a:p>
            <a:pPr>
              <a:lnSpc>
                <a:spcPct val="80000"/>
              </a:lnSpc>
            </a:pPr>
            <a:r>
              <a:rPr lang="en-US" altLang="en-US" sz="2400" dirty="0"/>
              <a:t>In a system with m faulty processes agreement can be achieved only if there are 2m+1  (more than 2/3) functioning correctly.</a:t>
            </a:r>
          </a:p>
        </p:txBody>
      </p:sp>
      <p:sp>
        <p:nvSpPr>
          <p:cNvPr id="33795" name="Slide Number Placeholder 24">
            <a:extLst>
              <a:ext uri="{FF2B5EF4-FFF2-40B4-BE49-F238E27FC236}">
                <a16:creationId xmlns:a16="http://schemas.microsoft.com/office/drawing/2014/main" id="{84C99D28-AF2F-112F-344D-688FB8A4D71F}"/>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57A09DB9-89E0-4571-8464-0316F049B43A}" type="slidenum">
              <a:rPr lang="en-US" altLang="en-US" sz="1400"/>
              <a:pPr>
                <a:spcBef>
                  <a:spcPct val="0"/>
                </a:spcBef>
                <a:buFontTx/>
                <a:buNone/>
              </a:pPr>
              <a:t>13</a:t>
            </a:fld>
            <a:endParaRPr lang="en-US" altLang="en-US" sz="1400"/>
          </a:p>
        </p:txBody>
      </p:sp>
      <p:sp>
        <p:nvSpPr>
          <p:cNvPr id="33796" name="Text Box 4">
            <a:extLst>
              <a:ext uri="{FF2B5EF4-FFF2-40B4-BE49-F238E27FC236}">
                <a16:creationId xmlns:a16="http://schemas.microsoft.com/office/drawing/2014/main" id="{F0B5DACE-9E65-B454-E107-80D8F2F0AAD5}"/>
              </a:ext>
            </a:extLst>
          </p:cNvPr>
          <p:cNvSpPr txBox="1">
            <a:spLocks noChangeArrowheads="1"/>
          </p:cNvSpPr>
          <p:nvPr/>
        </p:nvSpPr>
        <p:spPr bwMode="auto">
          <a:xfrm>
            <a:off x="622300" y="6415088"/>
            <a:ext cx="80391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200" i="1"/>
              <a:t>Lamport, Shostak, Pease.  The Byzantine General</a:t>
            </a:r>
            <a:r>
              <a:rPr lang="en-US" altLang="fr-FR" sz="1200" i="1"/>
              <a:t>’</a:t>
            </a:r>
            <a:r>
              <a:rPr lang="en-US" altLang="en-US" sz="1200" i="1"/>
              <a:t>s Problem. ACM TOPLAS, 4,3, July 1982, 382-401.</a:t>
            </a:r>
          </a:p>
        </p:txBody>
      </p:sp>
      <p:sp>
        <p:nvSpPr>
          <p:cNvPr id="33797" name="Oval 6">
            <a:extLst>
              <a:ext uri="{FF2B5EF4-FFF2-40B4-BE49-F238E27FC236}">
                <a16:creationId xmlns:a16="http://schemas.microsoft.com/office/drawing/2014/main" id="{8FB6198D-EEA2-64FB-E54C-4F93A80F2694}"/>
              </a:ext>
            </a:extLst>
          </p:cNvPr>
          <p:cNvSpPr>
            <a:spLocks noChangeArrowheads="1"/>
          </p:cNvSpPr>
          <p:nvPr/>
        </p:nvSpPr>
        <p:spPr bwMode="auto">
          <a:xfrm>
            <a:off x="1620838" y="1600200"/>
            <a:ext cx="1746250" cy="64293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2800"/>
              <a:t>General 1</a:t>
            </a:r>
          </a:p>
        </p:txBody>
      </p:sp>
      <p:sp>
        <p:nvSpPr>
          <p:cNvPr id="33798" name="Oval 8">
            <a:extLst>
              <a:ext uri="{FF2B5EF4-FFF2-40B4-BE49-F238E27FC236}">
                <a16:creationId xmlns:a16="http://schemas.microsoft.com/office/drawing/2014/main" id="{951B4116-4278-56B2-DA29-506F689F3EC5}"/>
              </a:ext>
            </a:extLst>
          </p:cNvPr>
          <p:cNvSpPr>
            <a:spLocks noChangeArrowheads="1"/>
          </p:cNvSpPr>
          <p:nvPr/>
        </p:nvSpPr>
        <p:spPr bwMode="auto">
          <a:xfrm>
            <a:off x="533400" y="3489325"/>
            <a:ext cx="1746250" cy="64293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2800"/>
              <a:t>General 2</a:t>
            </a:r>
          </a:p>
        </p:txBody>
      </p:sp>
      <p:sp>
        <p:nvSpPr>
          <p:cNvPr id="33799" name="Oval 9">
            <a:extLst>
              <a:ext uri="{FF2B5EF4-FFF2-40B4-BE49-F238E27FC236}">
                <a16:creationId xmlns:a16="http://schemas.microsoft.com/office/drawing/2014/main" id="{590718B8-82FF-6AAF-C596-F5F09AD194DB}"/>
              </a:ext>
            </a:extLst>
          </p:cNvPr>
          <p:cNvSpPr>
            <a:spLocks noChangeArrowheads="1"/>
          </p:cNvSpPr>
          <p:nvPr/>
        </p:nvSpPr>
        <p:spPr bwMode="auto">
          <a:xfrm>
            <a:off x="2857500" y="3448050"/>
            <a:ext cx="1746250" cy="64293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2800"/>
              <a:t>General 3</a:t>
            </a:r>
          </a:p>
        </p:txBody>
      </p:sp>
      <p:sp>
        <p:nvSpPr>
          <p:cNvPr id="33800" name="Oval 10">
            <a:extLst>
              <a:ext uri="{FF2B5EF4-FFF2-40B4-BE49-F238E27FC236}">
                <a16:creationId xmlns:a16="http://schemas.microsoft.com/office/drawing/2014/main" id="{17D6460B-F5A3-F12C-D058-B4638651516F}"/>
              </a:ext>
            </a:extLst>
          </p:cNvPr>
          <p:cNvSpPr>
            <a:spLocks noChangeArrowheads="1"/>
          </p:cNvSpPr>
          <p:nvPr/>
        </p:nvSpPr>
        <p:spPr bwMode="auto">
          <a:xfrm>
            <a:off x="5956300" y="1554163"/>
            <a:ext cx="1746250" cy="642937"/>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2800"/>
              <a:t>General 1</a:t>
            </a:r>
          </a:p>
        </p:txBody>
      </p:sp>
      <p:sp>
        <p:nvSpPr>
          <p:cNvPr id="33801" name="Oval 11">
            <a:extLst>
              <a:ext uri="{FF2B5EF4-FFF2-40B4-BE49-F238E27FC236}">
                <a16:creationId xmlns:a16="http://schemas.microsoft.com/office/drawing/2014/main" id="{6EDB8DF6-51D3-4361-A31A-2EAB62C15F36}"/>
              </a:ext>
            </a:extLst>
          </p:cNvPr>
          <p:cNvSpPr>
            <a:spLocks noChangeArrowheads="1"/>
          </p:cNvSpPr>
          <p:nvPr/>
        </p:nvSpPr>
        <p:spPr bwMode="auto">
          <a:xfrm>
            <a:off x="4864100" y="3429000"/>
            <a:ext cx="1746250" cy="64293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2800"/>
              <a:t>General 2</a:t>
            </a:r>
          </a:p>
        </p:txBody>
      </p:sp>
      <p:sp>
        <p:nvSpPr>
          <p:cNvPr id="33802" name="Oval 12">
            <a:extLst>
              <a:ext uri="{FF2B5EF4-FFF2-40B4-BE49-F238E27FC236}">
                <a16:creationId xmlns:a16="http://schemas.microsoft.com/office/drawing/2014/main" id="{09E4A333-C490-828C-60F8-8DBBDE7C0601}"/>
              </a:ext>
            </a:extLst>
          </p:cNvPr>
          <p:cNvSpPr>
            <a:spLocks noChangeArrowheads="1"/>
          </p:cNvSpPr>
          <p:nvPr/>
        </p:nvSpPr>
        <p:spPr bwMode="auto">
          <a:xfrm>
            <a:off x="7219950" y="3395663"/>
            <a:ext cx="1746250" cy="64293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FontTx/>
              <a:buNone/>
            </a:pPr>
            <a:r>
              <a:rPr lang="en-US" altLang="en-US" sz="2800"/>
              <a:t>General 3</a:t>
            </a:r>
          </a:p>
        </p:txBody>
      </p:sp>
      <p:sp>
        <p:nvSpPr>
          <p:cNvPr id="33803" name="Line 14">
            <a:extLst>
              <a:ext uri="{FF2B5EF4-FFF2-40B4-BE49-F238E27FC236}">
                <a16:creationId xmlns:a16="http://schemas.microsoft.com/office/drawing/2014/main" id="{976E51DC-E0BD-8527-7724-C023EA17C39B}"/>
              </a:ext>
            </a:extLst>
          </p:cNvPr>
          <p:cNvSpPr>
            <a:spLocks noChangeShapeType="1"/>
          </p:cNvSpPr>
          <p:nvPr/>
        </p:nvSpPr>
        <p:spPr bwMode="auto">
          <a:xfrm flipH="1">
            <a:off x="1806575" y="2389188"/>
            <a:ext cx="573088" cy="849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3804" name="Line 15">
            <a:extLst>
              <a:ext uri="{FF2B5EF4-FFF2-40B4-BE49-F238E27FC236}">
                <a16:creationId xmlns:a16="http://schemas.microsoft.com/office/drawing/2014/main" id="{1C2AC403-3D8B-A528-72D8-FB63C847F133}"/>
              </a:ext>
            </a:extLst>
          </p:cNvPr>
          <p:cNvSpPr>
            <a:spLocks noChangeShapeType="1"/>
          </p:cNvSpPr>
          <p:nvPr/>
        </p:nvSpPr>
        <p:spPr bwMode="auto">
          <a:xfrm flipH="1">
            <a:off x="6129338" y="2365375"/>
            <a:ext cx="573087" cy="8493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3805" name="Line 16">
            <a:extLst>
              <a:ext uri="{FF2B5EF4-FFF2-40B4-BE49-F238E27FC236}">
                <a16:creationId xmlns:a16="http://schemas.microsoft.com/office/drawing/2014/main" id="{552DF278-9851-25D9-55FD-16CD09C53D9E}"/>
              </a:ext>
            </a:extLst>
          </p:cNvPr>
          <p:cNvSpPr>
            <a:spLocks noChangeShapeType="1"/>
          </p:cNvSpPr>
          <p:nvPr/>
        </p:nvSpPr>
        <p:spPr bwMode="auto">
          <a:xfrm>
            <a:off x="3160713" y="2371725"/>
            <a:ext cx="700087" cy="8334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3806" name="Line 17">
            <a:extLst>
              <a:ext uri="{FF2B5EF4-FFF2-40B4-BE49-F238E27FC236}">
                <a16:creationId xmlns:a16="http://schemas.microsoft.com/office/drawing/2014/main" id="{7DBA5F1B-756B-13DB-FE98-0CF3EA39F889}"/>
              </a:ext>
            </a:extLst>
          </p:cNvPr>
          <p:cNvSpPr>
            <a:spLocks noChangeShapeType="1"/>
          </p:cNvSpPr>
          <p:nvPr/>
        </p:nvSpPr>
        <p:spPr bwMode="auto">
          <a:xfrm>
            <a:off x="7591425" y="2312988"/>
            <a:ext cx="700088" cy="8334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3807" name="Line 19">
            <a:extLst>
              <a:ext uri="{FF2B5EF4-FFF2-40B4-BE49-F238E27FC236}">
                <a16:creationId xmlns:a16="http://schemas.microsoft.com/office/drawing/2014/main" id="{6361A9F4-B16A-F2F5-25E6-EAA1A45C1AED}"/>
              </a:ext>
            </a:extLst>
          </p:cNvPr>
          <p:cNvSpPr>
            <a:spLocks noChangeShapeType="1"/>
          </p:cNvSpPr>
          <p:nvPr/>
        </p:nvSpPr>
        <p:spPr bwMode="auto">
          <a:xfrm flipH="1">
            <a:off x="2306638" y="3810000"/>
            <a:ext cx="4365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3808" name="Line 20">
            <a:extLst>
              <a:ext uri="{FF2B5EF4-FFF2-40B4-BE49-F238E27FC236}">
                <a16:creationId xmlns:a16="http://schemas.microsoft.com/office/drawing/2014/main" id="{568F48C2-BE15-23BB-803E-197378CECC08}"/>
              </a:ext>
            </a:extLst>
          </p:cNvPr>
          <p:cNvSpPr>
            <a:spLocks noChangeShapeType="1"/>
          </p:cNvSpPr>
          <p:nvPr/>
        </p:nvSpPr>
        <p:spPr bwMode="auto">
          <a:xfrm flipH="1">
            <a:off x="6705600" y="3733800"/>
            <a:ext cx="4365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3809" name="Text Box 21">
            <a:extLst>
              <a:ext uri="{FF2B5EF4-FFF2-40B4-BE49-F238E27FC236}">
                <a16:creationId xmlns:a16="http://schemas.microsoft.com/office/drawing/2014/main" id="{CBC19B58-FE55-7E1C-42E9-FC38A2182EBC}"/>
              </a:ext>
            </a:extLst>
          </p:cNvPr>
          <p:cNvSpPr txBox="1">
            <a:spLocks noChangeArrowheads="1"/>
          </p:cNvSpPr>
          <p:nvPr/>
        </p:nvSpPr>
        <p:spPr bwMode="auto">
          <a:xfrm>
            <a:off x="1042988" y="2470150"/>
            <a:ext cx="11668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b="1" i="1"/>
              <a:t>attack</a:t>
            </a:r>
          </a:p>
        </p:txBody>
      </p:sp>
      <p:sp>
        <p:nvSpPr>
          <p:cNvPr id="33810" name="Text Box 22">
            <a:extLst>
              <a:ext uri="{FF2B5EF4-FFF2-40B4-BE49-F238E27FC236}">
                <a16:creationId xmlns:a16="http://schemas.microsoft.com/office/drawing/2014/main" id="{E284E26E-C08D-EC2E-2FC8-F6ADF5B821C0}"/>
              </a:ext>
            </a:extLst>
          </p:cNvPr>
          <p:cNvSpPr txBox="1">
            <a:spLocks noChangeArrowheads="1"/>
          </p:cNvSpPr>
          <p:nvPr/>
        </p:nvSpPr>
        <p:spPr bwMode="auto">
          <a:xfrm>
            <a:off x="3479800" y="2468563"/>
            <a:ext cx="1244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b="1" i="1"/>
              <a:t>attack</a:t>
            </a:r>
          </a:p>
        </p:txBody>
      </p:sp>
      <p:sp>
        <p:nvSpPr>
          <p:cNvPr id="33811" name="Text Box 23">
            <a:extLst>
              <a:ext uri="{FF2B5EF4-FFF2-40B4-BE49-F238E27FC236}">
                <a16:creationId xmlns:a16="http://schemas.microsoft.com/office/drawing/2014/main" id="{C1EF35DF-4346-3BB2-84CB-3FB4324A4EE8}"/>
              </a:ext>
            </a:extLst>
          </p:cNvPr>
          <p:cNvSpPr txBox="1">
            <a:spLocks noChangeArrowheads="1"/>
          </p:cNvSpPr>
          <p:nvPr/>
        </p:nvSpPr>
        <p:spPr bwMode="auto">
          <a:xfrm>
            <a:off x="5434013" y="2482850"/>
            <a:ext cx="1171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b="1" i="1"/>
              <a:t>attack</a:t>
            </a:r>
          </a:p>
        </p:txBody>
      </p:sp>
      <p:sp>
        <p:nvSpPr>
          <p:cNvPr id="33812" name="Text Box 24">
            <a:extLst>
              <a:ext uri="{FF2B5EF4-FFF2-40B4-BE49-F238E27FC236}">
                <a16:creationId xmlns:a16="http://schemas.microsoft.com/office/drawing/2014/main" id="{AC202F91-0EC3-8F64-B0DC-844C72EE1A13}"/>
              </a:ext>
            </a:extLst>
          </p:cNvPr>
          <p:cNvSpPr txBox="1">
            <a:spLocks noChangeArrowheads="1"/>
          </p:cNvSpPr>
          <p:nvPr/>
        </p:nvSpPr>
        <p:spPr bwMode="auto">
          <a:xfrm>
            <a:off x="7905750" y="2400300"/>
            <a:ext cx="12382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b="1" i="1"/>
              <a:t>retreat</a:t>
            </a:r>
          </a:p>
        </p:txBody>
      </p:sp>
      <p:sp>
        <p:nvSpPr>
          <p:cNvPr id="33813" name="Text Box 25">
            <a:extLst>
              <a:ext uri="{FF2B5EF4-FFF2-40B4-BE49-F238E27FC236}">
                <a16:creationId xmlns:a16="http://schemas.microsoft.com/office/drawing/2014/main" id="{7AA999DE-245D-C79B-74BD-66F85A3D08B7}"/>
              </a:ext>
            </a:extLst>
          </p:cNvPr>
          <p:cNvSpPr txBox="1">
            <a:spLocks noChangeArrowheads="1"/>
          </p:cNvSpPr>
          <p:nvPr/>
        </p:nvSpPr>
        <p:spPr bwMode="auto">
          <a:xfrm>
            <a:off x="2155825" y="4076700"/>
            <a:ext cx="11826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b="1" i="1"/>
              <a:t>retreat</a:t>
            </a:r>
          </a:p>
        </p:txBody>
      </p:sp>
      <p:sp>
        <p:nvSpPr>
          <p:cNvPr id="33814" name="Text Box 26">
            <a:extLst>
              <a:ext uri="{FF2B5EF4-FFF2-40B4-BE49-F238E27FC236}">
                <a16:creationId xmlns:a16="http://schemas.microsoft.com/office/drawing/2014/main" id="{BD00644F-E8F4-6650-FB82-6EFB73915052}"/>
              </a:ext>
            </a:extLst>
          </p:cNvPr>
          <p:cNvSpPr txBox="1">
            <a:spLocks noChangeArrowheads="1"/>
          </p:cNvSpPr>
          <p:nvPr/>
        </p:nvSpPr>
        <p:spPr bwMode="auto">
          <a:xfrm>
            <a:off x="6477000" y="3962400"/>
            <a:ext cx="1149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1600" b="1" i="1"/>
              <a:t>retreat</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Google Shape;173;p24">
            <a:extLst>
              <a:ext uri="{FF2B5EF4-FFF2-40B4-BE49-F238E27FC236}">
                <a16:creationId xmlns:a16="http://schemas.microsoft.com/office/drawing/2014/main" id="{BE7FBEFA-9DBD-0563-1BCB-E7B5D5520374}"/>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Some well-known protocols</a:t>
            </a:r>
          </a:p>
        </p:txBody>
      </p:sp>
      <p:sp>
        <p:nvSpPr>
          <p:cNvPr id="35842" name="Google Shape;174;p24">
            <a:extLst>
              <a:ext uri="{FF2B5EF4-FFF2-40B4-BE49-F238E27FC236}">
                <a16:creationId xmlns:a16="http://schemas.microsoft.com/office/drawing/2014/main" id="{48D261AB-DFA6-E27C-AA27-A18F6623D84A}"/>
              </a:ext>
            </a:extLst>
          </p:cNvPr>
          <p:cNvSpPr>
            <a:spLocks noGrp="1" noChangeArrowheads="1"/>
          </p:cNvSpPr>
          <p:nvPr>
            <p:ph type="body" idx="1"/>
          </p:nvPr>
        </p:nvSpPr>
        <p:spPr>
          <a:xfrm>
            <a:off x="457200" y="1600200"/>
            <a:ext cx="8229600" cy="3733800"/>
          </a:xfrm>
        </p:spPr>
        <p:txBody>
          <a:bodyPr/>
          <a:lstStyle/>
          <a:p>
            <a:pPr marL="0" indent="0">
              <a:spcBef>
                <a:spcPct val="0"/>
              </a:spcBef>
              <a:spcAft>
                <a:spcPct val="0"/>
              </a:spcAft>
              <a:buClr>
                <a:srgbClr val="000000"/>
              </a:buClr>
              <a:buSzTx/>
              <a:buFont typeface="Trebuchet MS" panose="020B0603020202020204" pitchFamily="34" charset="0"/>
              <a:buNone/>
            </a:pPr>
            <a:endParaRPr lang="fr-FR" altLang="en-US"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dirty="0">
                <a:solidFill>
                  <a:srgbClr val="000000"/>
                </a:solidFill>
                <a:latin typeface="Trebuchet MS" panose="020B0603020202020204" pitchFamily="34" charset="0"/>
                <a:sym typeface="Trebuchet MS" panose="020B0603020202020204" pitchFamily="34" charset="0"/>
              </a:rPr>
              <a:t>Example: Paxos/RAFT</a:t>
            </a:r>
          </a:p>
          <a:p>
            <a:pPr marL="0" indent="0">
              <a:spcBef>
                <a:spcPct val="0"/>
              </a:spcBef>
              <a:spcAft>
                <a:spcPct val="0"/>
              </a:spcAft>
              <a:buClr>
                <a:srgbClr val="000000"/>
              </a:buClr>
              <a:buSzTx/>
              <a:buFont typeface="Trebuchet MS" panose="020B0603020202020204" pitchFamily="34" charset="0"/>
              <a:buNone/>
            </a:pPr>
            <a:endParaRPr lang="fr-FR" altLang="en-US"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dirty="0">
                <a:solidFill>
                  <a:srgbClr val="000000"/>
                </a:solidFill>
                <a:latin typeface="Trebuchet MS" panose="020B0603020202020204" pitchFamily="34" charset="0"/>
                <a:sym typeface="Trebuchet MS" panose="020B0603020202020204" pitchFamily="34" charset="0"/>
              </a:rPr>
              <a:t>Never </a:t>
            </a:r>
            <a:r>
              <a:rPr lang="fr-FR" altLang="en-US" dirty="0" err="1">
                <a:solidFill>
                  <a:srgbClr val="000000"/>
                </a:solidFill>
                <a:latin typeface="Trebuchet MS" panose="020B0603020202020204" pitchFamily="34" charset="0"/>
                <a:sym typeface="Trebuchet MS" panose="020B0603020202020204" pitchFamily="34" charset="0"/>
              </a:rPr>
              <a:t>produces</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inconsistent</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result</a:t>
            </a:r>
            <a:r>
              <a:rPr lang="fr-FR" altLang="en-US" dirty="0">
                <a:solidFill>
                  <a:srgbClr val="000000"/>
                </a:solidFill>
                <a:latin typeface="Trebuchet MS" panose="020B0603020202020204" pitchFamily="34" charset="0"/>
                <a:sym typeface="Trebuchet MS" panose="020B0603020202020204" pitchFamily="34" charset="0"/>
              </a:rPr>
              <a:t>, but can (</a:t>
            </a:r>
            <a:r>
              <a:rPr lang="fr-FR" altLang="en-US" dirty="0" err="1">
                <a:solidFill>
                  <a:srgbClr val="000000"/>
                </a:solidFill>
                <a:latin typeface="Trebuchet MS" panose="020B0603020202020204" pitchFamily="34" charset="0"/>
                <a:sym typeface="Trebuchet MS" panose="020B0603020202020204" pitchFamily="34" charset="0"/>
              </a:rPr>
              <a:t>rarely</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get</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stuck</a:t>
            </a:r>
            <a:endParaRPr lang="fr-FR" altLang="en-US"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dirty="0">
                <a:solidFill>
                  <a:srgbClr val="000000"/>
                </a:solidFill>
                <a:latin typeface="Trebuchet MS" panose="020B0603020202020204" pitchFamily="34" charset="0"/>
                <a:sym typeface="Trebuchet MS" panose="020B0603020202020204" pitchFamily="34" charset="0"/>
              </a:rPr>
              <a:t>CAP </a:t>
            </a:r>
            <a:r>
              <a:rPr lang="fr-FR" altLang="en-US" dirty="0" err="1">
                <a:solidFill>
                  <a:srgbClr val="000000"/>
                </a:solidFill>
                <a:latin typeface="Trebuchet MS" panose="020B0603020202020204" pitchFamily="34" charset="0"/>
                <a:sym typeface="Trebuchet MS" panose="020B0603020202020204" pitchFamily="34" charset="0"/>
              </a:rPr>
              <a:t>Theorem</a:t>
            </a:r>
            <a:endParaRPr lang="fr-FR"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re 1">
            <a:extLst>
              <a:ext uri="{FF2B5EF4-FFF2-40B4-BE49-F238E27FC236}">
                <a16:creationId xmlns:a16="http://schemas.microsoft.com/office/drawing/2014/main" id="{7D25E943-EBEE-13F8-0E2B-BADA2A7D7460}"/>
              </a:ext>
            </a:extLst>
          </p:cNvPr>
          <p:cNvSpPr>
            <a:spLocks noGrp="1" noChangeArrowheads="1"/>
          </p:cNvSpPr>
          <p:nvPr>
            <p:ph type="title"/>
          </p:nvPr>
        </p:nvSpPr>
        <p:spPr/>
        <p:txBody>
          <a:bodyPr/>
          <a:lstStyle/>
          <a:p>
            <a:r>
              <a:rPr lang="fr-FR" altLang="en-US"/>
              <a:t>Roadmap </a:t>
            </a:r>
          </a:p>
        </p:txBody>
      </p:sp>
      <p:sp>
        <p:nvSpPr>
          <p:cNvPr id="3" name="Espace réservé du contenu 2">
            <a:extLst>
              <a:ext uri="{FF2B5EF4-FFF2-40B4-BE49-F238E27FC236}">
                <a16:creationId xmlns:a16="http://schemas.microsoft.com/office/drawing/2014/main" id="{53462645-375A-DACE-6139-C09FB79D9EF4}"/>
              </a:ext>
            </a:extLst>
          </p:cNvPr>
          <p:cNvSpPr>
            <a:spLocks noGrp="1"/>
          </p:cNvSpPr>
          <p:nvPr>
            <p:ph idx="1"/>
          </p:nvPr>
        </p:nvSpPr>
        <p:spPr/>
        <p:txBody>
          <a:bodyPr/>
          <a:lstStyle/>
          <a:p>
            <a:pPr>
              <a:defRPr/>
            </a:pPr>
            <a:r>
              <a:rPr lang="fr-FR" sz="2800" dirty="0" err="1">
                <a:solidFill>
                  <a:srgbClr val="BFBFBF"/>
                </a:solidFill>
              </a:rPr>
              <a:t>Centralized</a:t>
            </a:r>
            <a:r>
              <a:rPr lang="fr-FR" sz="2800" dirty="0">
                <a:solidFill>
                  <a:srgbClr val="BFBFBF"/>
                </a:solidFill>
              </a:rPr>
              <a:t> and </a:t>
            </a:r>
            <a:r>
              <a:rPr lang="fr-FR" sz="2800" dirty="0" err="1">
                <a:solidFill>
                  <a:srgbClr val="BFBFBF"/>
                </a:solidFill>
              </a:rPr>
              <a:t>decentralized</a:t>
            </a:r>
            <a:r>
              <a:rPr lang="fr-FR" sz="2800" dirty="0">
                <a:solidFill>
                  <a:srgbClr val="BFBFBF"/>
                </a:solidFill>
              </a:rPr>
              <a:t> </a:t>
            </a:r>
            <a:r>
              <a:rPr lang="fr-FR" sz="2800" dirty="0" err="1">
                <a:solidFill>
                  <a:srgbClr val="BFBFBF"/>
                </a:solidFill>
              </a:rPr>
              <a:t>systems</a:t>
            </a:r>
            <a:endParaRPr lang="fr-FR" sz="2800" dirty="0">
              <a:solidFill>
                <a:srgbClr val="BFBFBF"/>
              </a:solidFill>
            </a:endParaRPr>
          </a:p>
          <a:p>
            <a:pPr>
              <a:defRPr/>
            </a:pPr>
            <a:r>
              <a:rPr lang="fr-FR" sz="2800" dirty="0" err="1">
                <a:solidFill>
                  <a:schemeClr val="bg1">
                    <a:lumMod val="75000"/>
                  </a:schemeClr>
                </a:solidFill>
              </a:rPr>
              <a:t>Distributed</a:t>
            </a:r>
            <a:r>
              <a:rPr lang="fr-FR" sz="2800" dirty="0">
                <a:solidFill>
                  <a:schemeClr val="bg1">
                    <a:lumMod val="75000"/>
                  </a:schemeClr>
                </a:solidFill>
              </a:rPr>
              <a:t> Consensus</a:t>
            </a:r>
          </a:p>
          <a:p>
            <a:pPr>
              <a:defRPr/>
            </a:pPr>
            <a:r>
              <a:rPr lang="fr-FR" sz="2800" dirty="0">
                <a:solidFill>
                  <a:srgbClr val="FF0000"/>
                </a:solidFill>
              </a:rPr>
              <a:t>Consensus </a:t>
            </a:r>
            <a:r>
              <a:rPr lang="fr-FR" sz="2800" dirty="0" err="1">
                <a:solidFill>
                  <a:srgbClr val="FF0000"/>
                </a:solidFill>
              </a:rPr>
              <a:t>problem</a:t>
            </a:r>
            <a:r>
              <a:rPr lang="fr-FR" sz="2800" dirty="0">
                <a:solidFill>
                  <a:srgbClr val="FF0000"/>
                </a:solidFill>
              </a:rPr>
              <a:t> in </a:t>
            </a:r>
            <a:r>
              <a:rPr lang="fr-FR" sz="2800" dirty="0" err="1">
                <a:solidFill>
                  <a:srgbClr val="FF0000"/>
                </a:solidFill>
              </a:rPr>
              <a:t>Bitcoin</a:t>
            </a:r>
            <a:endParaRPr lang="fr-FR" sz="2800" dirty="0">
              <a:solidFill>
                <a:srgbClr val="FF0000"/>
              </a:solidFill>
            </a:endParaRPr>
          </a:p>
          <a:p>
            <a:pPr>
              <a:defRPr/>
            </a:pPr>
            <a:r>
              <a:rPr lang="fr-FR" sz="2800" dirty="0" err="1">
                <a:solidFill>
                  <a:schemeClr val="bg1">
                    <a:lumMod val="75000"/>
                  </a:schemeClr>
                </a:solidFill>
              </a:rPr>
              <a:t>Bitcoin</a:t>
            </a:r>
            <a:r>
              <a:rPr lang="fr-FR" sz="2800" dirty="0">
                <a:solidFill>
                  <a:schemeClr val="bg1">
                    <a:lumMod val="75000"/>
                  </a:schemeClr>
                </a:solidFill>
              </a:rPr>
              <a:t> Consensus </a:t>
            </a:r>
            <a:r>
              <a:rPr lang="fr-FR" sz="2800" dirty="0" err="1">
                <a:solidFill>
                  <a:schemeClr val="bg1">
                    <a:lumMod val="75000"/>
                  </a:schemeClr>
                </a:solidFill>
              </a:rPr>
              <a:t>Algorithm</a:t>
            </a:r>
            <a:endParaRPr lang="fr-FR" sz="2800" dirty="0">
              <a:solidFill>
                <a:schemeClr val="bg1">
                  <a:lumMod val="75000"/>
                </a:schemeClr>
              </a:solidFill>
            </a:endParaRPr>
          </a:p>
          <a:p>
            <a:pPr lvl="1">
              <a:defRPr/>
            </a:pPr>
            <a:r>
              <a:rPr lang="fr-FR" sz="2400" dirty="0" err="1">
                <a:solidFill>
                  <a:schemeClr val="bg1">
                    <a:lumMod val="75000"/>
                  </a:schemeClr>
                </a:solidFill>
              </a:rPr>
              <a:t>Incentives</a:t>
            </a:r>
            <a:r>
              <a:rPr lang="fr-FR" sz="2400" dirty="0">
                <a:solidFill>
                  <a:schemeClr val="bg1">
                    <a:lumMod val="75000"/>
                  </a:schemeClr>
                </a:solidFill>
              </a:rPr>
              <a:t> for </a:t>
            </a:r>
            <a:r>
              <a:rPr lang="fr-FR" sz="2400" dirty="0" err="1">
                <a:solidFill>
                  <a:schemeClr val="bg1">
                    <a:lumMod val="75000"/>
                  </a:schemeClr>
                </a:solidFill>
              </a:rPr>
              <a:t>miners</a:t>
            </a:r>
            <a:r>
              <a:rPr lang="fr-FR" sz="2400" dirty="0">
                <a:solidFill>
                  <a:schemeClr val="bg1">
                    <a:lumMod val="75000"/>
                  </a:schemeClr>
                </a:solidFill>
              </a:rPr>
              <a:t>, Proof of </a:t>
            </a:r>
            <a:r>
              <a:rPr lang="fr-FR" sz="2400" dirty="0" err="1">
                <a:solidFill>
                  <a:schemeClr val="bg1">
                    <a:lumMod val="75000"/>
                  </a:schemeClr>
                </a:solidFill>
              </a:rPr>
              <a:t>work</a:t>
            </a:r>
            <a:r>
              <a:rPr lang="fr-FR" sz="2400" dirty="0">
                <a:solidFill>
                  <a:schemeClr val="bg1">
                    <a:lumMod val="75000"/>
                  </a:schemeClr>
                </a:solidFill>
              </a:rPr>
              <a:t> , Limitations</a:t>
            </a:r>
          </a:p>
        </p:txBody>
      </p:sp>
      <p:sp>
        <p:nvSpPr>
          <p:cNvPr id="2" name="Slide Number Placeholder 1">
            <a:extLst>
              <a:ext uri="{FF2B5EF4-FFF2-40B4-BE49-F238E27FC236}">
                <a16:creationId xmlns:a16="http://schemas.microsoft.com/office/drawing/2014/main" id="{726B6C97-B9B8-C713-0A5E-5C8E12F5C47D}"/>
              </a:ext>
            </a:extLst>
          </p:cNvPr>
          <p:cNvSpPr>
            <a:spLocks noGrp="1"/>
          </p:cNvSpPr>
          <p:nvPr>
            <p:ph type="sldNum" sz="quarter" idx="12"/>
          </p:nvPr>
        </p:nvSpPr>
        <p:spPr/>
        <p:txBody>
          <a:bodyPr/>
          <a:lstStyle/>
          <a:p>
            <a:fld id="{54AFB715-9BAA-466F-BD26-510BF652CDA2}" type="slidenum">
              <a:rPr lang="en-US" altLang="en-US" smtClean="0"/>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Google Shape;167;p23">
            <a:extLst>
              <a:ext uri="{FF2B5EF4-FFF2-40B4-BE49-F238E27FC236}">
                <a16:creationId xmlns:a16="http://schemas.microsoft.com/office/drawing/2014/main" id="{6AE860F4-ABBD-ADF0-6B85-EF60DA65D17C}"/>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Consensus is Impossible?</a:t>
            </a:r>
          </a:p>
        </p:txBody>
      </p:sp>
      <p:sp>
        <p:nvSpPr>
          <p:cNvPr id="38914" name="Google Shape;168;p23">
            <a:extLst>
              <a:ext uri="{FF2B5EF4-FFF2-40B4-BE49-F238E27FC236}">
                <a16:creationId xmlns:a16="http://schemas.microsoft.com/office/drawing/2014/main" id="{1902EC17-B824-B32A-62A7-CE6DD0EA2AC9}"/>
              </a:ext>
            </a:extLst>
          </p:cNvPr>
          <p:cNvSpPr>
            <a:spLocks noGrp="1" noChangeArrowheads="1"/>
          </p:cNvSpPr>
          <p:nvPr>
            <p:ph type="body" idx="1"/>
          </p:nvPr>
        </p:nvSpPr>
        <p:spPr>
          <a:xfrm>
            <a:off x="457200" y="1600200"/>
            <a:ext cx="8229600" cy="3276600"/>
          </a:xfrm>
        </p:spPr>
        <p:txBody>
          <a:bodyPr/>
          <a:lstStyle/>
          <a:p>
            <a:pPr indent="-279400">
              <a:spcBef>
                <a:spcPct val="0"/>
              </a:spcBef>
              <a:spcAft>
                <a:spcPct val="0"/>
              </a:spcAft>
              <a:buClr>
                <a:srgbClr val="000000"/>
              </a:buClr>
              <a:buSzTx/>
              <a:buFontTx/>
              <a:buNone/>
            </a:pPr>
            <a:endParaRPr lang="fr-FR" altLang="en-US" dirty="0">
              <a:solidFill>
                <a:srgbClr val="000000"/>
              </a:solidFill>
              <a:latin typeface="Trebuchet MS" panose="020B0603020202020204" pitchFamily="34" charset="0"/>
              <a:sym typeface="Trebuchet MS" panose="020B0603020202020204" pitchFamily="34" charset="0"/>
            </a:endParaRPr>
          </a:p>
          <a:p>
            <a:pPr indent="-279400">
              <a:spcBef>
                <a:spcPct val="0"/>
              </a:spcBef>
              <a:spcAft>
                <a:spcPct val="0"/>
              </a:spcAft>
              <a:buClr>
                <a:srgbClr val="000000"/>
              </a:buClr>
              <a:buSzTx/>
              <a:buFontTx/>
              <a:buChar char="•"/>
            </a:pPr>
            <a:r>
              <a:rPr lang="fr-FR" altLang="en-US" dirty="0">
                <a:solidFill>
                  <a:srgbClr val="000000"/>
                </a:solidFill>
                <a:latin typeface="Trebuchet MS" panose="020B0603020202020204" pitchFamily="34" charset="0"/>
                <a:sym typeface="Trebuchet MS" panose="020B0603020202020204" pitchFamily="34" charset="0"/>
              </a:rPr>
              <a:t>Byzantine </a:t>
            </a:r>
            <a:r>
              <a:rPr lang="fr-FR" altLang="en-US" dirty="0" err="1">
                <a:solidFill>
                  <a:srgbClr val="000000"/>
                </a:solidFill>
                <a:latin typeface="Trebuchet MS" panose="020B0603020202020204" pitchFamily="34" charset="0"/>
                <a:sym typeface="Trebuchet MS" panose="020B0603020202020204" pitchFamily="34" charset="0"/>
              </a:rPr>
              <a:t>generals</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problem</a:t>
            </a:r>
            <a:r>
              <a:rPr lang="fr-FR" altLang="en-US" dirty="0">
                <a:solidFill>
                  <a:srgbClr val="000000"/>
                </a:solidFill>
                <a:latin typeface="Trebuchet MS" panose="020B0603020202020204" pitchFamily="34" charset="0"/>
                <a:sym typeface="Trebuchet MS" panose="020B0603020202020204" pitchFamily="34" charset="0"/>
              </a:rPr>
              <a:t>, 3f+1</a:t>
            </a:r>
            <a:endParaRPr lang="fr-FR" altLang="en-US" sz="3600" dirty="0"/>
          </a:p>
          <a:p>
            <a:pPr indent="-279400">
              <a:spcBef>
                <a:spcPct val="0"/>
              </a:spcBef>
              <a:spcAft>
                <a:spcPct val="0"/>
              </a:spcAft>
              <a:buClr>
                <a:srgbClr val="000000"/>
              </a:buClr>
              <a:buSzTx/>
              <a:buFontTx/>
              <a:buNone/>
            </a:pPr>
            <a:endParaRPr lang="fr-FR" altLang="en-US" dirty="0">
              <a:solidFill>
                <a:srgbClr val="000000"/>
              </a:solidFill>
              <a:latin typeface="Trebuchet MS" panose="020B0603020202020204" pitchFamily="34" charset="0"/>
              <a:sym typeface="Trebuchet MS" panose="020B0603020202020204" pitchFamily="34" charset="0"/>
            </a:endParaRPr>
          </a:p>
          <a:p>
            <a:pPr indent="-279400">
              <a:spcBef>
                <a:spcPct val="0"/>
              </a:spcBef>
              <a:spcAft>
                <a:spcPct val="0"/>
              </a:spcAft>
              <a:buClr>
                <a:srgbClr val="000000"/>
              </a:buClr>
              <a:buSzTx/>
              <a:buFontTx/>
              <a:buChar char="•"/>
            </a:pPr>
            <a:r>
              <a:rPr lang="fr-FR" altLang="en-US" dirty="0">
                <a:solidFill>
                  <a:srgbClr val="000000"/>
                </a:solidFill>
                <a:latin typeface="Trebuchet MS" panose="020B0603020202020204" pitchFamily="34" charset="0"/>
                <a:sym typeface="Trebuchet MS" panose="020B0603020202020204" pitchFamily="34" charset="0"/>
              </a:rPr>
              <a:t>Fischer-Lynch-Paterson (</a:t>
            </a:r>
            <a:r>
              <a:rPr lang="fr-FR" altLang="en-US" dirty="0" err="1">
                <a:solidFill>
                  <a:srgbClr val="000000"/>
                </a:solidFill>
                <a:latin typeface="Trebuchet MS" panose="020B0603020202020204" pitchFamily="34" charset="0"/>
                <a:sym typeface="Trebuchet MS" panose="020B0603020202020204" pitchFamily="34" charset="0"/>
              </a:rPr>
              <a:t>deterministic</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nodes</a:t>
            </a:r>
            <a:r>
              <a:rPr lang="fr-FR" altLang="en-US" dirty="0">
                <a:solidFill>
                  <a:srgbClr val="000000"/>
                </a:solidFill>
                <a:latin typeface="Trebuchet MS" panose="020B0603020202020204" pitchFamily="34" charset="0"/>
                <a:sym typeface="Trebuchet MS" panose="020B0603020202020204" pitchFamily="34" charset="0"/>
              </a:rPr>
              <a:t>): consensus impossible </a:t>
            </a:r>
            <a:r>
              <a:rPr lang="fr-FR" altLang="en-US" dirty="0" err="1">
                <a:solidFill>
                  <a:srgbClr val="000000"/>
                </a:solidFill>
                <a:latin typeface="Trebuchet MS" panose="020B0603020202020204" pitchFamily="34" charset="0"/>
                <a:sym typeface="Trebuchet MS" panose="020B0603020202020204" pitchFamily="34" charset="0"/>
              </a:rPr>
              <a:t>with</a:t>
            </a:r>
            <a:r>
              <a:rPr lang="fr-FR" altLang="en-US" dirty="0">
                <a:solidFill>
                  <a:srgbClr val="000000"/>
                </a:solidFill>
                <a:latin typeface="Trebuchet MS" panose="020B0603020202020204" pitchFamily="34" charset="0"/>
                <a:sym typeface="Trebuchet MS" panose="020B0603020202020204" pitchFamily="34" charset="0"/>
              </a:rPr>
              <a:t> a </a:t>
            </a:r>
            <a:r>
              <a:rPr lang="fr-FR" altLang="en-US" u="sng" dirty="0">
                <a:solidFill>
                  <a:srgbClr val="000000"/>
                </a:solidFill>
                <a:latin typeface="Trebuchet MS" panose="020B0603020202020204" pitchFamily="34" charset="0"/>
                <a:sym typeface="Trebuchet MS" panose="020B0603020202020204" pitchFamily="34" charset="0"/>
              </a:rPr>
              <a:t>single</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faulty</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node</a:t>
            </a:r>
            <a:endParaRPr lang="fr-FR" altLang="en-US" dirty="0">
              <a:solidFill>
                <a:srgbClr val="000000"/>
              </a:solidFill>
              <a:latin typeface="Trebuchet MS" panose="020B0603020202020204" pitchFamily="34" charset="0"/>
              <a:sym typeface="Trebuchet MS" panose="020B0603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Google Shape;185;p26">
            <a:extLst>
              <a:ext uri="{FF2B5EF4-FFF2-40B4-BE49-F238E27FC236}">
                <a16:creationId xmlns:a16="http://schemas.microsoft.com/office/drawing/2014/main" id="{35A2C15B-3CA4-5382-6420-9D94535F9A2D}"/>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Bitcoin consensus: theory &amp; practice</a:t>
            </a:r>
          </a:p>
        </p:txBody>
      </p:sp>
      <p:sp>
        <p:nvSpPr>
          <p:cNvPr id="40962" name="Google Shape;186;p26">
            <a:extLst>
              <a:ext uri="{FF2B5EF4-FFF2-40B4-BE49-F238E27FC236}">
                <a16:creationId xmlns:a16="http://schemas.microsoft.com/office/drawing/2014/main" id="{7F243EDA-F52F-DEE3-E627-F8B63A66656C}"/>
              </a:ext>
            </a:extLst>
          </p:cNvPr>
          <p:cNvSpPr>
            <a:spLocks noGrp="1" noChangeArrowheads="1"/>
          </p:cNvSpPr>
          <p:nvPr>
            <p:ph type="body" idx="1"/>
          </p:nvPr>
        </p:nvSpPr>
        <p:spPr>
          <a:xfrm>
            <a:off x="457200" y="1600200"/>
            <a:ext cx="8229600" cy="3962400"/>
          </a:xfrm>
        </p:spPr>
        <p:txBody>
          <a:bodyPr/>
          <a:lstStyle/>
          <a:p>
            <a:pPr marL="0" indent="0">
              <a:spcBef>
                <a:spcPct val="0"/>
              </a:spcBef>
              <a:spcAft>
                <a:spcPct val="0"/>
              </a:spcAft>
              <a:buClr>
                <a:srgbClr val="000000"/>
              </a:buClr>
              <a:buSzTx/>
              <a:buFont typeface="Trebuchet MS" panose="020B0603020202020204" pitchFamily="34" charset="0"/>
              <a:buNone/>
            </a:pPr>
            <a:r>
              <a:rPr lang="fr-FR" altLang="en-US" sz="3000" dirty="0">
                <a:solidFill>
                  <a:srgbClr val="000000"/>
                </a:solidFill>
                <a:latin typeface="Trebuchet MS" panose="020B0603020202020204" pitchFamily="34" charset="0"/>
                <a:sym typeface="Trebuchet MS" panose="020B0603020202020204" pitchFamily="34" charset="0"/>
              </a:rPr>
              <a:t>Bitcoin consensus </a:t>
            </a:r>
            <a:r>
              <a:rPr lang="fr-FR" altLang="en-US" sz="3000" dirty="0" err="1">
                <a:solidFill>
                  <a:srgbClr val="000000"/>
                </a:solidFill>
                <a:latin typeface="Trebuchet MS" panose="020B0603020202020204" pitchFamily="34" charset="0"/>
                <a:sym typeface="Trebuchet MS" panose="020B0603020202020204" pitchFamily="34" charset="0"/>
              </a:rPr>
              <a:t>works</a:t>
            </a:r>
            <a:r>
              <a:rPr lang="fr-FR" altLang="en-US" sz="3000" dirty="0">
                <a:solidFill>
                  <a:srgbClr val="000000"/>
                </a:solidFill>
                <a:latin typeface="Trebuchet MS" panose="020B0603020202020204" pitchFamily="34" charset="0"/>
                <a:sym typeface="Trebuchet MS" panose="020B0603020202020204" pitchFamily="34" charset="0"/>
              </a:rPr>
              <a:t> </a:t>
            </a:r>
            <a:r>
              <a:rPr lang="fr-FR" altLang="en-US" sz="3000" dirty="0" err="1">
                <a:solidFill>
                  <a:srgbClr val="000000"/>
                </a:solidFill>
                <a:latin typeface="Trebuchet MS" panose="020B0603020202020204" pitchFamily="34" charset="0"/>
                <a:sym typeface="Trebuchet MS" panose="020B0603020202020204" pitchFamily="34" charset="0"/>
              </a:rPr>
              <a:t>better</a:t>
            </a:r>
            <a:r>
              <a:rPr lang="fr-FR" altLang="en-US" sz="3000" dirty="0">
                <a:solidFill>
                  <a:srgbClr val="000000"/>
                </a:solidFill>
                <a:latin typeface="Trebuchet MS" panose="020B0603020202020204" pitchFamily="34" charset="0"/>
                <a:sym typeface="Trebuchet MS" panose="020B0603020202020204" pitchFamily="34" charset="0"/>
              </a:rPr>
              <a:t> in practice </a:t>
            </a:r>
            <a:r>
              <a:rPr lang="fr-FR" altLang="en-US" sz="3000" dirty="0" err="1">
                <a:solidFill>
                  <a:srgbClr val="000000"/>
                </a:solidFill>
                <a:latin typeface="Trebuchet MS" panose="020B0603020202020204" pitchFamily="34" charset="0"/>
                <a:sym typeface="Trebuchet MS" panose="020B0603020202020204" pitchFamily="34" charset="0"/>
              </a:rPr>
              <a:t>than</a:t>
            </a:r>
            <a:r>
              <a:rPr lang="fr-FR" altLang="en-US" sz="3000" dirty="0">
                <a:solidFill>
                  <a:srgbClr val="000000"/>
                </a:solidFill>
                <a:latin typeface="Trebuchet MS" panose="020B0603020202020204" pitchFamily="34" charset="0"/>
                <a:sym typeface="Trebuchet MS" panose="020B0603020202020204" pitchFamily="34" charset="0"/>
              </a:rPr>
              <a:t> in </a:t>
            </a:r>
            <a:r>
              <a:rPr lang="fr-FR" altLang="en-US" sz="3000" dirty="0" err="1">
                <a:solidFill>
                  <a:srgbClr val="000000"/>
                </a:solidFill>
                <a:latin typeface="Trebuchet MS" panose="020B0603020202020204" pitchFamily="34" charset="0"/>
                <a:sym typeface="Trebuchet MS" panose="020B0603020202020204" pitchFamily="34" charset="0"/>
              </a:rPr>
              <a:t>theory</a:t>
            </a:r>
            <a:endParaRPr lang="fr-FR" altLang="en-US" dirty="0"/>
          </a:p>
          <a:p>
            <a:pPr marL="0" indent="0">
              <a:spcBef>
                <a:spcPct val="0"/>
              </a:spcBef>
              <a:spcAft>
                <a:spcPct val="0"/>
              </a:spcAft>
              <a:buClr>
                <a:srgbClr val="000000"/>
              </a:buClr>
              <a:buSzTx/>
              <a:buFont typeface="Trebuchet MS" panose="020B0603020202020204" pitchFamily="34" charset="0"/>
              <a:buNone/>
            </a:pPr>
            <a:endParaRPr lang="fr-FR" altLang="en-US" sz="30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3000" dirty="0">
                <a:solidFill>
                  <a:srgbClr val="000000"/>
                </a:solidFill>
                <a:latin typeface="Trebuchet MS" panose="020B0603020202020204" pitchFamily="34" charset="0"/>
                <a:sym typeface="Trebuchet MS" panose="020B0603020202020204" pitchFamily="34" charset="0"/>
              </a:rPr>
              <a:t>Theory </a:t>
            </a:r>
            <a:r>
              <a:rPr lang="fr-FR" altLang="en-US" sz="3000" dirty="0" err="1">
                <a:solidFill>
                  <a:srgbClr val="000000"/>
                </a:solidFill>
                <a:latin typeface="Trebuchet MS" panose="020B0603020202020204" pitchFamily="34" charset="0"/>
                <a:sym typeface="Trebuchet MS" panose="020B0603020202020204" pitchFamily="34" charset="0"/>
              </a:rPr>
              <a:t>is</a:t>
            </a:r>
            <a:r>
              <a:rPr lang="fr-FR" altLang="en-US" sz="3000" dirty="0">
                <a:solidFill>
                  <a:srgbClr val="000000"/>
                </a:solidFill>
                <a:latin typeface="Trebuchet MS" panose="020B0603020202020204" pitchFamily="34" charset="0"/>
                <a:sym typeface="Trebuchet MS" panose="020B0603020202020204" pitchFamily="34" charset="0"/>
              </a:rPr>
              <a:t> </a:t>
            </a:r>
            <a:r>
              <a:rPr lang="fr-FR" altLang="en-US" sz="3000" dirty="0" err="1">
                <a:solidFill>
                  <a:srgbClr val="000000"/>
                </a:solidFill>
                <a:latin typeface="Trebuchet MS" panose="020B0603020202020204" pitchFamily="34" charset="0"/>
                <a:sym typeface="Trebuchet MS" panose="020B0603020202020204" pitchFamily="34" charset="0"/>
              </a:rPr>
              <a:t>still</a:t>
            </a:r>
            <a:r>
              <a:rPr lang="fr-FR" altLang="en-US" sz="3000" dirty="0">
                <a:solidFill>
                  <a:srgbClr val="000000"/>
                </a:solidFill>
                <a:latin typeface="Trebuchet MS" panose="020B0603020202020204" pitchFamily="34" charset="0"/>
                <a:sym typeface="Trebuchet MS" panose="020B0603020202020204" pitchFamily="34" charset="0"/>
              </a:rPr>
              <a:t> </a:t>
            </a:r>
            <a:r>
              <a:rPr lang="fr-FR" altLang="en-US" sz="3000" dirty="0" err="1">
                <a:solidFill>
                  <a:srgbClr val="000000"/>
                </a:solidFill>
                <a:latin typeface="Trebuchet MS" panose="020B0603020202020204" pitchFamily="34" charset="0"/>
                <a:sym typeface="Trebuchet MS" panose="020B0603020202020204" pitchFamily="34" charset="0"/>
              </a:rPr>
              <a:t>catching</a:t>
            </a:r>
            <a:r>
              <a:rPr lang="fr-FR" altLang="en-US" sz="3000" dirty="0">
                <a:solidFill>
                  <a:srgbClr val="000000"/>
                </a:solidFill>
                <a:latin typeface="Trebuchet MS" panose="020B0603020202020204" pitchFamily="34" charset="0"/>
                <a:sym typeface="Trebuchet MS" panose="020B0603020202020204" pitchFamily="34" charset="0"/>
              </a:rPr>
              <a:t> up</a:t>
            </a:r>
            <a:endParaRPr lang="fr-FR" altLang="en-US" dirty="0"/>
          </a:p>
          <a:p>
            <a:pPr marL="0" indent="0">
              <a:spcBef>
                <a:spcPct val="0"/>
              </a:spcBef>
              <a:spcAft>
                <a:spcPct val="0"/>
              </a:spcAft>
              <a:buClr>
                <a:srgbClr val="000000"/>
              </a:buClr>
              <a:buSzTx/>
              <a:buFont typeface="Trebuchet MS" panose="020B0603020202020204" pitchFamily="34" charset="0"/>
              <a:buNone/>
            </a:pPr>
            <a:endParaRPr lang="fr-FR" altLang="en-US" sz="30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3000" u="sng" dirty="0">
                <a:solidFill>
                  <a:srgbClr val="000000"/>
                </a:solidFill>
                <a:latin typeface="Trebuchet MS" panose="020B0603020202020204" pitchFamily="34" charset="0"/>
                <a:sym typeface="Trebuchet MS" panose="020B0603020202020204" pitchFamily="34" charset="0"/>
              </a:rPr>
              <a:t>BUT</a:t>
            </a:r>
            <a:r>
              <a:rPr lang="fr-FR" altLang="en-US" sz="3000" dirty="0">
                <a:solidFill>
                  <a:srgbClr val="000000"/>
                </a:solidFill>
                <a:latin typeface="Trebuchet MS" panose="020B0603020202020204" pitchFamily="34" charset="0"/>
                <a:sym typeface="Trebuchet MS" panose="020B0603020202020204" pitchFamily="34" charset="0"/>
              </a:rPr>
              <a:t> </a:t>
            </a:r>
            <a:r>
              <a:rPr lang="fr-FR" altLang="en-US" sz="3000" dirty="0" err="1">
                <a:solidFill>
                  <a:srgbClr val="000000"/>
                </a:solidFill>
                <a:latin typeface="Trebuchet MS" panose="020B0603020202020204" pitchFamily="34" charset="0"/>
                <a:sym typeface="Trebuchet MS" panose="020B0603020202020204" pitchFamily="34" charset="0"/>
              </a:rPr>
              <a:t>theory</a:t>
            </a:r>
            <a:r>
              <a:rPr lang="fr-FR" altLang="en-US" sz="3000" dirty="0">
                <a:solidFill>
                  <a:srgbClr val="000000"/>
                </a:solidFill>
                <a:latin typeface="Trebuchet MS" panose="020B0603020202020204" pitchFamily="34" charset="0"/>
                <a:sym typeface="Trebuchet MS" panose="020B0603020202020204" pitchFamily="34" charset="0"/>
              </a:rPr>
              <a:t> </a:t>
            </a:r>
            <a:r>
              <a:rPr lang="fr-FR" altLang="en-US" sz="3000" dirty="0" err="1">
                <a:solidFill>
                  <a:srgbClr val="000000"/>
                </a:solidFill>
                <a:latin typeface="Trebuchet MS" panose="020B0603020202020204" pitchFamily="34" charset="0"/>
                <a:sym typeface="Trebuchet MS" panose="020B0603020202020204" pitchFamily="34" charset="0"/>
              </a:rPr>
              <a:t>is</a:t>
            </a:r>
            <a:r>
              <a:rPr lang="fr-FR" altLang="en-US" sz="3000" dirty="0">
                <a:solidFill>
                  <a:srgbClr val="000000"/>
                </a:solidFill>
                <a:latin typeface="Trebuchet MS" panose="020B0603020202020204" pitchFamily="34" charset="0"/>
                <a:sym typeface="Trebuchet MS" panose="020B0603020202020204" pitchFamily="34" charset="0"/>
              </a:rPr>
              <a:t> important, can help </a:t>
            </a:r>
            <a:r>
              <a:rPr lang="fr-FR" altLang="en-US" sz="3000" dirty="0" err="1">
                <a:solidFill>
                  <a:srgbClr val="000000"/>
                </a:solidFill>
                <a:latin typeface="Trebuchet MS" panose="020B0603020202020204" pitchFamily="34" charset="0"/>
                <a:sym typeface="Trebuchet MS" panose="020B0603020202020204" pitchFamily="34" charset="0"/>
              </a:rPr>
              <a:t>predict</a:t>
            </a:r>
            <a:r>
              <a:rPr lang="fr-FR" altLang="en-US" sz="3000" dirty="0">
                <a:solidFill>
                  <a:srgbClr val="000000"/>
                </a:solidFill>
                <a:latin typeface="Trebuchet MS" panose="020B0603020202020204" pitchFamily="34" charset="0"/>
                <a:sym typeface="Trebuchet MS" panose="020B0603020202020204" pitchFamily="34" charset="0"/>
              </a:rPr>
              <a:t> </a:t>
            </a:r>
            <a:r>
              <a:rPr lang="fr-FR" altLang="en-US" sz="3000" dirty="0" err="1">
                <a:solidFill>
                  <a:srgbClr val="000000"/>
                </a:solidFill>
                <a:latin typeface="Trebuchet MS" panose="020B0603020202020204" pitchFamily="34" charset="0"/>
                <a:sym typeface="Trebuchet MS" panose="020B0603020202020204" pitchFamily="34" charset="0"/>
              </a:rPr>
              <a:t>unforeseen</a:t>
            </a:r>
            <a:r>
              <a:rPr lang="fr-FR" altLang="en-US" sz="3000" dirty="0">
                <a:solidFill>
                  <a:srgbClr val="000000"/>
                </a:solidFill>
                <a:latin typeface="Trebuchet MS" panose="020B0603020202020204" pitchFamily="34" charset="0"/>
                <a:sym typeface="Trebuchet MS" panose="020B0603020202020204" pitchFamily="34" charset="0"/>
              </a:rPr>
              <a:t> </a:t>
            </a:r>
            <a:r>
              <a:rPr lang="fr-FR" altLang="en-US" sz="3000" dirty="0" err="1">
                <a:solidFill>
                  <a:srgbClr val="000000"/>
                </a:solidFill>
                <a:latin typeface="Trebuchet MS" panose="020B0603020202020204" pitchFamily="34" charset="0"/>
                <a:sym typeface="Trebuchet MS" panose="020B0603020202020204" pitchFamily="34" charset="0"/>
              </a:rPr>
              <a:t>attacks</a:t>
            </a:r>
            <a:endParaRPr lang="fr-FR" altLang="en-US" sz="3000" dirty="0">
              <a:solidFill>
                <a:srgbClr val="000000"/>
              </a:solidFill>
              <a:latin typeface="Trebuchet MS" panose="020B0603020202020204" pitchFamily="34" charset="0"/>
              <a:sym typeface="Trebuchet MS" panose="020B0603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Google Shape;191;p27">
            <a:extLst>
              <a:ext uri="{FF2B5EF4-FFF2-40B4-BE49-F238E27FC236}">
                <a16:creationId xmlns:a16="http://schemas.microsoft.com/office/drawing/2014/main" id="{B02A2BEE-3DCA-594D-658F-DB804D6DDADE}"/>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Some things Bitcoin does differently</a:t>
            </a:r>
          </a:p>
        </p:txBody>
      </p:sp>
      <p:sp>
        <p:nvSpPr>
          <p:cNvPr id="43010" name="Google Shape;192;p27">
            <a:extLst>
              <a:ext uri="{FF2B5EF4-FFF2-40B4-BE49-F238E27FC236}">
                <a16:creationId xmlns:a16="http://schemas.microsoft.com/office/drawing/2014/main" id="{6E52EDAE-CE20-330F-7F5F-DB5F560C1E23}"/>
              </a:ext>
            </a:extLst>
          </p:cNvPr>
          <p:cNvSpPr>
            <a:spLocks noGrp="1" noChangeArrowheads="1"/>
          </p:cNvSpPr>
          <p:nvPr>
            <p:ph type="body" idx="1"/>
          </p:nvPr>
        </p:nvSpPr>
        <p:spPr>
          <a:xfrm>
            <a:off x="457200" y="1600200"/>
            <a:ext cx="8382000" cy="4191000"/>
          </a:xfrm>
        </p:spPr>
        <p:txBody>
          <a:bodyPr/>
          <a:lstStyle/>
          <a:p>
            <a:pPr marL="0" indent="0">
              <a:spcBef>
                <a:spcPct val="0"/>
              </a:spcBef>
              <a:spcAft>
                <a:spcPct val="0"/>
              </a:spcAft>
              <a:buClr>
                <a:srgbClr val="000000"/>
              </a:buClr>
              <a:buSzTx/>
              <a:buFont typeface="Trebuchet MS" panose="020B0603020202020204" pitchFamily="34" charset="0"/>
              <a:buNone/>
            </a:pPr>
            <a:endParaRPr lang="fr-FR" altLang="en-US"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dirty="0" err="1">
                <a:solidFill>
                  <a:srgbClr val="000000"/>
                </a:solidFill>
                <a:latin typeface="Trebuchet MS" panose="020B0603020202020204" pitchFamily="34" charset="0"/>
                <a:sym typeface="Trebuchet MS" panose="020B0603020202020204" pitchFamily="34" charset="0"/>
              </a:rPr>
              <a:t>Introduces</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incentives</a:t>
            </a:r>
            <a:endParaRPr lang="fr-FR" altLang="en-US" sz="3600" dirty="0"/>
          </a:p>
          <a:p>
            <a:pPr marL="342900" lvl="1" indent="-342900">
              <a:spcBef>
                <a:spcPct val="0"/>
              </a:spcBef>
              <a:spcAft>
                <a:spcPct val="0"/>
              </a:spcAft>
              <a:buClr>
                <a:srgbClr val="000000"/>
              </a:buClr>
              <a:buSzTx/>
              <a:buFont typeface="Arial" panose="020B0604020202020204" pitchFamily="34" charset="0"/>
              <a:buChar char="•"/>
            </a:pPr>
            <a:r>
              <a:rPr lang="fr-FR" altLang="en-US" dirty="0">
                <a:solidFill>
                  <a:srgbClr val="000000"/>
                </a:solidFill>
                <a:latin typeface="Trebuchet MS" panose="020B0603020202020204" pitchFamily="34" charset="0"/>
                <a:sym typeface="Trebuchet MS" panose="020B0603020202020204" pitchFamily="34" charset="0"/>
              </a:rPr>
              <a:t>Possible </a:t>
            </a:r>
            <a:r>
              <a:rPr lang="fr-FR" altLang="en-US" dirty="0" err="1">
                <a:solidFill>
                  <a:srgbClr val="000000"/>
                </a:solidFill>
                <a:latin typeface="Trebuchet MS" panose="020B0603020202020204" pitchFamily="34" charset="0"/>
                <a:sym typeface="Trebuchet MS" panose="020B0603020202020204" pitchFamily="34" charset="0"/>
              </a:rPr>
              <a:t>only</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because</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it</a:t>
            </a:r>
            <a:r>
              <a:rPr lang="fr-FR" altLang="fr-FR" dirty="0" err="1">
                <a:solidFill>
                  <a:srgbClr val="000000"/>
                </a:solidFill>
                <a:latin typeface="Trebuchet MS" panose="020B0603020202020204" pitchFamily="34" charset="0"/>
                <a:sym typeface="Trebuchet MS" panose="020B0603020202020204" pitchFamily="34" charset="0"/>
              </a:rPr>
              <a:t>’</a:t>
            </a:r>
            <a:r>
              <a:rPr lang="fr-FR" altLang="en-US" dirty="0" err="1">
                <a:solidFill>
                  <a:srgbClr val="000000"/>
                </a:solidFill>
                <a:latin typeface="Trebuchet MS" panose="020B0603020202020204" pitchFamily="34" charset="0"/>
                <a:sym typeface="Trebuchet MS" panose="020B0603020202020204" pitchFamily="34" charset="0"/>
              </a:rPr>
              <a:t>s</a:t>
            </a:r>
            <a:r>
              <a:rPr lang="fr-FR" altLang="en-US" dirty="0">
                <a:solidFill>
                  <a:srgbClr val="000000"/>
                </a:solidFill>
                <a:latin typeface="Trebuchet MS" panose="020B0603020202020204" pitchFamily="34" charset="0"/>
                <a:sym typeface="Trebuchet MS" panose="020B0603020202020204" pitchFamily="34" charset="0"/>
              </a:rPr>
              <a:t> a </a:t>
            </a:r>
            <a:r>
              <a:rPr lang="fr-FR" altLang="en-US" dirty="0" err="1">
                <a:solidFill>
                  <a:srgbClr val="000000"/>
                </a:solidFill>
                <a:latin typeface="Trebuchet MS" panose="020B0603020202020204" pitchFamily="34" charset="0"/>
                <a:sym typeface="Trebuchet MS" panose="020B0603020202020204" pitchFamily="34" charset="0"/>
              </a:rPr>
              <a:t>currency</a:t>
            </a:r>
            <a:r>
              <a:rPr lang="fr-FR" altLang="en-US" dirty="0">
                <a:solidFill>
                  <a:srgbClr val="000000"/>
                </a:solidFill>
                <a:latin typeface="Trebuchet MS" panose="020B0603020202020204" pitchFamily="34" charset="0"/>
                <a:sym typeface="Trebuchet MS" panose="020B0603020202020204" pitchFamily="34" charset="0"/>
              </a:rPr>
              <a:t>!</a:t>
            </a:r>
          </a:p>
          <a:p>
            <a:pPr marL="0" indent="0">
              <a:spcBef>
                <a:spcPct val="0"/>
              </a:spcBef>
              <a:spcAft>
                <a:spcPct val="0"/>
              </a:spcAft>
              <a:buClr>
                <a:srgbClr val="000000"/>
              </a:buClr>
              <a:buSzTx/>
              <a:buFont typeface="Trebuchet MS" panose="020B0603020202020204" pitchFamily="34" charset="0"/>
              <a:buNone/>
            </a:pPr>
            <a:endParaRPr lang="fr-FR" altLang="en-US"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dirty="0" err="1">
                <a:solidFill>
                  <a:srgbClr val="000000"/>
                </a:solidFill>
                <a:latin typeface="Trebuchet MS" panose="020B0603020202020204" pitchFamily="34" charset="0"/>
                <a:sym typeface="Trebuchet MS" panose="020B0603020202020204" pitchFamily="34" charset="0"/>
              </a:rPr>
              <a:t>Embraces</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randomness</a:t>
            </a:r>
            <a:endParaRPr lang="fr-FR" altLang="en-US" sz="3600" dirty="0"/>
          </a:p>
          <a:p>
            <a:pPr marL="342900" lvl="1" indent="-342900">
              <a:spcBef>
                <a:spcPct val="0"/>
              </a:spcBef>
              <a:spcAft>
                <a:spcPct val="0"/>
              </a:spcAft>
              <a:buClr>
                <a:srgbClr val="000000"/>
              </a:buClr>
              <a:buSzTx/>
              <a:buFont typeface="Arial" panose="020B0604020202020204" pitchFamily="34" charset="0"/>
              <a:buChar char="•"/>
            </a:pPr>
            <a:r>
              <a:rPr lang="fr-FR" altLang="en-US" dirty="0" err="1">
                <a:solidFill>
                  <a:srgbClr val="000000"/>
                </a:solidFill>
                <a:latin typeface="Trebuchet MS" panose="020B0603020202020204" pitchFamily="34" charset="0"/>
                <a:sym typeface="Trebuchet MS" panose="020B0603020202020204" pitchFamily="34" charset="0"/>
              </a:rPr>
              <a:t>Does</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away</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with</a:t>
            </a:r>
            <a:r>
              <a:rPr lang="fr-FR" altLang="en-US" dirty="0">
                <a:solidFill>
                  <a:srgbClr val="000000"/>
                </a:solidFill>
                <a:latin typeface="Trebuchet MS" panose="020B0603020202020204" pitchFamily="34" charset="0"/>
                <a:sym typeface="Trebuchet MS" panose="020B0603020202020204" pitchFamily="34" charset="0"/>
              </a:rPr>
              <a:t> the notion of a </a:t>
            </a:r>
            <a:r>
              <a:rPr lang="fr-FR" altLang="en-US" dirty="0" err="1">
                <a:solidFill>
                  <a:srgbClr val="000000"/>
                </a:solidFill>
                <a:latin typeface="Trebuchet MS" panose="020B0603020202020204" pitchFamily="34" charset="0"/>
                <a:sym typeface="Trebuchet MS" panose="020B0603020202020204" pitchFamily="34" charset="0"/>
              </a:rPr>
              <a:t>specific</a:t>
            </a:r>
            <a:r>
              <a:rPr lang="fr-FR" altLang="en-US" dirty="0">
                <a:solidFill>
                  <a:srgbClr val="000000"/>
                </a:solidFill>
                <a:latin typeface="Trebuchet MS" panose="020B0603020202020204" pitchFamily="34" charset="0"/>
                <a:sym typeface="Trebuchet MS" panose="020B0603020202020204" pitchFamily="34" charset="0"/>
              </a:rPr>
              <a:t> end-point</a:t>
            </a:r>
            <a:endParaRPr lang="fr-FR" altLang="en-US" sz="3200" dirty="0"/>
          </a:p>
          <a:p>
            <a:pPr marL="342900" lvl="1" indent="-342900">
              <a:spcBef>
                <a:spcPct val="0"/>
              </a:spcBef>
              <a:spcAft>
                <a:spcPct val="0"/>
              </a:spcAft>
              <a:buClr>
                <a:srgbClr val="000000"/>
              </a:buClr>
              <a:buSzTx/>
              <a:buFont typeface="Arial" panose="020B0604020202020204" pitchFamily="34" charset="0"/>
              <a:buChar char="•"/>
            </a:pPr>
            <a:r>
              <a:rPr lang="fr-FR" altLang="en-US" dirty="0">
                <a:solidFill>
                  <a:srgbClr val="000000"/>
                </a:solidFill>
                <a:latin typeface="Trebuchet MS" panose="020B0603020202020204" pitchFamily="34" charset="0"/>
                <a:sym typeface="Trebuchet MS" panose="020B0603020202020204" pitchFamily="34" charset="0"/>
              </a:rPr>
              <a:t>Consensus </a:t>
            </a:r>
            <a:r>
              <a:rPr lang="fr-FR" altLang="en-US" dirty="0" err="1">
                <a:solidFill>
                  <a:srgbClr val="000000"/>
                </a:solidFill>
                <a:latin typeface="Trebuchet MS" panose="020B0603020202020204" pitchFamily="34" charset="0"/>
                <a:sym typeface="Trebuchet MS" panose="020B0603020202020204" pitchFamily="34" charset="0"/>
              </a:rPr>
              <a:t>happens</a:t>
            </a:r>
            <a:r>
              <a:rPr lang="fr-FR" altLang="en-US" dirty="0">
                <a:solidFill>
                  <a:srgbClr val="000000"/>
                </a:solidFill>
                <a:latin typeface="Trebuchet MS" panose="020B0603020202020204" pitchFamily="34" charset="0"/>
                <a:sym typeface="Trebuchet MS" panose="020B0603020202020204" pitchFamily="34" charset="0"/>
              </a:rPr>
              <a:t> over long time </a:t>
            </a:r>
            <a:r>
              <a:rPr lang="fr-FR" altLang="en-US" dirty="0" err="1">
                <a:solidFill>
                  <a:srgbClr val="000000"/>
                </a:solidFill>
                <a:latin typeface="Trebuchet MS" panose="020B0603020202020204" pitchFamily="34" charset="0"/>
                <a:sym typeface="Trebuchet MS" panose="020B0603020202020204" pitchFamily="34" charset="0"/>
              </a:rPr>
              <a:t>scales</a:t>
            </a:r>
            <a:r>
              <a:rPr lang="fr-FR" altLang="en-US" dirty="0">
                <a:solidFill>
                  <a:srgbClr val="000000"/>
                </a:solidFill>
                <a:latin typeface="Trebuchet MS" panose="020B0603020202020204" pitchFamily="34" charset="0"/>
                <a:sym typeface="Trebuchet MS" panose="020B0603020202020204" pitchFamily="34" charset="0"/>
              </a:rPr>
              <a:t> — about 1 </a:t>
            </a:r>
            <a:r>
              <a:rPr lang="fr-FR" altLang="en-US" dirty="0" err="1">
                <a:solidFill>
                  <a:srgbClr val="000000"/>
                </a:solidFill>
                <a:latin typeface="Trebuchet MS" panose="020B0603020202020204" pitchFamily="34" charset="0"/>
                <a:sym typeface="Trebuchet MS" panose="020B0603020202020204" pitchFamily="34" charset="0"/>
              </a:rPr>
              <a:t>hour</a:t>
            </a:r>
            <a:endParaRPr lang="fr-FR" altLang="en-US"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dirty="0">
              <a:solidFill>
                <a:srgbClr val="000000"/>
              </a:solidFill>
              <a:latin typeface="Trebuchet MS" panose="020B0603020202020204" pitchFamily="34" charset="0"/>
              <a:sym typeface="Trebuchet MS" panose="020B0603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Google Shape;191;p27">
            <a:extLst>
              <a:ext uri="{FF2B5EF4-FFF2-40B4-BE49-F238E27FC236}">
                <a16:creationId xmlns:a16="http://schemas.microsoft.com/office/drawing/2014/main" id="{433002A2-ECEC-A80B-A8BB-86D83F9469D9}"/>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Some things Bitcoin does differently</a:t>
            </a:r>
          </a:p>
        </p:txBody>
      </p:sp>
      <p:sp>
        <p:nvSpPr>
          <p:cNvPr id="45058" name="Google Shape;192;p27">
            <a:extLst>
              <a:ext uri="{FF2B5EF4-FFF2-40B4-BE49-F238E27FC236}">
                <a16:creationId xmlns:a16="http://schemas.microsoft.com/office/drawing/2014/main" id="{F8F6E2AB-0AE8-568B-B68D-24242839EC3B}"/>
              </a:ext>
            </a:extLst>
          </p:cNvPr>
          <p:cNvSpPr>
            <a:spLocks noGrp="1" noChangeArrowheads="1"/>
          </p:cNvSpPr>
          <p:nvPr>
            <p:ph type="body" idx="1"/>
          </p:nvPr>
        </p:nvSpPr>
        <p:spPr>
          <a:xfrm>
            <a:off x="457200" y="1600200"/>
            <a:ext cx="8382000" cy="4967288"/>
          </a:xfrm>
        </p:spPr>
        <p:txBody>
          <a:bodyPr/>
          <a:lstStyle/>
          <a:p>
            <a:pPr marL="0" indent="0">
              <a:spcBef>
                <a:spcPct val="0"/>
              </a:spcBef>
              <a:spcAft>
                <a:spcPct val="0"/>
              </a:spcAft>
              <a:buClr>
                <a:srgbClr val="000000"/>
              </a:buClr>
              <a:buSzTx/>
              <a:buFont typeface="Trebuchet MS" panose="020B0603020202020204" pitchFamily="34" charset="0"/>
              <a:buNone/>
            </a:pPr>
            <a:endParaRPr lang="fr-FR" altLang="en-US" sz="36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3600" dirty="0">
                <a:solidFill>
                  <a:srgbClr val="000000"/>
                </a:solidFill>
                <a:latin typeface="Trebuchet MS" panose="020B0603020202020204" pitchFamily="34" charset="0"/>
                <a:sym typeface="Trebuchet MS" panose="020B0603020202020204" pitchFamily="34" charset="0"/>
              </a:rPr>
              <a:t>Bitcoin </a:t>
            </a:r>
            <a:r>
              <a:rPr lang="fr-FR" altLang="en-US" sz="3600" dirty="0" err="1">
                <a:solidFill>
                  <a:srgbClr val="000000"/>
                </a:solidFill>
                <a:latin typeface="Trebuchet MS" panose="020B0603020202020204" pitchFamily="34" charset="0"/>
                <a:sym typeface="Trebuchet MS" panose="020B0603020202020204" pitchFamily="34" charset="0"/>
              </a:rPr>
              <a:t>nodes</a:t>
            </a:r>
            <a:r>
              <a:rPr lang="fr-FR" altLang="en-US" sz="3600" dirty="0">
                <a:solidFill>
                  <a:srgbClr val="000000"/>
                </a:solidFill>
                <a:latin typeface="Trebuchet MS" panose="020B0603020202020204" pitchFamily="34" charset="0"/>
                <a:sym typeface="Trebuchet MS" panose="020B0603020202020204" pitchFamily="34" charset="0"/>
              </a:rPr>
              <a:t> dont have </a:t>
            </a:r>
            <a:r>
              <a:rPr lang="fr-FR" altLang="en-US" sz="3600" dirty="0" err="1">
                <a:solidFill>
                  <a:srgbClr val="000000"/>
                </a:solidFill>
                <a:latin typeface="Trebuchet MS" panose="020B0603020202020204" pitchFamily="34" charset="0"/>
                <a:sym typeface="Trebuchet MS" panose="020B0603020202020204" pitchFamily="34" charset="0"/>
              </a:rPr>
              <a:t>identity</a:t>
            </a:r>
            <a:endParaRPr lang="fr-FR" altLang="en-US" sz="4000" dirty="0"/>
          </a:p>
          <a:p>
            <a:pPr marL="342900" lvl="1" indent="-342900">
              <a:spcBef>
                <a:spcPct val="0"/>
              </a:spcBef>
              <a:spcAft>
                <a:spcPct val="0"/>
              </a:spcAft>
              <a:buClr>
                <a:srgbClr val="000000"/>
              </a:buClr>
              <a:buSzTx/>
              <a:buFont typeface="Arial" panose="020B0604020202020204" pitchFamily="34" charset="0"/>
              <a:buChar char="•"/>
            </a:pPr>
            <a:r>
              <a:rPr lang="fr-FR" altLang="en-US" sz="3200" dirty="0" err="1">
                <a:solidFill>
                  <a:srgbClr val="000000"/>
                </a:solidFill>
                <a:latin typeface="Trebuchet MS" panose="020B0603020202020204" pitchFamily="34" charset="0"/>
                <a:sym typeface="Trebuchet MS" panose="020B0603020202020204" pitchFamily="34" charset="0"/>
              </a:rPr>
              <a:t>Pseudonymity</a:t>
            </a:r>
            <a:r>
              <a:rPr lang="fr-FR" altLang="en-US" sz="3200" dirty="0">
                <a:solidFill>
                  <a:srgbClr val="000000"/>
                </a:solidFill>
                <a:latin typeface="Trebuchet MS" panose="020B0603020202020204" pitchFamily="34" charset="0"/>
                <a:sym typeface="Trebuchet MS" panose="020B0603020202020204" pitchFamily="34" charset="0"/>
              </a:rPr>
              <a:t> </a:t>
            </a:r>
            <a:r>
              <a:rPr lang="fr-FR" altLang="en-US" sz="3200" dirty="0" err="1">
                <a:solidFill>
                  <a:srgbClr val="000000"/>
                </a:solidFill>
                <a:latin typeface="Trebuchet MS" panose="020B0603020202020204" pitchFamily="34" charset="0"/>
                <a:sym typeface="Trebuchet MS" panose="020B0603020202020204" pitchFamily="34" charset="0"/>
              </a:rPr>
              <a:t>is</a:t>
            </a:r>
            <a:r>
              <a:rPr lang="fr-FR" altLang="en-US" sz="3200" dirty="0">
                <a:solidFill>
                  <a:srgbClr val="000000"/>
                </a:solidFill>
                <a:latin typeface="Trebuchet MS" panose="020B0603020202020204" pitchFamily="34" charset="0"/>
                <a:sym typeface="Trebuchet MS" panose="020B0603020202020204" pitchFamily="34" charset="0"/>
              </a:rPr>
              <a:t> a goal of Bitcoin</a:t>
            </a:r>
          </a:p>
          <a:p>
            <a:pPr marL="342900" lvl="1" indent="-342900">
              <a:spcBef>
                <a:spcPct val="0"/>
              </a:spcBef>
              <a:spcAft>
                <a:spcPct val="0"/>
              </a:spcAft>
              <a:buClr>
                <a:srgbClr val="000000"/>
              </a:buClr>
              <a:buSzTx/>
              <a:buFont typeface="Arial" panose="020B0604020202020204" pitchFamily="34" charset="0"/>
              <a:buChar char="•"/>
            </a:pPr>
            <a:r>
              <a:rPr lang="fr-FR" altLang="en-US" sz="3200" dirty="0">
                <a:solidFill>
                  <a:srgbClr val="000000"/>
                </a:solidFill>
                <a:latin typeface="Trebuchet MS" panose="020B0603020202020204" pitchFamily="34" charset="0"/>
                <a:sym typeface="Trebuchet MS" panose="020B0603020202020204" pitchFamily="34" charset="0"/>
              </a:rPr>
              <a:t>Implications?</a:t>
            </a:r>
            <a:endParaRPr lang="fr-FR" altLang="en-US" sz="3200" dirty="0"/>
          </a:p>
          <a:p>
            <a:pPr marL="342900" lvl="1" indent="-342900">
              <a:spcBef>
                <a:spcPct val="0"/>
              </a:spcBef>
              <a:spcAft>
                <a:spcPct val="0"/>
              </a:spcAft>
              <a:buClr>
                <a:srgbClr val="000000"/>
              </a:buClr>
              <a:buSzTx/>
              <a:buFont typeface="Arial" panose="020B0604020202020204" pitchFamily="34" charset="0"/>
              <a:buChar char="•"/>
            </a:pPr>
            <a:endParaRPr lang="fr-FR" altLang="en-US" sz="32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36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3600" dirty="0">
              <a:solidFill>
                <a:srgbClr val="000000"/>
              </a:solidFill>
              <a:latin typeface="Trebuchet MS" panose="020B0603020202020204" pitchFamily="34" charset="0"/>
              <a:sym typeface="Trebuchet MS" panose="020B0603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re 1">
            <a:extLst>
              <a:ext uri="{FF2B5EF4-FFF2-40B4-BE49-F238E27FC236}">
                <a16:creationId xmlns:a16="http://schemas.microsoft.com/office/drawing/2014/main" id="{0D770E35-7F11-1B10-0D6F-FCFA3F26869D}"/>
              </a:ext>
            </a:extLst>
          </p:cNvPr>
          <p:cNvSpPr>
            <a:spLocks noGrp="1" noChangeArrowheads="1"/>
          </p:cNvSpPr>
          <p:nvPr>
            <p:ph type="title"/>
          </p:nvPr>
        </p:nvSpPr>
        <p:spPr/>
        <p:txBody>
          <a:bodyPr/>
          <a:lstStyle/>
          <a:p>
            <a:r>
              <a:rPr lang="fr-FR" altLang="en-US"/>
              <a:t>Roadmap </a:t>
            </a:r>
          </a:p>
        </p:txBody>
      </p:sp>
      <p:sp>
        <p:nvSpPr>
          <p:cNvPr id="3" name="Espace réservé du contenu 2">
            <a:extLst>
              <a:ext uri="{FF2B5EF4-FFF2-40B4-BE49-F238E27FC236}">
                <a16:creationId xmlns:a16="http://schemas.microsoft.com/office/drawing/2014/main" id="{E270C279-2464-C766-FC82-AB9205598005}"/>
              </a:ext>
            </a:extLst>
          </p:cNvPr>
          <p:cNvSpPr>
            <a:spLocks noGrp="1"/>
          </p:cNvSpPr>
          <p:nvPr>
            <p:ph idx="1"/>
          </p:nvPr>
        </p:nvSpPr>
        <p:spPr/>
        <p:txBody>
          <a:bodyPr/>
          <a:lstStyle/>
          <a:p>
            <a:pPr>
              <a:defRPr/>
            </a:pPr>
            <a:r>
              <a:rPr lang="fr-FR" sz="2800" dirty="0" err="1">
                <a:solidFill>
                  <a:schemeClr val="bg1">
                    <a:lumMod val="75000"/>
                  </a:schemeClr>
                </a:solidFill>
              </a:rPr>
              <a:t>Centralized</a:t>
            </a:r>
            <a:r>
              <a:rPr lang="fr-FR" sz="2800" dirty="0">
                <a:solidFill>
                  <a:schemeClr val="bg1">
                    <a:lumMod val="75000"/>
                  </a:schemeClr>
                </a:solidFill>
              </a:rPr>
              <a:t> and </a:t>
            </a:r>
            <a:r>
              <a:rPr lang="fr-FR" sz="2800" dirty="0" err="1">
                <a:solidFill>
                  <a:schemeClr val="bg1">
                    <a:lumMod val="75000"/>
                  </a:schemeClr>
                </a:solidFill>
              </a:rPr>
              <a:t>decentralized</a:t>
            </a:r>
            <a:r>
              <a:rPr lang="fr-FR" sz="2800" dirty="0">
                <a:solidFill>
                  <a:schemeClr val="bg1">
                    <a:lumMod val="75000"/>
                  </a:schemeClr>
                </a:solidFill>
              </a:rPr>
              <a:t> </a:t>
            </a:r>
            <a:r>
              <a:rPr lang="fr-FR" sz="2800" dirty="0" err="1">
                <a:solidFill>
                  <a:schemeClr val="bg1">
                    <a:lumMod val="75000"/>
                  </a:schemeClr>
                </a:solidFill>
              </a:rPr>
              <a:t>systems</a:t>
            </a:r>
            <a:endParaRPr lang="fr-FR" sz="2800" dirty="0">
              <a:solidFill>
                <a:schemeClr val="bg1">
                  <a:lumMod val="75000"/>
                </a:schemeClr>
              </a:solidFill>
            </a:endParaRPr>
          </a:p>
          <a:p>
            <a:pPr>
              <a:defRPr/>
            </a:pPr>
            <a:r>
              <a:rPr lang="fr-FR" sz="2800" dirty="0" err="1">
                <a:solidFill>
                  <a:schemeClr val="bg1">
                    <a:lumMod val="75000"/>
                  </a:schemeClr>
                </a:solidFill>
              </a:rPr>
              <a:t>Distributed</a:t>
            </a:r>
            <a:r>
              <a:rPr lang="fr-FR" sz="2800" dirty="0">
                <a:solidFill>
                  <a:schemeClr val="bg1">
                    <a:lumMod val="75000"/>
                  </a:schemeClr>
                </a:solidFill>
              </a:rPr>
              <a:t> Consensus</a:t>
            </a:r>
          </a:p>
          <a:p>
            <a:pPr>
              <a:defRPr/>
            </a:pPr>
            <a:r>
              <a:rPr lang="fr-FR" sz="2800" dirty="0">
                <a:solidFill>
                  <a:schemeClr val="bg1">
                    <a:lumMod val="75000"/>
                  </a:schemeClr>
                </a:solidFill>
              </a:rPr>
              <a:t>Consensus </a:t>
            </a:r>
            <a:r>
              <a:rPr lang="fr-FR" sz="2800" dirty="0" err="1">
                <a:solidFill>
                  <a:schemeClr val="bg1">
                    <a:lumMod val="75000"/>
                  </a:schemeClr>
                </a:solidFill>
              </a:rPr>
              <a:t>problem</a:t>
            </a:r>
            <a:r>
              <a:rPr lang="fr-FR" sz="2800" dirty="0">
                <a:solidFill>
                  <a:schemeClr val="bg1">
                    <a:lumMod val="75000"/>
                  </a:schemeClr>
                </a:solidFill>
              </a:rPr>
              <a:t> in </a:t>
            </a:r>
            <a:r>
              <a:rPr lang="fr-FR" sz="2800" dirty="0" err="1">
                <a:solidFill>
                  <a:schemeClr val="bg1">
                    <a:lumMod val="75000"/>
                  </a:schemeClr>
                </a:solidFill>
              </a:rPr>
              <a:t>Bitcoin</a:t>
            </a:r>
            <a:endParaRPr lang="fr-FR" sz="2800" dirty="0">
              <a:solidFill>
                <a:schemeClr val="bg1">
                  <a:lumMod val="75000"/>
                </a:schemeClr>
              </a:solidFill>
            </a:endParaRPr>
          </a:p>
          <a:p>
            <a:pPr>
              <a:defRPr/>
            </a:pPr>
            <a:r>
              <a:rPr lang="fr-FR" sz="2800" dirty="0" err="1">
                <a:solidFill>
                  <a:srgbClr val="FF0000"/>
                </a:solidFill>
              </a:rPr>
              <a:t>Bitcoin</a:t>
            </a:r>
            <a:r>
              <a:rPr lang="fr-FR" sz="2800" dirty="0">
                <a:solidFill>
                  <a:srgbClr val="FF0000"/>
                </a:solidFill>
              </a:rPr>
              <a:t> Consensus </a:t>
            </a:r>
            <a:r>
              <a:rPr lang="fr-FR" sz="2800" dirty="0" err="1">
                <a:solidFill>
                  <a:srgbClr val="FF0000"/>
                </a:solidFill>
              </a:rPr>
              <a:t>Algorithm</a:t>
            </a:r>
            <a:endParaRPr lang="fr-FR" sz="2800" dirty="0">
              <a:solidFill>
                <a:srgbClr val="FF0000"/>
              </a:solidFill>
            </a:endParaRPr>
          </a:p>
          <a:p>
            <a:pPr lvl="1">
              <a:defRPr/>
            </a:pPr>
            <a:r>
              <a:rPr lang="fr-FR" sz="2400" dirty="0" err="1">
                <a:solidFill>
                  <a:schemeClr val="bg1">
                    <a:lumMod val="75000"/>
                  </a:schemeClr>
                </a:solidFill>
              </a:rPr>
              <a:t>Incentives</a:t>
            </a:r>
            <a:r>
              <a:rPr lang="fr-FR" sz="2400" dirty="0">
                <a:solidFill>
                  <a:schemeClr val="bg1">
                    <a:lumMod val="75000"/>
                  </a:schemeClr>
                </a:solidFill>
              </a:rPr>
              <a:t> for </a:t>
            </a:r>
            <a:r>
              <a:rPr lang="fr-FR" sz="2400" dirty="0" err="1">
                <a:solidFill>
                  <a:schemeClr val="bg1">
                    <a:lumMod val="75000"/>
                  </a:schemeClr>
                </a:solidFill>
              </a:rPr>
              <a:t>miners</a:t>
            </a:r>
            <a:r>
              <a:rPr lang="fr-FR" sz="2400" dirty="0">
                <a:solidFill>
                  <a:schemeClr val="bg1">
                    <a:lumMod val="75000"/>
                  </a:schemeClr>
                </a:solidFill>
              </a:rPr>
              <a:t>, Proof of </a:t>
            </a:r>
            <a:r>
              <a:rPr lang="fr-FR" sz="2400" dirty="0" err="1">
                <a:solidFill>
                  <a:schemeClr val="bg1">
                    <a:lumMod val="75000"/>
                  </a:schemeClr>
                </a:solidFill>
              </a:rPr>
              <a:t>work</a:t>
            </a:r>
            <a:r>
              <a:rPr lang="fr-FR" sz="2400" dirty="0">
                <a:solidFill>
                  <a:schemeClr val="bg1">
                    <a:lumMod val="75000"/>
                  </a:schemeClr>
                </a:solidFill>
              </a:rPr>
              <a:t> , Limitations</a:t>
            </a:r>
          </a:p>
        </p:txBody>
      </p:sp>
      <p:sp>
        <p:nvSpPr>
          <p:cNvPr id="2" name="Slide Number Placeholder 1">
            <a:extLst>
              <a:ext uri="{FF2B5EF4-FFF2-40B4-BE49-F238E27FC236}">
                <a16:creationId xmlns:a16="http://schemas.microsoft.com/office/drawing/2014/main" id="{B79445D3-D1A0-96E3-3257-41644BF8AB7D}"/>
              </a:ext>
            </a:extLst>
          </p:cNvPr>
          <p:cNvSpPr>
            <a:spLocks noGrp="1"/>
          </p:cNvSpPr>
          <p:nvPr>
            <p:ph type="sldNum" sz="quarter" idx="12"/>
          </p:nvPr>
        </p:nvSpPr>
        <p:spPr/>
        <p:txBody>
          <a:bodyPr/>
          <a:lstStyle/>
          <a:p>
            <a:fld id="{54AFB715-9BAA-466F-BD26-510BF652CDA2}" type="slidenum">
              <a:rPr lang="en-US" altLang="en-US" smtClean="0"/>
              <a:pPr/>
              <a:t>20</a:t>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Google Shape;227;p33">
            <a:extLst>
              <a:ext uri="{FF2B5EF4-FFF2-40B4-BE49-F238E27FC236}">
                <a16:creationId xmlns:a16="http://schemas.microsoft.com/office/drawing/2014/main" id="{3229312B-15AF-310A-CA77-87722D056960}"/>
              </a:ext>
            </a:extLst>
          </p:cNvPr>
          <p:cNvSpPr>
            <a:spLocks noGrp="1"/>
          </p:cNvSpPr>
          <p:nvPr>
            <p:ph type="title"/>
          </p:nvPr>
        </p:nvSpPr>
        <p:spPr>
          <a:xfrm>
            <a:off x="457200" y="274638"/>
            <a:ext cx="8229600" cy="1143000"/>
          </a:xfrm>
          <a:ln cap="flat">
            <a:solidFill>
              <a:schemeClr val="bg1"/>
            </a:solidFill>
            <a:round/>
            <a:headEnd type="none" w="sm" len="sm"/>
            <a:tailEnd type="none" w="sm" len="sm"/>
          </a:ln>
        </p:spPr>
        <p:txBody>
          <a:bodyPr lIns="91425" tIns="91425" rIns="91425" bIns="91425"/>
          <a:lstStyle/>
          <a:p>
            <a:pPr>
              <a:buClr>
                <a:srgbClr val="000000"/>
              </a:buClr>
              <a:buFont typeface="Trebuchet MS" panose="020B0603020202020204" pitchFamily="34" charset="0"/>
              <a:buNone/>
            </a:pPr>
            <a:r>
              <a:rPr lang="en-US" altLang="en-US">
                <a:solidFill>
                  <a:srgbClr val="000000"/>
                </a:solidFill>
                <a:sym typeface="Trebuchet MS" panose="020B0603020202020204" pitchFamily="34" charset="0"/>
              </a:rPr>
              <a:t>Consensus algorithm (simplified)</a:t>
            </a:r>
          </a:p>
        </p:txBody>
      </p:sp>
      <p:sp>
        <p:nvSpPr>
          <p:cNvPr id="48130" name="Google Shape;228;p33">
            <a:extLst>
              <a:ext uri="{FF2B5EF4-FFF2-40B4-BE49-F238E27FC236}">
                <a16:creationId xmlns:a16="http://schemas.microsoft.com/office/drawing/2014/main" id="{768C4772-201C-757B-580B-A1BAC15351CF}"/>
              </a:ext>
            </a:extLst>
          </p:cNvPr>
          <p:cNvSpPr>
            <a:spLocks noGrp="1" noChangeArrowheads="1"/>
          </p:cNvSpPr>
          <p:nvPr>
            <p:ph type="body" idx="1"/>
          </p:nvPr>
        </p:nvSpPr>
        <p:spPr>
          <a:xfrm>
            <a:off x="457200" y="1600200"/>
            <a:ext cx="8229600" cy="4525963"/>
          </a:xfrm>
        </p:spPr>
        <p:txBody>
          <a:bodyPr lIns="91425" tIns="91425" rIns="91425" bIns="91425"/>
          <a:lstStyle/>
          <a:p>
            <a:pPr marL="514350" indent="-514350">
              <a:spcBef>
                <a:spcPct val="0"/>
              </a:spcBef>
              <a:buClr>
                <a:srgbClr val="000000"/>
              </a:buClr>
              <a:buFontTx/>
              <a:buAutoNum type="arabicPeriod"/>
            </a:pPr>
            <a:r>
              <a:rPr lang="fr-FR" altLang="en-US" sz="2600" dirty="0">
                <a:solidFill>
                  <a:srgbClr val="000000"/>
                </a:solidFill>
                <a:latin typeface="Trebuchet MS" panose="020B0603020202020204" pitchFamily="34" charset="0"/>
                <a:sym typeface="Trebuchet MS" panose="020B0603020202020204" pitchFamily="34" charset="0"/>
              </a:rPr>
              <a:t>New transactions are broadcast to all </a:t>
            </a:r>
            <a:r>
              <a:rPr lang="fr-FR" altLang="en-US" sz="2600" dirty="0" err="1">
                <a:solidFill>
                  <a:srgbClr val="000000"/>
                </a:solidFill>
                <a:latin typeface="Trebuchet MS" panose="020B0603020202020204" pitchFamily="34" charset="0"/>
                <a:sym typeface="Trebuchet MS" panose="020B0603020202020204" pitchFamily="34" charset="0"/>
              </a:rPr>
              <a:t>nodes</a:t>
            </a:r>
            <a:endParaRPr lang="fr-FR" altLang="en-US" sz="2600" dirty="0">
              <a:solidFill>
                <a:srgbClr val="000000"/>
              </a:solidFill>
              <a:latin typeface="Trebuchet MS" panose="020B0603020202020204" pitchFamily="34" charset="0"/>
              <a:sym typeface="Trebuchet MS" panose="020B0603020202020204" pitchFamily="34" charset="0"/>
            </a:endParaRPr>
          </a:p>
          <a:p>
            <a:pPr marL="514350" indent="-514350">
              <a:spcBef>
                <a:spcPts val="638"/>
              </a:spcBef>
              <a:buClr>
                <a:srgbClr val="000000"/>
              </a:buClr>
              <a:buFontTx/>
              <a:buAutoNum type="arabicPeriod"/>
            </a:pPr>
            <a:r>
              <a:rPr lang="fr-FR" altLang="en-US" sz="2600" dirty="0" err="1">
                <a:solidFill>
                  <a:srgbClr val="000000"/>
                </a:solidFill>
                <a:latin typeface="Trebuchet MS" panose="020B0603020202020204" pitchFamily="34" charset="0"/>
                <a:sym typeface="Trebuchet MS" panose="020B0603020202020204" pitchFamily="34" charset="0"/>
              </a:rPr>
              <a:t>Each</a:t>
            </a:r>
            <a:r>
              <a:rPr lang="fr-FR" altLang="en-US" sz="2600" dirty="0">
                <a:solidFill>
                  <a:srgbClr val="000000"/>
                </a:solidFill>
                <a:latin typeface="Trebuchet MS" panose="020B0603020202020204" pitchFamily="34" charset="0"/>
                <a:sym typeface="Trebuchet MS" panose="020B0603020202020204" pitchFamily="34" charset="0"/>
              </a:rPr>
              <a:t> </a:t>
            </a:r>
            <a:r>
              <a:rPr lang="fr-FR" altLang="en-US" sz="2600" dirty="0" err="1">
                <a:solidFill>
                  <a:srgbClr val="000000"/>
                </a:solidFill>
                <a:latin typeface="Trebuchet MS" panose="020B0603020202020204" pitchFamily="34" charset="0"/>
                <a:sym typeface="Trebuchet MS" panose="020B0603020202020204" pitchFamily="34" charset="0"/>
              </a:rPr>
              <a:t>node</a:t>
            </a:r>
            <a:r>
              <a:rPr lang="fr-FR" altLang="en-US" sz="2600" dirty="0">
                <a:solidFill>
                  <a:srgbClr val="000000"/>
                </a:solidFill>
                <a:latin typeface="Trebuchet MS" panose="020B0603020202020204" pitchFamily="34" charset="0"/>
                <a:sym typeface="Trebuchet MS" panose="020B0603020202020204" pitchFamily="34" charset="0"/>
              </a:rPr>
              <a:t> </a:t>
            </a:r>
            <a:r>
              <a:rPr lang="fr-FR" altLang="en-US" sz="2600" dirty="0" err="1">
                <a:solidFill>
                  <a:srgbClr val="000000"/>
                </a:solidFill>
                <a:latin typeface="Trebuchet MS" panose="020B0603020202020204" pitchFamily="34" charset="0"/>
                <a:sym typeface="Trebuchet MS" panose="020B0603020202020204" pitchFamily="34" charset="0"/>
              </a:rPr>
              <a:t>collects</a:t>
            </a:r>
            <a:r>
              <a:rPr lang="fr-FR" altLang="en-US" sz="2600" dirty="0">
                <a:solidFill>
                  <a:srgbClr val="000000"/>
                </a:solidFill>
                <a:latin typeface="Trebuchet MS" panose="020B0603020202020204" pitchFamily="34" charset="0"/>
                <a:sym typeface="Trebuchet MS" panose="020B0603020202020204" pitchFamily="34" charset="0"/>
              </a:rPr>
              <a:t> new transactions </a:t>
            </a:r>
            <a:r>
              <a:rPr lang="fr-FR" altLang="en-US" sz="2600" dirty="0" err="1">
                <a:solidFill>
                  <a:srgbClr val="000000"/>
                </a:solidFill>
                <a:latin typeface="Trebuchet MS" panose="020B0603020202020204" pitchFamily="34" charset="0"/>
                <a:sym typeface="Trebuchet MS" panose="020B0603020202020204" pitchFamily="34" charset="0"/>
              </a:rPr>
              <a:t>into</a:t>
            </a:r>
            <a:r>
              <a:rPr lang="fr-FR" altLang="en-US" sz="2600" dirty="0">
                <a:solidFill>
                  <a:srgbClr val="000000"/>
                </a:solidFill>
                <a:latin typeface="Trebuchet MS" panose="020B0603020202020204" pitchFamily="34" charset="0"/>
                <a:sym typeface="Trebuchet MS" panose="020B0603020202020204" pitchFamily="34" charset="0"/>
              </a:rPr>
              <a:t> a block</a:t>
            </a:r>
          </a:p>
          <a:p>
            <a:pPr marL="514350" indent="-514350">
              <a:spcBef>
                <a:spcPts val="638"/>
              </a:spcBef>
              <a:buClr>
                <a:srgbClr val="000000"/>
              </a:buClr>
              <a:buFontTx/>
              <a:buAutoNum type="arabicPeriod"/>
            </a:pPr>
            <a:r>
              <a:rPr lang="fr-FR" altLang="en-US" sz="2600" dirty="0">
                <a:latin typeface="Trebuchet MS" panose="020B0603020202020204" pitchFamily="34" charset="0"/>
                <a:sym typeface="Trebuchet MS" panose="020B0603020202020204" pitchFamily="34" charset="0"/>
              </a:rPr>
              <a:t>In </a:t>
            </a:r>
            <a:r>
              <a:rPr lang="fr-FR" altLang="en-US" sz="2600" dirty="0" err="1">
                <a:latin typeface="Trebuchet MS" panose="020B0603020202020204" pitchFamily="34" charset="0"/>
                <a:sym typeface="Trebuchet MS" panose="020B0603020202020204" pitchFamily="34" charset="0"/>
              </a:rPr>
              <a:t>each</a:t>
            </a:r>
            <a:r>
              <a:rPr lang="fr-FR" altLang="en-US" sz="2600" dirty="0">
                <a:latin typeface="Trebuchet MS" panose="020B0603020202020204" pitchFamily="34" charset="0"/>
                <a:sym typeface="Trebuchet MS" panose="020B0603020202020204" pitchFamily="34" charset="0"/>
              </a:rPr>
              <a:t> round a </a:t>
            </a:r>
            <a:r>
              <a:rPr lang="fr-FR" altLang="en-US" sz="2600" u="sng" dirty="0" err="1">
                <a:latin typeface="Trebuchet MS" panose="020B0603020202020204" pitchFamily="34" charset="0"/>
                <a:sym typeface="Trebuchet MS" panose="020B0603020202020204" pitchFamily="34" charset="0"/>
              </a:rPr>
              <a:t>random</a:t>
            </a:r>
            <a:r>
              <a:rPr lang="fr-FR" altLang="en-US" sz="2600" dirty="0">
                <a:latin typeface="Trebuchet MS" panose="020B0603020202020204" pitchFamily="34" charset="0"/>
                <a:sym typeface="Trebuchet MS" panose="020B0603020202020204" pitchFamily="34" charset="0"/>
              </a:rPr>
              <a:t> </a:t>
            </a:r>
            <a:r>
              <a:rPr lang="fr-FR" altLang="en-US" sz="2600" dirty="0" err="1">
                <a:latin typeface="Trebuchet MS" panose="020B0603020202020204" pitchFamily="34" charset="0"/>
                <a:sym typeface="Trebuchet MS" panose="020B0603020202020204" pitchFamily="34" charset="0"/>
              </a:rPr>
              <a:t>node</a:t>
            </a:r>
            <a:r>
              <a:rPr lang="fr-FR" altLang="en-US" sz="2600" dirty="0">
                <a:latin typeface="Trebuchet MS" panose="020B0603020202020204" pitchFamily="34" charset="0"/>
                <a:sym typeface="Trebuchet MS" panose="020B0603020202020204" pitchFamily="34" charset="0"/>
              </a:rPr>
              <a:t> </a:t>
            </a:r>
            <a:r>
              <a:rPr lang="fr-FR" altLang="en-US" sz="2600" dirty="0" err="1">
                <a:latin typeface="Trebuchet MS" panose="020B0603020202020204" pitchFamily="34" charset="0"/>
                <a:sym typeface="Trebuchet MS" panose="020B0603020202020204" pitchFamily="34" charset="0"/>
              </a:rPr>
              <a:t>gets</a:t>
            </a:r>
            <a:r>
              <a:rPr lang="fr-FR" altLang="en-US" sz="2600" dirty="0">
                <a:latin typeface="Trebuchet MS" panose="020B0603020202020204" pitchFamily="34" charset="0"/>
                <a:sym typeface="Trebuchet MS" panose="020B0603020202020204" pitchFamily="34" charset="0"/>
              </a:rPr>
              <a:t> to broadcast </a:t>
            </a:r>
            <a:r>
              <a:rPr lang="fr-FR" altLang="en-US" sz="2600" dirty="0" err="1">
                <a:latin typeface="Trebuchet MS" panose="020B0603020202020204" pitchFamily="34" charset="0"/>
                <a:sym typeface="Trebuchet MS" panose="020B0603020202020204" pitchFamily="34" charset="0"/>
              </a:rPr>
              <a:t>its</a:t>
            </a:r>
            <a:r>
              <a:rPr lang="fr-FR" altLang="en-US" sz="2600" dirty="0">
                <a:latin typeface="Trebuchet MS" panose="020B0603020202020204" pitchFamily="34" charset="0"/>
                <a:sym typeface="Trebuchet MS" panose="020B0603020202020204" pitchFamily="34" charset="0"/>
              </a:rPr>
              <a:t> block</a:t>
            </a:r>
            <a:endParaRPr lang="fr-FR" altLang="en-US" sz="2600" dirty="0"/>
          </a:p>
          <a:p>
            <a:pPr marL="514350" indent="-514350">
              <a:spcBef>
                <a:spcPts val="638"/>
              </a:spcBef>
              <a:buClr>
                <a:srgbClr val="000000"/>
              </a:buClr>
              <a:buFontTx/>
              <a:buAutoNum type="arabicPeriod"/>
            </a:pPr>
            <a:r>
              <a:rPr lang="fr-FR" altLang="en-US" sz="2600" dirty="0" err="1">
                <a:solidFill>
                  <a:srgbClr val="000000"/>
                </a:solidFill>
                <a:latin typeface="Trebuchet MS" panose="020B0603020202020204" pitchFamily="34" charset="0"/>
                <a:sym typeface="Trebuchet MS" panose="020B0603020202020204" pitchFamily="34" charset="0"/>
              </a:rPr>
              <a:t>Other</a:t>
            </a:r>
            <a:r>
              <a:rPr lang="fr-FR" altLang="en-US" sz="2600" dirty="0">
                <a:solidFill>
                  <a:srgbClr val="000000"/>
                </a:solidFill>
                <a:latin typeface="Trebuchet MS" panose="020B0603020202020204" pitchFamily="34" charset="0"/>
                <a:sym typeface="Trebuchet MS" panose="020B0603020202020204" pitchFamily="34" charset="0"/>
              </a:rPr>
              <a:t> </a:t>
            </a:r>
            <a:r>
              <a:rPr lang="fr-FR" altLang="en-US" sz="2600" dirty="0" err="1">
                <a:solidFill>
                  <a:srgbClr val="000000"/>
                </a:solidFill>
                <a:latin typeface="Trebuchet MS" panose="020B0603020202020204" pitchFamily="34" charset="0"/>
                <a:sym typeface="Trebuchet MS" panose="020B0603020202020204" pitchFamily="34" charset="0"/>
              </a:rPr>
              <a:t>nodes</a:t>
            </a:r>
            <a:r>
              <a:rPr lang="fr-FR" altLang="en-US" sz="2600" dirty="0">
                <a:solidFill>
                  <a:srgbClr val="000000"/>
                </a:solidFill>
                <a:latin typeface="Trebuchet MS" panose="020B0603020202020204" pitchFamily="34" charset="0"/>
                <a:sym typeface="Trebuchet MS" panose="020B0603020202020204" pitchFamily="34" charset="0"/>
              </a:rPr>
              <a:t> </a:t>
            </a:r>
            <a:r>
              <a:rPr lang="fr-FR" altLang="en-US" sz="2600" dirty="0" err="1">
                <a:solidFill>
                  <a:srgbClr val="000000"/>
                </a:solidFill>
                <a:latin typeface="Trebuchet MS" panose="020B0603020202020204" pitchFamily="34" charset="0"/>
                <a:sym typeface="Trebuchet MS" panose="020B0603020202020204" pitchFamily="34" charset="0"/>
              </a:rPr>
              <a:t>accept</a:t>
            </a:r>
            <a:r>
              <a:rPr lang="fr-FR" altLang="en-US" sz="2600" dirty="0">
                <a:solidFill>
                  <a:srgbClr val="000000"/>
                </a:solidFill>
                <a:latin typeface="Trebuchet MS" panose="020B0603020202020204" pitchFamily="34" charset="0"/>
                <a:sym typeface="Trebuchet MS" panose="020B0603020202020204" pitchFamily="34" charset="0"/>
              </a:rPr>
              <a:t> the block </a:t>
            </a:r>
            <a:r>
              <a:rPr lang="fr-FR" altLang="en-US" sz="2600" dirty="0" err="1">
                <a:solidFill>
                  <a:srgbClr val="000000"/>
                </a:solidFill>
                <a:latin typeface="Trebuchet MS" panose="020B0603020202020204" pitchFamily="34" charset="0"/>
                <a:sym typeface="Trebuchet MS" panose="020B0603020202020204" pitchFamily="34" charset="0"/>
              </a:rPr>
              <a:t>only</a:t>
            </a:r>
            <a:r>
              <a:rPr lang="fr-FR" altLang="en-US" sz="2600" dirty="0">
                <a:solidFill>
                  <a:srgbClr val="000000"/>
                </a:solidFill>
                <a:latin typeface="Trebuchet MS" panose="020B0603020202020204" pitchFamily="34" charset="0"/>
                <a:sym typeface="Trebuchet MS" panose="020B0603020202020204" pitchFamily="34" charset="0"/>
              </a:rPr>
              <a:t> if all transactions in </a:t>
            </a:r>
            <a:r>
              <a:rPr lang="fr-FR" altLang="en-US" sz="2600" dirty="0" err="1">
                <a:solidFill>
                  <a:srgbClr val="000000"/>
                </a:solidFill>
                <a:latin typeface="Trebuchet MS" panose="020B0603020202020204" pitchFamily="34" charset="0"/>
                <a:sym typeface="Trebuchet MS" panose="020B0603020202020204" pitchFamily="34" charset="0"/>
              </a:rPr>
              <a:t>it</a:t>
            </a:r>
            <a:r>
              <a:rPr lang="fr-FR" altLang="en-US" sz="2600" dirty="0">
                <a:solidFill>
                  <a:srgbClr val="000000"/>
                </a:solidFill>
                <a:latin typeface="Trebuchet MS" panose="020B0603020202020204" pitchFamily="34" charset="0"/>
                <a:sym typeface="Trebuchet MS" panose="020B0603020202020204" pitchFamily="34" charset="0"/>
              </a:rPr>
              <a:t> are </a:t>
            </a:r>
            <a:r>
              <a:rPr lang="fr-FR" altLang="en-US" sz="2600" dirty="0" err="1">
                <a:solidFill>
                  <a:srgbClr val="000000"/>
                </a:solidFill>
                <a:latin typeface="Trebuchet MS" panose="020B0603020202020204" pitchFamily="34" charset="0"/>
                <a:sym typeface="Trebuchet MS" panose="020B0603020202020204" pitchFamily="34" charset="0"/>
              </a:rPr>
              <a:t>valid</a:t>
            </a:r>
            <a:r>
              <a:rPr lang="fr-FR" altLang="en-US" sz="2600" dirty="0">
                <a:solidFill>
                  <a:srgbClr val="000000"/>
                </a:solidFill>
                <a:latin typeface="Trebuchet MS" panose="020B0603020202020204" pitchFamily="34" charset="0"/>
                <a:sym typeface="Trebuchet MS" panose="020B0603020202020204" pitchFamily="34" charset="0"/>
              </a:rPr>
              <a:t> (</a:t>
            </a:r>
            <a:r>
              <a:rPr lang="fr-FR" altLang="en-US" sz="2600" dirty="0" err="1">
                <a:solidFill>
                  <a:srgbClr val="000000"/>
                </a:solidFill>
                <a:latin typeface="Trebuchet MS" panose="020B0603020202020204" pitchFamily="34" charset="0"/>
                <a:sym typeface="Trebuchet MS" panose="020B0603020202020204" pitchFamily="34" charset="0"/>
              </a:rPr>
              <a:t>unspent</a:t>
            </a:r>
            <a:r>
              <a:rPr lang="fr-FR" altLang="en-US" sz="2600" dirty="0">
                <a:solidFill>
                  <a:srgbClr val="000000"/>
                </a:solidFill>
                <a:latin typeface="Trebuchet MS" panose="020B0603020202020204" pitchFamily="34" charset="0"/>
                <a:sym typeface="Trebuchet MS" panose="020B0603020202020204" pitchFamily="34" charset="0"/>
              </a:rPr>
              <a:t>, </a:t>
            </a:r>
            <a:r>
              <a:rPr lang="fr-FR" altLang="en-US" sz="2600" dirty="0" err="1">
                <a:solidFill>
                  <a:srgbClr val="000000"/>
                </a:solidFill>
                <a:latin typeface="Trebuchet MS" panose="020B0603020202020204" pitchFamily="34" charset="0"/>
                <a:sym typeface="Trebuchet MS" panose="020B0603020202020204" pitchFamily="34" charset="0"/>
              </a:rPr>
              <a:t>valid</a:t>
            </a:r>
            <a:r>
              <a:rPr lang="fr-FR" altLang="en-US" sz="2600" dirty="0">
                <a:solidFill>
                  <a:srgbClr val="000000"/>
                </a:solidFill>
                <a:latin typeface="Trebuchet MS" panose="020B0603020202020204" pitchFamily="34" charset="0"/>
                <a:sym typeface="Trebuchet MS" panose="020B0603020202020204" pitchFamily="34" charset="0"/>
              </a:rPr>
              <a:t> signatures)</a:t>
            </a:r>
          </a:p>
          <a:p>
            <a:pPr marL="514350" indent="-514350">
              <a:spcBef>
                <a:spcPts val="638"/>
              </a:spcBef>
              <a:buClr>
                <a:srgbClr val="000000"/>
              </a:buClr>
              <a:buFontTx/>
              <a:buAutoNum type="arabicPeriod"/>
            </a:pPr>
            <a:r>
              <a:rPr lang="fr-FR" altLang="en-US" sz="2600" dirty="0" err="1">
                <a:solidFill>
                  <a:srgbClr val="000000"/>
                </a:solidFill>
                <a:latin typeface="Trebuchet MS" panose="020B0603020202020204" pitchFamily="34" charset="0"/>
                <a:sym typeface="Trebuchet MS" panose="020B0603020202020204" pitchFamily="34" charset="0"/>
              </a:rPr>
              <a:t>Nodes</a:t>
            </a:r>
            <a:r>
              <a:rPr lang="fr-FR" altLang="en-US" sz="2600" dirty="0">
                <a:solidFill>
                  <a:srgbClr val="000000"/>
                </a:solidFill>
                <a:latin typeface="Trebuchet MS" panose="020B0603020202020204" pitchFamily="34" charset="0"/>
                <a:sym typeface="Trebuchet MS" panose="020B0603020202020204" pitchFamily="34" charset="0"/>
              </a:rPr>
              <a:t> express </a:t>
            </a:r>
            <a:r>
              <a:rPr lang="fr-FR" altLang="en-US" sz="2600" dirty="0" err="1">
                <a:solidFill>
                  <a:srgbClr val="000000"/>
                </a:solidFill>
                <a:latin typeface="Trebuchet MS" panose="020B0603020202020204" pitchFamily="34" charset="0"/>
                <a:sym typeface="Trebuchet MS" panose="020B0603020202020204" pitchFamily="34" charset="0"/>
              </a:rPr>
              <a:t>their</a:t>
            </a:r>
            <a:r>
              <a:rPr lang="fr-FR" altLang="en-US" sz="2600" dirty="0">
                <a:solidFill>
                  <a:srgbClr val="000000"/>
                </a:solidFill>
                <a:latin typeface="Trebuchet MS" panose="020B0603020202020204" pitchFamily="34" charset="0"/>
                <a:sym typeface="Trebuchet MS" panose="020B0603020202020204" pitchFamily="34" charset="0"/>
              </a:rPr>
              <a:t> acceptance of the block by </a:t>
            </a:r>
            <a:r>
              <a:rPr lang="fr-FR" altLang="en-US" sz="2600" dirty="0" err="1">
                <a:solidFill>
                  <a:srgbClr val="000000"/>
                </a:solidFill>
                <a:latin typeface="Trebuchet MS" panose="020B0603020202020204" pitchFamily="34" charset="0"/>
                <a:sym typeface="Trebuchet MS" panose="020B0603020202020204" pitchFamily="34" charset="0"/>
              </a:rPr>
              <a:t>including</a:t>
            </a:r>
            <a:r>
              <a:rPr lang="fr-FR" altLang="en-US" sz="2600" dirty="0">
                <a:solidFill>
                  <a:srgbClr val="000000"/>
                </a:solidFill>
                <a:latin typeface="Trebuchet MS" panose="020B0603020202020204" pitchFamily="34" charset="0"/>
                <a:sym typeface="Trebuchet MS" panose="020B0603020202020204" pitchFamily="34" charset="0"/>
              </a:rPr>
              <a:t> </a:t>
            </a:r>
            <a:r>
              <a:rPr lang="fr-FR" altLang="en-US" sz="2600" dirty="0" err="1">
                <a:solidFill>
                  <a:srgbClr val="000000"/>
                </a:solidFill>
                <a:latin typeface="Trebuchet MS" panose="020B0603020202020204" pitchFamily="34" charset="0"/>
                <a:sym typeface="Trebuchet MS" panose="020B0603020202020204" pitchFamily="34" charset="0"/>
              </a:rPr>
              <a:t>its</a:t>
            </a:r>
            <a:r>
              <a:rPr lang="fr-FR" altLang="en-US" sz="2600" dirty="0">
                <a:solidFill>
                  <a:srgbClr val="000000"/>
                </a:solidFill>
                <a:latin typeface="Trebuchet MS" panose="020B0603020202020204" pitchFamily="34" charset="0"/>
                <a:sym typeface="Trebuchet MS" panose="020B0603020202020204" pitchFamily="34" charset="0"/>
              </a:rPr>
              <a:t> hash in the </a:t>
            </a:r>
            <a:r>
              <a:rPr lang="fr-FR" altLang="en-US" sz="2600" dirty="0" err="1">
                <a:solidFill>
                  <a:srgbClr val="000000"/>
                </a:solidFill>
                <a:latin typeface="Trebuchet MS" panose="020B0603020202020204" pitchFamily="34" charset="0"/>
                <a:sym typeface="Trebuchet MS" panose="020B0603020202020204" pitchFamily="34" charset="0"/>
              </a:rPr>
              <a:t>next</a:t>
            </a:r>
            <a:r>
              <a:rPr lang="fr-FR" altLang="en-US" sz="2600" dirty="0">
                <a:solidFill>
                  <a:srgbClr val="000000"/>
                </a:solidFill>
                <a:latin typeface="Trebuchet MS" panose="020B0603020202020204" pitchFamily="34" charset="0"/>
                <a:sym typeface="Trebuchet MS" panose="020B0603020202020204" pitchFamily="34" charset="0"/>
              </a:rPr>
              <a:t> block </a:t>
            </a:r>
            <a:r>
              <a:rPr lang="fr-FR" altLang="en-US" sz="2600" dirty="0" err="1">
                <a:solidFill>
                  <a:srgbClr val="000000"/>
                </a:solidFill>
                <a:latin typeface="Trebuchet MS" panose="020B0603020202020204" pitchFamily="34" charset="0"/>
                <a:sym typeface="Trebuchet MS" panose="020B0603020202020204" pitchFamily="34" charset="0"/>
              </a:rPr>
              <a:t>they</a:t>
            </a:r>
            <a:r>
              <a:rPr lang="fr-FR" altLang="en-US" sz="2600" dirty="0">
                <a:solidFill>
                  <a:srgbClr val="000000"/>
                </a:solidFill>
                <a:latin typeface="Trebuchet MS" panose="020B0603020202020204" pitchFamily="34" charset="0"/>
                <a:sym typeface="Trebuchet MS" panose="020B0603020202020204" pitchFamily="34" charset="0"/>
              </a:rPr>
              <a:t> </a:t>
            </a:r>
            <a:r>
              <a:rPr lang="fr-FR" altLang="en-US" sz="2600" dirty="0" err="1">
                <a:solidFill>
                  <a:srgbClr val="000000"/>
                </a:solidFill>
                <a:latin typeface="Trebuchet MS" panose="020B0603020202020204" pitchFamily="34" charset="0"/>
                <a:sym typeface="Trebuchet MS" panose="020B0603020202020204" pitchFamily="34" charset="0"/>
              </a:rPr>
              <a:t>create</a:t>
            </a:r>
            <a:endParaRPr lang="fr-FR" altLang="en-US" sz="2600" dirty="0">
              <a:solidFill>
                <a:srgbClr val="000000"/>
              </a:solidFill>
              <a:latin typeface="Trebuchet MS" panose="020B0603020202020204" pitchFamily="34" charset="0"/>
              <a:sym typeface="Trebuchet MS" panose="020B0603020202020204" pitchFamily="34" charset="0"/>
            </a:endParaRPr>
          </a:p>
        </p:txBody>
      </p:sp>
      <p:sp>
        <p:nvSpPr>
          <p:cNvPr id="2" name="Slide Number Placeholder 1">
            <a:extLst>
              <a:ext uri="{FF2B5EF4-FFF2-40B4-BE49-F238E27FC236}">
                <a16:creationId xmlns:a16="http://schemas.microsoft.com/office/drawing/2014/main" id="{05641354-45AE-6B22-7C39-21500CB1D131}"/>
              </a:ext>
            </a:extLst>
          </p:cNvPr>
          <p:cNvSpPr>
            <a:spLocks noGrp="1"/>
          </p:cNvSpPr>
          <p:nvPr>
            <p:ph type="sldNum" sz="quarter" idx="12"/>
          </p:nvPr>
        </p:nvSpPr>
        <p:spPr/>
        <p:txBody>
          <a:bodyPr/>
          <a:lstStyle/>
          <a:p>
            <a:fld id="{54AFB715-9BAA-466F-BD26-510BF652CDA2}" type="slidenum">
              <a:rPr lang="en-US" altLang="en-US" smtClean="0"/>
              <a:pPr/>
              <a:t>21</a:t>
            </a:fld>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re 1">
            <a:extLst>
              <a:ext uri="{FF2B5EF4-FFF2-40B4-BE49-F238E27FC236}">
                <a16:creationId xmlns:a16="http://schemas.microsoft.com/office/drawing/2014/main" id="{3BA1EF22-4202-A0A9-8D32-4F81AAC6CBA2}"/>
              </a:ext>
            </a:extLst>
          </p:cNvPr>
          <p:cNvSpPr>
            <a:spLocks noGrp="1" noChangeArrowheads="1"/>
          </p:cNvSpPr>
          <p:nvPr>
            <p:ph type="title"/>
          </p:nvPr>
        </p:nvSpPr>
        <p:spPr/>
        <p:txBody>
          <a:bodyPr/>
          <a:lstStyle/>
          <a:p>
            <a:r>
              <a:rPr lang="fr-FR" altLang="en-US"/>
              <a:t>Roadmap </a:t>
            </a:r>
          </a:p>
        </p:txBody>
      </p:sp>
      <p:sp>
        <p:nvSpPr>
          <p:cNvPr id="3" name="Espace réservé du contenu 2">
            <a:extLst>
              <a:ext uri="{FF2B5EF4-FFF2-40B4-BE49-F238E27FC236}">
                <a16:creationId xmlns:a16="http://schemas.microsoft.com/office/drawing/2014/main" id="{E944A150-1655-478F-8E11-0E52C3836B7F}"/>
              </a:ext>
            </a:extLst>
          </p:cNvPr>
          <p:cNvSpPr>
            <a:spLocks noGrp="1"/>
          </p:cNvSpPr>
          <p:nvPr>
            <p:ph idx="1"/>
          </p:nvPr>
        </p:nvSpPr>
        <p:spPr/>
        <p:txBody>
          <a:bodyPr/>
          <a:lstStyle/>
          <a:p>
            <a:pPr>
              <a:defRPr/>
            </a:pPr>
            <a:r>
              <a:rPr lang="fr-FR" sz="2800" dirty="0" err="1">
                <a:solidFill>
                  <a:schemeClr val="bg1">
                    <a:lumMod val="75000"/>
                  </a:schemeClr>
                </a:solidFill>
              </a:rPr>
              <a:t>Centralized</a:t>
            </a:r>
            <a:r>
              <a:rPr lang="fr-FR" sz="2800" dirty="0">
                <a:solidFill>
                  <a:schemeClr val="bg1">
                    <a:lumMod val="75000"/>
                  </a:schemeClr>
                </a:solidFill>
              </a:rPr>
              <a:t> and </a:t>
            </a:r>
            <a:r>
              <a:rPr lang="fr-FR" sz="2800" dirty="0" err="1">
                <a:solidFill>
                  <a:schemeClr val="bg1">
                    <a:lumMod val="75000"/>
                  </a:schemeClr>
                </a:solidFill>
              </a:rPr>
              <a:t>decentralized</a:t>
            </a:r>
            <a:r>
              <a:rPr lang="fr-FR" sz="2800" dirty="0">
                <a:solidFill>
                  <a:schemeClr val="bg1">
                    <a:lumMod val="75000"/>
                  </a:schemeClr>
                </a:solidFill>
              </a:rPr>
              <a:t> </a:t>
            </a:r>
            <a:r>
              <a:rPr lang="fr-FR" sz="2800" dirty="0" err="1">
                <a:solidFill>
                  <a:schemeClr val="bg1">
                    <a:lumMod val="75000"/>
                  </a:schemeClr>
                </a:solidFill>
              </a:rPr>
              <a:t>systems</a:t>
            </a:r>
            <a:endParaRPr lang="fr-FR" sz="2800" dirty="0">
              <a:solidFill>
                <a:schemeClr val="bg1">
                  <a:lumMod val="75000"/>
                </a:schemeClr>
              </a:solidFill>
            </a:endParaRPr>
          </a:p>
          <a:p>
            <a:pPr>
              <a:defRPr/>
            </a:pPr>
            <a:r>
              <a:rPr lang="fr-FR" sz="2800" dirty="0" err="1">
                <a:solidFill>
                  <a:schemeClr val="bg1">
                    <a:lumMod val="75000"/>
                  </a:schemeClr>
                </a:solidFill>
              </a:rPr>
              <a:t>Distributed</a:t>
            </a:r>
            <a:r>
              <a:rPr lang="fr-FR" sz="2800" dirty="0">
                <a:solidFill>
                  <a:schemeClr val="bg1">
                    <a:lumMod val="75000"/>
                  </a:schemeClr>
                </a:solidFill>
              </a:rPr>
              <a:t> Consensus</a:t>
            </a:r>
          </a:p>
          <a:p>
            <a:pPr>
              <a:defRPr/>
            </a:pPr>
            <a:r>
              <a:rPr lang="fr-FR" sz="2800" dirty="0">
                <a:solidFill>
                  <a:schemeClr val="bg1">
                    <a:lumMod val="75000"/>
                  </a:schemeClr>
                </a:solidFill>
              </a:rPr>
              <a:t>Consensus </a:t>
            </a:r>
            <a:r>
              <a:rPr lang="fr-FR" sz="2800" dirty="0" err="1">
                <a:solidFill>
                  <a:schemeClr val="bg1">
                    <a:lumMod val="75000"/>
                  </a:schemeClr>
                </a:solidFill>
              </a:rPr>
              <a:t>problem</a:t>
            </a:r>
            <a:r>
              <a:rPr lang="fr-FR" sz="2800" dirty="0">
                <a:solidFill>
                  <a:schemeClr val="bg1">
                    <a:lumMod val="75000"/>
                  </a:schemeClr>
                </a:solidFill>
              </a:rPr>
              <a:t> in </a:t>
            </a:r>
            <a:r>
              <a:rPr lang="fr-FR" sz="2800" dirty="0" err="1">
                <a:solidFill>
                  <a:schemeClr val="bg1">
                    <a:lumMod val="75000"/>
                  </a:schemeClr>
                </a:solidFill>
              </a:rPr>
              <a:t>Bitcoin</a:t>
            </a:r>
            <a:endParaRPr lang="fr-FR" sz="2800" dirty="0">
              <a:solidFill>
                <a:schemeClr val="bg1">
                  <a:lumMod val="75000"/>
                </a:schemeClr>
              </a:solidFill>
            </a:endParaRPr>
          </a:p>
          <a:p>
            <a:pPr>
              <a:defRPr/>
            </a:pPr>
            <a:r>
              <a:rPr lang="fr-FR" sz="2800" dirty="0" err="1">
                <a:solidFill>
                  <a:srgbClr val="FF0000"/>
                </a:solidFill>
              </a:rPr>
              <a:t>Bitcoin</a:t>
            </a:r>
            <a:r>
              <a:rPr lang="fr-FR" sz="2800" dirty="0">
                <a:solidFill>
                  <a:srgbClr val="FF0000"/>
                </a:solidFill>
              </a:rPr>
              <a:t> Consensus </a:t>
            </a:r>
            <a:r>
              <a:rPr lang="fr-FR" sz="2800" dirty="0" err="1">
                <a:solidFill>
                  <a:srgbClr val="FF0000"/>
                </a:solidFill>
              </a:rPr>
              <a:t>Algorithm</a:t>
            </a:r>
            <a:endParaRPr lang="fr-FR" sz="2800" dirty="0">
              <a:solidFill>
                <a:srgbClr val="FF0000"/>
              </a:solidFill>
            </a:endParaRPr>
          </a:p>
          <a:p>
            <a:pPr lvl="1">
              <a:defRPr/>
            </a:pPr>
            <a:r>
              <a:rPr lang="fr-FR" sz="2400" dirty="0" err="1">
                <a:solidFill>
                  <a:srgbClr val="FF0000"/>
                </a:solidFill>
              </a:rPr>
              <a:t>Incentives</a:t>
            </a:r>
            <a:r>
              <a:rPr lang="fr-FR" sz="2400" dirty="0">
                <a:solidFill>
                  <a:srgbClr val="FF0000"/>
                </a:solidFill>
              </a:rPr>
              <a:t> for </a:t>
            </a:r>
            <a:r>
              <a:rPr lang="fr-FR" sz="2400" dirty="0" err="1">
                <a:solidFill>
                  <a:srgbClr val="FF0000"/>
                </a:solidFill>
              </a:rPr>
              <a:t>miners</a:t>
            </a:r>
            <a:r>
              <a:rPr lang="fr-FR" sz="2400" dirty="0">
                <a:solidFill>
                  <a:srgbClr val="FF0000"/>
                </a:solidFill>
              </a:rPr>
              <a:t>,</a:t>
            </a:r>
            <a:r>
              <a:rPr lang="fr-FR" sz="2400" dirty="0">
                <a:solidFill>
                  <a:schemeClr val="bg1">
                    <a:lumMod val="75000"/>
                  </a:schemeClr>
                </a:solidFill>
              </a:rPr>
              <a:t> Proof of </a:t>
            </a:r>
            <a:r>
              <a:rPr lang="fr-FR" sz="2400" dirty="0" err="1">
                <a:solidFill>
                  <a:schemeClr val="bg1">
                    <a:lumMod val="75000"/>
                  </a:schemeClr>
                </a:solidFill>
              </a:rPr>
              <a:t>work</a:t>
            </a:r>
            <a:r>
              <a:rPr lang="fr-FR" sz="2400" dirty="0">
                <a:solidFill>
                  <a:schemeClr val="bg1">
                    <a:lumMod val="75000"/>
                  </a:schemeClr>
                </a:solidFill>
              </a:rPr>
              <a:t> , Limitations</a:t>
            </a:r>
          </a:p>
        </p:txBody>
      </p:sp>
      <p:sp>
        <p:nvSpPr>
          <p:cNvPr id="2" name="Slide Number Placeholder 1">
            <a:extLst>
              <a:ext uri="{FF2B5EF4-FFF2-40B4-BE49-F238E27FC236}">
                <a16:creationId xmlns:a16="http://schemas.microsoft.com/office/drawing/2014/main" id="{3B03D8DB-0F21-E767-2350-4DC0E4731F5F}"/>
              </a:ext>
            </a:extLst>
          </p:cNvPr>
          <p:cNvSpPr>
            <a:spLocks noGrp="1"/>
          </p:cNvSpPr>
          <p:nvPr>
            <p:ph type="sldNum" sz="quarter" idx="12"/>
          </p:nvPr>
        </p:nvSpPr>
        <p:spPr/>
        <p:txBody>
          <a:bodyPr/>
          <a:lstStyle/>
          <a:p>
            <a:fld id="{54AFB715-9BAA-466F-BD26-510BF652CDA2}" type="slidenum">
              <a:rPr lang="en-US" altLang="en-US" smtClean="0"/>
              <a:pPr/>
              <a:t>22</a:t>
            </a:fld>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Google Shape;351;p38">
            <a:extLst>
              <a:ext uri="{FF2B5EF4-FFF2-40B4-BE49-F238E27FC236}">
                <a16:creationId xmlns:a16="http://schemas.microsoft.com/office/drawing/2014/main" id="{BFF9F5F8-931C-699A-C3D1-61D95A778901}"/>
              </a:ext>
            </a:extLst>
          </p:cNvPr>
          <p:cNvSpPr>
            <a:spLocks noGrp="1" noChangeArrowheads="1"/>
          </p:cNvSpPr>
          <p:nvPr>
            <p:ph type="body" idx="1"/>
          </p:nvPr>
        </p:nvSpPr>
        <p:spPr>
          <a:xfrm>
            <a:off x="457200" y="1600200"/>
            <a:ext cx="8229600" cy="4967288"/>
          </a:xfrm>
        </p:spPr>
        <p:txBody>
          <a:bodyPr/>
          <a:lstStyle/>
          <a:p>
            <a:pPr marL="0" indent="0">
              <a:spcBef>
                <a:spcPct val="0"/>
              </a:spcBef>
              <a:spcAft>
                <a:spcPct val="0"/>
              </a:spcAft>
              <a:buClr>
                <a:srgbClr val="000000"/>
              </a:buClr>
              <a:buSzTx/>
              <a:buFont typeface="Trebuchet MS" panose="020B0603020202020204" pitchFamily="34" charset="0"/>
              <a:buNone/>
            </a:pPr>
            <a:r>
              <a:rPr lang="fr-FR" altLang="en-US" sz="2800" dirty="0">
                <a:solidFill>
                  <a:srgbClr val="000000"/>
                </a:solidFill>
                <a:latin typeface="Trebuchet MS" panose="020B0603020202020204" pitchFamily="34" charset="0"/>
                <a:sym typeface="Trebuchet MS" panose="020B0603020202020204" pitchFamily="34" charset="0"/>
              </a:rPr>
              <a:t>Can </a:t>
            </a:r>
            <a:r>
              <a:rPr lang="fr-FR" altLang="en-US" sz="2800" dirty="0" err="1">
                <a:solidFill>
                  <a:srgbClr val="000000"/>
                </a:solidFill>
                <a:latin typeface="Trebuchet MS" panose="020B0603020202020204" pitchFamily="34" charset="0"/>
                <a:sym typeface="Trebuchet MS" panose="020B0603020202020204" pitchFamily="34" charset="0"/>
              </a:rPr>
              <a:t>we</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give</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nodes</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u="sng" dirty="0" err="1">
                <a:solidFill>
                  <a:srgbClr val="000000"/>
                </a:solidFill>
                <a:latin typeface="Trebuchet MS" panose="020B0603020202020204" pitchFamily="34" charset="0"/>
                <a:sym typeface="Trebuchet MS" panose="020B0603020202020204" pitchFamily="34" charset="0"/>
              </a:rPr>
              <a:t>incentives</a:t>
            </a:r>
            <a:r>
              <a:rPr lang="fr-FR" altLang="en-US" sz="2800" dirty="0">
                <a:solidFill>
                  <a:srgbClr val="000000"/>
                </a:solidFill>
                <a:latin typeface="Trebuchet MS" panose="020B0603020202020204" pitchFamily="34" charset="0"/>
                <a:sym typeface="Trebuchet MS" panose="020B0603020202020204" pitchFamily="34" charset="0"/>
              </a:rPr>
              <a:t> for </a:t>
            </a:r>
            <a:r>
              <a:rPr lang="fr-FR" altLang="en-US" sz="2800" dirty="0" err="1">
                <a:solidFill>
                  <a:srgbClr val="000000"/>
                </a:solidFill>
                <a:latin typeface="Trebuchet MS" panose="020B0603020202020204" pitchFamily="34" charset="0"/>
                <a:sym typeface="Trebuchet MS" panose="020B0603020202020204" pitchFamily="34" charset="0"/>
              </a:rPr>
              <a:t>behaving</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honestly</a:t>
            </a:r>
            <a:r>
              <a:rPr lang="fr-FR" altLang="en-US" sz="2800" dirty="0">
                <a:solidFill>
                  <a:srgbClr val="000000"/>
                </a:solidFill>
                <a:latin typeface="Trebuchet MS" panose="020B0603020202020204" pitchFamily="34" charset="0"/>
                <a:sym typeface="Trebuchet MS" panose="020B0603020202020204" pitchFamily="34" charset="0"/>
              </a:rPr>
              <a:t>?</a:t>
            </a:r>
            <a:endParaRPr lang="fr-FR" altLang="en-US" sz="3600" dirty="0"/>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800" dirty="0" err="1">
                <a:solidFill>
                  <a:srgbClr val="000000"/>
                </a:solidFill>
                <a:latin typeface="Trebuchet MS" panose="020B0603020202020204" pitchFamily="34" charset="0"/>
                <a:sym typeface="Trebuchet MS" panose="020B0603020202020204" pitchFamily="34" charset="0"/>
              </a:rPr>
              <a:t>Everything</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so</a:t>
            </a:r>
            <a:r>
              <a:rPr lang="fr-FR" altLang="en-US" sz="2800" dirty="0">
                <a:solidFill>
                  <a:srgbClr val="000000"/>
                </a:solidFill>
                <a:latin typeface="Trebuchet MS" panose="020B0603020202020204" pitchFamily="34" charset="0"/>
                <a:sym typeface="Trebuchet MS" panose="020B0603020202020204" pitchFamily="34" charset="0"/>
              </a:rPr>
              <a:t> far </a:t>
            </a:r>
            <a:r>
              <a:rPr lang="fr-FR" altLang="en-US" sz="2800" dirty="0" err="1">
                <a:solidFill>
                  <a:srgbClr val="000000"/>
                </a:solidFill>
                <a:latin typeface="Trebuchet MS" panose="020B0603020202020204" pitchFamily="34" charset="0"/>
                <a:sym typeface="Trebuchet MS" panose="020B0603020202020204" pitchFamily="34" charset="0"/>
              </a:rPr>
              <a:t>is</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just</a:t>
            </a:r>
            <a:r>
              <a:rPr lang="fr-FR" altLang="en-US" sz="2800" dirty="0">
                <a:solidFill>
                  <a:srgbClr val="000000"/>
                </a:solidFill>
                <a:latin typeface="Trebuchet MS" panose="020B0603020202020204" pitchFamily="34" charset="0"/>
                <a:sym typeface="Trebuchet MS" panose="020B0603020202020204" pitchFamily="34" charset="0"/>
              </a:rPr>
              <a:t> a </a:t>
            </a:r>
            <a:r>
              <a:rPr lang="fr-FR" altLang="en-US" sz="2800" dirty="0" err="1">
                <a:solidFill>
                  <a:srgbClr val="000000"/>
                </a:solidFill>
                <a:latin typeface="Trebuchet MS" panose="020B0603020202020204" pitchFamily="34" charset="0"/>
                <a:sym typeface="Trebuchet MS" panose="020B0603020202020204" pitchFamily="34" charset="0"/>
              </a:rPr>
              <a:t>distributed</a:t>
            </a:r>
            <a:r>
              <a:rPr lang="fr-FR" altLang="en-US" sz="2800" dirty="0">
                <a:solidFill>
                  <a:srgbClr val="000000"/>
                </a:solidFill>
                <a:latin typeface="Trebuchet MS" panose="020B0603020202020204" pitchFamily="34" charset="0"/>
                <a:sym typeface="Trebuchet MS" panose="020B0603020202020204" pitchFamily="34" charset="0"/>
              </a:rPr>
              <a:t> consensus </a:t>
            </a:r>
            <a:r>
              <a:rPr lang="fr-FR" altLang="en-US" sz="2800" dirty="0" err="1">
                <a:solidFill>
                  <a:srgbClr val="000000"/>
                </a:solidFill>
                <a:latin typeface="Trebuchet MS" panose="020B0603020202020204" pitchFamily="34" charset="0"/>
                <a:sym typeface="Trebuchet MS" panose="020B0603020202020204" pitchFamily="34" charset="0"/>
              </a:rPr>
              <a:t>protocol</a:t>
            </a:r>
            <a:endParaRPr lang="fr-FR" altLang="en-US" sz="3600" dirty="0"/>
          </a:p>
          <a:p>
            <a:pPr marL="0" indent="0">
              <a:spcBef>
                <a:spcPct val="0"/>
              </a:spcBef>
              <a:spcAft>
                <a:spcPct val="0"/>
              </a:spcAft>
              <a:buClr>
                <a:srgbClr val="000000"/>
              </a:buClr>
              <a:buSzTx/>
              <a:buFont typeface="Trebuchet MS" panose="020B0603020202020204" pitchFamily="34" charset="0"/>
              <a:buNone/>
            </a:pPr>
            <a:r>
              <a:rPr lang="fr-FR" altLang="en-US" sz="2800" dirty="0">
                <a:solidFill>
                  <a:srgbClr val="000000"/>
                </a:solidFill>
                <a:latin typeface="Trebuchet MS" panose="020B0603020202020204" pitchFamily="34" charset="0"/>
                <a:sym typeface="Trebuchet MS" panose="020B0603020202020204" pitchFamily="34" charset="0"/>
              </a:rPr>
              <a:t>But </a:t>
            </a:r>
            <a:r>
              <a:rPr lang="fr-FR" altLang="en-US" sz="2800" dirty="0" err="1">
                <a:solidFill>
                  <a:srgbClr val="000000"/>
                </a:solidFill>
                <a:latin typeface="Trebuchet MS" panose="020B0603020202020204" pitchFamily="34" charset="0"/>
                <a:sym typeface="Trebuchet MS" panose="020B0603020202020204" pitchFamily="34" charset="0"/>
              </a:rPr>
              <a:t>now</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we</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utilize</a:t>
            </a:r>
            <a:r>
              <a:rPr lang="fr-FR" altLang="en-US" sz="2800" dirty="0">
                <a:solidFill>
                  <a:srgbClr val="000000"/>
                </a:solidFill>
                <a:latin typeface="Trebuchet MS" panose="020B0603020202020204" pitchFamily="34" charset="0"/>
                <a:sym typeface="Trebuchet MS" panose="020B0603020202020204" pitchFamily="34" charset="0"/>
              </a:rPr>
              <a:t> the </a:t>
            </a:r>
            <a:r>
              <a:rPr lang="fr-FR" altLang="en-US" sz="2800" dirty="0" err="1">
                <a:solidFill>
                  <a:srgbClr val="000000"/>
                </a:solidFill>
                <a:latin typeface="Trebuchet MS" panose="020B0603020202020204" pitchFamily="34" charset="0"/>
                <a:sym typeface="Trebuchet MS" panose="020B0603020202020204" pitchFamily="34" charset="0"/>
              </a:rPr>
              <a:t>fact</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that</a:t>
            </a:r>
            <a:r>
              <a:rPr lang="fr-FR" altLang="en-US" sz="2800" dirty="0">
                <a:solidFill>
                  <a:srgbClr val="000000"/>
                </a:solidFill>
                <a:latin typeface="Trebuchet MS" panose="020B0603020202020204" pitchFamily="34" charset="0"/>
                <a:sym typeface="Trebuchet MS" panose="020B0603020202020204" pitchFamily="34" charset="0"/>
              </a:rPr>
              <a:t> the </a:t>
            </a:r>
            <a:r>
              <a:rPr lang="fr-FR" altLang="en-US" sz="2800" dirty="0" err="1">
                <a:solidFill>
                  <a:srgbClr val="000000"/>
                </a:solidFill>
                <a:latin typeface="Trebuchet MS" panose="020B0603020202020204" pitchFamily="34" charset="0"/>
                <a:sym typeface="Trebuchet MS" panose="020B0603020202020204" pitchFamily="34" charset="0"/>
              </a:rPr>
              <a:t>currency</a:t>
            </a:r>
            <a:r>
              <a:rPr lang="fr-FR" altLang="en-US" sz="2800" dirty="0">
                <a:solidFill>
                  <a:srgbClr val="000000"/>
                </a:solidFill>
                <a:latin typeface="Trebuchet MS" panose="020B0603020202020204" pitchFamily="34" charset="0"/>
                <a:sym typeface="Trebuchet MS" panose="020B0603020202020204" pitchFamily="34" charset="0"/>
              </a:rPr>
              <a:t> has value</a:t>
            </a:r>
          </a:p>
        </p:txBody>
      </p:sp>
      <p:pic>
        <p:nvPicPr>
          <p:cNvPr id="51202" name="Google Shape;352;p38">
            <a:extLst>
              <a:ext uri="{FF2B5EF4-FFF2-40B4-BE49-F238E27FC236}">
                <a16:creationId xmlns:a16="http://schemas.microsoft.com/office/drawing/2014/main" id="{17A40FE1-3BDB-6D70-10C6-2D79F60337E9}"/>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0" y="2571750"/>
            <a:ext cx="4694238"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Google Shape;353;p38">
            <a:extLst>
              <a:ext uri="{FF2B5EF4-FFF2-40B4-BE49-F238E27FC236}">
                <a16:creationId xmlns:a16="http://schemas.microsoft.com/office/drawing/2014/main" id="{FA19D176-A3B9-F916-35A0-B97E6383080C}"/>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Assumption of honesty is problematic</a:t>
            </a:r>
          </a:p>
        </p:txBody>
      </p:sp>
      <p:sp>
        <p:nvSpPr>
          <p:cNvPr id="51204" name="Google Shape;354;p38">
            <a:extLst>
              <a:ext uri="{FF2B5EF4-FFF2-40B4-BE49-F238E27FC236}">
                <a16:creationId xmlns:a16="http://schemas.microsoft.com/office/drawing/2014/main" id="{81B42627-2973-C1D0-F6D4-CA5DF79CAFA1}"/>
              </a:ext>
            </a:extLst>
          </p:cNvPr>
          <p:cNvSpPr txBox="1">
            <a:spLocks noChangeArrowheads="1"/>
          </p:cNvSpPr>
          <p:nvPr/>
        </p:nvSpPr>
        <p:spPr bwMode="auto">
          <a:xfrm>
            <a:off x="4173538" y="4014787"/>
            <a:ext cx="2916237"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
                <a:srgbClr val="000000"/>
              </a:buClr>
              <a:buFont typeface="Trebuchet MS" panose="020B0603020202020204" pitchFamily="34" charset="0"/>
              <a:buNone/>
            </a:pPr>
            <a:r>
              <a:rPr lang="fr-FR" altLang="en-US" sz="1800" dirty="0">
                <a:solidFill>
                  <a:srgbClr val="000000"/>
                </a:solidFill>
                <a:latin typeface="Trebuchet MS" panose="020B0603020202020204" pitchFamily="34" charset="0"/>
                <a:sym typeface="Trebuchet MS" panose="020B0603020202020204" pitchFamily="34" charset="0"/>
              </a:rPr>
              <a:t>Can </a:t>
            </a:r>
            <a:r>
              <a:rPr lang="fr-FR" altLang="en-US" sz="1800" dirty="0" err="1">
                <a:solidFill>
                  <a:srgbClr val="000000"/>
                </a:solidFill>
                <a:latin typeface="Trebuchet MS" panose="020B0603020202020204" pitchFamily="34" charset="0"/>
                <a:sym typeface="Trebuchet MS" panose="020B0603020202020204" pitchFamily="34" charset="0"/>
              </a:rPr>
              <a:t>we</a:t>
            </a:r>
            <a:r>
              <a:rPr lang="fr-FR" altLang="en-US" sz="1800" dirty="0">
                <a:solidFill>
                  <a:srgbClr val="000000"/>
                </a:solidFill>
                <a:latin typeface="Trebuchet MS" panose="020B0603020202020204" pitchFamily="34" charset="0"/>
                <a:sym typeface="Trebuchet MS" panose="020B0603020202020204" pitchFamily="34" charset="0"/>
              </a:rPr>
              <a:t> </a:t>
            </a:r>
            <a:r>
              <a:rPr lang="fr-FR" altLang="en-US" sz="1800" dirty="0" err="1">
                <a:solidFill>
                  <a:srgbClr val="000000"/>
                </a:solidFill>
                <a:latin typeface="Trebuchet MS" panose="020B0603020202020204" pitchFamily="34" charset="0"/>
                <a:sym typeface="Trebuchet MS" panose="020B0603020202020204" pitchFamily="34" charset="0"/>
              </a:rPr>
              <a:t>penalize</a:t>
            </a:r>
            <a:r>
              <a:rPr lang="fr-FR" altLang="en-US" sz="1800" dirty="0">
                <a:solidFill>
                  <a:srgbClr val="000000"/>
                </a:solidFill>
                <a:latin typeface="Trebuchet MS" panose="020B0603020202020204" pitchFamily="34" charset="0"/>
                <a:sym typeface="Trebuchet MS" panose="020B0603020202020204" pitchFamily="34" charset="0"/>
              </a:rPr>
              <a:t> the </a:t>
            </a:r>
            <a:r>
              <a:rPr lang="fr-FR" altLang="en-US" sz="1800" dirty="0" err="1">
                <a:solidFill>
                  <a:srgbClr val="000000"/>
                </a:solidFill>
                <a:latin typeface="Trebuchet MS" panose="020B0603020202020204" pitchFamily="34" charset="0"/>
                <a:sym typeface="Trebuchet MS" panose="020B0603020202020204" pitchFamily="34" charset="0"/>
              </a:rPr>
              <a:t>node</a:t>
            </a:r>
            <a:r>
              <a:rPr lang="fr-FR" altLang="en-US" sz="1800" dirty="0">
                <a:solidFill>
                  <a:srgbClr val="000000"/>
                </a:solidFill>
                <a:latin typeface="Trebuchet MS" panose="020B0603020202020204" pitchFamily="34" charset="0"/>
                <a:sym typeface="Trebuchet MS" panose="020B0603020202020204" pitchFamily="34" charset="0"/>
              </a:rPr>
              <a:t> </a:t>
            </a:r>
            <a:br>
              <a:rPr lang="fr-FR" altLang="en-US" sz="1800" dirty="0">
                <a:solidFill>
                  <a:srgbClr val="000000"/>
                </a:solidFill>
                <a:latin typeface="Trebuchet MS" panose="020B0603020202020204" pitchFamily="34" charset="0"/>
                <a:sym typeface="Trebuchet MS" panose="020B0603020202020204" pitchFamily="34" charset="0"/>
              </a:rPr>
            </a:br>
            <a:r>
              <a:rPr lang="fr-FR" altLang="en-US" sz="1800" dirty="0" err="1">
                <a:solidFill>
                  <a:srgbClr val="000000"/>
                </a:solidFill>
                <a:latin typeface="Trebuchet MS" panose="020B0603020202020204" pitchFamily="34" charset="0"/>
                <a:sym typeface="Trebuchet MS" panose="020B0603020202020204" pitchFamily="34" charset="0"/>
              </a:rPr>
              <a:t>that</a:t>
            </a:r>
            <a:r>
              <a:rPr lang="fr-FR" altLang="en-US" sz="1800" dirty="0">
                <a:solidFill>
                  <a:srgbClr val="000000"/>
                </a:solidFill>
                <a:latin typeface="Trebuchet MS" panose="020B0603020202020204" pitchFamily="34" charset="0"/>
                <a:sym typeface="Trebuchet MS" panose="020B0603020202020204" pitchFamily="34" charset="0"/>
              </a:rPr>
              <a:t> </a:t>
            </a:r>
            <a:r>
              <a:rPr lang="fr-FR" altLang="en-US" sz="1800" dirty="0" err="1">
                <a:solidFill>
                  <a:srgbClr val="000000"/>
                </a:solidFill>
                <a:latin typeface="Trebuchet MS" panose="020B0603020202020204" pitchFamily="34" charset="0"/>
                <a:sym typeface="Trebuchet MS" panose="020B0603020202020204" pitchFamily="34" charset="0"/>
              </a:rPr>
              <a:t>created</a:t>
            </a:r>
            <a:r>
              <a:rPr lang="fr-FR" altLang="en-US" sz="1800" dirty="0">
                <a:solidFill>
                  <a:srgbClr val="000000"/>
                </a:solidFill>
                <a:latin typeface="Trebuchet MS" panose="020B0603020202020204" pitchFamily="34" charset="0"/>
                <a:sym typeface="Trebuchet MS" panose="020B0603020202020204" pitchFamily="34" charset="0"/>
              </a:rPr>
              <a:t> </a:t>
            </a:r>
            <a:r>
              <a:rPr lang="fr-FR" altLang="en-US" sz="1800" dirty="0" err="1">
                <a:solidFill>
                  <a:srgbClr val="000000"/>
                </a:solidFill>
                <a:latin typeface="Trebuchet MS" panose="020B0603020202020204" pitchFamily="34" charset="0"/>
                <a:sym typeface="Trebuchet MS" panose="020B0603020202020204" pitchFamily="34" charset="0"/>
              </a:rPr>
              <a:t>this</a:t>
            </a:r>
            <a:r>
              <a:rPr lang="fr-FR" altLang="en-US" sz="1800" dirty="0">
                <a:solidFill>
                  <a:srgbClr val="000000"/>
                </a:solidFill>
                <a:latin typeface="Trebuchet MS" panose="020B0603020202020204" pitchFamily="34" charset="0"/>
                <a:sym typeface="Trebuchet MS" panose="020B0603020202020204" pitchFamily="34" charset="0"/>
              </a:rPr>
              <a:t> block?</a:t>
            </a:r>
          </a:p>
        </p:txBody>
      </p:sp>
      <p:cxnSp>
        <p:nvCxnSpPr>
          <p:cNvPr id="51205" name="Google Shape;355;p38">
            <a:extLst>
              <a:ext uri="{FF2B5EF4-FFF2-40B4-BE49-F238E27FC236}">
                <a16:creationId xmlns:a16="http://schemas.microsoft.com/office/drawing/2014/main" id="{4EFE34C6-821B-D851-4F35-9CAC92DD5BB4}"/>
              </a:ext>
            </a:extLst>
          </p:cNvPr>
          <p:cNvCxnSpPr>
            <a:cxnSpLocks noChangeShapeType="1"/>
            <a:stCxn id="51204" idx="1"/>
          </p:cNvCxnSpPr>
          <p:nvPr/>
        </p:nvCxnSpPr>
        <p:spPr bwMode="auto">
          <a:xfrm flipH="1">
            <a:off x="3813175" y="4445000"/>
            <a:ext cx="360363" cy="179387"/>
          </a:xfrm>
          <a:prstGeom prst="straightConnector1">
            <a:avLst/>
          </a:prstGeom>
          <a:noFill/>
          <a:ln w="12700">
            <a:solidFill>
              <a:srgbClr val="7F7F7F"/>
            </a:solidFill>
            <a:round/>
            <a:headEnd type="none" w="sm" len="sm"/>
            <a:tailEnd type="triangle" w="med" len="med"/>
          </a:ln>
          <a:extLst>
            <a:ext uri="{909E8E84-426E-40DD-AFC4-6F175D3DCCD1}">
              <a14:hiddenFill xmlns:a14="http://schemas.microsoft.com/office/drawing/2010/main">
                <a:noFill/>
              </a14:hiddenFill>
            </a:ext>
          </a:extLst>
        </p:spPr>
      </p:cxnSp>
      <p:sp>
        <p:nvSpPr>
          <p:cNvPr id="51206" name="Google Shape;356;p38">
            <a:extLst>
              <a:ext uri="{FF2B5EF4-FFF2-40B4-BE49-F238E27FC236}">
                <a16:creationId xmlns:a16="http://schemas.microsoft.com/office/drawing/2014/main" id="{35EE4B79-1A7D-147D-6842-7F0D742E88B1}"/>
              </a:ext>
            </a:extLst>
          </p:cNvPr>
          <p:cNvSpPr txBox="1">
            <a:spLocks noChangeArrowheads="1"/>
          </p:cNvSpPr>
          <p:nvPr/>
        </p:nvSpPr>
        <p:spPr bwMode="auto">
          <a:xfrm>
            <a:off x="6154738" y="2438400"/>
            <a:ext cx="2913062"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
                <a:srgbClr val="000000"/>
              </a:buClr>
              <a:buFont typeface="Trebuchet MS" panose="020B0603020202020204" pitchFamily="34" charset="0"/>
              <a:buNone/>
            </a:pPr>
            <a:r>
              <a:rPr lang="fr-FR" altLang="en-US" sz="1800" dirty="0">
                <a:solidFill>
                  <a:srgbClr val="000000"/>
                </a:solidFill>
                <a:latin typeface="Trebuchet MS" panose="020B0603020202020204" pitchFamily="34" charset="0"/>
                <a:sym typeface="Trebuchet MS" panose="020B0603020202020204" pitchFamily="34" charset="0"/>
              </a:rPr>
              <a:t>Can </a:t>
            </a:r>
            <a:r>
              <a:rPr lang="fr-FR" altLang="en-US" sz="1800" dirty="0" err="1">
                <a:solidFill>
                  <a:srgbClr val="000000"/>
                </a:solidFill>
                <a:latin typeface="Trebuchet MS" panose="020B0603020202020204" pitchFamily="34" charset="0"/>
                <a:sym typeface="Trebuchet MS" panose="020B0603020202020204" pitchFamily="34" charset="0"/>
              </a:rPr>
              <a:t>we</a:t>
            </a:r>
            <a:r>
              <a:rPr lang="fr-FR" altLang="en-US" sz="1800" dirty="0">
                <a:solidFill>
                  <a:srgbClr val="000000"/>
                </a:solidFill>
                <a:latin typeface="Trebuchet MS" panose="020B0603020202020204" pitchFamily="34" charset="0"/>
                <a:sym typeface="Trebuchet MS" panose="020B0603020202020204" pitchFamily="34" charset="0"/>
              </a:rPr>
              <a:t> </a:t>
            </a:r>
            <a:r>
              <a:rPr lang="fr-FR" altLang="en-US" sz="1800" dirty="0" err="1">
                <a:solidFill>
                  <a:srgbClr val="000000"/>
                </a:solidFill>
                <a:latin typeface="Trebuchet MS" panose="020B0603020202020204" pitchFamily="34" charset="0"/>
                <a:sym typeface="Trebuchet MS" panose="020B0603020202020204" pitchFamily="34" charset="0"/>
              </a:rPr>
              <a:t>reward</a:t>
            </a:r>
            <a:r>
              <a:rPr lang="fr-FR" altLang="en-US" sz="1800" dirty="0">
                <a:solidFill>
                  <a:srgbClr val="000000"/>
                </a:solidFill>
                <a:latin typeface="Trebuchet MS" panose="020B0603020202020204" pitchFamily="34" charset="0"/>
                <a:sym typeface="Trebuchet MS" panose="020B0603020202020204" pitchFamily="34" charset="0"/>
              </a:rPr>
              <a:t> </a:t>
            </a:r>
            <a:r>
              <a:rPr lang="fr-FR" altLang="en-US" sz="1800" dirty="0" err="1">
                <a:solidFill>
                  <a:srgbClr val="000000"/>
                </a:solidFill>
                <a:latin typeface="Trebuchet MS" panose="020B0603020202020204" pitchFamily="34" charset="0"/>
                <a:sym typeface="Trebuchet MS" panose="020B0603020202020204" pitchFamily="34" charset="0"/>
              </a:rPr>
              <a:t>nodes</a:t>
            </a:r>
            <a:r>
              <a:rPr lang="fr-FR" altLang="en-US" sz="1800" dirty="0">
                <a:solidFill>
                  <a:srgbClr val="000000"/>
                </a:solidFill>
                <a:latin typeface="Trebuchet MS" panose="020B0603020202020204" pitchFamily="34" charset="0"/>
                <a:sym typeface="Trebuchet MS" panose="020B0603020202020204" pitchFamily="34" charset="0"/>
              </a:rPr>
              <a:t> </a:t>
            </a:r>
            <a:br>
              <a:rPr lang="fr-FR" altLang="en-US" sz="1800" dirty="0">
                <a:solidFill>
                  <a:srgbClr val="000000"/>
                </a:solidFill>
                <a:latin typeface="Trebuchet MS" panose="020B0603020202020204" pitchFamily="34" charset="0"/>
                <a:sym typeface="Trebuchet MS" panose="020B0603020202020204" pitchFamily="34" charset="0"/>
              </a:rPr>
            </a:br>
            <a:r>
              <a:rPr lang="fr-FR" altLang="en-US" sz="1800" dirty="0" err="1">
                <a:solidFill>
                  <a:srgbClr val="000000"/>
                </a:solidFill>
                <a:latin typeface="Trebuchet MS" panose="020B0603020202020204" pitchFamily="34" charset="0"/>
                <a:sym typeface="Trebuchet MS" panose="020B0603020202020204" pitchFamily="34" charset="0"/>
              </a:rPr>
              <a:t>that</a:t>
            </a:r>
            <a:r>
              <a:rPr lang="fr-FR" altLang="en-US" sz="1800" dirty="0">
                <a:solidFill>
                  <a:srgbClr val="000000"/>
                </a:solidFill>
                <a:latin typeface="Trebuchet MS" panose="020B0603020202020204" pitchFamily="34" charset="0"/>
                <a:sym typeface="Trebuchet MS" panose="020B0603020202020204" pitchFamily="34" charset="0"/>
              </a:rPr>
              <a:t> </a:t>
            </a:r>
            <a:r>
              <a:rPr lang="fr-FR" altLang="en-US" sz="1800" dirty="0" err="1">
                <a:solidFill>
                  <a:srgbClr val="000000"/>
                </a:solidFill>
                <a:latin typeface="Trebuchet MS" panose="020B0603020202020204" pitchFamily="34" charset="0"/>
                <a:sym typeface="Trebuchet MS" panose="020B0603020202020204" pitchFamily="34" charset="0"/>
              </a:rPr>
              <a:t>created</a:t>
            </a:r>
            <a:r>
              <a:rPr lang="fr-FR" altLang="en-US" sz="1800" dirty="0">
                <a:solidFill>
                  <a:srgbClr val="000000"/>
                </a:solidFill>
                <a:latin typeface="Trebuchet MS" panose="020B0603020202020204" pitchFamily="34" charset="0"/>
                <a:sym typeface="Trebuchet MS" panose="020B0603020202020204" pitchFamily="34" charset="0"/>
              </a:rPr>
              <a:t> </a:t>
            </a:r>
            <a:r>
              <a:rPr lang="fr-FR" altLang="en-US" sz="1800" dirty="0" err="1">
                <a:solidFill>
                  <a:srgbClr val="000000"/>
                </a:solidFill>
                <a:latin typeface="Trebuchet MS" panose="020B0603020202020204" pitchFamily="34" charset="0"/>
                <a:sym typeface="Trebuchet MS" panose="020B0603020202020204" pitchFamily="34" charset="0"/>
              </a:rPr>
              <a:t>these</a:t>
            </a:r>
            <a:r>
              <a:rPr lang="fr-FR" altLang="en-US" sz="1800" dirty="0">
                <a:solidFill>
                  <a:srgbClr val="000000"/>
                </a:solidFill>
                <a:latin typeface="Trebuchet MS" panose="020B0603020202020204" pitchFamily="34" charset="0"/>
                <a:sym typeface="Trebuchet MS" panose="020B0603020202020204" pitchFamily="34" charset="0"/>
              </a:rPr>
              <a:t> blocks?</a:t>
            </a:r>
          </a:p>
        </p:txBody>
      </p:sp>
      <p:cxnSp>
        <p:nvCxnSpPr>
          <p:cNvPr id="51207" name="Google Shape;357;p38">
            <a:extLst>
              <a:ext uri="{FF2B5EF4-FFF2-40B4-BE49-F238E27FC236}">
                <a16:creationId xmlns:a16="http://schemas.microsoft.com/office/drawing/2014/main" id="{94CC13B4-DC9E-A0E6-65EF-EE2999CC6E8B}"/>
              </a:ext>
            </a:extLst>
          </p:cNvPr>
          <p:cNvCxnSpPr>
            <a:cxnSpLocks noChangeShapeType="1"/>
            <a:stCxn id="51206" idx="1"/>
          </p:cNvCxnSpPr>
          <p:nvPr/>
        </p:nvCxnSpPr>
        <p:spPr bwMode="auto">
          <a:xfrm flipH="1">
            <a:off x="5794375" y="2868613"/>
            <a:ext cx="360363" cy="200025"/>
          </a:xfrm>
          <a:prstGeom prst="straightConnector1">
            <a:avLst/>
          </a:prstGeom>
          <a:noFill/>
          <a:ln w="12700">
            <a:solidFill>
              <a:srgbClr val="7F7F7F"/>
            </a:solidFill>
            <a:round/>
            <a:headEnd type="none" w="sm" len="sm"/>
            <a:tailEnd type="triangle" w="med" len="med"/>
          </a:ln>
          <a:extLst>
            <a:ext uri="{909E8E84-426E-40DD-AFC4-6F175D3DCCD1}">
              <a14:hiddenFill xmlns:a14="http://schemas.microsoft.com/office/drawing/2010/main">
                <a:noFill/>
              </a14:hiddenFill>
            </a:ext>
          </a:extLst>
        </p:spPr>
      </p:cxnSp>
      <p:sp>
        <p:nvSpPr>
          <p:cNvPr id="358" name="Google Shape;358;p38">
            <a:extLst>
              <a:ext uri="{FF2B5EF4-FFF2-40B4-BE49-F238E27FC236}">
                <a16:creationId xmlns:a16="http://schemas.microsoft.com/office/drawing/2014/main" id="{F38BF65A-7A22-9AC9-D322-3BD32CD9CA6E}"/>
              </a:ext>
            </a:extLst>
          </p:cNvPr>
          <p:cNvSpPr/>
          <p:nvPr/>
        </p:nvSpPr>
        <p:spPr>
          <a:xfrm>
            <a:off x="6937375" y="3962400"/>
            <a:ext cx="806450" cy="862013"/>
          </a:xfrm>
          <a:prstGeom prst="mathMultiply">
            <a:avLst>
              <a:gd name="adj1" fmla="val 23520"/>
            </a:avLst>
          </a:prstGeom>
          <a:gradFill>
            <a:gsLst>
              <a:gs pos="0">
                <a:srgbClr val="A42425"/>
              </a:gs>
              <a:gs pos="100000">
                <a:srgbClr val="FFAEAE"/>
              </a:gs>
            </a:gsLst>
            <a:lin ang="16200000" scaled="0"/>
          </a:gradFill>
          <a:ln w="9525" cap="flat" cmpd="sng">
            <a:solidFill>
              <a:srgbClr val="952F30"/>
            </a:solidFill>
            <a:prstDash val="solid"/>
            <a:round/>
            <a:headEnd type="none" w="sm" len="sm"/>
            <a:tailEnd type="none" w="sm" len="sm"/>
          </a:ln>
        </p:spPr>
        <p:txBody>
          <a:bodyPr spcFirstLastPara="1" lIns="91425" tIns="45700" rIns="91425" bIns="45700" anchor="ctr"/>
          <a:lstStyle/>
          <a:p>
            <a:pPr algn="ctr" eaLnBrk="1" hangingPunct="1">
              <a:spcBef>
                <a:spcPts val="0"/>
              </a:spcBef>
              <a:spcAft>
                <a:spcPts val="0"/>
              </a:spcAft>
              <a:buClr>
                <a:srgbClr val="000000"/>
              </a:buClr>
              <a:buFont typeface="Arial"/>
              <a:buNone/>
              <a:defRPr/>
            </a:pPr>
            <a:endParaRPr sz="1400">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Google Shape;363;p39">
            <a:extLst>
              <a:ext uri="{FF2B5EF4-FFF2-40B4-BE49-F238E27FC236}">
                <a16:creationId xmlns:a16="http://schemas.microsoft.com/office/drawing/2014/main" id="{0D9C47CA-855A-A955-6D87-85541F8D5AB1}"/>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Incentive 1: block reward</a:t>
            </a:r>
          </a:p>
        </p:txBody>
      </p:sp>
      <p:sp>
        <p:nvSpPr>
          <p:cNvPr id="53250" name="Google Shape;364;p39">
            <a:extLst>
              <a:ext uri="{FF2B5EF4-FFF2-40B4-BE49-F238E27FC236}">
                <a16:creationId xmlns:a16="http://schemas.microsoft.com/office/drawing/2014/main" id="{CE0362FC-4FE4-1E64-C428-61EBD9C6A6AE}"/>
              </a:ext>
            </a:extLst>
          </p:cNvPr>
          <p:cNvSpPr>
            <a:spLocks noGrp="1" noChangeArrowheads="1"/>
          </p:cNvSpPr>
          <p:nvPr>
            <p:ph type="body" idx="1"/>
          </p:nvPr>
        </p:nvSpPr>
        <p:spPr>
          <a:xfrm>
            <a:off x="457200" y="1600200"/>
            <a:ext cx="8229600" cy="4967288"/>
          </a:xfrm>
        </p:spPr>
        <p:txBody>
          <a:bodyPr/>
          <a:lstStyle/>
          <a:p>
            <a:pPr marL="0" indent="0">
              <a:spcBef>
                <a:spcPct val="0"/>
              </a:spcBef>
              <a:spcAft>
                <a:spcPct val="0"/>
              </a:spcAft>
              <a:buClr>
                <a:srgbClr val="000000"/>
              </a:buClr>
              <a:buSzTx/>
              <a:buFont typeface="Trebuchet MS" panose="020B0603020202020204" pitchFamily="34" charset="0"/>
              <a:buNone/>
            </a:pPr>
            <a:r>
              <a:rPr lang="fr-FR" altLang="en-US" sz="2800" dirty="0">
                <a:solidFill>
                  <a:srgbClr val="000000"/>
                </a:solidFill>
                <a:latin typeface="Trebuchet MS" panose="020B0603020202020204" pitchFamily="34" charset="0"/>
                <a:sym typeface="Trebuchet MS" panose="020B0603020202020204" pitchFamily="34" charset="0"/>
              </a:rPr>
              <a:t>Creator of block </a:t>
            </a:r>
            <a:r>
              <a:rPr lang="fr-FR" altLang="en-US" sz="2800" dirty="0" err="1">
                <a:solidFill>
                  <a:srgbClr val="000000"/>
                </a:solidFill>
                <a:latin typeface="Trebuchet MS" panose="020B0603020202020204" pitchFamily="34" charset="0"/>
                <a:sym typeface="Trebuchet MS" panose="020B0603020202020204" pitchFamily="34" charset="0"/>
              </a:rPr>
              <a:t>gets</a:t>
            </a:r>
            <a:r>
              <a:rPr lang="fr-FR" altLang="en-US" sz="2800" dirty="0">
                <a:solidFill>
                  <a:srgbClr val="000000"/>
                </a:solidFill>
                <a:latin typeface="Trebuchet MS" panose="020B0603020202020204" pitchFamily="34" charset="0"/>
                <a:sym typeface="Trebuchet MS" panose="020B0603020202020204" pitchFamily="34" charset="0"/>
              </a:rPr>
              <a:t> to</a:t>
            </a:r>
            <a:endParaRPr lang="fr-FR" altLang="en-US" sz="3600" dirty="0"/>
          </a:p>
          <a:p>
            <a:pPr marL="0" indent="0">
              <a:spcBef>
                <a:spcPct val="0"/>
              </a:spcBef>
              <a:spcAft>
                <a:spcPct val="0"/>
              </a:spcAft>
              <a:buClr>
                <a:srgbClr val="000000"/>
              </a:buClr>
              <a:buSzTx/>
              <a:buFontTx/>
              <a:buChar char="•"/>
            </a:pPr>
            <a:r>
              <a:rPr lang="fr-FR" altLang="en-US" sz="2800" dirty="0" err="1">
                <a:solidFill>
                  <a:srgbClr val="000000"/>
                </a:solidFill>
                <a:latin typeface="Trebuchet MS" panose="020B0603020202020204" pitchFamily="34" charset="0"/>
                <a:sym typeface="Trebuchet MS" panose="020B0603020202020204" pitchFamily="34" charset="0"/>
              </a:rPr>
              <a:t>include</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u="sng" dirty="0" err="1">
                <a:solidFill>
                  <a:srgbClr val="000000"/>
                </a:solidFill>
                <a:latin typeface="Trebuchet MS" panose="020B0603020202020204" pitchFamily="34" charset="0"/>
                <a:sym typeface="Trebuchet MS" panose="020B0603020202020204" pitchFamily="34" charset="0"/>
              </a:rPr>
              <a:t>special</a:t>
            </a:r>
            <a:r>
              <a:rPr lang="fr-FR" altLang="en-US" sz="2800" u="sng" dirty="0">
                <a:solidFill>
                  <a:srgbClr val="000000"/>
                </a:solidFill>
                <a:latin typeface="Trebuchet MS" panose="020B0603020202020204" pitchFamily="34" charset="0"/>
                <a:sym typeface="Trebuchet MS" panose="020B0603020202020204" pitchFamily="34" charset="0"/>
              </a:rPr>
              <a:t> coin-</a:t>
            </a:r>
            <a:r>
              <a:rPr lang="fr-FR" altLang="en-US" sz="2800" u="sng" dirty="0" err="1">
                <a:solidFill>
                  <a:srgbClr val="000000"/>
                </a:solidFill>
                <a:latin typeface="Trebuchet MS" panose="020B0603020202020204" pitchFamily="34" charset="0"/>
                <a:sym typeface="Trebuchet MS" panose="020B0603020202020204" pitchFamily="34" charset="0"/>
              </a:rPr>
              <a:t>creation</a:t>
            </a:r>
            <a:r>
              <a:rPr lang="fr-FR" altLang="en-US" sz="2800" u="sng" dirty="0">
                <a:solidFill>
                  <a:srgbClr val="000000"/>
                </a:solidFill>
                <a:latin typeface="Trebuchet MS" panose="020B0603020202020204" pitchFamily="34" charset="0"/>
                <a:sym typeface="Trebuchet MS" panose="020B0603020202020204" pitchFamily="34" charset="0"/>
              </a:rPr>
              <a:t> transaction</a:t>
            </a:r>
            <a:r>
              <a:rPr lang="fr-FR" altLang="en-US" sz="2800" dirty="0">
                <a:solidFill>
                  <a:srgbClr val="000000"/>
                </a:solidFill>
                <a:latin typeface="Trebuchet MS" panose="020B0603020202020204" pitchFamily="34" charset="0"/>
                <a:sym typeface="Trebuchet MS" panose="020B0603020202020204" pitchFamily="34" charset="0"/>
              </a:rPr>
              <a:t> in the block</a:t>
            </a:r>
          </a:p>
          <a:p>
            <a:pPr marL="0" indent="0">
              <a:spcBef>
                <a:spcPct val="0"/>
              </a:spcBef>
              <a:spcAft>
                <a:spcPct val="0"/>
              </a:spcAft>
              <a:buClr>
                <a:srgbClr val="000000"/>
              </a:buClr>
              <a:buSzTx/>
              <a:buFontTx/>
              <a:buChar char="•"/>
            </a:pPr>
            <a:r>
              <a:rPr lang="fr-FR" altLang="en-US" sz="2800" dirty="0" err="1">
                <a:solidFill>
                  <a:srgbClr val="000000"/>
                </a:solidFill>
                <a:latin typeface="Trebuchet MS" panose="020B0603020202020204" pitchFamily="34" charset="0"/>
                <a:sym typeface="Trebuchet MS" panose="020B0603020202020204" pitchFamily="34" charset="0"/>
              </a:rPr>
              <a:t>choose</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recipient</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address</a:t>
            </a:r>
            <a:r>
              <a:rPr lang="fr-FR" altLang="en-US" sz="2800" dirty="0">
                <a:solidFill>
                  <a:srgbClr val="000000"/>
                </a:solidFill>
                <a:latin typeface="Trebuchet MS" panose="020B0603020202020204" pitchFamily="34" charset="0"/>
                <a:sym typeface="Trebuchet MS" panose="020B0603020202020204" pitchFamily="34" charset="0"/>
              </a:rPr>
              <a:t> of </a:t>
            </a:r>
            <a:r>
              <a:rPr lang="fr-FR" altLang="en-US" sz="2800" dirty="0" err="1">
                <a:solidFill>
                  <a:srgbClr val="000000"/>
                </a:solidFill>
                <a:latin typeface="Trebuchet MS" panose="020B0603020202020204" pitchFamily="34" charset="0"/>
                <a:sym typeface="Trebuchet MS" panose="020B0603020202020204" pitchFamily="34" charset="0"/>
              </a:rPr>
              <a:t>this</a:t>
            </a:r>
            <a:r>
              <a:rPr lang="fr-FR" altLang="en-US" sz="2800" dirty="0">
                <a:solidFill>
                  <a:srgbClr val="000000"/>
                </a:solidFill>
                <a:latin typeface="Trebuchet MS" panose="020B0603020202020204" pitchFamily="34" charset="0"/>
                <a:sym typeface="Trebuchet MS" panose="020B0603020202020204" pitchFamily="34" charset="0"/>
              </a:rPr>
              <a:t> transaction</a:t>
            </a:r>
            <a:endParaRPr lang="fr-FR" altLang="en-US" sz="3600" dirty="0"/>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800" dirty="0">
                <a:solidFill>
                  <a:srgbClr val="000000"/>
                </a:solidFill>
                <a:latin typeface="Trebuchet MS" panose="020B0603020202020204" pitchFamily="34" charset="0"/>
                <a:sym typeface="Trebuchet MS" panose="020B0603020202020204" pitchFamily="34" charset="0"/>
              </a:rPr>
              <a:t>Value </a:t>
            </a:r>
            <a:r>
              <a:rPr lang="fr-FR" altLang="en-US" sz="2800" dirty="0" err="1">
                <a:solidFill>
                  <a:srgbClr val="000000"/>
                </a:solidFill>
                <a:latin typeface="Trebuchet MS" panose="020B0603020202020204" pitchFamily="34" charset="0"/>
                <a:sym typeface="Trebuchet MS" panose="020B0603020202020204" pitchFamily="34" charset="0"/>
              </a:rPr>
              <a:t>is</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fixed</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currently</a:t>
            </a:r>
            <a:r>
              <a:rPr lang="fr-FR" altLang="en-US" sz="2800" dirty="0">
                <a:solidFill>
                  <a:srgbClr val="000000"/>
                </a:solidFill>
                <a:latin typeface="Trebuchet MS" panose="020B0603020202020204" pitchFamily="34" charset="0"/>
                <a:sym typeface="Trebuchet MS" panose="020B0603020202020204" pitchFamily="34" charset="0"/>
              </a:rPr>
              <a:t> 6.25 BTC, </a:t>
            </a:r>
            <a:r>
              <a:rPr lang="fr-FR" altLang="en-US" sz="2800" dirty="0" err="1">
                <a:solidFill>
                  <a:srgbClr val="000000"/>
                </a:solidFill>
                <a:latin typeface="Trebuchet MS" panose="020B0603020202020204" pitchFamily="34" charset="0"/>
                <a:sym typeface="Trebuchet MS" panose="020B0603020202020204" pitchFamily="34" charset="0"/>
              </a:rPr>
              <a:t>halves</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every</a:t>
            </a:r>
            <a:r>
              <a:rPr lang="fr-FR" altLang="en-US" sz="2800" dirty="0">
                <a:solidFill>
                  <a:srgbClr val="000000"/>
                </a:solidFill>
                <a:latin typeface="Trebuchet MS" panose="020B0603020202020204" pitchFamily="34" charset="0"/>
                <a:sym typeface="Trebuchet MS" panose="020B0603020202020204" pitchFamily="34" charset="0"/>
              </a:rPr>
              <a:t> 4 </a:t>
            </a:r>
            <a:r>
              <a:rPr lang="fr-FR" altLang="en-US" sz="2800" dirty="0" err="1">
                <a:solidFill>
                  <a:srgbClr val="000000"/>
                </a:solidFill>
                <a:latin typeface="Trebuchet MS" panose="020B0603020202020204" pitchFamily="34" charset="0"/>
                <a:sym typeface="Trebuchet MS" panose="020B0603020202020204" pitchFamily="34" charset="0"/>
              </a:rPr>
              <a:t>years</a:t>
            </a:r>
            <a:endParaRPr lang="fr-FR" altLang="en-US" sz="3600" dirty="0"/>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800" dirty="0">
                <a:solidFill>
                  <a:srgbClr val="000000"/>
                </a:solidFill>
                <a:latin typeface="Trebuchet MS" panose="020B0603020202020204" pitchFamily="34" charset="0"/>
                <a:sym typeface="Trebuchet MS" panose="020B0603020202020204" pitchFamily="34" charset="0"/>
              </a:rPr>
              <a:t>Block </a:t>
            </a:r>
            <a:r>
              <a:rPr lang="fr-FR" altLang="en-US" sz="2800" dirty="0" err="1">
                <a:solidFill>
                  <a:srgbClr val="000000"/>
                </a:solidFill>
                <a:latin typeface="Trebuchet MS" panose="020B0603020202020204" pitchFamily="34" charset="0"/>
                <a:sym typeface="Trebuchet MS" panose="020B0603020202020204" pitchFamily="34" charset="0"/>
              </a:rPr>
              <a:t>creator</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gets</a:t>
            </a:r>
            <a:r>
              <a:rPr lang="fr-FR" altLang="en-US" sz="2800" dirty="0">
                <a:solidFill>
                  <a:srgbClr val="000000"/>
                </a:solidFill>
                <a:latin typeface="Trebuchet MS" panose="020B0603020202020204" pitchFamily="34" charset="0"/>
                <a:sym typeface="Trebuchet MS" panose="020B0603020202020204" pitchFamily="34" charset="0"/>
              </a:rPr>
              <a:t> to </a:t>
            </a:r>
            <a:r>
              <a:rPr lang="fr-FR" altLang="fr-FR" sz="2800" dirty="0">
                <a:solidFill>
                  <a:srgbClr val="000000"/>
                </a:solidFill>
                <a:latin typeface="Trebuchet MS" panose="020B0603020202020204" pitchFamily="34" charset="0"/>
                <a:sym typeface="Trebuchet MS" panose="020B0603020202020204" pitchFamily="34" charset="0"/>
              </a:rPr>
              <a:t>“</a:t>
            </a:r>
            <a:r>
              <a:rPr lang="fr-FR" altLang="ja-JP" sz="2800" dirty="0" err="1">
                <a:solidFill>
                  <a:srgbClr val="000000"/>
                </a:solidFill>
                <a:latin typeface="Trebuchet MS" panose="020B0603020202020204" pitchFamily="34" charset="0"/>
                <a:sym typeface="Trebuchet MS" panose="020B0603020202020204" pitchFamily="34" charset="0"/>
              </a:rPr>
              <a:t>collect</a:t>
            </a:r>
            <a:r>
              <a:rPr lang="fr-FR" altLang="fr-FR" sz="2800" dirty="0">
                <a:solidFill>
                  <a:srgbClr val="000000"/>
                </a:solidFill>
                <a:latin typeface="Trebuchet MS" panose="020B0603020202020204" pitchFamily="34" charset="0"/>
                <a:sym typeface="Trebuchet MS" panose="020B0603020202020204" pitchFamily="34" charset="0"/>
              </a:rPr>
              <a:t>”</a:t>
            </a:r>
            <a:r>
              <a:rPr lang="fr-FR" altLang="ja-JP" sz="2800" dirty="0">
                <a:solidFill>
                  <a:srgbClr val="000000"/>
                </a:solidFill>
                <a:latin typeface="Trebuchet MS" panose="020B0603020202020204" pitchFamily="34" charset="0"/>
                <a:sym typeface="Trebuchet MS" panose="020B0603020202020204" pitchFamily="34" charset="0"/>
              </a:rPr>
              <a:t> the </a:t>
            </a:r>
            <a:r>
              <a:rPr lang="fr-FR" altLang="ja-JP" sz="2800" dirty="0" err="1">
                <a:solidFill>
                  <a:srgbClr val="000000"/>
                </a:solidFill>
                <a:latin typeface="Trebuchet MS" panose="020B0603020202020204" pitchFamily="34" charset="0"/>
                <a:sym typeface="Trebuchet MS" panose="020B0603020202020204" pitchFamily="34" charset="0"/>
              </a:rPr>
              <a:t>reward</a:t>
            </a:r>
            <a:r>
              <a:rPr lang="fr-FR" altLang="ja-JP" sz="2800" dirty="0">
                <a:solidFill>
                  <a:srgbClr val="000000"/>
                </a:solidFill>
                <a:latin typeface="Trebuchet MS" panose="020B0603020202020204" pitchFamily="34" charset="0"/>
                <a:sym typeface="Trebuchet MS" panose="020B0603020202020204" pitchFamily="34" charset="0"/>
              </a:rPr>
              <a:t> </a:t>
            </a:r>
            <a:r>
              <a:rPr lang="fr-FR" altLang="ja-JP" sz="2800" dirty="0" err="1">
                <a:solidFill>
                  <a:srgbClr val="000000"/>
                </a:solidFill>
                <a:latin typeface="Trebuchet MS" panose="020B0603020202020204" pitchFamily="34" charset="0"/>
                <a:sym typeface="Trebuchet MS" panose="020B0603020202020204" pitchFamily="34" charset="0"/>
              </a:rPr>
              <a:t>only</a:t>
            </a:r>
            <a:r>
              <a:rPr lang="fr-FR" altLang="ja-JP" sz="2800" dirty="0">
                <a:solidFill>
                  <a:srgbClr val="000000"/>
                </a:solidFill>
                <a:latin typeface="Trebuchet MS" panose="020B0603020202020204" pitchFamily="34" charset="0"/>
                <a:sym typeface="Trebuchet MS" panose="020B0603020202020204" pitchFamily="34" charset="0"/>
              </a:rPr>
              <a:t> if the block ends up on long-</a:t>
            </a:r>
            <a:r>
              <a:rPr lang="fr-FR" altLang="ja-JP" sz="2800" dirty="0" err="1">
                <a:solidFill>
                  <a:srgbClr val="000000"/>
                </a:solidFill>
                <a:latin typeface="Trebuchet MS" panose="020B0603020202020204" pitchFamily="34" charset="0"/>
                <a:sym typeface="Trebuchet MS" panose="020B0603020202020204" pitchFamily="34" charset="0"/>
              </a:rPr>
              <a:t>term</a:t>
            </a:r>
            <a:r>
              <a:rPr lang="fr-FR" altLang="ja-JP" sz="2800" dirty="0">
                <a:solidFill>
                  <a:srgbClr val="000000"/>
                </a:solidFill>
                <a:latin typeface="Trebuchet MS" panose="020B0603020202020204" pitchFamily="34" charset="0"/>
                <a:sym typeface="Trebuchet MS" panose="020B0603020202020204" pitchFamily="34" charset="0"/>
              </a:rPr>
              <a:t> consensus </a:t>
            </a:r>
            <a:r>
              <a:rPr lang="fr-FR" altLang="ja-JP" sz="2800" dirty="0" err="1">
                <a:solidFill>
                  <a:srgbClr val="000000"/>
                </a:solidFill>
                <a:latin typeface="Trebuchet MS" panose="020B0603020202020204" pitchFamily="34" charset="0"/>
                <a:sym typeface="Trebuchet MS" panose="020B0603020202020204" pitchFamily="34" charset="0"/>
              </a:rPr>
              <a:t>branch</a:t>
            </a:r>
            <a:r>
              <a:rPr lang="fr-FR" altLang="ja-JP" sz="2800" dirty="0">
                <a:solidFill>
                  <a:srgbClr val="000000"/>
                </a:solidFill>
                <a:latin typeface="Trebuchet MS" panose="020B0603020202020204" pitchFamily="34" charset="0"/>
                <a:sym typeface="Trebuchet MS" panose="020B0603020202020204" pitchFamily="34" charset="0"/>
              </a:rPr>
              <a:t>!</a:t>
            </a:r>
            <a:endParaRPr lang="fr-FR" altLang="en-US" sz="3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Google Shape;369;p40">
            <a:extLst>
              <a:ext uri="{FF2B5EF4-FFF2-40B4-BE49-F238E27FC236}">
                <a16:creationId xmlns:a16="http://schemas.microsoft.com/office/drawing/2014/main" id="{2E63BD01-2906-B939-4C16-483113F24EDF}"/>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There</a:t>
            </a:r>
            <a:r>
              <a:rPr lang="fr-FR" altLang="fr-FR">
                <a:solidFill>
                  <a:srgbClr val="000000"/>
                </a:solidFill>
                <a:sym typeface="Trebuchet MS" panose="020B0603020202020204" pitchFamily="34" charset="0"/>
              </a:rPr>
              <a:t>’</a:t>
            </a:r>
            <a:r>
              <a:rPr lang="fr-FR" altLang="en-US">
                <a:solidFill>
                  <a:srgbClr val="000000"/>
                </a:solidFill>
                <a:sym typeface="Trebuchet MS" panose="020B0603020202020204" pitchFamily="34" charset="0"/>
              </a:rPr>
              <a:t>s a finite supply of bitcoins</a:t>
            </a:r>
          </a:p>
        </p:txBody>
      </p:sp>
      <p:sp>
        <p:nvSpPr>
          <p:cNvPr id="55298" name="Google Shape;370;p40">
            <a:extLst>
              <a:ext uri="{FF2B5EF4-FFF2-40B4-BE49-F238E27FC236}">
                <a16:creationId xmlns:a16="http://schemas.microsoft.com/office/drawing/2014/main" id="{CFD9BF9A-06BE-DE0B-D42E-A1502B4DEB85}"/>
              </a:ext>
            </a:extLst>
          </p:cNvPr>
          <p:cNvSpPr>
            <a:spLocks noGrp="1" noChangeArrowheads="1"/>
          </p:cNvSpPr>
          <p:nvPr>
            <p:ph type="body" idx="1"/>
          </p:nvPr>
        </p:nvSpPr>
        <p:spPr>
          <a:xfrm>
            <a:off x="4800600" y="1701800"/>
            <a:ext cx="4038600" cy="4967288"/>
          </a:xfrm>
        </p:spPr>
        <p:txBody>
          <a:bodyPr/>
          <a:lstStyle/>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800" dirty="0">
                <a:solidFill>
                  <a:srgbClr val="000000"/>
                </a:solidFill>
                <a:latin typeface="Trebuchet MS" panose="020B0603020202020204" pitchFamily="34" charset="0"/>
                <a:sym typeface="Trebuchet MS" panose="020B0603020202020204" pitchFamily="34" charset="0"/>
              </a:rPr>
              <a:t>Block </a:t>
            </a:r>
            <a:r>
              <a:rPr lang="fr-FR" altLang="en-US" sz="2800" dirty="0" err="1">
                <a:solidFill>
                  <a:srgbClr val="000000"/>
                </a:solidFill>
                <a:latin typeface="Trebuchet MS" panose="020B0603020202020204" pitchFamily="34" charset="0"/>
                <a:sym typeface="Trebuchet MS" panose="020B0603020202020204" pitchFamily="34" charset="0"/>
              </a:rPr>
              <a:t>reward</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is</a:t>
            </a:r>
            <a:r>
              <a:rPr lang="fr-FR" altLang="en-US" sz="2800" dirty="0">
                <a:solidFill>
                  <a:srgbClr val="000000"/>
                </a:solidFill>
                <a:latin typeface="Trebuchet MS" panose="020B0603020202020204" pitchFamily="34" charset="0"/>
                <a:sym typeface="Trebuchet MS" panose="020B0603020202020204" pitchFamily="34" charset="0"/>
              </a:rPr>
              <a:t> how </a:t>
            </a:r>
            <a:br>
              <a:rPr lang="fr-FR" altLang="en-US" sz="2800" dirty="0">
                <a:solidFill>
                  <a:srgbClr val="000000"/>
                </a:solidFill>
                <a:latin typeface="Trebuchet MS" panose="020B0603020202020204" pitchFamily="34" charset="0"/>
                <a:sym typeface="Trebuchet MS" panose="020B0603020202020204" pitchFamily="34" charset="0"/>
              </a:rPr>
            </a:br>
            <a:r>
              <a:rPr lang="fr-FR" altLang="en-US" sz="2800" dirty="0">
                <a:solidFill>
                  <a:srgbClr val="000000"/>
                </a:solidFill>
                <a:latin typeface="Trebuchet MS" panose="020B0603020202020204" pitchFamily="34" charset="0"/>
                <a:sym typeface="Trebuchet MS" panose="020B0603020202020204" pitchFamily="34" charset="0"/>
              </a:rPr>
              <a:t>new bitcoins are </a:t>
            </a:r>
            <a:r>
              <a:rPr lang="fr-FR" altLang="en-US" sz="2800" dirty="0" err="1">
                <a:solidFill>
                  <a:srgbClr val="000000"/>
                </a:solidFill>
                <a:latin typeface="Trebuchet MS" panose="020B0603020202020204" pitchFamily="34" charset="0"/>
                <a:sym typeface="Trebuchet MS" panose="020B0603020202020204" pitchFamily="34" charset="0"/>
              </a:rPr>
              <a:t>created</a:t>
            </a:r>
            <a:endParaRPr lang="fr-FR" altLang="en-US" sz="3600" dirty="0"/>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800" dirty="0">
                <a:solidFill>
                  <a:srgbClr val="000000"/>
                </a:solidFill>
                <a:latin typeface="Trebuchet MS" panose="020B0603020202020204" pitchFamily="34" charset="0"/>
                <a:sym typeface="Trebuchet MS" panose="020B0603020202020204" pitchFamily="34" charset="0"/>
              </a:rPr>
              <a:t>Runs out in 2040. No new bitcoins </a:t>
            </a:r>
            <a:r>
              <a:rPr lang="fr-FR" altLang="en-US" sz="2800" dirty="0" err="1">
                <a:solidFill>
                  <a:srgbClr val="000000"/>
                </a:solidFill>
                <a:latin typeface="Trebuchet MS" panose="020B0603020202020204" pitchFamily="34" charset="0"/>
                <a:sym typeface="Trebuchet MS" panose="020B0603020202020204" pitchFamily="34" charset="0"/>
              </a:rPr>
              <a:t>unless</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rules</a:t>
            </a:r>
            <a:r>
              <a:rPr lang="fr-FR" altLang="en-US" sz="2800" dirty="0">
                <a:solidFill>
                  <a:srgbClr val="000000"/>
                </a:solidFill>
                <a:latin typeface="Trebuchet MS" panose="020B0603020202020204" pitchFamily="34" charset="0"/>
                <a:sym typeface="Trebuchet MS" panose="020B0603020202020204" pitchFamily="34" charset="0"/>
              </a:rPr>
              <a:t> change</a:t>
            </a:r>
            <a:endParaRPr lang="fr-FR" altLang="en-US" sz="3600" dirty="0"/>
          </a:p>
        </p:txBody>
      </p:sp>
      <p:grpSp>
        <p:nvGrpSpPr>
          <p:cNvPr id="55299" name="Google Shape;371;p40">
            <a:extLst>
              <a:ext uri="{FF2B5EF4-FFF2-40B4-BE49-F238E27FC236}">
                <a16:creationId xmlns:a16="http://schemas.microsoft.com/office/drawing/2014/main" id="{41AA6FE9-8240-0D60-77AC-4A9701249B49}"/>
              </a:ext>
            </a:extLst>
          </p:cNvPr>
          <p:cNvGrpSpPr>
            <a:grpSpLocks/>
          </p:cNvGrpSpPr>
          <p:nvPr/>
        </p:nvGrpSpPr>
        <p:grpSpPr bwMode="auto">
          <a:xfrm>
            <a:off x="457200" y="1905000"/>
            <a:ext cx="4232275" cy="4354513"/>
            <a:chOff x="533400" y="1428750"/>
            <a:chExt cx="4232077" cy="3265845"/>
          </a:xfrm>
        </p:grpSpPr>
        <p:grpSp>
          <p:nvGrpSpPr>
            <p:cNvPr id="55302" name="Google Shape;372;p40">
              <a:extLst>
                <a:ext uri="{FF2B5EF4-FFF2-40B4-BE49-F238E27FC236}">
                  <a16:creationId xmlns:a16="http://schemas.microsoft.com/office/drawing/2014/main" id="{03F57497-EB70-66F7-3A55-7BDA52F62F7C}"/>
                </a:ext>
              </a:extLst>
            </p:cNvPr>
            <p:cNvGrpSpPr>
              <a:grpSpLocks/>
            </p:cNvGrpSpPr>
            <p:nvPr/>
          </p:nvGrpSpPr>
          <p:grpSpPr bwMode="auto">
            <a:xfrm>
              <a:off x="533400" y="1428750"/>
              <a:ext cx="4232077" cy="3265845"/>
              <a:chOff x="378023" y="1616148"/>
              <a:chExt cx="4232077" cy="3265845"/>
            </a:xfrm>
          </p:grpSpPr>
          <p:pic>
            <p:nvPicPr>
              <p:cNvPr id="55305" name="Google Shape;373;p40" descr="https://upload.wikimedia.org/wikipedia/commons/thumb/5/54/Total_bitcoins_over_time.png/740px-Total_bitcoins_over_time.png">
                <a:extLst>
                  <a:ext uri="{FF2B5EF4-FFF2-40B4-BE49-F238E27FC236}">
                    <a16:creationId xmlns:a16="http://schemas.microsoft.com/office/drawing/2014/main" id="{126DE776-2BDE-0291-ED49-57463D365557}"/>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l="3868" t="5679" b="3137"/>
              <a:stretch>
                <a:fillRect/>
              </a:stretch>
            </p:blipFill>
            <p:spPr bwMode="auto">
              <a:xfrm>
                <a:off x="691116" y="1616148"/>
                <a:ext cx="3918984" cy="3009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6" name="Google Shape;374;p40">
                <a:extLst>
                  <a:ext uri="{FF2B5EF4-FFF2-40B4-BE49-F238E27FC236}">
                    <a16:creationId xmlns:a16="http://schemas.microsoft.com/office/drawing/2014/main" id="{CD1962F2-FD99-86F2-8F57-29CEFFA41E31}"/>
                  </a:ext>
                </a:extLst>
              </p:cNvPr>
              <p:cNvSpPr txBox="1">
                <a:spLocks noChangeArrowheads="1"/>
              </p:cNvSpPr>
              <p:nvPr/>
            </p:nvSpPr>
            <p:spPr bwMode="auto">
              <a:xfrm>
                <a:off x="2369120" y="4574216"/>
                <a:ext cx="5629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
                    <a:srgbClr val="000000"/>
                  </a:buClr>
                  <a:buFont typeface="Trebuchet MS" panose="020B0603020202020204" pitchFamily="34" charset="0"/>
                  <a:buNone/>
                </a:pPr>
                <a:r>
                  <a:rPr lang="fr-FR" altLang="en-US" sz="1400">
                    <a:solidFill>
                      <a:srgbClr val="000000"/>
                    </a:solidFill>
                    <a:latin typeface="Trebuchet MS" panose="020B0603020202020204" pitchFamily="34" charset="0"/>
                    <a:sym typeface="Trebuchet MS" panose="020B0603020202020204" pitchFamily="34" charset="0"/>
                  </a:rPr>
                  <a:t>Year</a:t>
                </a:r>
              </a:p>
            </p:txBody>
          </p:sp>
          <p:sp>
            <p:nvSpPr>
              <p:cNvPr id="55307" name="Google Shape;375;p40">
                <a:extLst>
                  <a:ext uri="{FF2B5EF4-FFF2-40B4-BE49-F238E27FC236}">
                    <a16:creationId xmlns:a16="http://schemas.microsoft.com/office/drawing/2014/main" id="{6495F8E6-1B14-F61C-1ADD-08B2C2C5B59D}"/>
                  </a:ext>
                </a:extLst>
              </p:cNvPr>
              <p:cNvSpPr txBox="1">
                <a:spLocks noChangeArrowheads="1"/>
              </p:cNvSpPr>
              <p:nvPr/>
            </p:nvSpPr>
            <p:spPr bwMode="auto">
              <a:xfrm rot="-5400000">
                <a:off x="-668898" y="2966766"/>
                <a:ext cx="240161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
                    <a:srgbClr val="000000"/>
                  </a:buClr>
                  <a:buFont typeface="Trebuchet MS" panose="020B0603020202020204" pitchFamily="34" charset="0"/>
                  <a:buNone/>
                </a:pPr>
                <a:r>
                  <a:rPr lang="fr-FR" altLang="en-US" sz="1400">
                    <a:solidFill>
                      <a:srgbClr val="000000"/>
                    </a:solidFill>
                    <a:latin typeface="Trebuchet MS" panose="020B0603020202020204" pitchFamily="34" charset="0"/>
                    <a:sym typeface="Trebuchet MS" panose="020B0603020202020204" pitchFamily="34" charset="0"/>
                  </a:rPr>
                  <a:t>Total bitcoins in circulation</a:t>
                </a:r>
              </a:p>
            </p:txBody>
          </p:sp>
        </p:grpSp>
        <p:sp>
          <p:nvSpPr>
            <p:cNvPr id="55303" name="Google Shape;376;p40">
              <a:extLst>
                <a:ext uri="{FF2B5EF4-FFF2-40B4-BE49-F238E27FC236}">
                  <a16:creationId xmlns:a16="http://schemas.microsoft.com/office/drawing/2014/main" id="{ED5029EA-8D00-1AC7-96A1-196F30F1C64C}"/>
                </a:ext>
              </a:extLst>
            </p:cNvPr>
            <p:cNvSpPr txBox="1">
              <a:spLocks noChangeArrowheads="1"/>
            </p:cNvSpPr>
            <p:nvPr/>
          </p:nvSpPr>
          <p:spPr bwMode="auto">
            <a:xfrm>
              <a:off x="2007045" y="2702884"/>
              <a:ext cx="26773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
                  <a:srgbClr val="000000"/>
                </a:buClr>
                <a:buFont typeface="Trebuchet MS" panose="020B0603020202020204" pitchFamily="34" charset="0"/>
                <a:buNone/>
              </a:pPr>
              <a:r>
                <a:rPr lang="fr-FR" altLang="en-US" sz="1200">
                  <a:solidFill>
                    <a:srgbClr val="000000"/>
                  </a:solidFill>
                  <a:latin typeface="Trebuchet MS" panose="020B0603020202020204" pitchFamily="34" charset="0"/>
                  <a:sym typeface="Trebuchet MS" panose="020B0603020202020204" pitchFamily="34" charset="0"/>
                </a:rPr>
                <a:t>First inflection point:</a:t>
              </a:r>
              <a:br>
                <a:rPr lang="fr-FR" altLang="en-US" sz="1200">
                  <a:solidFill>
                    <a:srgbClr val="000000"/>
                  </a:solidFill>
                  <a:latin typeface="Trebuchet MS" panose="020B0603020202020204" pitchFamily="34" charset="0"/>
                  <a:sym typeface="Trebuchet MS" panose="020B0603020202020204" pitchFamily="34" charset="0"/>
                </a:rPr>
              </a:br>
              <a:r>
                <a:rPr lang="fr-FR" altLang="en-US" sz="1200">
                  <a:solidFill>
                    <a:srgbClr val="000000"/>
                  </a:solidFill>
                  <a:latin typeface="Trebuchet MS" panose="020B0603020202020204" pitchFamily="34" charset="0"/>
                  <a:sym typeface="Trebuchet MS" panose="020B0603020202020204" pitchFamily="34" charset="0"/>
                </a:rPr>
                <a:t>reward halved from 50BTC to 25BTC</a:t>
              </a:r>
            </a:p>
          </p:txBody>
        </p:sp>
        <p:cxnSp>
          <p:nvCxnSpPr>
            <p:cNvPr id="55304" name="Google Shape;377;p40">
              <a:extLst>
                <a:ext uri="{FF2B5EF4-FFF2-40B4-BE49-F238E27FC236}">
                  <a16:creationId xmlns:a16="http://schemas.microsoft.com/office/drawing/2014/main" id="{3764EFFC-2B32-F8EE-11F8-3A60A6475B0F}"/>
                </a:ext>
              </a:extLst>
            </p:cNvPr>
            <p:cNvCxnSpPr>
              <a:cxnSpLocks noChangeShapeType="1"/>
              <a:stCxn id="55303" idx="1"/>
            </p:cNvCxnSpPr>
            <p:nvPr/>
          </p:nvCxnSpPr>
          <p:spPr bwMode="auto">
            <a:xfrm rot="10800000">
              <a:off x="1600245" y="2876416"/>
              <a:ext cx="406800" cy="57300"/>
            </a:xfrm>
            <a:prstGeom prst="straightConnector1">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cxnSp>
        <p:nvCxnSpPr>
          <p:cNvPr id="55300" name="Google Shape;378;p40">
            <a:extLst>
              <a:ext uri="{FF2B5EF4-FFF2-40B4-BE49-F238E27FC236}">
                <a16:creationId xmlns:a16="http://schemas.microsoft.com/office/drawing/2014/main" id="{D25028B7-55B7-0CE4-19C5-851FFB963E6F}"/>
              </a:ext>
            </a:extLst>
          </p:cNvPr>
          <p:cNvCxnSpPr>
            <a:cxnSpLocks noChangeShapeType="1"/>
          </p:cNvCxnSpPr>
          <p:nvPr/>
        </p:nvCxnSpPr>
        <p:spPr bwMode="auto">
          <a:xfrm>
            <a:off x="4608513" y="2006600"/>
            <a:ext cx="649287" cy="0"/>
          </a:xfrm>
          <a:prstGeom prst="straightConnector1">
            <a:avLst/>
          </a:prstGeom>
          <a:noFill/>
          <a:ln w="2540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sp>
        <p:nvSpPr>
          <p:cNvPr id="55301" name="Google Shape;379;p40">
            <a:extLst>
              <a:ext uri="{FF2B5EF4-FFF2-40B4-BE49-F238E27FC236}">
                <a16:creationId xmlns:a16="http://schemas.microsoft.com/office/drawing/2014/main" id="{03D39D00-B5C1-BD7E-3FB0-C9CF65914920}"/>
              </a:ext>
            </a:extLst>
          </p:cNvPr>
          <p:cNvSpPr>
            <a:spLocks noChangeArrowheads="1"/>
          </p:cNvSpPr>
          <p:nvPr/>
        </p:nvSpPr>
        <p:spPr bwMode="auto">
          <a:xfrm>
            <a:off x="5257800" y="1698624"/>
            <a:ext cx="3581400"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
                <a:srgbClr val="000000"/>
              </a:buClr>
              <a:buFont typeface="Trebuchet MS" panose="020B0603020202020204" pitchFamily="34" charset="0"/>
              <a:buNone/>
            </a:pPr>
            <a:r>
              <a:rPr lang="fr-FR" altLang="en-US" sz="2400" dirty="0">
                <a:solidFill>
                  <a:srgbClr val="000000"/>
                </a:solidFill>
                <a:latin typeface="Trebuchet MS" panose="020B0603020202020204" pitchFamily="34" charset="0"/>
                <a:sym typeface="Trebuchet MS" panose="020B0603020202020204" pitchFamily="34" charset="0"/>
              </a:rPr>
              <a:t>Total </a:t>
            </a:r>
            <a:r>
              <a:rPr lang="fr-FR" altLang="en-US" sz="2400" dirty="0" err="1">
                <a:solidFill>
                  <a:srgbClr val="000000"/>
                </a:solidFill>
                <a:latin typeface="Trebuchet MS" panose="020B0603020202020204" pitchFamily="34" charset="0"/>
                <a:sym typeface="Trebuchet MS" panose="020B0603020202020204" pitchFamily="34" charset="0"/>
              </a:rPr>
              <a:t>supply</a:t>
            </a:r>
            <a:r>
              <a:rPr lang="fr-FR" altLang="en-US" sz="2400" dirty="0">
                <a:solidFill>
                  <a:srgbClr val="000000"/>
                </a:solidFill>
                <a:latin typeface="Trebuchet MS" panose="020B0603020202020204" pitchFamily="34" charset="0"/>
                <a:sym typeface="Trebuchet MS" panose="020B0603020202020204" pitchFamily="34" charset="0"/>
              </a:rPr>
              <a:t>: 21 millions</a:t>
            </a:r>
            <a:endParaRPr lang="fr-FR" altLang="en-US" sz="1400" dirty="0">
              <a:solidFill>
                <a:srgbClr val="000000"/>
              </a:solidFill>
              <a:cs typeface="Arial" panose="020B0604020202020204" pitchFamily="34" charset="0"/>
              <a:sym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Google Shape;384;p41">
            <a:extLst>
              <a:ext uri="{FF2B5EF4-FFF2-40B4-BE49-F238E27FC236}">
                <a16:creationId xmlns:a16="http://schemas.microsoft.com/office/drawing/2014/main" id="{65D74C8C-0DE4-D5F7-DDBC-382D0C3E4C40}"/>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Incentive 2: transaction fees</a:t>
            </a:r>
          </a:p>
        </p:txBody>
      </p:sp>
      <p:sp>
        <p:nvSpPr>
          <p:cNvPr id="57346" name="Google Shape;385;p41">
            <a:extLst>
              <a:ext uri="{FF2B5EF4-FFF2-40B4-BE49-F238E27FC236}">
                <a16:creationId xmlns:a16="http://schemas.microsoft.com/office/drawing/2014/main" id="{DF4C5ADF-4CA4-565E-D593-861A17B56064}"/>
              </a:ext>
            </a:extLst>
          </p:cNvPr>
          <p:cNvSpPr>
            <a:spLocks noGrp="1" noChangeArrowheads="1"/>
          </p:cNvSpPr>
          <p:nvPr>
            <p:ph type="body" idx="1"/>
          </p:nvPr>
        </p:nvSpPr>
        <p:spPr>
          <a:xfrm>
            <a:off x="457200" y="1600200"/>
            <a:ext cx="8229600" cy="4967288"/>
          </a:xfrm>
        </p:spPr>
        <p:txBody>
          <a:bodyPr/>
          <a:lstStyle/>
          <a:p>
            <a:pPr marL="0" indent="0">
              <a:spcBef>
                <a:spcPct val="0"/>
              </a:spcBef>
              <a:spcAft>
                <a:spcPct val="0"/>
              </a:spcAft>
              <a:buClr>
                <a:srgbClr val="000000"/>
              </a:buClr>
              <a:buSzTx/>
              <a:buFont typeface="Trebuchet MS" panose="020B0603020202020204" pitchFamily="34" charset="0"/>
              <a:buNone/>
            </a:pPr>
            <a:r>
              <a:rPr lang="fr-FR" altLang="en-US" dirty="0">
                <a:solidFill>
                  <a:srgbClr val="000000"/>
                </a:solidFill>
                <a:latin typeface="Trebuchet MS" panose="020B0603020202020204" pitchFamily="34" charset="0"/>
                <a:sym typeface="Trebuchet MS" panose="020B0603020202020204" pitchFamily="34" charset="0"/>
              </a:rPr>
              <a:t>Creator of transaction can </a:t>
            </a:r>
            <a:r>
              <a:rPr lang="fr-FR" altLang="en-US" dirty="0" err="1">
                <a:solidFill>
                  <a:srgbClr val="000000"/>
                </a:solidFill>
                <a:latin typeface="Trebuchet MS" panose="020B0603020202020204" pitchFamily="34" charset="0"/>
                <a:sym typeface="Trebuchet MS" panose="020B0603020202020204" pitchFamily="34" charset="0"/>
              </a:rPr>
              <a:t>choose</a:t>
            </a:r>
            <a:r>
              <a:rPr lang="fr-FR" altLang="en-US" dirty="0">
                <a:solidFill>
                  <a:srgbClr val="000000"/>
                </a:solidFill>
                <a:latin typeface="Trebuchet MS" panose="020B0603020202020204" pitchFamily="34" charset="0"/>
                <a:sym typeface="Trebuchet MS" panose="020B0603020202020204" pitchFamily="34" charset="0"/>
              </a:rPr>
              <a:t> to </a:t>
            </a:r>
            <a:r>
              <a:rPr lang="fr-FR" altLang="en-US" dirty="0" err="1">
                <a:solidFill>
                  <a:srgbClr val="000000"/>
                </a:solidFill>
                <a:latin typeface="Trebuchet MS" panose="020B0603020202020204" pitchFamily="34" charset="0"/>
                <a:sym typeface="Trebuchet MS" panose="020B0603020202020204" pitchFamily="34" charset="0"/>
              </a:rPr>
              <a:t>make</a:t>
            </a:r>
            <a:r>
              <a:rPr lang="fr-FR" altLang="en-US" dirty="0">
                <a:solidFill>
                  <a:srgbClr val="000000"/>
                </a:solidFill>
                <a:latin typeface="Trebuchet MS" panose="020B0603020202020204" pitchFamily="34" charset="0"/>
                <a:sym typeface="Trebuchet MS" panose="020B0603020202020204" pitchFamily="34" charset="0"/>
              </a:rPr>
              <a:t> </a:t>
            </a:r>
            <a:endParaRPr lang="fr-FR" altLang="en-US" sz="3600" dirty="0"/>
          </a:p>
          <a:p>
            <a:pPr marL="0" indent="0">
              <a:spcBef>
                <a:spcPct val="0"/>
              </a:spcBef>
              <a:spcAft>
                <a:spcPct val="0"/>
              </a:spcAft>
              <a:buClr>
                <a:srgbClr val="000000"/>
              </a:buClr>
              <a:buSzTx/>
              <a:buFont typeface="Trebuchet MS" panose="020B0603020202020204" pitchFamily="34" charset="0"/>
              <a:buNone/>
            </a:pPr>
            <a:r>
              <a:rPr lang="fr-FR" altLang="en-US" dirty="0">
                <a:solidFill>
                  <a:srgbClr val="000000"/>
                </a:solidFill>
                <a:latin typeface="Trebuchet MS" panose="020B0603020202020204" pitchFamily="34" charset="0"/>
                <a:sym typeface="Trebuchet MS" panose="020B0603020202020204" pitchFamily="34" charset="0"/>
              </a:rPr>
              <a:t>output value </a:t>
            </a:r>
            <a:r>
              <a:rPr lang="fr-FR" altLang="en-US" dirty="0" err="1">
                <a:solidFill>
                  <a:srgbClr val="000000"/>
                </a:solidFill>
                <a:latin typeface="Trebuchet MS" panose="020B0603020202020204" pitchFamily="34" charset="0"/>
                <a:sym typeface="Trebuchet MS" panose="020B0603020202020204" pitchFamily="34" charset="0"/>
              </a:rPr>
              <a:t>less</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than</a:t>
            </a:r>
            <a:r>
              <a:rPr lang="fr-FR" altLang="en-US" dirty="0">
                <a:solidFill>
                  <a:srgbClr val="000000"/>
                </a:solidFill>
                <a:latin typeface="Trebuchet MS" panose="020B0603020202020204" pitchFamily="34" charset="0"/>
                <a:sym typeface="Trebuchet MS" panose="020B0603020202020204" pitchFamily="34" charset="0"/>
              </a:rPr>
              <a:t> input value</a:t>
            </a:r>
          </a:p>
          <a:p>
            <a:pPr marL="0" indent="0">
              <a:spcBef>
                <a:spcPct val="0"/>
              </a:spcBef>
              <a:spcAft>
                <a:spcPct val="0"/>
              </a:spcAft>
              <a:buClr>
                <a:srgbClr val="000000"/>
              </a:buClr>
              <a:buSzTx/>
              <a:buFont typeface="Trebuchet MS" panose="020B0603020202020204" pitchFamily="34" charset="0"/>
              <a:buNone/>
            </a:pPr>
            <a:endParaRPr lang="fr-FR" altLang="en-US"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dirty="0" err="1">
                <a:solidFill>
                  <a:srgbClr val="000000"/>
                </a:solidFill>
                <a:latin typeface="Trebuchet MS" panose="020B0603020202020204" pitchFamily="34" charset="0"/>
                <a:sym typeface="Trebuchet MS" panose="020B0603020202020204" pitchFamily="34" charset="0"/>
              </a:rPr>
              <a:t>Remainder</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is</a:t>
            </a:r>
            <a:r>
              <a:rPr lang="fr-FR" altLang="en-US" dirty="0">
                <a:solidFill>
                  <a:srgbClr val="000000"/>
                </a:solidFill>
                <a:latin typeface="Trebuchet MS" panose="020B0603020202020204" pitchFamily="34" charset="0"/>
                <a:sym typeface="Trebuchet MS" panose="020B0603020202020204" pitchFamily="34" charset="0"/>
              </a:rPr>
              <a:t> a transaction </a:t>
            </a:r>
            <a:r>
              <a:rPr lang="fr-FR" altLang="en-US" dirty="0" err="1">
                <a:solidFill>
                  <a:srgbClr val="000000"/>
                </a:solidFill>
                <a:latin typeface="Trebuchet MS" panose="020B0603020202020204" pitchFamily="34" charset="0"/>
                <a:sym typeface="Trebuchet MS" panose="020B0603020202020204" pitchFamily="34" charset="0"/>
              </a:rPr>
              <a:t>fee</a:t>
            </a:r>
            <a:r>
              <a:rPr lang="fr-FR" altLang="en-US" dirty="0">
                <a:solidFill>
                  <a:srgbClr val="000000"/>
                </a:solidFill>
                <a:latin typeface="Trebuchet MS" panose="020B0603020202020204" pitchFamily="34" charset="0"/>
                <a:sym typeface="Trebuchet MS" panose="020B0603020202020204" pitchFamily="34" charset="0"/>
              </a:rPr>
              <a:t> and </a:t>
            </a:r>
            <a:r>
              <a:rPr lang="fr-FR" altLang="en-US" dirty="0" err="1">
                <a:solidFill>
                  <a:srgbClr val="000000"/>
                </a:solidFill>
                <a:latin typeface="Trebuchet MS" panose="020B0603020202020204" pitchFamily="34" charset="0"/>
                <a:sym typeface="Trebuchet MS" panose="020B0603020202020204" pitchFamily="34" charset="0"/>
              </a:rPr>
              <a:t>goes</a:t>
            </a:r>
            <a:r>
              <a:rPr lang="fr-FR" altLang="en-US" dirty="0">
                <a:solidFill>
                  <a:srgbClr val="000000"/>
                </a:solidFill>
                <a:latin typeface="Trebuchet MS" panose="020B0603020202020204" pitchFamily="34" charset="0"/>
                <a:sym typeface="Trebuchet MS" panose="020B0603020202020204" pitchFamily="34" charset="0"/>
              </a:rPr>
              <a:t> to block </a:t>
            </a:r>
            <a:r>
              <a:rPr lang="fr-FR" altLang="en-US" dirty="0" err="1">
                <a:solidFill>
                  <a:srgbClr val="000000"/>
                </a:solidFill>
                <a:latin typeface="Trebuchet MS" panose="020B0603020202020204" pitchFamily="34" charset="0"/>
                <a:sym typeface="Trebuchet MS" panose="020B0603020202020204" pitchFamily="34" charset="0"/>
              </a:rPr>
              <a:t>creator</a:t>
            </a:r>
            <a:endParaRPr lang="fr-FR" altLang="en-US" sz="3600" dirty="0"/>
          </a:p>
          <a:p>
            <a:pPr marL="0" indent="0">
              <a:spcBef>
                <a:spcPct val="0"/>
              </a:spcBef>
              <a:spcAft>
                <a:spcPct val="0"/>
              </a:spcAft>
              <a:buClr>
                <a:srgbClr val="000000"/>
              </a:buClr>
              <a:buSzTx/>
              <a:buFont typeface="Trebuchet MS" panose="020B0603020202020204" pitchFamily="34" charset="0"/>
              <a:buNone/>
            </a:pPr>
            <a:endParaRPr lang="fr-FR" altLang="en-US"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dirty="0" err="1">
                <a:solidFill>
                  <a:srgbClr val="000000"/>
                </a:solidFill>
                <a:latin typeface="Trebuchet MS" panose="020B0603020202020204" pitchFamily="34" charset="0"/>
                <a:sym typeface="Trebuchet MS" panose="020B0603020202020204" pitchFamily="34" charset="0"/>
              </a:rPr>
              <a:t>Purely</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voluntary</a:t>
            </a:r>
            <a:r>
              <a:rPr lang="fr-FR" altLang="en-US" dirty="0">
                <a:solidFill>
                  <a:srgbClr val="000000"/>
                </a:solidFill>
                <a:latin typeface="Trebuchet MS" panose="020B0603020202020204" pitchFamily="34" charset="0"/>
                <a:sym typeface="Trebuchet MS" panose="020B0603020202020204" pitchFamily="34" charset="0"/>
              </a:rPr>
              <a:t>, like a tip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re 1">
            <a:extLst>
              <a:ext uri="{FF2B5EF4-FFF2-40B4-BE49-F238E27FC236}">
                <a16:creationId xmlns:a16="http://schemas.microsoft.com/office/drawing/2014/main" id="{9738ECC3-C0AC-EBAD-2697-C168B70D5FD9}"/>
              </a:ext>
            </a:extLst>
          </p:cNvPr>
          <p:cNvSpPr>
            <a:spLocks noGrp="1" noChangeArrowheads="1"/>
          </p:cNvSpPr>
          <p:nvPr>
            <p:ph type="title"/>
          </p:nvPr>
        </p:nvSpPr>
        <p:spPr/>
        <p:txBody>
          <a:bodyPr/>
          <a:lstStyle/>
          <a:p>
            <a:r>
              <a:rPr lang="fr-FR" altLang="en-US"/>
              <a:t>Roadmap </a:t>
            </a:r>
          </a:p>
        </p:txBody>
      </p:sp>
      <p:sp>
        <p:nvSpPr>
          <p:cNvPr id="3" name="Espace réservé du contenu 2">
            <a:extLst>
              <a:ext uri="{FF2B5EF4-FFF2-40B4-BE49-F238E27FC236}">
                <a16:creationId xmlns:a16="http://schemas.microsoft.com/office/drawing/2014/main" id="{54DB1D72-CFA6-A7B8-100E-748589D7E3AF}"/>
              </a:ext>
            </a:extLst>
          </p:cNvPr>
          <p:cNvSpPr>
            <a:spLocks noGrp="1"/>
          </p:cNvSpPr>
          <p:nvPr>
            <p:ph idx="1"/>
          </p:nvPr>
        </p:nvSpPr>
        <p:spPr/>
        <p:txBody>
          <a:bodyPr/>
          <a:lstStyle/>
          <a:p>
            <a:pPr>
              <a:defRPr/>
            </a:pPr>
            <a:r>
              <a:rPr lang="fr-FR" sz="2800" dirty="0" err="1">
                <a:solidFill>
                  <a:schemeClr val="bg1">
                    <a:lumMod val="75000"/>
                  </a:schemeClr>
                </a:solidFill>
              </a:rPr>
              <a:t>Centralized</a:t>
            </a:r>
            <a:r>
              <a:rPr lang="fr-FR" sz="2800" dirty="0">
                <a:solidFill>
                  <a:schemeClr val="bg1">
                    <a:lumMod val="75000"/>
                  </a:schemeClr>
                </a:solidFill>
              </a:rPr>
              <a:t> and </a:t>
            </a:r>
            <a:r>
              <a:rPr lang="fr-FR" sz="2800" dirty="0" err="1">
                <a:solidFill>
                  <a:schemeClr val="bg1">
                    <a:lumMod val="75000"/>
                  </a:schemeClr>
                </a:solidFill>
              </a:rPr>
              <a:t>decentralized</a:t>
            </a:r>
            <a:r>
              <a:rPr lang="fr-FR" sz="2800" dirty="0">
                <a:solidFill>
                  <a:schemeClr val="bg1">
                    <a:lumMod val="75000"/>
                  </a:schemeClr>
                </a:solidFill>
              </a:rPr>
              <a:t> </a:t>
            </a:r>
            <a:r>
              <a:rPr lang="fr-FR" sz="2800" dirty="0" err="1">
                <a:solidFill>
                  <a:schemeClr val="bg1">
                    <a:lumMod val="75000"/>
                  </a:schemeClr>
                </a:solidFill>
              </a:rPr>
              <a:t>systems</a:t>
            </a:r>
            <a:endParaRPr lang="fr-FR" sz="2800" dirty="0">
              <a:solidFill>
                <a:schemeClr val="bg1">
                  <a:lumMod val="75000"/>
                </a:schemeClr>
              </a:solidFill>
            </a:endParaRPr>
          </a:p>
          <a:p>
            <a:pPr>
              <a:defRPr/>
            </a:pPr>
            <a:r>
              <a:rPr lang="fr-FR" sz="2800" dirty="0" err="1">
                <a:solidFill>
                  <a:schemeClr val="bg1">
                    <a:lumMod val="75000"/>
                  </a:schemeClr>
                </a:solidFill>
              </a:rPr>
              <a:t>Distributed</a:t>
            </a:r>
            <a:r>
              <a:rPr lang="fr-FR" sz="2800" dirty="0">
                <a:solidFill>
                  <a:schemeClr val="bg1">
                    <a:lumMod val="75000"/>
                  </a:schemeClr>
                </a:solidFill>
              </a:rPr>
              <a:t> Consensus</a:t>
            </a:r>
          </a:p>
          <a:p>
            <a:pPr>
              <a:defRPr/>
            </a:pPr>
            <a:r>
              <a:rPr lang="fr-FR" sz="2800" dirty="0">
                <a:solidFill>
                  <a:schemeClr val="bg1">
                    <a:lumMod val="75000"/>
                  </a:schemeClr>
                </a:solidFill>
              </a:rPr>
              <a:t>Consensus </a:t>
            </a:r>
            <a:r>
              <a:rPr lang="fr-FR" sz="2800" dirty="0" err="1">
                <a:solidFill>
                  <a:schemeClr val="bg1">
                    <a:lumMod val="75000"/>
                  </a:schemeClr>
                </a:solidFill>
              </a:rPr>
              <a:t>problem</a:t>
            </a:r>
            <a:r>
              <a:rPr lang="fr-FR" sz="2800" dirty="0">
                <a:solidFill>
                  <a:schemeClr val="bg1">
                    <a:lumMod val="75000"/>
                  </a:schemeClr>
                </a:solidFill>
              </a:rPr>
              <a:t> in </a:t>
            </a:r>
            <a:r>
              <a:rPr lang="fr-FR" sz="2800" dirty="0" err="1">
                <a:solidFill>
                  <a:schemeClr val="bg1">
                    <a:lumMod val="75000"/>
                  </a:schemeClr>
                </a:solidFill>
              </a:rPr>
              <a:t>Bitcoin</a:t>
            </a:r>
            <a:endParaRPr lang="fr-FR" sz="2800" dirty="0">
              <a:solidFill>
                <a:schemeClr val="bg1">
                  <a:lumMod val="75000"/>
                </a:schemeClr>
              </a:solidFill>
            </a:endParaRPr>
          </a:p>
          <a:p>
            <a:pPr>
              <a:defRPr/>
            </a:pPr>
            <a:r>
              <a:rPr lang="fr-FR" sz="2800" dirty="0" err="1">
                <a:solidFill>
                  <a:srgbClr val="FF0000"/>
                </a:solidFill>
              </a:rPr>
              <a:t>Bitcoin</a:t>
            </a:r>
            <a:r>
              <a:rPr lang="fr-FR" sz="2800" dirty="0">
                <a:solidFill>
                  <a:srgbClr val="FF0000"/>
                </a:solidFill>
              </a:rPr>
              <a:t> Consensus </a:t>
            </a:r>
            <a:r>
              <a:rPr lang="fr-FR" sz="2800" dirty="0" err="1">
                <a:solidFill>
                  <a:srgbClr val="FF0000"/>
                </a:solidFill>
              </a:rPr>
              <a:t>Algorithm</a:t>
            </a:r>
            <a:endParaRPr lang="fr-FR" sz="2800" dirty="0">
              <a:solidFill>
                <a:srgbClr val="FF0000"/>
              </a:solidFill>
            </a:endParaRPr>
          </a:p>
          <a:p>
            <a:pPr lvl="1">
              <a:defRPr/>
            </a:pPr>
            <a:r>
              <a:rPr lang="fr-FR" sz="2400" dirty="0" err="1">
                <a:solidFill>
                  <a:srgbClr val="FF0000"/>
                </a:solidFill>
              </a:rPr>
              <a:t>Incentives</a:t>
            </a:r>
            <a:r>
              <a:rPr lang="fr-FR" sz="2400" dirty="0">
                <a:solidFill>
                  <a:srgbClr val="FF0000"/>
                </a:solidFill>
              </a:rPr>
              <a:t> for </a:t>
            </a:r>
            <a:r>
              <a:rPr lang="fr-FR" sz="2400" dirty="0" err="1">
                <a:solidFill>
                  <a:srgbClr val="FF0000"/>
                </a:solidFill>
              </a:rPr>
              <a:t>miners</a:t>
            </a:r>
            <a:r>
              <a:rPr lang="fr-FR" sz="2400" dirty="0">
                <a:solidFill>
                  <a:srgbClr val="FF0000"/>
                </a:solidFill>
              </a:rPr>
              <a:t>, Proof of </a:t>
            </a:r>
            <a:r>
              <a:rPr lang="fr-FR" sz="2400" dirty="0" err="1">
                <a:solidFill>
                  <a:srgbClr val="FF0000"/>
                </a:solidFill>
              </a:rPr>
              <a:t>work</a:t>
            </a:r>
            <a:r>
              <a:rPr lang="fr-FR" sz="2400" dirty="0">
                <a:solidFill>
                  <a:srgbClr val="FF0000"/>
                </a:solidFill>
              </a:rPr>
              <a:t>, </a:t>
            </a:r>
            <a:r>
              <a:rPr lang="fr-FR" sz="2400" dirty="0">
                <a:solidFill>
                  <a:schemeClr val="bg1">
                    <a:lumMod val="75000"/>
                  </a:schemeClr>
                </a:solidFill>
              </a:rPr>
              <a:t>Limitations</a:t>
            </a:r>
          </a:p>
        </p:txBody>
      </p:sp>
      <p:sp>
        <p:nvSpPr>
          <p:cNvPr id="2" name="Slide Number Placeholder 1">
            <a:extLst>
              <a:ext uri="{FF2B5EF4-FFF2-40B4-BE49-F238E27FC236}">
                <a16:creationId xmlns:a16="http://schemas.microsoft.com/office/drawing/2014/main" id="{979F1F0C-655A-5BC9-148D-3A08E902324B}"/>
              </a:ext>
            </a:extLst>
          </p:cNvPr>
          <p:cNvSpPr>
            <a:spLocks noGrp="1"/>
          </p:cNvSpPr>
          <p:nvPr>
            <p:ph type="sldNum" sz="quarter" idx="12"/>
          </p:nvPr>
        </p:nvSpPr>
        <p:spPr/>
        <p:txBody>
          <a:bodyPr/>
          <a:lstStyle/>
          <a:p>
            <a:fld id="{54AFB715-9BAA-466F-BD26-510BF652CDA2}" type="slidenum">
              <a:rPr lang="en-US" altLang="en-US" smtClean="0"/>
              <a:pPr/>
              <a:t>27</a:t>
            </a:fld>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Google Shape;396;p43">
            <a:extLst>
              <a:ext uri="{FF2B5EF4-FFF2-40B4-BE49-F238E27FC236}">
                <a16:creationId xmlns:a16="http://schemas.microsoft.com/office/drawing/2014/main" id="{86D1F74C-FDDB-DF57-DD17-6ADF090ACE27}"/>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Proof of work</a:t>
            </a:r>
          </a:p>
        </p:txBody>
      </p:sp>
      <p:sp>
        <p:nvSpPr>
          <p:cNvPr id="60418" name="Google Shape;397;p43">
            <a:extLst>
              <a:ext uri="{FF2B5EF4-FFF2-40B4-BE49-F238E27FC236}">
                <a16:creationId xmlns:a16="http://schemas.microsoft.com/office/drawing/2014/main" id="{CA13A1D2-BBB5-9502-10C3-E4D74DFFCFE0}"/>
              </a:ext>
            </a:extLst>
          </p:cNvPr>
          <p:cNvSpPr>
            <a:spLocks noGrp="1" noChangeArrowheads="1"/>
          </p:cNvSpPr>
          <p:nvPr>
            <p:ph type="body" idx="1"/>
          </p:nvPr>
        </p:nvSpPr>
        <p:spPr>
          <a:xfrm>
            <a:off x="457200" y="1600200"/>
            <a:ext cx="8534400" cy="4343400"/>
          </a:xfrm>
        </p:spPr>
        <p:txBody>
          <a:bodyPr/>
          <a:lstStyle/>
          <a:p>
            <a:pPr marL="0" indent="0">
              <a:spcBef>
                <a:spcPct val="0"/>
              </a:spcBef>
              <a:spcAft>
                <a:spcPct val="0"/>
              </a:spcAft>
              <a:buClr>
                <a:srgbClr val="000000"/>
              </a:buClr>
              <a:buSzTx/>
              <a:buFont typeface="Trebuchet MS" panose="020B0603020202020204" pitchFamily="34" charset="0"/>
              <a:buNone/>
            </a:pPr>
            <a:endParaRPr lang="fr-FR" altLang="en-US"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dirty="0">
                <a:solidFill>
                  <a:srgbClr val="000000"/>
                </a:solidFill>
                <a:latin typeface="Trebuchet MS" panose="020B0603020202020204" pitchFamily="34" charset="0"/>
                <a:sym typeface="Trebuchet MS" panose="020B0603020202020204" pitchFamily="34" charset="0"/>
              </a:rPr>
              <a:t>To </a:t>
            </a:r>
            <a:r>
              <a:rPr lang="fr-FR" altLang="en-US" dirty="0" err="1">
                <a:solidFill>
                  <a:srgbClr val="000000"/>
                </a:solidFill>
                <a:latin typeface="Trebuchet MS" panose="020B0603020202020204" pitchFamily="34" charset="0"/>
                <a:sym typeface="Trebuchet MS" panose="020B0603020202020204" pitchFamily="34" charset="0"/>
              </a:rPr>
              <a:t>approximate</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selecting</a:t>
            </a:r>
            <a:r>
              <a:rPr lang="fr-FR" altLang="en-US" dirty="0">
                <a:solidFill>
                  <a:srgbClr val="000000"/>
                </a:solidFill>
                <a:latin typeface="Trebuchet MS" panose="020B0603020202020204" pitchFamily="34" charset="0"/>
                <a:sym typeface="Trebuchet MS" panose="020B0603020202020204" pitchFamily="34" charset="0"/>
              </a:rPr>
              <a:t> a </a:t>
            </a:r>
            <a:r>
              <a:rPr lang="fr-FR" altLang="en-US" dirty="0" err="1">
                <a:solidFill>
                  <a:srgbClr val="000000"/>
                </a:solidFill>
                <a:latin typeface="Trebuchet MS" panose="020B0603020202020204" pitchFamily="34" charset="0"/>
                <a:sym typeface="Trebuchet MS" panose="020B0603020202020204" pitchFamily="34" charset="0"/>
              </a:rPr>
              <a:t>random</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node</a:t>
            </a:r>
            <a:r>
              <a:rPr lang="fr-FR" altLang="en-US" dirty="0">
                <a:solidFill>
                  <a:srgbClr val="000000"/>
                </a:solidFill>
                <a:latin typeface="Trebuchet MS" panose="020B0603020202020204" pitchFamily="34" charset="0"/>
                <a:sym typeface="Trebuchet MS" panose="020B0603020202020204" pitchFamily="34" charset="0"/>
              </a:rPr>
              <a:t>: </a:t>
            </a:r>
            <a:endParaRPr lang="fr-FR" altLang="en-US" sz="3600" dirty="0"/>
          </a:p>
          <a:p>
            <a:pPr marL="0" indent="0">
              <a:spcBef>
                <a:spcPct val="0"/>
              </a:spcBef>
              <a:spcAft>
                <a:spcPct val="0"/>
              </a:spcAft>
              <a:buClr>
                <a:srgbClr val="FFFFFF"/>
              </a:buClr>
              <a:buSzTx/>
              <a:buFont typeface="Trebuchet MS" panose="020B0603020202020204" pitchFamily="34" charset="0"/>
              <a:buNone/>
            </a:pPr>
            <a:r>
              <a:rPr lang="fr-FR" altLang="en-US" dirty="0">
                <a:solidFill>
                  <a:srgbClr val="000000"/>
                </a:solidFill>
                <a:latin typeface="Trebuchet MS" panose="020B0603020202020204" pitchFamily="34" charset="0"/>
                <a:sym typeface="Trebuchet MS" panose="020B0603020202020204" pitchFamily="34" charset="0"/>
              </a:rPr>
              <a:t>	select </a:t>
            </a:r>
            <a:r>
              <a:rPr lang="fr-FR" altLang="en-US" dirty="0" err="1">
                <a:solidFill>
                  <a:srgbClr val="000000"/>
                </a:solidFill>
                <a:latin typeface="Trebuchet MS" panose="020B0603020202020204" pitchFamily="34" charset="0"/>
                <a:sym typeface="Trebuchet MS" panose="020B0603020202020204" pitchFamily="34" charset="0"/>
              </a:rPr>
              <a:t>nodes</a:t>
            </a:r>
            <a:r>
              <a:rPr lang="fr-FR" altLang="en-US" dirty="0">
                <a:solidFill>
                  <a:srgbClr val="000000"/>
                </a:solidFill>
                <a:latin typeface="Trebuchet MS" panose="020B0603020202020204" pitchFamily="34" charset="0"/>
                <a:sym typeface="Trebuchet MS" panose="020B0603020202020204" pitchFamily="34" charset="0"/>
              </a:rPr>
              <a:t> in proportion to a </a:t>
            </a:r>
            <a:r>
              <a:rPr lang="fr-FR" altLang="en-US" dirty="0" err="1">
                <a:solidFill>
                  <a:srgbClr val="000000"/>
                </a:solidFill>
                <a:latin typeface="Trebuchet MS" panose="020B0603020202020204" pitchFamily="34" charset="0"/>
                <a:sym typeface="Trebuchet MS" panose="020B0603020202020204" pitchFamily="34" charset="0"/>
              </a:rPr>
              <a:t>resource</a:t>
            </a:r>
            <a:r>
              <a:rPr lang="fr-FR" altLang="en-US" dirty="0">
                <a:solidFill>
                  <a:srgbClr val="000000"/>
                </a:solidFill>
                <a:latin typeface="Trebuchet MS" panose="020B0603020202020204" pitchFamily="34" charset="0"/>
                <a:sym typeface="Trebuchet MS" panose="020B0603020202020204" pitchFamily="34" charset="0"/>
              </a:rPr>
              <a:t> </a:t>
            </a:r>
            <a:br>
              <a:rPr lang="fr-FR" altLang="en-US" dirty="0">
                <a:solidFill>
                  <a:srgbClr val="000000"/>
                </a:solidFill>
                <a:latin typeface="Trebuchet MS" panose="020B0603020202020204" pitchFamily="34" charset="0"/>
                <a:sym typeface="Trebuchet MS" panose="020B0603020202020204" pitchFamily="34" charset="0"/>
              </a:rPr>
            </a:b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that</a:t>
            </a:r>
            <a:r>
              <a:rPr lang="fr-FR" altLang="en-US" dirty="0">
                <a:solidFill>
                  <a:srgbClr val="000000"/>
                </a:solidFill>
                <a:latin typeface="Trebuchet MS" panose="020B0603020202020204" pitchFamily="34" charset="0"/>
                <a:sym typeface="Trebuchet MS" panose="020B0603020202020204" pitchFamily="34" charset="0"/>
              </a:rPr>
              <a:t> no one can </a:t>
            </a:r>
            <a:r>
              <a:rPr lang="fr-FR" altLang="en-US" dirty="0" err="1">
                <a:solidFill>
                  <a:srgbClr val="000000"/>
                </a:solidFill>
                <a:latin typeface="Trebuchet MS" panose="020B0603020202020204" pitchFamily="34" charset="0"/>
                <a:sym typeface="Trebuchet MS" panose="020B0603020202020204" pitchFamily="34" charset="0"/>
              </a:rPr>
              <a:t>monopolize</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we</a:t>
            </a:r>
            <a:r>
              <a:rPr lang="fr-FR" altLang="en-US" dirty="0">
                <a:solidFill>
                  <a:srgbClr val="000000"/>
                </a:solidFill>
                <a:latin typeface="Trebuchet MS" panose="020B0603020202020204" pitchFamily="34" charset="0"/>
                <a:sym typeface="Trebuchet MS" panose="020B0603020202020204" pitchFamily="34" charset="0"/>
              </a:rPr>
              <a:t> </a:t>
            </a:r>
            <a:r>
              <a:rPr lang="fr-FR" altLang="en-US" dirty="0" err="1">
                <a:solidFill>
                  <a:srgbClr val="000000"/>
                </a:solidFill>
                <a:latin typeface="Trebuchet MS" panose="020B0603020202020204" pitchFamily="34" charset="0"/>
                <a:sym typeface="Trebuchet MS" panose="020B0603020202020204" pitchFamily="34" charset="0"/>
              </a:rPr>
              <a:t>hope</a:t>
            </a:r>
            <a:r>
              <a:rPr lang="fr-FR" altLang="en-US" dirty="0">
                <a:solidFill>
                  <a:srgbClr val="000000"/>
                </a:solidFill>
                <a:latin typeface="Trebuchet MS" panose="020B0603020202020204" pitchFamily="34" charset="0"/>
                <a:sym typeface="Trebuchet MS" panose="020B0603020202020204" pitchFamily="34" charset="0"/>
              </a:rPr>
              <a:t>)</a:t>
            </a:r>
            <a:endParaRPr lang="fr-FR" altLang="en-US" sz="3600" dirty="0"/>
          </a:p>
          <a:p>
            <a:pPr marL="0" indent="0">
              <a:spcBef>
                <a:spcPct val="0"/>
              </a:spcBef>
              <a:spcAft>
                <a:spcPct val="0"/>
              </a:spcAft>
              <a:buClr>
                <a:srgbClr val="000000"/>
              </a:buClr>
              <a:buSzTx/>
              <a:buFont typeface="Trebuchet MS" panose="020B0603020202020204" pitchFamily="34" charset="0"/>
              <a:buNone/>
            </a:pPr>
            <a:endParaRPr lang="fr-FR" altLang="en-US"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Tx/>
              <a:buChar char="•"/>
            </a:pPr>
            <a:r>
              <a:rPr lang="fr-FR" altLang="en-US" dirty="0">
                <a:solidFill>
                  <a:srgbClr val="000000"/>
                </a:solidFill>
                <a:latin typeface="Trebuchet MS" panose="020B0603020202020204" pitchFamily="34" charset="0"/>
                <a:sym typeface="Trebuchet MS" panose="020B0603020202020204" pitchFamily="34" charset="0"/>
              </a:rPr>
              <a:t>In proportion to </a:t>
            </a:r>
            <a:r>
              <a:rPr lang="fr-FR" altLang="en-US" dirty="0" err="1">
                <a:solidFill>
                  <a:srgbClr val="000000"/>
                </a:solidFill>
                <a:latin typeface="Trebuchet MS" panose="020B0603020202020204" pitchFamily="34" charset="0"/>
                <a:sym typeface="Trebuchet MS" panose="020B0603020202020204" pitchFamily="34" charset="0"/>
              </a:rPr>
              <a:t>computing</a:t>
            </a:r>
            <a:r>
              <a:rPr lang="fr-FR" altLang="en-US" dirty="0">
                <a:solidFill>
                  <a:srgbClr val="000000"/>
                </a:solidFill>
                <a:latin typeface="Trebuchet MS" panose="020B0603020202020204" pitchFamily="34" charset="0"/>
                <a:sym typeface="Trebuchet MS" panose="020B0603020202020204" pitchFamily="34" charset="0"/>
              </a:rPr>
              <a:t> power: proof-of-</a:t>
            </a:r>
            <a:r>
              <a:rPr lang="fr-FR" altLang="en-US" dirty="0" err="1">
                <a:solidFill>
                  <a:srgbClr val="000000"/>
                </a:solidFill>
                <a:latin typeface="Trebuchet MS" panose="020B0603020202020204" pitchFamily="34" charset="0"/>
                <a:sym typeface="Trebuchet MS" panose="020B0603020202020204" pitchFamily="34" charset="0"/>
              </a:rPr>
              <a:t>work</a:t>
            </a:r>
            <a:endParaRPr lang="fr-FR" altLang="en-US" sz="3600" dirty="0"/>
          </a:p>
          <a:p>
            <a:pPr marL="0" indent="0">
              <a:spcBef>
                <a:spcPct val="0"/>
              </a:spcBef>
              <a:spcAft>
                <a:spcPct val="0"/>
              </a:spcAft>
              <a:buClr>
                <a:srgbClr val="000000"/>
              </a:buClr>
              <a:buSzTx/>
              <a:buFontTx/>
              <a:buChar char="•"/>
            </a:pPr>
            <a:r>
              <a:rPr lang="fr-FR" altLang="en-US" dirty="0">
                <a:solidFill>
                  <a:srgbClr val="000000"/>
                </a:solidFill>
                <a:latin typeface="Trebuchet MS" panose="020B0603020202020204" pitchFamily="34" charset="0"/>
                <a:sym typeface="Trebuchet MS" panose="020B0603020202020204" pitchFamily="34" charset="0"/>
              </a:rPr>
              <a:t>In proportion to </a:t>
            </a:r>
            <a:r>
              <a:rPr lang="fr-FR" altLang="en-US" dirty="0" err="1">
                <a:solidFill>
                  <a:srgbClr val="000000"/>
                </a:solidFill>
                <a:latin typeface="Trebuchet MS" panose="020B0603020202020204" pitchFamily="34" charset="0"/>
                <a:sym typeface="Trebuchet MS" panose="020B0603020202020204" pitchFamily="34" charset="0"/>
              </a:rPr>
              <a:t>ownership</a:t>
            </a:r>
            <a:r>
              <a:rPr lang="fr-FR" altLang="en-US" dirty="0">
                <a:solidFill>
                  <a:srgbClr val="000000"/>
                </a:solidFill>
                <a:latin typeface="Trebuchet MS" panose="020B0603020202020204" pitchFamily="34" charset="0"/>
                <a:sym typeface="Trebuchet MS" panose="020B0603020202020204" pitchFamily="34" charset="0"/>
              </a:rPr>
              <a:t>: proof-of-</a:t>
            </a:r>
            <a:r>
              <a:rPr lang="fr-FR" altLang="en-US" dirty="0" err="1">
                <a:solidFill>
                  <a:srgbClr val="000000"/>
                </a:solidFill>
                <a:latin typeface="Trebuchet MS" panose="020B0603020202020204" pitchFamily="34" charset="0"/>
                <a:sym typeface="Trebuchet MS" panose="020B0603020202020204" pitchFamily="34" charset="0"/>
              </a:rPr>
              <a:t>stake</a:t>
            </a:r>
            <a:endParaRPr lang="fr-FR" altLang="en-US" dirty="0">
              <a:solidFill>
                <a:srgbClr val="000000"/>
              </a:solidFill>
              <a:latin typeface="Trebuchet MS" panose="020B0603020202020204" pitchFamily="34" charset="0"/>
              <a:sym typeface="Trebuchet MS" panose="020B0603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Google Shape;402;p44">
            <a:extLst>
              <a:ext uri="{FF2B5EF4-FFF2-40B4-BE49-F238E27FC236}">
                <a16:creationId xmlns:a16="http://schemas.microsoft.com/office/drawing/2014/main" id="{5008C03E-7A7E-CCDE-8A52-49A9A424146E}"/>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Equivalent views of proof of work</a:t>
            </a:r>
          </a:p>
        </p:txBody>
      </p:sp>
      <p:sp>
        <p:nvSpPr>
          <p:cNvPr id="62466" name="Google Shape;403;p44">
            <a:extLst>
              <a:ext uri="{FF2B5EF4-FFF2-40B4-BE49-F238E27FC236}">
                <a16:creationId xmlns:a16="http://schemas.microsoft.com/office/drawing/2014/main" id="{31D50A34-FF55-04D4-785F-E7DA42DC5A6F}"/>
              </a:ext>
            </a:extLst>
          </p:cNvPr>
          <p:cNvSpPr>
            <a:spLocks noGrp="1" noChangeArrowheads="1"/>
          </p:cNvSpPr>
          <p:nvPr>
            <p:ph type="body" idx="1"/>
          </p:nvPr>
        </p:nvSpPr>
        <p:spPr>
          <a:xfrm>
            <a:off x="457200" y="1600200"/>
            <a:ext cx="8229600" cy="4967288"/>
          </a:xfrm>
        </p:spPr>
        <p:txBody>
          <a:bodyPr/>
          <a:lstStyle/>
          <a:p>
            <a:pPr marL="514350" indent="-336550">
              <a:spcBef>
                <a:spcPct val="0"/>
              </a:spcBef>
              <a:spcAft>
                <a:spcPct val="0"/>
              </a:spcAft>
              <a:buClr>
                <a:srgbClr val="000000"/>
              </a:buClr>
              <a:buSzTx/>
              <a:buFontTx/>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692150" indent="-514350">
              <a:spcBef>
                <a:spcPct val="0"/>
              </a:spcBef>
              <a:spcAft>
                <a:spcPct val="0"/>
              </a:spcAft>
              <a:buClr>
                <a:srgbClr val="000000"/>
              </a:buClr>
              <a:buSzTx/>
              <a:buFont typeface="+mj-lt"/>
              <a:buAutoNum type="arabicPeriod"/>
            </a:pPr>
            <a:r>
              <a:rPr lang="fr-FR" altLang="en-US" sz="2800" dirty="0">
                <a:solidFill>
                  <a:srgbClr val="000000"/>
                </a:solidFill>
                <a:latin typeface="Trebuchet MS" panose="020B0603020202020204" pitchFamily="34" charset="0"/>
                <a:sym typeface="Trebuchet MS" panose="020B0603020202020204" pitchFamily="34" charset="0"/>
              </a:rPr>
              <a:t>Select </a:t>
            </a:r>
            <a:r>
              <a:rPr lang="fr-FR" altLang="en-US" sz="2800" dirty="0" err="1">
                <a:solidFill>
                  <a:srgbClr val="000000"/>
                </a:solidFill>
                <a:latin typeface="Trebuchet MS" panose="020B0603020202020204" pitchFamily="34" charset="0"/>
                <a:sym typeface="Trebuchet MS" panose="020B0603020202020204" pitchFamily="34" charset="0"/>
              </a:rPr>
              <a:t>nodes</a:t>
            </a:r>
            <a:r>
              <a:rPr lang="fr-FR" altLang="en-US" sz="2800" dirty="0">
                <a:solidFill>
                  <a:srgbClr val="000000"/>
                </a:solidFill>
                <a:latin typeface="Trebuchet MS" panose="020B0603020202020204" pitchFamily="34" charset="0"/>
                <a:sym typeface="Trebuchet MS" panose="020B0603020202020204" pitchFamily="34" charset="0"/>
              </a:rPr>
              <a:t> in proportion to </a:t>
            </a:r>
            <a:r>
              <a:rPr lang="fr-FR" altLang="en-US" sz="2800" dirty="0" err="1">
                <a:solidFill>
                  <a:srgbClr val="000000"/>
                </a:solidFill>
                <a:latin typeface="Trebuchet MS" panose="020B0603020202020204" pitchFamily="34" charset="0"/>
                <a:sym typeface="Trebuchet MS" panose="020B0603020202020204" pitchFamily="34" charset="0"/>
              </a:rPr>
              <a:t>computing</a:t>
            </a:r>
            <a:r>
              <a:rPr lang="fr-FR" altLang="en-US" sz="2800" dirty="0">
                <a:solidFill>
                  <a:srgbClr val="000000"/>
                </a:solidFill>
                <a:latin typeface="Trebuchet MS" panose="020B0603020202020204" pitchFamily="34" charset="0"/>
                <a:sym typeface="Trebuchet MS" panose="020B0603020202020204" pitchFamily="34" charset="0"/>
              </a:rPr>
              <a:t> power</a:t>
            </a:r>
            <a:endParaRPr lang="fr-FR" altLang="en-US" dirty="0"/>
          </a:p>
          <a:p>
            <a:pPr marL="692150" indent="-514350">
              <a:spcBef>
                <a:spcPct val="0"/>
              </a:spcBef>
              <a:spcAft>
                <a:spcPct val="0"/>
              </a:spcAft>
              <a:buClr>
                <a:srgbClr val="000000"/>
              </a:buClr>
              <a:buSzTx/>
              <a:buFont typeface="+mj-lt"/>
              <a:buAutoNum type="arabicPeriod"/>
            </a:pPr>
            <a:endParaRPr lang="fr-FR" altLang="en-US" sz="2800" dirty="0">
              <a:solidFill>
                <a:srgbClr val="000000"/>
              </a:solidFill>
              <a:latin typeface="Trebuchet MS" panose="020B0603020202020204" pitchFamily="34" charset="0"/>
              <a:sym typeface="Trebuchet MS" panose="020B0603020202020204" pitchFamily="34" charset="0"/>
            </a:endParaRPr>
          </a:p>
          <a:p>
            <a:pPr marL="692150" indent="-514350">
              <a:spcBef>
                <a:spcPct val="0"/>
              </a:spcBef>
              <a:spcAft>
                <a:spcPct val="0"/>
              </a:spcAft>
              <a:buClr>
                <a:srgbClr val="000000"/>
              </a:buClr>
              <a:buSzTx/>
              <a:buFont typeface="+mj-lt"/>
              <a:buAutoNum type="arabicPeriod"/>
            </a:pPr>
            <a:r>
              <a:rPr lang="fr-FR" altLang="en-US" sz="2800" dirty="0">
                <a:solidFill>
                  <a:srgbClr val="000000"/>
                </a:solidFill>
                <a:latin typeface="Trebuchet MS" panose="020B0603020202020204" pitchFamily="34" charset="0"/>
                <a:sym typeface="Trebuchet MS" panose="020B0603020202020204" pitchFamily="34" charset="0"/>
              </a:rPr>
              <a:t>Let </a:t>
            </a:r>
            <a:r>
              <a:rPr lang="fr-FR" altLang="en-US" sz="2800" dirty="0" err="1">
                <a:solidFill>
                  <a:srgbClr val="000000"/>
                </a:solidFill>
                <a:latin typeface="Trebuchet MS" panose="020B0603020202020204" pitchFamily="34" charset="0"/>
                <a:sym typeface="Trebuchet MS" panose="020B0603020202020204" pitchFamily="34" charset="0"/>
              </a:rPr>
              <a:t>nodes</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compete</a:t>
            </a:r>
            <a:r>
              <a:rPr lang="fr-FR" altLang="en-US" sz="2800" dirty="0">
                <a:solidFill>
                  <a:srgbClr val="000000"/>
                </a:solidFill>
                <a:latin typeface="Trebuchet MS" panose="020B0603020202020204" pitchFamily="34" charset="0"/>
                <a:sym typeface="Trebuchet MS" panose="020B0603020202020204" pitchFamily="34" charset="0"/>
              </a:rPr>
              <a:t> for right to </a:t>
            </a:r>
            <a:r>
              <a:rPr lang="fr-FR" altLang="en-US" sz="2800" dirty="0" err="1">
                <a:solidFill>
                  <a:srgbClr val="000000"/>
                </a:solidFill>
                <a:latin typeface="Trebuchet MS" panose="020B0603020202020204" pitchFamily="34" charset="0"/>
                <a:sym typeface="Trebuchet MS" panose="020B0603020202020204" pitchFamily="34" charset="0"/>
              </a:rPr>
              <a:t>create</a:t>
            </a:r>
            <a:r>
              <a:rPr lang="fr-FR" altLang="en-US" sz="2800" dirty="0">
                <a:solidFill>
                  <a:srgbClr val="000000"/>
                </a:solidFill>
                <a:latin typeface="Trebuchet MS" panose="020B0603020202020204" pitchFamily="34" charset="0"/>
                <a:sym typeface="Trebuchet MS" panose="020B0603020202020204" pitchFamily="34" charset="0"/>
              </a:rPr>
              <a:t> block</a:t>
            </a:r>
            <a:endParaRPr lang="fr-FR" altLang="en-US" dirty="0"/>
          </a:p>
          <a:p>
            <a:pPr marL="692150" indent="-514350">
              <a:spcBef>
                <a:spcPct val="0"/>
              </a:spcBef>
              <a:spcAft>
                <a:spcPct val="0"/>
              </a:spcAft>
              <a:buClr>
                <a:srgbClr val="000000"/>
              </a:buClr>
              <a:buSzTx/>
              <a:buFont typeface="+mj-lt"/>
              <a:buAutoNum type="arabicPeriod"/>
            </a:pPr>
            <a:endParaRPr lang="fr-FR" altLang="en-US" sz="2800" dirty="0">
              <a:solidFill>
                <a:srgbClr val="000000"/>
              </a:solidFill>
              <a:latin typeface="Trebuchet MS" panose="020B0603020202020204" pitchFamily="34" charset="0"/>
              <a:sym typeface="Trebuchet MS" panose="020B0603020202020204" pitchFamily="34" charset="0"/>
            </a:endParaRPr>
          </a:p>
          <a:p>
            <a:pPr marL="692150" indent="-514350">
              <a:spcBef>
                <a:spcPct val="0"/>
              </a:spcBef>
              <a:spcAft>
                <a:spcPct val="0"/>
              </a:spcAft>
              <a:buClr>
                <a:srgbClr val="000000"/>
              </a:buClr>
              <a:buSzTx/>
              <a:buFont typeface="+mj-lt"/>
              <a:buAutoNum type="arabicPeriod"/>
            </a:pPr>
            <a:r>
              <a:rPr lang="fr-FR" altLang="en-US" sz="2800" dirty="0" err="1">
                <a:solidFill>
                  <a:srgbClr val="000000"/>
                </a:solidFill>
                <a:latin typeface="Trebuchet MS" panose="020B0603020202020204" pitchFamily="34" charset="0"/>
                <a:sym typeface="Trebuchet MS" panose="020B0603020202020204" pitchFamily="34" charset="0"/>
              </a:rPr>
              <a:t>Make</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it</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moderately</a:t>
            </a:r>
            <a:r>
              <a:rPr lang="fr-FR" altLang="en-US" sz="2800" dirty="0">
                <a:solidFill>
                  <a:srgbClr val="000000"/>
                </a:solidFill>
                <a:latin typeface="Trebuchet MS" panose="020B0603020202020204" pitchFamily="34" charset="0"/>
                <a:sym typeface="Trebuchet MS" panose="020B0603020202020204" pitchFamily="34" charset="0"/>
              </a:rPr>
              <a:t> hard to </a:t>
            </a:r>
            <a:r>
              <a:rPr lang="fr-FR" altLang="en-US" sz="2800" dirty="0" err="1">
                <a:solidFill>
                  <a:srgbClr val="000000"/>
                </a:solidFill>
                <a:latin typeface="Trebuchet MS" panose="020B0603020202020204" pitchFamily="34" charset="0"/>
                <a:sym typeface="Trebuchet MS" panose="020B0603020202020204" pitchFamily="34" charset="0"/>
              </a:rPr>
              <a:t>create</a:t>
            </a:r>
            <a:r>
              <a:rPr lang="fr-FR" altLang="en-US" sz="2800" dirty="0">
                <a:solidFill>
                  <a:srgbClr val="000000"/>
                </a:solidFill>
                <a:latin typeface="Trebuchet MS" panose="020B0603020202020204" pitchFamily="34" charset="0"/>
                <a:sym typeface="Trebuchet MS" panose="020B0603020202020204" pitchFamily="34" charset="0"/>
              </a:rPr>
              <a:t> new </a:t>
            </a:r>
            <a:r>
              <a:rPr lang="fr-FR" altLang="en-US" sz="2800" dirty="0" err="1">
                <a:solidFill>
                  <a:srgbClr val="000000"/>
                </a:solidFill>
                <a:latin typeface="Trebuchet MS" panose="020B0603020202020204" pitchFamily="34" charset="0"/>
                <a:sym typeface="Trebuchet MS" panose="020B0603020202020204" pitchFamily="34" charset="0"/>
              </a:rPr>
              <a:t>identities</a:t>
            </a:r>
            <a:endParaRPr lang="fr-FR" altLang="en-US" sz="2800" dirty="0">
              <a:solidFill>
                <a:srgbClr val="000000"/>
              </a:solidFill>
              <a:latin typeface="Trebuchet MS" panose="020B0603020202020204" pitchFamily="34" charset="0"/>
              <a:sym typeface="Trebuchet MS" panose="020B0603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Google Shape;408;p45">
            <a:extLst>
              <a:ext uri="{FF2B5EF4-FFF2-40B4-BE49-F238E27FC236}">
                <a16:creationId xmlns:a16="http://schemas.microsoft.com/office/drawing/2014/main" id="{F783DDC3-1377-6A36-F6F7-869BA0B2D300}"/>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Hash puzzles</a:t>
            </a:r>
          </a:p>
        </p:txBody>
      </p:sp>
      <p:sp>
        <p:nvSpPr>
          <p:cNvPr id="64514" name="Google Shape;409;p45">
            <a:extLst>
              <a:ext uri="{FF2B5EF4-FFF2-40B4-BE49-F238E27FC236}">
                <a16:creationId xmlns:a16="http://schemas.microsoft.com/office/drawing/2014/main" id="{F40206E3-6077-BC53-AD41-0CA54F8A1DF7}"/>
              </a:ext>
            </a:extLst>
          </p:cNvPr>
          <p:cNvSpPr>
            <a:spLocks noGrp="1" noChangeArrowheads="1"/>
          </p:cNvSpPr>
          <p:nvPr>
            <p:ph type="body" idx="1"/>
          </p:nvPr>
        </p:nvSpPr>
        <p:spPr>
          <a:xfrm>
            <a:off x="457200" y="1600200"/>
            <a:ext cx="8229600" cy="4967288"/>
          </a:xfrm>
        </p:spPr>
        <p:txBody>
          <a:bodyPr/>
          <a:lstStyle/>
          <a:p>
            <a:pPr marL="0" indent="0">
              <a:spcBef>
                <a:spcPct val="0"/>
              </a:spcBef>
              <a:spcAft>
                <a:spcPct val="0"/>
              </a:spcAft>
              <a:buClr>
                <a:srgbClr val="000000"/>
              </a:buClr>
              <a:buSzTx/>
              <a:buFont typeface="Trebuchet MS" panose="020B0603020202020204" pitchFamily="34" charset="0"/>
              <a:buNone/>
            </a:pPr>
            <a:r>
              <a:rPr lang="fr-FR" altLang="en-US" sz="2400">
                <a:solidFill>
                  <a:srgbClr val="000000"/>
                </a:solidFill>
                <a:latin typeface="Trebuchet MS" panose="020B0603020202020204" pitchFamily="34" charset="0"/>
                <a:sym typeface="Trebuchet MS" panose="020B0603020202020204" pitchFamily="34" charset="0"/>
              </a:rPr>
              <a:t>To create block, find nonce such that</a:t>
            </a:r>
          </a:p>
          <a:p>
            <a:pPr marL="0" indent="0">
              <a:spcBef>
                <a:spcPct val="0"/>
              </a:spcBef>
              <a:spcAft>
                <a:spcPct val="0"/>
              </a:spcAft>
              <a:buClr>
                <a:srgbClr val="000000"/>
              </a:buClr>
              <a:buSzTx/>
              <a:buFont typeface="Trebuchet MS" panose="020B0603020202020204" pitchFamily="34" charset="0"/>
              <a:buNone/>
            </a:pPr>
            <a:r>
              <a:rPr lang="fr-FR" altLang="en-US" sz="2400">
                <a:solidFill>
                  <a:srgbClr val="000000"/>
                </a:solidFill>
                <a:latin typeface="Trebuchet MS" panose="020B0603020202020204" pitchFamily="34" charset="0"/>
                <a:sym typeface="Trebuchet MS" panose="020B0603020202020204" pitchFamily="34" charset="0"/>
              </a:rPr>
              <a:t>H(nonce ‖ prev_hash  …) is very small</a:t>
            </a:r>
          </a:p>
        </p:txBody>
      </p:sp>
      <p:graphicFrame>
        <p:nvGraphicFramePr>
          <p:cNvPr id="410" name="Google Shape;410;p45">
            <a:extLst>
              <a:ext uri="{FF2B5EF4-FFF2-40B4-BE49-F238E27FC236}">
                <a16:creationId xmlns:a16="http://schemas.microsoft.com/office/drawing/2014/main" id="{BB43526E-55FB-0725-C336-D952007B6080}"/>
              </a:ext>
            </a:extLst>
          </p:cNvPr>
          <p:cNvGraphicFramePr/>
          <p:nvPr/>
        </p:nvGraphicFramePr>
        <p:xfrm>
          <a:off x="533400" y="3943350"/>
          <a:ext cx="8001000" cy="411166"/>
        </p:xfrm>
        <a:graphic>
          <a:graphicData uri="http://schemas.openxmlformats.org/drawingml/2006/table">
            <a:tbl>
              <a:tblPr firstRow="1" bandRow="1">
                <a:noFill/>
              </a:tblPr>
              <a:tblGrid>
                <a:gridCol w="889000">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gridCol w="889000">
                  <a:extLst>
                    <a:ext uri="{9D8B030D-6E8A-4147-A177-3AD203B41FA5}">
                      <a16:colId xmlns:a16="http://schemas.microsoft.com/office/drawing/2014/main" val="20003"/>
                    </a:ext>
                  </a:extLst>
                </a:gridCol>
                <a:gridCol w="889000">
                  <a:extLst>
                    <a:ext uri="{9D8B030D-6E8A-4147-A177-3AD203B41FA5}">
                      <a16:colId xmlns:a16="http://schemas.microsoft.com/office/drawing/2014/main" val="20004"/>
                    </a:ext>
                  </a:extLst>
                </a:gridCol>
                <a:gridCol w="889000">
                  <a:extLst>
                    <a:ext uri="{9D8B030D-6E8A-4147-A177-3AD203B41FA5}">
                      <a16:colId xmlns:a16="http://schemas.microsoft.com/office/drawing/2014/main" val="20005"/>
                    </a:ext>
                  </a:extLst>
                </a:gridCol>
                <a:gridCol w="889000">
                  <a:extLst>
                    <a:ext uri="{9D8B030D-6E8A-4147-A177-3AD203B41FA5}">
                      <a16:colId xmlns:a16="http://schemas.microsoft.com/office/drawing/2014/main" val="20006"/>
                    </a:ext>
                  </a:extLst>
                </a:gridCol>
                <a:gridCol w="889000">
                  <a:extLst>
                    <a:ext uri="{9D8B030D-6E8A-4147-A177-3AD203B41FA5}">
                      <a16:colId xmlns:a16="http://schemas.microsoft.com/office/drawing/2014/main" val="20007"/>
                    </a:ext>
                  </a:extLst>
                </a:gridCol>
                <a:gridCol w="889000">
                  <a:extLst>
                    <a:ext uri="{9D8B030D-6E8A-4147-A177-3AD203B41FA5}">
                      <a16:colId xmlns:a16="http://schemas.microsoft.com/office/drawing/2014/main" val="20008"/>
                    </a:ext>
                  </a:extLst>
                </a:gridCol>
              </a:tblGrid>
              <a:tr h="411163">
                <a:tc>
                  <a:txBody>
                    <a:bodyPr/>
                    <a:lstStyle/>
                    <a:p>
                      <a:pPr marL="0" marR="0" lvl="0" indent="0" algn="l" rtl="0">
                        <a:lnSpc>
                          <a:spcPct val="100000"/>
                        </a:lnSpc>
                        <a:spcBef>
                          <a:spcPts val="0"/>
                        </a:spcBef>
                        <a:spcAft>
                          <a:spcPts val="0"/>
                        </a:spcAft>
                        <a:buClr>
                          <a:srgbClr val="000000"/>
                        </a:buClr>
                        <a:buFont typeface="Arial"/>
                        <a:buNone/>
                      </a:pPr>
                      <a:endParaRPr sz="1900" u="none" strike="noStrike" cap="none"/>
                    </a:p>
                  </a:txBody>
                  <a:tcPr marL="91450" marR="91450" marT="60803" marB="60803">
                    <a:solidFill>
                      <a:srgbClr val="FF8181"/>
                    </a:solidFill>
                  </a:tcPr>
                </a:tc>
                <a:tc>
                  <a:txBody>
                    <a:bodyPr/>
                    <a:lstStyle/>
                    <a:p>
                      <a:pPr marL="0" marR="0" lvl="0" indent="0" algn="l" rtl="0">
                        <a:lnSpc>
                          <a:spcPct val="100000"/>
                        </a:lnSpc>
                        <a:spcBef>
                          <a:spcPts val="0"/>
                        </a:spcBef>
                        <a:spcAft>
                          <a:spcPts val="0"/>
                        </a:spcAft>
                        <a:buClr>
                          <a:srgbClr val="000000"/>
                        </a:buClr>
                        <a:buFont typeface="Arial"/>
                        <a:buNone/>
                      </a:pPr>
                      <a:endParaRPr sz="1900" u="none" strike="noStrike" cap="none"/>
                    </a:p>
                  </a:txBody>
                  <a:tcPr marL="91450" marR="91450" marT="60803" marB="60803">
                    <a:solidFill>
                      <a:srgbClr val="83B3D9"/>
                    </a:solidFill>
                  </a:tcPr>
                </a:tc>
                <a:tc>
                  <a:txBody>
                    <a:bodyPr/>
                    <a:lstStyle/>
                    <a:p>
                      <a:pPr marL="0" marR="0" lvl="0" indent="0" algn="l" rtl="0">
                        <a:lnSpc>
                          <a:spcPct val="100000"/>
                        </a:lnSpc>
                        <a:spcBef>
                          <a:spcPts val="0"/>
                        </a:spcBef>
                        <a:spcAft>
                          <a:spcPts val="0"/>
                        </a:spcAft>
                        <a:buClr>
                          <a:srgbClr val="000000"/>
                        </a:buClr>
                        <a:buFont typeface="Arial"/>
                        <a:buNone/>
                      </a:pPr>
                      <a:endParaRPr sz="1900" u="none" strike="noStrike" cap="none"/>
                    </a:p>
                  </a:txBody>
                  <a:tcPr marL="91450" marR="91450" marT="60803" marB="60803">
                    <a:solidFill>
                      <a:srgbClr val="83B3D9"/>
                    </a:solidFill>
                  </a:tcPr>
                </a:tc>
                <a:tc>
                  <a:txBody>
                    <a:bodyPr/>
                    <a:lstStyle/>
                    <a:p>
                      <a:pPr marL="0" marR="0" lvl="0" indent="0" algn="l" rtl="0">
                        <a:lnSpc>
                          <a:spcPct val="100000"/>
                        </a:lnSpc>
                        <a:spcBef>
                          <a:spcPts val="0"/>
                        </a:spcBef>
                        <a:spcAft>
                          <a:spcPts val="0"/>
                        </a:spcAft>
                        <a:buClr>
                          <a:srgbClr val="000000"/>
                        </a:buClr>
                        <a:buFont typeface="Arial"/>
                        <a:buNone/>
                      </a:pPr>
                      <a:endParaRPr sz="1900" u="none" strike="noStrike" cap="none"/>
                    </a:p>
                  </a:txBody>
                  <a:tcPr marL="91450" marR="91450" marT="60803" marB="60803">
                    <a:solidFill>
                      <a:srgbClr val="83B3D9"/>
                    </a:solidFill>
                  </a:tcPr>
                </a:tc>
                <a:tc>
                  <a:txBody>
                    <a:bodyPr/>
                    <a:lstStyle/>
                    <a:p>
                      <a:pPr marL="0" marR="0" lvl="0" indent="0" algn="l" rtl="0">
                        <a:lnSpc>
                          <a:spcPct val="100000"/>
                        </a:lnSpc>
                        <a:spcBef>
                          <a:spcPts val="0"/>
                        </a:spcBef>
                        <a:spcAft>
                          <a:spcPts val="0"/>
                        </a:spcAft>
                        <a:buClr>
                          <a:srgbClr val="000000"/>
                        </a:buClr>
                        <a:buFont typeface="Arial"/>
                        <a:buNone/>
                      </a:pPr>
                      <a:endParaRPr sz="1900" u="none" strike="noStrike" cap="none"/>
                    </a:p>
                  </a:txBody>
                  <a:tcPr marL="91450" marR="91450" marT="60803" marB="60803">
                    <a:solidFill>
                      <a:srgbClr val="83B3D9"/>
                    </a:solidFill>
                  </a:tcPr>
                </a:tc>
                <a:tc>
                  <a:txBody>
                    <a:bodyPr/>
                    <a:lstStyle/>
                    <a:p>
                      <a:pPr marL="0" marR="0" lvl="0" indent="0" algn="l" rtl="0">
                        <a:lnSpc>
                          <a:spcPct val="100000"/>
                        </a:lnSpc>
                        <a:spcBef>
                          <a:spcPts val="0"/>
                        </a:spcBef>
                        <a:spcAft>
                          <a:spcPts val="0"/>
                        </a:spcAft>
                        <a:buClr>
                          <a:srgbClr val="000000"/>
                        </a:buClr>
                        <a:buFont typeface="Arial"/>
                        <a:buNone/>
                      </a:pPr>
                      <a:endParaRPr sz="1900" u="none" strike="noStrike" cap="none"/>
                    </a:p>
                  </a:txBody>
                  <a:tcPr marL="91450" marR="91450" marT="60803" marB="60803">
                    <a:solidFill>
                      <a:srgbClr val="83B3D9"/>
                    </a:solidFill>
                  </a:tcPr>
                </a:tc>
                <a:tc>
                  <a:txBody>
                    <a:bodyPr/>
                    <a:lstStyle/>
                    <a:p>
                      <a:pPr marL="0" marR="0" lvl="0" indent="0" algn="l" rtl="0">
                        <a:lnSpc>
                          <a:spcPct val="100000"/>
                        </a:lnSpc>
                        <a:spcBef>
                          <a:spcPts val="0"/>
                        </a:spcBef>
                        <a:spcAft>
                          <a:spcPts val="0"/>
                        </a:spcAft>
                        <a:buClr>
                          <a:srgbClr val="000000"/>
                        </a:buClr>
                        <a:buFont typeface="Arial"/>
                        <a:buNone/>
                      </a:pPr>
                      <a:endParaRPr sz="1900" u="none" strike="noStrike" cap="none"/>
                    </a:p>
                  </a:txBody>
                  <a:tcPr marL="91450" marR="91450" marT="60803" marB="60803">
                    <a:solidFill>
                      <a:srgbClr val="83B3D9"/>
                    </a:solidFill>
                  </a:tcPr>
                </a:tc>
                <a:tc>
                  <a:txBody>
                    <a:bodyPr/>
                    <a:lstStyle/>
                    <a:p>
                      <a:pPr marL="0" marR="0" lvl="0" indent="0" algn="l" rtl="0">
                        <a:lnSpc>
                          <a:spcPct val="100000"/>
                        </a:lnSpc>
                        <a:spcBef>
                          <a:spcPts val="0"/>
                        </a:spcBef>
                        <a:spcAft>
                          <a:spcPts val="0"/>
                        </a:spcAft>
                        <a:buClr>
                          <a:srgbClr val="000000"/>
                        </a:buClr>
                        <a:buFont typeface="Arial"/>
                        <a:buNone/>
                      </a:pPr>
                      <a:endParaRPr sz="1900" u="none" strike="noStrike" cap="none"/>
                    </a:p>
                  </a:txBody>
                  <a:tcPr marL="91450" marR="91450" marT="60803" marB="60803">
                    <a:solidFill>
                      <a:srgbClr val="83B3D9"/>
                    </a:solidFill>
                  </a:tcPr>
                </a:tc>
                <a:tc>
                  <a:txBody>
                    <a:bodyPr/>
                    <a:lstStyle/>
                    <a:p>
                      <a:pPr marL="0" marR="0" lvl="0" indent="0" algn="l" rtl="0">
                        <a:lnSpc>
                          <a:spcPct val="100000"/>
                        </a:lnSpc>
                        <a:spcBef>
                          <a:spcPts val="0"/>
                        </a:spcBef>
                        <a:spcAft>
                          <a:spcPts val="0"/>
                        </a:spcAft>
                        <a:buClr>
                          <a:srgbClr val="000000"/>
                        </a:buClr>
                        <a:buFont typeface="Arial"/>
                        <a:buNone/>
                      </a:pPr>
                      <a:endParaRPr sz="1900" u="none" strike="noStrike" cap="none"/>
                    </a:p>
                  </a:txBody>
                  <a:tcPr marL="91450" marR="91450" marT="60803" marB="60803">
                    <a:solidFill>
                      <a:srgbClr val="83B3D9"/>
                    </a:solidFill>
                  </a:tcPr>
                </a:tc>
                <a:extLst>
                  <a:ext uri="{0D108BD9-81ED-4DB2-BD59-A6C34878D82A}">
                    <a16:rowId xmlns:a16="http://schemas.microsoft.com/office/drawing/2014/main" val="10000"/>
                  </a:ext>
                </a:extLst>
              </a:tr>
            </a:tbl>
          </a:graphicData>
        </a:graphic>
      </p:graphicFrame>
      <p:cxnSp>
        <p:nvCxnSpPr>
          <p:cNvPr id="64537" name="Google Shape;411;p45">
            <a:extLst>
              <a:ext uri="{FF2B5EF4-FFF2-40B4-BE49-F238E27FC236}">
                <a16:creationId xmlns:a16="http://schemas.microsoft.com/office/drawing/2014/main" id="{4702F4C7-2BC4-366F-AC51-C9F69122B959}"/>
              </a:ext>
            </a:extLst>
          </p:cNvPr>
          <p:cNvCxnSpPr>
            <a:cxnSpLocks noChangeShapeType="1"/>
          </p:cNvCxnSpPr>
          <p:nvPr/>
        </p:nvCxnSpPr>
        <p:spPr bwMode="auto">
          <a:xfrm>
            <a:off x="533400" y="3740150"/>
            <a:ext cx="8001000" cy="0"/>
          </a:xfrm>
          <a:prstGeom prst="straightConnector1">
            <a:avLst/>
          </a:prstGeom>
          <a:noFill/>
          <a:ln w="19050">
            <a:solidFill>
              <a:srgbClr val="7F7F7F"/>
            </a:solidFill>
            <a:round/>
            <a:headEnd type="stealth" w="med" len="med"/>
            <a:tailEnd type="stealth" w="med" len="med"/>
          </a:ln>
          <a:extLst>
            <a:ext uri="{909E8E84-426E-40DD-AFC4-6F175D3DCCD1}">
              <a14:hiddenFill xmlns:a14="http://schemas.microsoft.com/office/drawing/2010/main">
                <a:noFill/>
              </a14:hiddenFill>
            </a:ext>
          </a:extLst>
        </p:spPr>
      </p:cxnSp>
      <p:sp>
        <p:nvSpPr>
          <p:cNvPr id="64538" name="Google Shape;412;p45">
            <a:extLst>
              <a:ext uri="{FF2B5EF4-FFF2-40B4-BE49-F238E27FC236}">
                <a16:creationId xmlns:a16="http://schemas.microsoft.com/office/drawing/2014/main" id="{167D327C-A515-D0F2-A55A-3C610E9C1114}"/>
              </a:ext>
            </a:extLst>
          </p:cNvPr>
          <p:cNvSpPr txBox="1">
            <a:spLocks noChangeArrowheads="1"/>
          </p:cNvSpPr>
          <p:nvPr/>
        </p:nvSpPr>
        <p:spPr bwMode="auto">
          <a:xfrm>
            <a:off x="3429000" y="3225800"/>
            <a:ext cx="237172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Output space of hash</a:t>
            </a:r>
          </a:p>
        </p:txBody>
      </p:sp>
      <p:cxnSp>
        <p:nvCxnSpPr>
          <p:cNvPr id="64539" name="Google Shape;413;p45">
            <a:extLst>
              <a:ext uri="{FF2B5EF4-FFF2-40B4-BE49-F238E27FC236}">
                <a16:creationId xmlns:a16="http://schemas.microsoft.com/office/drawing/2014/main" id="{DE72292E-292A-FE2D-DB44-681E7DF7FE61}"/>
              </a:ext>
            </a:extLst>
          </p:cNvPr>
          <p:cNvCxnSpPr>
            <a:cxnSpLocks noChangeShapeType="1"/>
          </p:cNvCxnSpPr>
          <p:nvPr/>
        </p:nvCxnSpPr>
        <p:spPr bwMode="auto">
          <a:xfrm>
            <a:off x="533400" y="4546600"/>
            <a:ext cx="914400" cy="0"/>
          </a:xfrm>
          <a:prstGeom prst="straightConnector1">
            <a:avLst/>
          </a:prstGeom>
          <a:noFill/>
          <a:ln w="19050">
            <a:solidFill>
              <a:srgbClr val="7F7F7F"/>
            </a:solidFill>
            <a:round/>
            <a:headEnd type="stealth" w="med" len="med"/>
            <a:tailEnd type="stealth" w="med" len="med"/>
          </a:ln>
          <a:extLst>
            <a:ext uri="{909E8E84-426E-40DD-AFC4-6F175D3DCCD1}">
              <a14:hiddenFill xmlns:a14="http://schemas.microsoft.com/office/drawing/2010/main">
                <a:noFill/>
              </a14:hiddenFill>
            </a:ext>
          </a:extLst>
        </p:spPr>
      </p:cxnSp>
      <p:sp>
        <p:nvSpPr>
          <p:cNvPr id="64540" name="Google Shape;414;p45">
            <a:extLst>
              <a:ext uri="{FF2B5EF4-FFF2-40B4-BE49-F238E27FC236}">
                <a16:creationId xmlns:a16="http://schemas.microsoft.com/office/drawing/2014/main" id="{7B2F3FA5-61BF-7BBB-FBF9-5FE476406BC9}"/>
              </a:ext>
            </a:extLst>
          </p:cNvPr>
          <p:cNvSpPr txBox="1">
            <a:spLocks noChangeArrowheads="1"/>
          </p:cNvSpPr>
          <p:nvPr/>
        </p:nvSpPr>
        <p:spPr bwMode="auto">
          <a:xfrm>
            <a:off x="514350" y="4648200"/>
            <a:ext cx="93345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Target </a:t>
            </a:r>
            <a:endParaRPr lang="fr-FR" altLang="en-US" sz="2800"/>
          </a:p>
          <a:p>
            <a:pPr algn="ct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space</a:t>
            </a:r>
          </a:p>
        </p:txBody>
      </p:sp>
      <p:sp>
        <p:nvSpPr>
          <p:cNvPr id="64541" name="Google Shape;415;p45">
            <a:extLst>
              <a:ext uri="{FF2B5EF4-FFF2-40B4-BE49-F238E27FC236}">
                <a16:creationId xmlns:a16="http://schemas.microsoft.com/office/drawing/2014/main" id="{19B5496C-2B39-12DA-A3F9-EAAEECEC8782}"/>
              </a:ext>
            </a:extLst>
          </p:cNvPr>
          <p:cNvSpPr txBox="1">
            <a:spLocks noChangeArrowheads="1"/>
          </p:cNvSpPr>
          <p:nvPr/>
        </p:nvSpPr>
        <p:spPr bwMode="auto">
          <a:xfrm>
            <a:off x="1803400" y="5026025"/>
            <a:ext cx="6731000" cy="862013"/>
          </a:xfrm>
          <a:prstGeom prst="rect">
            <a:avLst/>
          </a:prstGeom>
          <a:solidFill>
            <a:srgbClr val="EFD7AE"/>
          </a:solidFill>
          <a:ln w="19050">
            <a:solidFill>
              <a:srgbClr val="E7C586"/>
            </a:solidFill>
            <a:round/>
            <a:headEnd type="none" w="sm" len="sm"/>
            <a:tailEnd type="none" w="sm" len="sm"/>
          </a:ln>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If hash function is secure:</a:t>
            </a:r>
            <a:endParaRPr lang="fr-FR" altLang="en-US" sz="2800"/>
          </a:p>
          <a:p>
            <a:pP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only way to succeed is to try enough nonces until you get lucky</a:t>
            </a:r>
          </a:p>
        </p:txBody>
      </p:sp>
      <p:grpSp>
        <p:nvGrpSpPr>
          <p:cNvPr id="64542" name="Google Shape;416;p45">
            <a:extLst>
              <a:ext uri="{FF2B5EF4-FFF2-40B4-BE49-F238E27FC236}">
                <a16:creationId xmlns:a16="http://schemas.microsoft.com/office/drawing/2014/main" id="{114ACE92-4B40-189F-C905-7AA68985FCF6}"/>
              </a:ext>
            </a:extLst>
          </p:cNvPr>
          <p:cNvGrpSpPr>
            <a:grpSpLocks/>
          </p:cNvGrpSpPr>
          <p:nvPr/>
        </p:nvGrpSpPr>
        <p:grpSpPr bwMode="auto">
          <a:xfrm>
            <a:off x="7467600" y="762000"/>
            <a:ext cx="1200150" cy="1208088"/>
            <a:chOff x="6191690" y="361950"/>
            <a:chExt cx="1199710" cy="905775"/>
          </a:xfrm>
        </p:grpSpPr>
        <p:grpSp>
          <p:nvGrpSpPr>
            <p:cNvPr id="64543" name="Google Shape;417;p45">
              <a:extLst>
                <a:ext uri="{FF2B5EF4-FFF2-40B4-BE49-F238E27FC236}">
                  <a16:creationId xmlns:a16="http://schemas.microsoft.com/office/drawing/2014/main" id="{848162C2-A6A0-0AA8-EF9A-AC2F7338A6C1}"/>
                </a:ext>
              </a:extLst>
            </p:cNvPr>
            <p:cNvGrpSpPr>
              <a:grpSpLocks/>
            </p:cNvGrpSpPr>
            <p:nvPr/>
          </p:nvGrpSpPr>
          <p:grpSpPr bwMode="auto">
            <a:xfrm>
              <a:off x="6629400" y="361950"/>
              <a:ext cx="762000" cy="905775"/>
              <a:chOff x="2895600" y="2199376"/>
              <a:chExt cx="762000" cy="905775"/>
            </a:xfrm>
          </p:grpSpPr>
          <p:sp>
            <p:nvSpPr>
              <p:cNvPr id="64545" name="Google Shape;418;p45">
                <a:extLst>
                  <a:ext uri="{FF2B5EF4-FFF2-40B4-BE49-F238E27FC236}">
                    <a16:creationId xmlns:a16="http://schemas.microsoft.com/office/drawing/2014/main" id="{C4626813-AAC2-3BE0-C9DD-F84E7EEB66BD}"/>
                  </a:ext>
                </a:extLst>
              </p:cNvPr>
              <p:cNvSpPr>
                <a:spLocks noChangeArrowheads="1"/>
              </p:cNvSpPr>
              <p:nvPr/>
            </p:nvSpPr>
            <p:spPr bwMode="auto">
              <a:xfrm>
                <a:off x="2895600" y="2199376"/>
                <a:ext cx="762000" cy="228721"/>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1400">
                    <a:solidFill>
                      <a:srgbClr val="000000"/>
                    </a:solidFill>
                    <a:latin typeface="Trebuchet MS" panose="020B0603020202020204" pitchFamily="34" charset="0"/>
                    <a:sym typeface="Trebuchet MS" panose="020B0603020202020204" pitchFamily="34" charset="0"/>
                  </a:rPr>
                  <a:t>nonce</a:t>
                </a:r>
              </a:p>
            </p:txBody>
          </p:sp>
          <p:sp>
            <p:nvSpPr>
              <p:cNvPr id="64546" name="Google Shape;419;p45">
                <a:extLst>
                  <a:ext uri="{FF2B5EF4-FFF2-40B4-BE49-F238E27FC236}">
                    <a16:creationId xmlns:a16="http://schemas.microsoft.com/office/drawing/2014/main" id="{616F6D41-4786-2AE8-24C3-954BB3E69333}"/>
                  </a:ext>
                </a:extLst>
              </p:cNvPr>
              <p:cNvSpPr>
                <a:spLocks noChangeArrowheads="1"/>
              </p:cNvSpPr>
              <p:nvPr/>
            </p:nvSpPr>
            <p:spPr bwMode="auto">
              <a:xfrm>
                <a:off x="2895600" y="2427976"/>
                <a:ext cx="762000" cy="223643"/>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1400">
                    <a:solidFill>
                      <a:srgbClr val="000000"/>
                    </a:solidFill>
                    <a:latin typeface="Trebuchet MS" panose="020B0603020202020204" pitchFamily="34" charset="0"/>
                    <a:sym typeface="Trebuchet MS" panose="020B0603020202020204" pitchFamily="34" charset="0"/>
                  </a:rPr>
                  <a:t>prev_h</a:t>
                </a:r>
              </a:p>
            </p:txBody>
          </p:sp>
          <p:sp>
            <p:nvSpPr>
              <p:cNvPr id="64547" name="Google Shape;420;p45">
                <a:extLst>
                  <a:ext uri="{FF2B5EF4-FFF2-40B4-BE49-F238E27FC236}">
                    <a16:creationId xmlns:a16="http://schemas.microsoft.com/office/drawing/2014/main" id="{0F4EE9B5-B3AA-BC0E-44F1-FDD9206A01E3}"/>
                  </a:ext>
                </a:extLst>
              </p:cNvPr>
              <p:cNvSpPr>
                <a:spLocks noChangeArrowheads="1"/>
              </p:cNvSpPr>
              <p:nvPr/>
            </p:nvSpPr>
            <p:spPr bwMode="auto">
              <a:xfrm>
                <a:off x="2895600" y="2647950"/>
                <a:ext cx="762000" cy="216762"/>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1400">
                    <a:solidFill>
                      <a:srgbClr val="000000"/>
                    </a:solidFill>
                    <a:latin typeface="Trebuchet MS" panose="020B0603020202020204" pitchFamily="34" charset="0"/>
                    <a:sym typeface="Trebuchet MS" panose="020B0603020202020204" pitchFamily="34" charset="0"/>
                  </a:rPr>
                  <a:t>Tx</a:t>
                </a:r>
              </a:p>
            </p:txBody>
          </p:sp>
          <p:sp>
            <p:nvSpPr>
              <p:cNvPr id="64548" name="Google Shape;421;p45">
                <a:extLst>
                  <a:ext uri="{FF2B5EF4-FFF2-40B4-BE49-F238E27FC236}">
                    <a16:creationId xmlns:a16="http://schemas.microsoft.com/office/drawing/2014/main" id="{8CCA184F-D2CA-3589-BAC2-A96FF0DE7D63}"/>
                  </a:ext>
                </a:extLst>
              </p:cNvPr>
              <p:cNvSpPr>
                <a:spLocks noChangeArrowheads="1"/>
              </p:cNvSpPr>
              <p:nvPr/>
            </p:nvSpPr>
            <p:spPr bwMode="auto">
              <a:xfrm>
                <a:off x="2895600" y="2864713"/>
                <a:ext cx="762000" cy="240438"/>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1400">
                    <a:solidFill>
                      <a:srgbClr val="000000"/>
                    </a:solidFill>
                    <a:latin typeface="Trebuchet MS" panose="020B0603020202020204" pitchFamily="34" charset="0"/>
                    <a:sym typeface="Trebuchet MS" panose="020B0603020202020204" pitchFamily="34" charset="0"/>
                  </a:rPr>
                  <a:t>Tx</a:t>
                </a:r>
              </a:p>
            </p:txBody>
          </p:sp>
        </p:grpSp>
        <p:cxnSp>
          <p:nvCxnSpPr>
            <p:cNvPr id="64544" name="Google Shape;422;p45">
              <a:extLst>
                <a:ext uri="{FF2B5EF4-FFF2-40B4-BE49-F238E27FC236}">
                  <a16:creationId xmlns:a16="http://schemas.microsoft.com/office/drawing/2014/main" id="{47E0898B-38B1-2A01-A69D-5EA46067FE4B}"/>
                </a:ext>
              </a:extLst>
            </p:cNvPr>
            <p:cNvCxnSpPr>
              <a:cxnSpLocks noChangeShapeType="1"/>
            </p:cNvCxnSpPr>
            <p:nvPr/>
          </p:nvCxnSpPr>
          <p:spPr bwMode="auto">
            <a:xfrm rot="10800000">
              <a:off x="6191690" y="713004"/>
              <a:ext cx="521524" cy="0"/>
            </a:xfrm>
            <a:prstGeom prst="straightConnector1">
              <a:avLst/>
            </a:prstGeom>
            <a:noFill/>
            <a:ln w="25400">
              <a:solidFill>
                <a:schemeClr val="tx1"/>
              </a:solidFill>
              <a:round/>
              <a:headEnd type="none" w="sm" len="sm"/>
              <a:tailEnd type="stealth" w="med" len="med"/>
            </a:ln>
            <a:extLst>
              <a:ext uri="{909E8E84-426E-40DD-AFC4-6F175D3DCCD1}">
                <a14:hiddenFill xmlns:a14="http://schemas.microsoft.com/office/drawing/2010/main">
                  <a:noFill/>
                </a14:hiddenFill>
              </a:ext>
            </a:extLst>
          </p:spPr>
        </p:cxn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Google Shape;427;p46">
            <a:extLst>
              <a:ext uri="{FF2B5EF4-FFF2-40B4-BE49-F238E27FC236}">
                <a16:creationId xmlns:a16="http://schemas.microsoft.com/office/drawing/2014/main" id="{5972299D-3014-2FCD-00DC-DA07C63A39BE}"/>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PoW property 1: difficult to compute</a:t>
            </a:r>
          </a:p>
        </p:txBody>
      </p:sp>
      <p:sp>
        <p:nvSpPr>
          <p:cNvPr id="66562" name="Google Shape;428;p46">
            <a:extLst>
              <a:ext uri="{FF2B5EF4-FFF2-40B4-BE49-F238E27FC236}">
                <a16:creationId xmlns:a16="http://schemas.microsoft.com/office/drawing/2014/main" id="{8CB970AC-8B6B-B150-FF4F-12213E8A4704}"/>
              </a:ext>
            </a:extLst>
          </p:cNvPr>
          <p:cNvSpPr>
            <a:spLocks noGrp="1" noChangeArrowheads="1"/>
          </p:cNvSpPr>
          <p:nvPr>
            <p:ph type="body" idx="1"/>
          </p:nvPr>
        </p:nvSpPr>
        <p:spPr>
          <a:xfrm>
            <a:off x="457200" y="1600200"/>
            <a:ext cx="8229600" cy="4967288"/>
          </a:xfrm>
        </p:spPr>
        <p:txBody>
          <a:bodyPr/>
          <a:lstStyle/>
          <a:p>
            <a:pPr marL="0" indent="0">
              <a:spcBef>
                <a:spcPct val="0"/>
              </a:spcBef>
              <a:spcAft>
                <a:spcPct val="0"/>
              </a:spcAft>
              <a:buClr>
                <a:srgbClr val="000000"/>
              </a:buClr>
              <a:buSzTx/>
              <a:buFont typeface="Trebuchet MS" panose="020B0603020202020204" pitchFamily="34" charset="0"/>
              <a:buNone/>
            </a:pPr>
            <a:endParaRPr lang="fr-FR" altLang="en-US" sz="300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300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3000">
                <a:solidFill>
                  <a:srgbClr val="000000"/>
                </a:solidFill>
                <a:latin typeface="Trebuchet MS" panose="020B0603020202020204" pitchFamily="34" charset="0"/>
                <a:sym typeface="Trebuchet MS" panose="020B0603020202020204" pitchFamily="34" charset="0"/>
              </a:rPr>
              <a:t>As of Aug 2014: about 10</a:t>
            </a:r>
            <a:r>
              <a:rPr lang="fr-FR" altLang="en-US" sz="3000" baseline="30000">
                <a:solidFill>
                  <a:srgbClr val="000000"/>
                </a:solidFill>
                <a:latin typeface="Trebuchet MS" panose="020B0603020202020204" pitchFamily="34" charset="0"/>
                <a:sym typeface="Trebuchet MS" panose="020B0603020202020204" pitchFamily="34" charset="0"/>
              </a:rPr>
              <a:t>20</a:t>
            </a:r>
            <a:r>
              <a:rPr lang="fr-FR" altLang="en-US" sz="3000">
                <a:solidFill>
                  <a:srgbClr val="000000"/>
                </a:solidFill>
                <a:latin typeface="Trebuchet MS" panose="020B0603020202020204" pitchFamily="34" charset="0"/>
                <a:sym typeface="Trebuchet MS" panose="020B0603020202020204" pitchFamily="34" charset="0"/>
              </a:rPr>
              <a:t> hashes/block</a:t>
            </a:r>
            <a:endParaRPr lang="fr-FR" altLang="en-US"/>
          </a:p>
          <a:p>
            <a:pPr marL="0" indent="0">
              <a:spcBef>
                <a:spcPct val="0"/>
              </a:spcBef>
              <a:spcAft>
                <a:spcPct val="0"/>
              </a:spcAft>
              <a:buClr>
                <a:srgbClr val="000000"/>
              </a:buClr>
              <a:buSzTx/>
              <a:buFont typeface="Trebuchet MS" panose="020B0603020202020204" pitchFamily="34" charset="0"/>
              <a:buNone/>
            </a:pPr>
            <a:endParaRPr lang="fr-FR" altLang="en-US" sz="300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a:solidFill>
                  <a:srgbClr val="000000"/>
                </a:solidFill>
                <a:latin typeface="Trebuchet MS" panose="020B0603020202020204" pitchFamily="34" charset="0"/>
                <a:sym typeface="Trebuchet MS" panose="020B0603020202020204" pitchFamily="34" charset="0"/>
              </a:rPr>
              <a:t>Only some nodes bother to compete — miners</a:t>
            </a:r>
            <a:endParaRPr lang="fr-FR" altLang="en-US"/>
          </a:p>
          <a:p>
            <a:pPr marL="0" indent="0">
              <a:spcBef>
                <a:spcPct val="0"/>
              </a:spcBef>
              <a:spcAft>
                <a:spcPct val="0"/>
              </a:spcAft>
              <a:buClr>
                <a:srgbClr val="000000"/>
              </a:buClr>
              <a:buSzTx/>
              <a:buFont typeface="Trebuchet MS" panose="020B0603020202020204" pitchFamily="34" charset="0"/>
              <a:buNone/>
            </a:pPr>
            <a:endParaRPr lang="fr-FR" altLang="en-US" sz="3000">
              <a:solidFill>
                <a:srgbClr val="000000"/>
              </a:solidFill>
              <a:latin typeface="Trebuchet MS" panose="020B0603020202020204" pitchFamily="34" charset="0"/>
              <a:sym typeface="Trebuchet MS" panose="020B0603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Google Shape;433;p47">
            <a:extLst>
              <a:ext uri="{FF2B5EF4-FFF2-40B4-BE49-F238E27FC236}">
                <a16:creationId xmlns:a16="http://schemas.microsoft.com/office/drawing/2014/main" id="{A80FD608-E900-D9EF-D783-30D63368BAFC}"/>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sz="3200" dirty="0" err="1">
                <a:solidFill>
                  <a:srgbClr val="000000"/>
                </a:solidFill>
                <a:sym typeface="Trebuchet MS" panose="020B0603020202020204" pitchFamily="34" charset="0"/>
              </a:rPr>
              <a:t>PoW</a:t>
            </a:r>
            <a:r>
              <a:rPr lang="fr-FR" altLang="en-US" sz="3200" dirty="0">
                <a:solidFill>
                  <a:srgbClr val="000000"/>
                </a:solidFill>
                <a:sym typeface="Trebuchet MS" panose="020B0603020202020204" pitchFamily="34" charset="0"/>
              </a:rPr>
              <a:t> </a:t>
            </a:r>
            <a:r>
              <a:rPr lang="fr-FR" altLang="en-US" sz="3200" dirty="0" err="1">
                <a:solidFill>
                  <a:srgbClr val="000000"/>
                </a:solidFill>
                <a:sym typeface="Trebuchet MS" panose="020B0603020202020204" pitchFamily="34" charset="0"/>
              </a:rPr>
              <a:t>property</a:t>
            </a:r>
            <a:r>
              <a:rPr lang="fr-FR" altLang="en-US" sz="3200" dirty="0">
                <a:solidFill>
                  <a:srgbClr val="000000"/>
                </a:solidFill>
                <a:sym typeface="Trebuchet MS" panose="020B0603020202020204" pitchFamily="34" charset="0"/>
              </a:rPr>
              <a:t> 2: </a:t>
            </a:r>
            <a:r>
              <a:rPr lang="fr-FR" altLang="en-US" sz="3200" dirty="0" err="1">
                <a:solidFill>
                  <a:srgbClr val="000000"/>
                </a:solidFill>
                <a:sym typeface="Trebuchet MS" panose="020B0603020202020204" pitchFamily="34" charset="0"/>
              </a:rPr>
              <a:t>parameterizable</a:t>
            </a:r>
            <a:r>
              <a:rPr lang="fr-FR" altLang="en-US" sz="3200" dirty="0">
                <a:solidFill>
                  <a:srgbClr val="000000"/>
                </a:solidFill>
                <a:sym typeface="Trebuchet MS" panose="020B0603020202020204" pitchFamily="34" charset="0"/>
              </a:rPr>
              <a:t> </a:t>
            </a:r>
            <a:r>
              <a:rPr lang="fr-FR" altLang="en-US" sz="3200" dirty="0" err="1">
                <a:solidFill>
                  <a:srgbClr val="000000"/>
                </a:solidFill>
                <a:sym typeface="Trebuchet MS" panose="020B0603020202020204" pitchFamily="34" charset="0"/>
              </a:rPr>
              <a:t>cost</a:t>
            </a:r>
            <a:endParaRPr lang="fr-FR" altLang="en-US" sz="3200" dirty="0">
              <a:solidFill>
                <a:srgbClr val="000000"/>
              </a:solidFill>
              <a:sym typeface="Trebuchet MS" panose="020B0603020202020204" pitchFamily="34" charset="0"/>
            </a:endParaRPr>
          </a:p>
        </p:txBody>
      </p:sp>
      <p:sp>
        <p:nvSpPr>
          <p:cNvPr id="68610" name="Google Shape;434;p47">
            <a:extLst>
              <a:ext uri="{FF2B5EF4-FFF2-40B4-BE49-F238E27FC236}">
                <a16:creationId xmlns:a16="http://schemas.microsoft.com/office/drawing/2014/main" id="{E2277A70-90EE-4184-E5FE-ADDA2BA09E3B}"/>
              </a:ext>
            </a:extLst>
          </p:cNvPr>
          <p:cNvSpPr>
            <a:spLocks noGrp="1" noChangeArrowheads="1"/>
          </p:cNvSpPr>
          <p:nvPr>
            <p:ph type="body" idx="1"/>
          </p:nvPr>
        </p:nvSpPr>
        <p:spPr>
          <a:xfrm>
            <a:off x="457200" y="1600200"/>
            <a:ext cx="8229600" cy="4967288"/>
          </a:xfrm>
        </p:spPr>
        <p:txBody>
          <a:bodyPr/>
          <a:lstStyle/>
          <a:p>
            <a:pPr marL="0" indent="0">
              <a:spcBef>
                <a:spcPct val="0"/>
              </a:spcBef>
              <a:spcAft>
                <a:spcPct val="0"/>
              </a:spcAft>
              <a:buClr>
                <a:srgbClr val="000000"/>
              </a:buClr>
              <a:buSzTx/>
              <a:buFont typeface="Trebuchet MS" panose="020B0603020202020204" pitchFamily="34" charset="0"/>
              <a:buNone/>
            </a:pPr>
            <a:r>
              <a:rPr lang="fr-FR" altLang="en-US" sz="2800" dirty="0" err="1">
                <a:solidFill>
                  <a:srgbClr val="000000"/>
                </a:solidFill>
                <a:latin typeface="Trebuchet MS" panose="020B0603020202020204" pitchFamily="34" charset="0"/>
                <a:sym typeface="Trebuchet MS" panose="020B0603020202020204" pitchFamily="34" charset="0"/>
              </a:rPr>
              <a:t>Nodes</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automatically</a:t>
            </a:r>
            <a:r>
              <a:rPr lang="fr-FR" altLang="en-US" sz="2800" dirty="0">
                <a:solidFill>
                  <a:srgbClr val="000000"/>
                </a:solidFill>
                <a:latin typeface="Trebuchet MS" panose="020B0603020202020204" pitchFamily="34" charset="0"/>
                <a:sym typeface="Trebuchet MS" panose="020B0603020202020204" pitchFamily="34" charset="0"/>
              </a:rPr>
              <a:t> re-</a:t>
            </a:r>
            <a:r>
              <a:rPr lang="fr-FR" altLang="en-US" sz="2800" dirty="0" err="1">
                <a:solidFill>
                  <a:srgbClr val="000000"/>
                </a:solidFill>
                <a:latin typeface="Trebuchet MS" panose="020B0603020202020204" pitchFamily="34" charset="0"/>
                <a:sym typeface="Trebuchet MS" panose="020B0603020202020204" pitchFamily="34" charset="0"/>
              </a:rPr>
              <a:t>calculate</a:t>
            </a:r>
            <a:r>
              <a:rPr lang="fr-FR" altLang="en-US" sz="2800" dirty="0">
                <a:solidFill>
                  <a:srgbClr val="000000"/>
                </a:solidFill>
                <a:latin typeface="Trebuchet MS" panose="020B0603020202020204" pitchFamily="34" charset="0"/>
                <a:sym typeface="Trebuchet MS" panose="020B0603020202020204" pitchFamily="34" charset="0"/>
              </a:rPr>
              <a:t> the </a:t>
            </a:r>
            <a:r>
              <a:rPr lang="fr-FR" altLang="en-US" sz="2800" dirty="0" err="1">
                <a:solidFill>
                  <a:srgbClr val="000000"/>
                </a:solidFill>
                <a:latin typeface="Trebuchet MS" panose="020B0603020202020204" pitchFamily="34" charset="0"/>
                <a:sym typeface="Trebuchet MS" panose="020B0603020202020204" pitchFamily="34" charset="0"/>
              </a:rPr>
              <a:t>target</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every</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two</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weeks</a:t>
            </a:r>
            <a:endParaRPr lang="fr-FR" altLang="en-US" dirty="0"/>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800" dirty="0">
                <a:solidFill>
                  <a:srgbClr val="000000"/>
                </a:solidFill>
                <a:latin typeface="Trebuchet MS" panose="020B0603020202020204" pitchFamily="34" charset="0"/>
                <a:sym typeface="Trebuchet MS" panose="020B0603020202020204" pitchFamily="34" charset="0"/>
              </a:rPr>
              <a:t>Goal: </a:t>
            </a:r>
            <a:r>
              <a:rPr lang="fr-FR" altLang="en-US" sz="2800" u="sng" dirty="0" err="1">
                <a:solidFill>
                  <a:srgbClr val="000000"/>
                </a:solidFill>
                <a:latin typeface="Trebuchet MS" panose="020B0603020202020204" pitchFamily="34" charset="0"/>
                <a:sym typeface="Trebuchet MS" panose="020B0603020202020204" pitchFamily="34" charset="0"/>
              </a:rPr>
              <a:t>average</a:t>
            </a:r>
            <a:r>
              <a:rPr lang="fr-FR" altLang="en-US" sz="2800" dirty="0">
                <a:solidFill>
                  <a:srgbClr val="000000"/>
                </a:solidFill>
                <a:latin typeface="Trebuchet MS" panose="020B0603020202020204" pitchFamily="34" charset="0"/>
                <a:sym typeface="Trebuchet MS" panose="020B0603020202020204" pitchFamily="34" charset="0"/>
              </a:rPr>
              <a:t> time </a:t>
            </a:r>
            <a:r>
              <a:rPr lang="fr-FR" altLang="en-US" sz="2800" dirty="0" err="1">
                <a:solidFill>
                  <a:srgbClr val="000000"/>
                </a:solidFill>
                <a:latin typeface="Trebuchet MS" panose="020B0603020202020204" pitchFamily="34" charset="0"/>
                <a:sym typeface="Trebuchet MS" panose="020B0603020202020204" pitchFamily="34" charset="0"/>
              </a:rPr>
              <a:t>between</a:t>
            </a:r>
            <a:r>
              <a:rPr lang="fr-FR" altLang="en-US" sz="2800" dirty="0">
                <a:solidFill>
                  <a:srgbClr val="000000"/>
                </a:solidFill>
                <a:latin typeface="Trebuchet MS" panose="020B0603020202020204" pitchFamily="34" charset="0"/>
                <a:sym typeface="Trebuchet MS" panose="020B0603020202020204" pitchFamily="34" charset="0"/>
              </a:rPr>
              <a:t> blocks = 10 minutes</a:t>
            </a:r>
            <a:endParaRPr lang="fr-FR" altLang="en-US" dirty="0"/>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2800" dirty="0">
              <a:solidFill>
                <a:srgbClr val="000000"/>
              </a:solidFill>
              <a:latin typeface="Trebuchet MS" panose="020B0603020202020204" pitchFamily="34" charset="0"/>
              <a:sym typeface="Trebuchet MS" panose="020B0603020202020204" pitchFamily="34" charset="0"/>
            </a:endParaRPr>
          </a:p>
        </p:txBody>
      </p:sp>
      <p:sp>
        <p:nvSpPr>
          <p:cNvPr id="435" name="Google Shape;435;p47">
            <a:extLst>
              <a:ext uri="{FF2B5EF4-FFF2-40B4-BE49-F238E27FC236}">
                <a16:creationId xmlns:a16="http://schemas.microsoft.com/office/drawing/2014/main" id="{32490A5A-6FF0-5799-54FC-B9EE39671E3F}"/>
              </a:ext>
            </a:extLst>
          </p:cNvPr>
          <p:cNvSpPr>
            <a:spLocks noChangeArrowheads="1"/>
          </p:cNvSpPr>
          <p:nvPr/>
        </p:nvSpPr>
        <p:spPr bwMode="auto">
          <a:xfrm>
            <a:off x="533400" y="4851400"/>
            <a:ext cx="8001000" cy="1271588"/>
          </a:xfrm>
          <a:prstGeom prst="rect">
            <a:avLst/>
          </a:prstGeom>
          <a:solidFill>
            <a:srgbClr val="EFD7AE"/>
          </a:solidFill>
          <a:ln w="19050">
            <a:solidFill>
              <a:srgbClr val="E7C586"/>
            </a:solidFill>
            <a:round/>
            <a:headEnd type="none" w="sm" len="sm"/>
            <a:tailEnd type="none" w="sm" len="sm"/>
          </a:ln>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2800" dirty="0">
                <a:solidFill>
                  <a:srgbClr val="000000"/>
                </a:solidFill>
                <a:latin typeface="Trebuchet MS" panose="020B0603020202020204" pitchFamily="34" charset="0"/>
                <a:sym typeface="Trebuchet MS" panose="020B0603020202020204" pitchFamily="34" charset="0"/>
              </a:rPr>
              <a:t>Prob (Alice </a:t>
            </a:r>
            <a:r>
              <a:rPr lang="fr-FR" altLang="en-US" sz="2800" dirty="0" err="1">
                <a:solidFill>
                  <a:srgbClr val="000000"/>
                </a:solidFill>
                <a:latin typeface="Trebuchet MS" panose="020B0603020202020204" pitchFamily="34" charset="0"/>
                <a:sym typeface="Trebuchet MS" panose="020B0603020202020204" pitchFamily="34" charset="0"/>
              </a:rPr>
              <a:t>wins</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next</a:t>
            </a:r>
            <a:r>
              <a:rPr lang="fr-FR" altLang="en-US" sz="2800" dirty="0">
                <a:solidFill>
                  <a:srgbClr val="000000"/>
                </a:solidFill>
                <a:latin typeface="Trebuchet MS" panose="020B0603020202020204" pitchFamily="34" charset="0"/>
                <a:sym typeface="Trebuchet MS" panose="020B0603020202020204" pitchFamily="34" charset="0"/>
              </a:rPr>
              <a:t> block) = </a:t>
            </a:r>
            <a:endParaRPr lang="fr-FR" altLang="en-US" sz="2800" dirty="0"/>
          </a:p>
          <a:p>
            <a:pPr algn="ctr" eaLnBrk="1" hangingPunct="1">
              <a:spcBef>
                <a:spcPct val="0"/>
              </a:spcBef>
              <a:buClr>
                <a:srgbClr val="000000"/>
              </a:buClr>
              <a:buFont typeface="Trebuchet MS" panose="020B0603020202020204" pitchFamily="34" charset="0"/>
              <a:buNone/>
            </a:pPr>
            <a:r>
              <a:rPr lang="fr-FR" altLang="en-US" sz="2800" dirty="0">
                <a:solidFill>
                  <a:srgbClr val="000000"/>
                </a:solidFill>
                <a:latin typeface="Trebuchet MS" panose="020B0603020202020204" pitchFamily="34" charset="0"/>
                <a:sym typeface="Trebuchet MS" panose="020B0603020202020204" pitchFamily="34" charset="0"/>
              </a:rPr>
              <a:t>fraction of global hash power </a:t>
            </a:r>
            <a:r>
              <a:rPr lang="fr-FR" altLang="en-US" sz="2800" dirty="0" err="1">
                <a:solidFill>
                  <a:srgbClr val="000000"/>
                </a:solidFill>
                <a:latin typeface="Trebuchet MS" panose="020B0603020202020204" pitchFamily="34" charset="0"/>
                <a:sym typeface="Trebuchet MS" panose="020B0603020202020204" pitchFamily="34" charset="0"/>
              </a:rPr>
              <a:t>she</a:t>
            </a:r>
            <a:r>
              <a:rPr lang="fr-FR" altLang="en-US" sz="2800" dirty="0">
                <a:solidFill>
                  <a:srgbClr val="000000"/>
                </a:solidFill>
                <a:latin typeface="Trebuchet MS" panose="020B0603020202020204" pitchFamily="34" charset="0"/>
                <a:sym typeface="Trebuchet MS" panose="020B0603020202020204" pitchFamily="34" charset="0"/>
              </a:rPr>
              <a:t> </a:t>
            </a:r>
            <a:r>
              <a:rPr lang="fr-FR" altLang="en-US" sz="2800" dirty="0" err="1">
                <a:solidFill>
                  <a:srgbClr val="000000"/>
                </a:solidFill>
                <a:latin typeface="Trebuchet MS" panose="020B0603020202020204" pitchFamily="34" charset="0"/>
                <a:sym typeface="Trebuchet MS" panose="020B0603020202020204" pitchFamily="34" charset="0"/>
              </a:rPr>
              <a:t>controls</a:t>
            </a:r>
            <a:endParaRPr lang="fr-FR" altLang="en-US" sz="2800" dirty="0">
              <a:solidFill>
                <a:srgbClr val="000000"/>
              </a:solidFill>
              <a:latin typeface="Trebuchet MS" panose="020B0603020202020204" pitchFamily="34" charset="0"/>
              <a:sym typeface="Trebuchet MS" panose="020B0603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35"/>
                                        </p:tgtEl>
                                        <p:attrNameLst>
                                          <p:attrName>style.visibility</p:attrName>
                                        </p:attrNameLst>
                                      </p:cBhvr>
                                      <p:to>
                                        <p:strVal val="visible"/>
                                      </p:to>
                                    </p:set>
                                    <p:animEffect transition="in" filter="fade">
                                      <p:cBhvr>
                                        <p:cTn id="7" dur="500"/>
                                        <p:tgtEl>
                                          <p:spTgt spid="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Google Shape;458;p50">
            <a:extLst>
              <a:ext uri="{FF2B5EF4-FFF2-40B4-BE49-F238E27FC236}">
                <a16:creationId xmlns:a16="http://schemas.microsoft.com/office/drawing/2014/main" id="{16A0542B-7C32-44E2-DCD6-A39386046942}"/>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PoW property 3: trivial to verify</a:t>
            </a:r>
          </a:p>
        </p:txBody>
      </p:sp>
      <p:sp>
        <p:nvSpPr>
          <p:cNvPr id="70658" name="Google Shape;459;p50">
            <a:extLst>
              <a:ext uri="{FF2B5EF4-FFF2-40B4-BE49-F238E27FC236}">
                <a16:creationId xmlns:a16="http://schemas.microsoft.com/office/drawing/2014/main" id="{3AE4E031-CC19-A7E9-15EC-76BBD054249D}"/>
              </a:ext>
            </a:extLst>
          </p:cNvPr>
          <p:cNvSpPr>
            <a:spLocks noGrp="1" noChangeArrowheads="1"/>
          </p:cNvSpPr>
          <p:nvPr>
            <p:ph type="body" idx="1"/>
          </p:nvPr>
        </p:nvSpPr>
        <p:spPr>
          <a:xfrm>
            <a:off x="457200" y="1600200"/>
            <a:ext cx="8229600" cy="4967288"/>
          </a:xfrm>
        </p:spPr>
        <p:txBody>
          <a:bodyPr/>
          <a:lstStyle/>
          <a:p>
            <a:pPr marL="0" indent="0">
              <a:spcBef>
                <a:spcPct val="0"/>
              </a:spcBef>
              <a:spcAft>
                <a:spcPct val="0"/>
              </a:spcAft>
              <a:buClr>
                <a:srgbClr val="000000"/>
              </a:buClr>
              <a:buSzTx/>
              <a:buFont typeface="Trebuchet MS" panose="020B0603020202020204" pitchFamily="34" charset="0"/>
              <a:buNone/>
            </a:pPr>
            <a:endParaRPr lang="fr-FR" altLang="en-US" sz="280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800">
                <a:solidFill>
                  <a:srgbClr val="000000"/>
                </a:solidFill>
                <a:latin typeface="Trebuchet MS" panose="020B0603020202020204" pitchFamily="34" charset="0"/>
                <a:sym typeface="Trebuchet MS" panose="020B0603020202020204" pitchFamily="34" charset="0"/>
              </a:rPr>
              <a:t>Nonce must be published as part of block</a:t>
            </a:r>
            <a:endParaRPr lang="fr-FR" altLang="en-US"/>
          </a:p>
          <a:p>
            <a:pPr marL="0" indent="0">
              <a:spcBef>
                <a:spcPct val="0"/>
              </a:spcBef>
              <a:spcAft>
                <a:spcPct val="0"/>
              </a:spcAft>
              <a:buClr>
                <a:srgbClr val="000000"/>
              </a:buClr>
              <a:buSzTx/>
              <a:buFont typeface="Trebuchet MS" panose="020B0603020202020204" pitchFamily="34" charset="0"/>
              <a:buNone/>
            </a:pPr>
            <a:endParaRPr lang="fr-FR" altLang="en-US" sz="280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280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800">
                <a:solidFill>
                  <a:srgbClr val="000000"/>
                </a:solidFill>
                <a:latin typeface="Trebuchet MS" panose="020B0603020202020204" pitchFamily="34" charset="0"/>
                <a:sym typeface="Trebuchet MS" panose="020B0603020202020204" pitchFamily="34" charset="0"/>
              </a:rPr>
              <a:t>Other miners simply verify that</a:t>
            </a:r>
            <a:endParaRPr lang="fr-FR" altLang="en-US"/>
          </a:p>
          <a:p>
            <a:pPr marL="0" indent="0">
              <a:spcBef>
                <a:spcPct val="0"/>
              </a:spcBef>
              <a:spcAft>
                <a:spcPct val="0"/>
              </a:spcAft>
              <a:buClr>
                <a:srgbClr val="000000"/>
              </a:buClr>
              <a:buSzTx/>
              <a:buFont typeface="Trebuchet MS" panose="020B0603020202020204" pitchFamily="34" charset="0"/>
              <a:buNone/>
            </a:pPr>
            <a:r>
              <a:rPr lang="fr-FR" altLang="en-US" sz="2800">
                <a:solidFill>
                  <a:srgbClr val="000000"/>
                </a:solidFill>
                <a:latin typeface="Trebuchet MS" panose="020B0603020202020204" pitchFamily="34" charset="0"/>
                <a:sym typeface="Trebuchet MS" panose="020B0603020202020204" pitchFamily="34" charset="0"/>
              </a:rPr>
              <a:t>H(nonce ‖ prev_hash ‖  … ) &lt; target</a:t>
            </a:r>
          </a:p>
          <a:p>
            <a:pPr marL="0" indent="0">
              <a:spcBef>
                <a:spcPct val="0"/>
              </a:spcBef>
              <a:spcAft>
                <a:spcPct val="0"/>
              </a:spcAft>
              <a:buClr>
                <a:srgbClr val="000000"/>
              </a:buClr>
              <a:buSzTx/>
              <a:buFont typeface="Trebuchet MS" panose="020B0603020202020204" pitchFamily="34" charset="0"/>
              <a:buNone/>
            </a:pPr>
            <a:endParaRPr lang="fr-FR" altLang="en-US" sz="2800">
              <a:solidFill>
                <a:srgbClr val="000000"/>
              </a:solidFill>
              <a:latin typeface="Trebuchet MS" panose="020B0603020202020204" pitchFamily="34" charset="0"/>
              <a:sym typeface="Trebuchet MS" panose="020B0603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re 1">
            <a:extLst>
              <a:ext uri="{FF2B5EF4-FFF2-40B4-BE49-F238E27FC236}">
                <a16:creationId xmlns:a16="http://schemas.microsoft.com/office/drawing/2014/main" id="{7B2426B2-AF0C-96B7-E264-07368F6212C3}"/>
              </a:ext>
            </a:extLst>
          </p:cNvPr>
          <p:cNvSpPr>
            <a:spLocks noGrp="1" noChangeArrowheads="1"/>
          </p:cNvSpPr>
          <p:nvPr>
            <p:ph type="title"/>
          </p:nvPr>
        </p:nvSpPr>
        <p:spPr/>
        <p:txBody>
          <a:bodyPr/>
          <a:lstStyle/>
          <a:p>
            <a:r>
              <a:rPr lang="fr-FR" altLang="en-US"/>
              <a:t>Roadmap </a:t>
            </a:r>
          </a:p>
        </p:txBody>
      </p:sp>
      <p:sp>
        <p:nvSpPr>
          <p:cNvPr id="3" name="Espace réservé du contenu 2">
            <a:extLst>
              <a:ext uri="{FF2B5EF4-FFF2-40B4-BE49-F238E27FC236}">
                <a16:creationId xmlns:a16="http://schemas.microsoft.com/office/drawing/2014/main" id="{3C3052F9-0446-6662-A20A-64DE7DC5D060}"/>
              </a:ext>
            </a:extLst>
          </p:cNvPr>
          <p:cNvSpPr>
            <a:spLocks noGrp="1"/>
          </p:cNvSpPr>
          <p:nvPr>
            <p:ph idx="1"/>
          </p:nvPr>
        </p:nvSpPr>
        <p:spPr/>
        <p:txBody>
          <a:bodyPr/>
          <a:lstStyle/>
          <a:p>
            <a:pPr>
              <a:defRPr/>
            </a:pPr>
            <a:r>
              <a:rPr lang="fr-FR" sz="2800" dirty="0" err="1">
                <a:solidFill>
                  <a:schemeClr val="bg1">
                    <a:lumMod val="75000"/>
                  </a:schemeClr>
                </a:solidFill>
              </a:rPr>
              <a:t>Centralized</a:t>
            </a:r>
            <a:r>
              <a:rPr lang="fr-FR" sz="2800" dirty="0">
                <a:solidFill>
                  <a:schemeClr val="bg1">
                    <a:lumMod val="75000"/>
                  </a:schemeClr>
                </a:solidFill>
              </a:rPr>
              <a:t> and </a:t>
            </a:r>
            <a:r>
              <a:rPr lang="fr-FR" sz="2800" dirty="0" err="1">
                <a:solidFill>
                  <a:schemeClr val="bg1">
                    <a:lumMod val="75000"/>
                  </a:schemeClr>
                </a:solidFill>
              </a:rPr>
              <a:t>decentralized</a:t>
            </a:r>
            <a:r>
              <a:rPr lang="fr-FR" sz="2800" dirty="0">
                <a:solidFill>
                  <a:schemeClr val="bg1">
                    <a:lumMod val="75000"/>
                  </a:schemeClr>
                </a:solidFill>
              </a:rPr>
              <a:t> </a:t>
            </a:r>
            <a:r>
              <a:rPr lang="fr-FR" sz="2800" dirty="0" err="1">
                <a:solidFill>
                  <a:schemeClr val="bg1">
                    <a:lumMod val="75000"/>
                  </a:schemeClr>
                </a:solidFill>
              </a:rPr>
              <a:t>systems</a:t>
            </a:r>
            <a:endParaRPr lang="fr-FR" sz="2800" dirty="0">
              <a:solidFill>
                <a:schemeClr val="bg1">
                  <a:lumMod val="75000"/>
                </a:schemeClr>
              </a:solidFill>
            </a:endParaRPr>
          </a:p>
          <a:p>
            <a:pPr>
              <a:defRPr/>
            </a:pPr>
            <a:r>
              <a:rPr lang="fr-FR" sz="2800" dirty="0" err="1">
                <a:solidFill>
                  <a:schemeClr val="bg1">
                    <a:lumMod val="75000"/>
                  </a:schemeClr>
                </a:solidFill>
              </a:rPr>
              <a:t>Distributed</a:t>
            </a:r>
            <a:r>
              <a:rPr lang="fr-FR" sz="2800" dirty="0">
                <a:solidFill>
                  <a:schemeClr val="bg1">
                    <a:lumMod val="75000"/>
                  </a:schemeClr>
                </a:solidFill>
              </a:rPr>
              <a:t> Consensus</a:t>
            </a:r>
          </a:p>
          <a:p>
            <a:pPr>
              <a:defRPr/>
            </a:pPr>
            <a:r>
              <a:rPr lang="fr-FR" sz="2800" dirty="0">
                <a:solidFill>
                  <a:schemeClr val="bg1">
                    <a:lumMod val="75000"/>
                  </a:schemeClr>
                </a:solidFill>
              </a:rPr>
              <a:t>Consensus </a:t>
            </a:r>
            <a:r>
              <a:rPr lang="fr-FR" sz="2800" dirty="0" err="1">
                <a:solidFill>
                  <a:schemeClr val="bg1">
                    <a:lumMod val="75000"/>
                  </a:schemeClr>
                </a:solidFill>
              </a:rPr>
              <a:t>problem</a:t>
            </a:r>
            <a:r>
              <a:rPr lang="fr-FR" sz="2800" dirty="0">
                <a:solidFill>
                  <a:schemeClr val="bg1">
                    <a:lumMod val="75000"/>
                  </a:schemeClr>
                </a:solidFill>
              </a:rPr>
              <a:t> in </a:t>
            </a:r>
            <a:r>
              <a:rPr lang="fr-FR" sz="2800" dirty="0" err="1">
                <a:solidFill>
                  <a:schemeClr val="bg1">
                    <a:lumMod val="75000"/>
                  </a:schemeClr>
                </a:solidFill>
              </a:rPr>
              <a:t>Bitcoin</a:t>
            </a:r>
            <a:endParaRPr lang="fr-FR" sz="2800" dirty="0">
              <a:solidFill>
                <a:schemeClr val="bg1">
                  <a:lumMod val="75000"/>
                </a:schemeClr>
              </a:solidFill>
            </a:endParaRPr>
          </a:p>
          <a:p>
            <a:pPr>
              <a:defRPr/>
            </a:pPr>
            <a:r>
              <a:rPr lang="fr-FR" sz="2800" dirty="0" err="1">
                <a:solidFill>
                  <a:srgbClr val="FF0000"/>
                </a:solidFill>
              </a:rPr>
              <a:t>Bitcoin</a:t>
            </a:r>
            <a:r>
              <a:rPr lang="fr-FR" sz="2800" dirty="0">
                <a:solidFill>
                  <a:srgbClr val="FF0000"/>
                </a:solidFill>
              </a:rPr>
              <a:t> Consensus </a:t>
            </a:r>
            <a:r>
              <a:rPr lang="fr-FR" sz="2800" dirty="0" err="1">
                <a:solidFill>
                  <a:srgbClr val="FF0000"/>
                </a:solidFill>
              </a:rPr>
              <a:t>Algorithm</a:t>
            </a:r>
            <a:endParaRPr lang="fr-FR" sz="2800" dirty="0">
              <a:solidFill>
                <a:srgbClr val="FF0000"/>
              </a:solidFill>
            </a:endParaRPr>
          </a:p>
          <a:p>
            <a:pPr lvl="1">
              <a:defRPr/>
            </a:pPr>
            <a:r>
              <a:rPr lang="fr-FR" sz="2400" dirty="0" err="1">
                <a:solidFill>
                  <a:srgbClr val="FF0000"/>
                </a:solidFill>
              </a:rPr>
              <a:t>Incentives</a:t>
            </a:r>
            <a:r>
              <a:rPr lang="fr-FR" sz="2400" dirty="0">
                <a:solidFill>
                  <a:srgbClr val="FF0000"/>
                </a:solidFill>
              </a:rPr>
              <a:t> for </a:t>
            </a:r>
            <a:r>
              <a:rPr lang="fr-FR" sz="2400" dirty="0" err="1">
                <a:solidFill>
                  <a:srgbClr val="FF0000"/>
                </a:solidFill>
              </a:rPr>
              <a:t>miners</a:t>
            </a:r>
            <a:r>
              <a:rPr lang="fr-FR" sz="2400" dirty="0">
                <a:solidFill>
                  <a:srgbClr val="FF0000"/>
                </a:solidFill>
              </a:rPr>
              <a:t>, Proof of </a:t>
            </a:r>
            <a:r>
              <a:rPr lang="fr-FR" sz="2400" dirty="0" err="1">
                <a:solidFill>
                  <a:srgbClr val="FF0000"/>
                </a:solidFill>
              </a:rPr>
              <a:t>work</a:t>
            </a:r>
            <a:r>
              <a:rPr lang="fr-FR" sz="2400" dirty="0">
                <a:solidFill>
                  <a:srgbClr val="FF0000"/>
                </a:solidFill>
              </a:rPr>
              <a:t>, Limitations</a:t>
            </a:r>
          </a:p>
        </p:txBody>
      </p:sp>
      <p:sp>
        <p:nvSpPr>
          <p:cNvPr id="2" name="Slide Number Placeholder 1">
            <a:extLst>
              <a:ext uri="{FF2B5EF4-FFF2-40B4-BE49-F238E27FC236}">
                <a16:creationId xmlns:a16="http://schemas.microsoft.com/office/drawing/2014/main" id="{C3C519EF-B920-5C6A-2E90-495F395FC3D0}"/>
              </a:ext>
            </a:extLst>
          </p:cNvPr>
          <p:cNvSpPr>
            <a:spLocks noGrp="1"/>
          </p:cNvSpPr>
          <p:nvPr>
            <p:ph type="sldNum" sz="quarter" idx="12"/>
          </p:nvPr>
        </p:nvSpPr>
        <p:spPr/>
        <p:txBody>
          <a:bodyPr/>
          <a:lstStyle/>
          <a:p>
            <a:fld id="{54AFB715-9BAA-466F-BD26-510BF652CDA2}" type="slidenum">
              <a:rPr lang="en-US" altLang="en-US" smtClean="0"/>
              <a:pPr/>
              <a:t>34</a:t>
            </a:fld>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Google Shape;440;p48">
            <a:extLst>
              <a:ext uri="{FF2B5EF4-FFF2-40B4-BE49-F238E27FC236}">
                <a16:creationId xmlns:a16="http://schemas.microsoft.com/office/drawing/2014/main" id="{A996612E-611C-6467-9377-60CAC85739B5}"/>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Key security assumption</a:t>
            </a:r>
          </a:p>
        </p:txBody>
      </p:sp>
      <p:sp>
        <p:nvSpPr>
          <p:cNvPr id="73730" name="Google Shape;441;p48">
            <a:extLst>
              <a:ext uri="{FF2B5EF4-FFF2-40B4-BE49-F238E27FC236}">
                <a16:creationId xmlns:a16="http://schemas.microsoft.com/office/drawing/2014/main" id="{5AB6B384-A7D2-D26C-7F79-5D02C3C8A0ED}"/>
              </a:ext>
            </a:extLst>
          </p:cNvPr>
          <p:cNvSpPr>
            <a:spLocks noGrp="1" noChangeArrowheads="1"/>
          </p:cNvSpPr>
          <p:nvPr>
            <p:ph type="body" idx="1"/>
          </p:nvPr>
        </p:nvSpPr>
        <p:spPr>
          <a:xfrm>
            <a:off x="457200" y="1600200"/>
            <a:ext cx="8229600" cy="4967288"/>
          </a:xfrm>
        </p:spPr>
        <p:txBody>
          <a:bodyPr/>
          <a:lstStyle/>
          <a:p>
            <a:pPr marL="0" indent="0">
              <a:spcBef>
                <a:spcPct val="0"/>
              </a:spcBef>
              <a:spcAft>
                <a:spcPct val="0"/>
              </a:spcAft>
              <a:buClr>
                <a:srgbClr val="000000"/>
              </a:buClr>
              <a:buSzTx/>
              <a:buFont typeface="Trebuchet MS" panose="020B0603020202020204" pitchFamily="34" charset="0"/>
              <a:buNone/>
            </a:pPr>
            <a:endParaRPr lang="fr-FR" altLang="en-US" sz="300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endParaRPr lang="fr-FR" altLang="en-US" sz="300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3000">
                <a:solidFill>
                  <a:srgbClr val="000000"/>
                </a:solidFill>
                <a:latin typeface="Trebuchet MS" panose="020B0603020202020204" pitchFamily="34" charset="0"/>
                <a:sym typeface="Trebuchet MS" panose="020B0603020202020204" pitchFamily="34" charset="0"/>
              </a:rPr>
              <a:t>Attacks infeasible if majority of miners </a:t>
            </a:r>
            <a:r>
              <a:rPr lang="fr-FR" altLang="en-US" sz="3000" u="sng">
                <a:solidFill>
                  <a:srgbClr val="000000"/>
                </a:solidFill>
                <a:latin typeface="Trebuchet MS" panose="020B0603020202020204" pitchFamily="34" charset="0"/>
                <a:sym typeface="Trebuchet MS" panose="020B0603020202020204" pitchFamily="34" charset="0"/>
              </a:rPr>
              <a:t>weighted by hash power</a:t>
            </a:r>
            <a:r>
              <a:rPr lang="fr-FR" altLang="en-US" sz="3000">
                <a:solidFill>
                  <a:srgbClr val="000000"/>
                </a:solidFill>
                <a:latin typeface="Trebuchet MS" panose="020B0603020202020204" pitchFamily="34" charset="0"/>
                <a:sym typeface="Trebuchet MS" panose="020B0603020202020204" pitchFamily="34" charset="0"/>
              </a:rPr>
              <a:t> follow the protocol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Google Shape;291;p35">
            <a:extLst>
              <a:ext uri="{FF2B5EF4-FFF2-40B4-BE49-F238E27FC236}">
                <a16:creationId xmlns:a16="http://schemas.microsoft.com/office/drawing/2014/main" id="{218B3A38-6F94-CEC9-43B3-F9C7CB79BCDA}"/>
              </a:ext>
            </a:extLst>
          </p:cNvPr>
          <p:cNvSpPr>
            <a:spLocks noGrp="1"/>
          </p:cNvSpPr>
          <p:nvPr>
            <p:ph type="title"/>
          </p:nvPr>
        </p:nvSpPr>
        <p:spPr>
          <a:xfrm>
            <a:off x="457200" y="631826"/>
            <a:ext cx="8229600" cy="785812"/>
          </a:xfrm>
          <a:ln cap="flat">
            <a:solidFill>
              <a:schemeClr val="bg1"/>
            </a:solidFill>
            <a:round/>
            <a:headEnd type="none" w="sm" len="sm"/>
            <a:tailEnd type="none" w="sm" len="sm"/>
          </a:ln>
        </p:spPr>
        <p:txBody>
          <a:bodyPr lIns="91425" tIns="91425" rIns="91425" bIns="91425"/>
          <a:lstStyle/>
          <a:p>
            <a:pPr>
              <a:buClr>
                <a:srgbClr val="000000"/>
              </a:buClr>
              <a:buFont typeface="Trebuchet MS" panose="020B0603020202020204" pitchFamily="34" charset="0"/>
              <a:buNone/>
            </a:pPr>
            <a:r>
              <a:rPr lang="en-US" altLang="en-US" sz="3200">
                <a:solidFill>
                  <a:srgbClr val="000000"/>
                </a:solidFill>
                <a:sym typeface="Trebuchet MS" panose="020B0603020202020204" pitchFamily="34" charset="0"/>
              </a:rPr>
              <a:t>From Bob the merchant</a:t>
            </a:r>
            <a:r>
              <a:rPr lang="en-US" altLang="fr-FR" sz="3200">
                <a:solidFill>
                  <a:srgbClr val="000000"/>
                </a:solidFill>
                <a:sym typeface="Trebuchet MS" panose="020B0603020202020204" pitchFamily="34" charset="0"/>
              </a:rPr>
              <a:t>’</a:t>
            </a:r>
            <a:r>
              <a:rPr lang="en-US" altLang="en-US" sz="3200">
                <a:solidFill>
                  <a:srgbClr val="000000"/>
                </a:solidFill>
                <a:sym typeface="Trebuchet MS" panose="020B0603020202020204" pitchFamily="34" charset="0"/>
              </a:rPr>
              <a:t>s point of view</a:t>
            </a:r>
            <a:endParaRPr lang="fr-FR" altLang="en-US" sz="3200">
              <a:solidFill>
                <a:srgbClr val="000000"/>
              </a:solidFill>
              <a:sym typeface="Trebuchet MS" panose="020B0603020202020204" pitchFamily="34" charset="0"/>
            </a:endParaRPr>
          </a:p>
        </p:txBody>
      </p:sp>
      <p:grpSp>
        <p:nvGrpSpPr>
          <p:cNvPr id="75778" name="Google Shape;292;p35">
            <a:extLst>
              <a:ext uri="{FF2B5EF4-FFF2-40B4-BE49-F238E27FC236}">
                <a16:creationId xmlns:a16="http://schemas.microsoft.com/office/drawing/2014/main" id="{21DADDB3-E22F-CFF7-8CEC-78CA43B35B28}"/>
              </a:ext>
            </a:extLst>
          </p:cNvPr>
          <p:cNvGrpSpPr>
            <a:grpSpLocks/>
          </p:cNvGrpSpPr>
          <p:nvPr/>
        </p:nvGrpSpPr>
        <p:grpSpPr bwMode="auto">
          <a:xfrm>
            <a:off x="1828800" y="2220913"/>
            <a:ext cx="762000" cy="1206500"/>
            <a:chOff x="2895600" y="2199376"/>
            <a:chExt cx="762000" cy="905775"/>
          </a:xfrm>
        </p:grpSpPr>
        <p:sp>
          <p:nvSpPr>
            <p:cNvPr id="75817" name="Google Shape;293;p35">
              <a:extLst>
                <a:ext uri="{FF2B5EF4-FFF2-40B4-BE49-F238E27FC236}">
                  <a16:creationId xmlns:a16="http://schemas.microsoft.com/office/drawing/2014/main" id="{CDB3580F-E69F-FDD4-24BD-D43D8FFF61D0}"/>
                </a:ext>
              </a:extLst>
            </p:cNvPr>
            <p:cNvSpPr>
              <a:spLocks noChangeArrowheads="1"/>
            </p:cNvSpPr>
            <p:nvPr/>
          </p:nvSpPr>
          <p:spPr bwMode="auto">
            <a:xfrm>
              <a:off x="2895600" y="2199376"/>
              <a:ext cx="762000" cy="228721"/>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18" name="Google Shape;294;p35">
              <a:extLst>
                <a:ext uri="{FF2B5EF4-FFF2-40B4-BE49-F238E27FC236}">
                  <a16:creationId xmlns:a16="http://schemas.microsoft.com/office/drawing/2014/main" id="{AA4F825E-C5B4-9B52-5BC2-682B8E04953E}"/>
                </a:ext>
              </a:extLst>
            </p:cNvPr>
            <p:cNvSpPr>
              <a:spLocks noChangeArrowheads="1"/>
            </p:cNvSpPr>
            <p:nvPr/>
          </p:nvSpPr>
          <p:spPr bwMode="auto">
            <a:xfrm>
              <a:off x="2895600" y="2427976"/>
              <a:ext cx="762000" cy="223643"/>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19" name="Google Shape;295;p35">
              <a:extLst>
                <a:ext uri="{FF2B5EF4-FFF2-40B4-BE49-F238E27FC236}">
                  <a16:creationId xmlns:a16="http://schemas.microsoft.com/office/drawing/2014/main" id="{F22A91EF-D99D-376C-3188-1455F5345E71}"/>
                </a:ext>
              </a:extLst>
            </p:cNvPr>
            <p:cNvSpPr>
              <a:spLocks noChangeArrowheads="1"/>
            </p:cNvSpPr>
            <p:nvPr/>
          </p:nvSpPr>
          <p:spPr bwMode="auto">
            <a:xfrm>
              <a:off x="2895600" y="2647950"/>
              <a:ext cx="762000" cy="216762"/>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20" name="Google Shape;296;p35">
              <a:extLst>
                <a:ext uri="{FF2B5EF4-FFF2-40B4-BE49-F238E27FC236}">
                  <a16:creationId xmlns:a16="http://schemas.microsoft.com/office/drawing/2014/main" id="{40BDC061-1552-EF8C-7BB2-0EF33C1FF4A1}"/>
                </a:ext>
              </a:extLst>
            </p:cNvPr>
            <p:cNvSpPr>
              <a:spLocks noChangeArrowheads="1"/>
            </p:cNvSpPr>
            <p:nvPr/>
          </p:nvSpPr>
          <p:spPr bwMode="auto">
            <a:xfrm>
              <a:off x="2895600" y="2864713"/>
              <a:ext cx="762000" cy="240438"/>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grpSp>
      <p:grpSp>
        <p:nvGrpSpPr>
          <p:cNvPr id="75779" name="Google Shape;297;p35">
            <a:extLst>
              <a:ext uri="{FF2B5EF4-FFF2-40B4-BE49-F238E27FC236}">
                <a16:creationId xmlns:a16="http://schemas.microsoft.com/office/drawing/2014/main" id="{F65705EF-44F0-8147-CA52-5DECABC1A7E1}"/>
              </a:ext>
            </a:extLst>
          </p:cNvPr>
          <p:cNvGrpSpPr>
            <a:grpSpLocks/>
          </p:cNvGrpSpPr>
          <p:nvPr/>
        </p:nvGrpSpPr>
        <p:grpSpPr bwMode="auto">
          <a:xfrm>
            <a:off x="533400" y="2220913"/>
            <a:ext cx="762000" cy="1208087"/>
            <a:chOff x="2895600" y="2199376"/>
            <a:chExt cx="762000" cy="905775"/>
          </a:xfrm>
        </p:grpSpPr>
        <p:sp>
          <p:nvSpPr>
            <p:cNvPr id="75813" name="Google Shape;298;p35">
              <a:extLst>
                <a:ext uri="{FF2B5EF4-FFF2-40B4-BE49-F238E27FC236}">
                  <a16:creationId xmlns:a16="http://schemas.microsoft.com/office/drawing/2014/main" id="{64BA6D4B-DD83-79AB-8777-5D63D969EBA0}"/>
                </a:ext>
              </a:extLst>
            </p:cNvPr>
            <p:cNvSpPr>
              <a:spLocks noChangeArrowheads="1"/>
            </p:cNvSpPr>
            <p:nvPr/>
          </p:nvSpPr>
          <p:spPr bwMode="auto">
            <a:xfrm>
              <a:off x="2895600" y="2199376"/>
              <a:ext cx="762000" cy="228721"/>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14" name="Google Shape;299;p35">
              <a:extLst>
                <a:ext uri="{FF2B5EF4-FFF2-40B4-BE49-F238E27FC236}">
                  <a16:creationId xmlns:a16="http://schemas.microsoft.com/office/drawing/2014/main" id="{4DB12195-0CBA-5CEE-8950-FB85B4169E23}"/>
                </a:ext>
              </a:extLst>
            </p:cNvPr>
            <p:cNvSpPr>
              <a:spLocks noChangeArrowheads="1"/>
            </p:cNvSpPr>
            <p:nvPr/>
          </p:nvSpPr>
          <p:spPr bwMode="auto">
            <a:xfrm>
              <a:off x="2895600" y="2427976"/>
              <a:ext cx="762000" cy="223643"/>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15" name="Google Shape;300;p35">
              <a:extLst>
                <a:ext uri="{FF2B5EF4-FFF2-40B4-BE49-F238E27FC236}">
                  <a16:creationId xmlns:a16="http://schemas.microsoft.com/office/drawing/2014/main" id="{3D9E7015-6CA8-57E9-2586-918BAD4A1D19}"/>
                </a:ext>
              </a:extLst>
            </p:cNvPr>
            <p:cNvSpPr>
              <a:spLocks noChangeArrowheads="1"/>
            </p:cNvSpPr>
            <p:nvPr/>
          </p:nvSpPr>
          <p:spPr bwMode="auto">
            <a:xfrm>
              <a:off x="2895600" y="2647950"/>
              <a:ext cx="762000" cy="216762"/>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16" name="Google Shape;301;p35">
              <a:extLst>
                <a:ext uri="{FF2B5EF4-FFF2-40B4-BE49-F238E27FC236}">
                  <a16:creationId xmlns:a16="http://schemas.microsoft.com/office/drawing/2014/main" id="{E859636A-2EF8-EA24-E9A6-7538A0DDCC67}"/>
                </a:ext>
              </a:extLst>
            </p:cNvPr>
            <p:cNvSpPr>
              <a:spLocks noChangeArrowheads="1"/>
            </p:cNvSpPr>
            <p:nvPr/>
          </p:nvSpPr>
          <p:spPr bwMode="auto">
            <a:xfrm>
              <a:off x="2895600" y="2864713"/>
              <a:ext cx="762000" cy="240438"/>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grpSp>
      <p:grpSp>
        <p:nvGrpSpPr>
          <p:cNvPr id="302" name="Google Shape;302;p35">
            <a:extLst>
              <a:ext uri="{FF2B5EF4-FFF2-40B4-BE49-F238E27FC236}">
                <a16:creationId xmlns:a16="http://schemas.microsoft.com/office/drawing/2014/main" id="{34EF4F11-66D3-DD61-9403-EE9B6D90248A}"/>
              </a:ext>
            </a:extLst>
          </p:cNvPr>
          <p:cNvGrpSpPr>
            <a:grpSpLocks/>
          </p:cNvGrpSpPr>
          <p:nvPr/>
        </p:nvGrpSpPr>
        <p:grpSpPr bwMode="auto">
          <a:xfrm>
            <a:off x="3124200" y="2225675"/>
            <a:ext cx="762000" cy="1208088"/>
            <a:chOff x="2895600" y="2199376"/>
            <a:chExt cx="762000" cy="905775"/>
          </a:xfrm>
        </p:grpSpPr>
        <p:sp>
          <p:nvSpPr>
            <p:cNvPr id="75809" name="Google Shape;303;p35">
              <a:extLst>
                <a:ext uri="{FF2B5EF4-FFF2-40B4-BE49-F238E27FC236}">
                  <a16:creationId xmlns:a16="http://schemas.microsoft.com/office/drawing/2014/main" id="{6A1C77C8-1286-95B9-1D53-D55C3EE02706}"/>
                </a:ext>
              </a:extLst>
            </p:cNvPr>
            <p:cNvSpPr>
              <a:spLocks noChangeArrowheads="1"/>
            </p:cNvSpPr>
            <p:nvPr/>
          </p:nvSpPr>
          <p:spPr bwMode="auto">
            <a:xfrm>
              <a:off x="2895600" y="2199376"/>
              <a:ext cx="762000" cy="228721"/>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10" name="Google Shape;304;p35">
              <a:extLst>
                <a:ext uri="{FF2B5EF4-FFF2-40B4-BE49-F238E27FC236}">
                  <a16:creationId xmlns:a16="http://schemas.microsoft.com/office/drawing/2014/main" id="{D3219A90-82EF-14B3-D174-607F46267A4C}"/>
                </a:ext>
              </a:extLst>
            </p:cNvPr>
            <p:cNvSpPr>
              <a:spLocks noChangeArrowheads="1"/>
            </p:cNvSpPr>
            <p:nvPr/>
          </p:nvSpPr>
          <p:spPr bwMode="auto">
            <a:xfrm>
              <a:off x="2895600" y="2427976"/>
              <a:ext cx="762000" cy="223643"/>
            </a:xfrm>
            <a:prstGeom prst="rect">
              <a:avLst/>
            </a:prstGeom>
            <a:solidFill>
              <a:srgbClr val="D1E0AF"/>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1200">
                  <a:solidFill>
                    <a:srgbClr val="000000"/>
                  </a:solidFill>
                  <a:latin typeface="Trebuchet MS" panose="020B0603020202020204" pitchFamily="34" charset="0"/>
                  <a:sym typeface="Trebuchet MS" panose="020B0603020202020204" pitchFamily="34" charset="0"/>
                </a:rPr>
                <a:t>C</a:t>
              </a:r>
              <a:r>
                <a:rPr lang="fr-FR" altLang="en-US" sz="1200" baseline="-25000">
                  <a:solidFill>
                    <a:srgbClr val="000000"/>
                  </a:solidFill>
                  <a:latin typeface="Trebuchet MS" panose="020B0603020202020204" pitchFamily="34" charset="0"/>
                  <a:sym typeface="Trebuchet MS" panose="020B0603020202020204" pitchFamily="34" charset="0"/>
                </a:rPr>
                <a:t>A</a:t>
              </a:r>
              <a:r>
                <a:rPr lang="fr-FR" altLang="en-US" sz="1200">
                  <a:solidFill>
                    <a:srgbClr val="000000"/>
                  </a:solidFill>
                  <a:latin typeface="Trebuchet MS" panose="020B0603020202020204" pitchFamily="34" charset="0"/>
                  <a:sym typeface="Trebuchet MS" panose="020B0603020202020204" pitchFamily="34" charset="0"/>
                </a:rPr>
                <a:t> → B</a:t>
              </a:r>
            </a:p>
          </p:txBody>
        </p:sp>
        <p:sp>
          <p:nvSpPr>
            <p:cNvPr id="75811" name="Google Shape;305;p35">
              <a:extLst>
                <a:ext uri="{FF2B5EF4-FFF2-40B4-BE49-F238E27FC236}">
                  <a16:creationId xmlns:a16="http://schemas.microsoft.com/office/drawing/2014/main" id="{04512697-2931-B176-BD42-C20D5BFE11E8}"/>
                </a:ext>
              </a:extLst>
            </p:cNvPr>
            <p:cNvSpPr>
              <a:spLocks noChangeArrowheads="1"/>
            </p:cNvSpPr>
            <p:nvPr/>
          </p:nvSpPr>
          <p:spPr bwMode="auto">
            <a:xfrm>
              <a:off x="2895600" y="2647950"/>
              <a:ext cx="762000" cy="216762"/>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12" name="Google Shape;306;p35">
              <a:extLst>
                <a:ext uri="{FF2B5EF4-FFF2-40B4-BE49-F238E27FC236}">
                  <a16:creationId xmlns:a16="http://schemas.microsoft.com/office/drawing/2014/main" id="{5A333030-6FB8-6435-98DE-A8C9223A61F1}"/>
                </a:ext>
              </a:extLst>
            </p:cNvPr>
            <p:cNvSpPr>
              <a:spLocks noChangeArrowheads="1"/>
            </p:cNvSpPr>
            <p:nvPr/>
          </p:nvSpPr>
          <p:spPr bwMode="auto">
            <a:xfrm>
              <a:off x="2895600" y="2864713"/>
              <a:ext cx="762000" cy="240438"/>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grpSp>
      <p:grpSp>
        <p:nvGrpSpPr>
          <p:cNvPr id="307" name="Google Shape;307;p35">
            <a:extLst>
              <a:ext uri="{FF2B5EF4-FFF2-40B4-BE49-F238E27FC236}">
                <a16:creationId xmlns:a16="http://schemas.microsoft.com/office/drawing/2014/main" id="{B405D7B2-67FD-6D26-9CA1-1CADA66E9BF6}"/>
              </a:ext>
            </a:extLst>
          </p:cNvPr>
          <p:cNvGrpSpPr>
            <a:grpSpLocks/>
          </p:cNvGrpSpPr>
          <p:nvPr/>
        </p:nvGrpSpPr>
        <p:grpSpPr bwMode="auto">
          <a:xfrm>
            <a:off x="3124200" y="4038600"/>
            <a:ext cx="762000" cy="1208088"/>
            <a:chOff x="2895600" y="2199376"/>
            <a:chExt cx="762000" cy="905775"/>
          </a:xfrm>
        </p:grpSpPr>
        <p:sp>
          <p:nvSpPr>
            <p:cNvPr id="75805" name="Google Shape;308;p35">
              <a:extLst>
                <a:ext uri="{FF2B5EF4-FFF2-40B4-BE49-F238E27FC236}">
                  <a16:creationId xmlns:a16="http://schemas.microsoft.com/office/drawing/2014/main" id="{E5843216-B003-FE1F-B3D8-AFD0C1CC831B}"/>
                </a:ext>
              </a:extLst>
            </p:cNvPr>
            <p:cNvSpPr>
              <a:spLocks noChangeArrowheads="1"/>
            </p:cNvSpPr>
            <p:nvPr/>
          </p:nvSpPr>
          <p:spPr bwMode="auto">
            <a:xfrm>
              <a:off x="2895600" y="2199376"/>
              <a:ext cx="762000" cy="228721"/>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06" name="Google Shape;309;p35">
              <a:extLst>
                <a:ext uri="{FF2B5EF4-FFF2-40B4-BE49-F238E27FC236}">
                  <a16:creationId xmlns:a16="http://schemas.microsoft.com/office/drawing/2014/main" id="{D2113E38-B9E2-5E35-E9D4-EC3F20D7E44C}"/>
                </a:ext>
              </a:extLst>
            </p:cNvPr>
            <p:cNvSpPr>
              <a:spLocks noChangeArrowheads="1"/>
            </p:cNvSpPr>
            <p:nvPr/>
          </p:nvSpPr>
          <p:spPr bwMode="auto">
            <a:xfrm>
              <a:off x="2895600" y="2427976"/>
              <a:ext cx="762000" cy="223643"/>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07" name="Google Shape;310;p35">
              <a:extLst>
                <a:ext uri="{FF2B5EF4-FFF2-40B4-BE49-F238E27FC236}">
                  <a16:creationId xmlns:a16="http://schemas.microsoft.com/office/drawing/2014/main" id="{793B23DE-1EBA-5EBD-5FB4-1D1A76D09A54}"/>
                </a:ext>
              </a:extLst>
            </p:cNvPr>
            <p:cNvSpPr>
              <a:spLocks noChangeArrowheads="1"/>
            </p:cNvSpPr>
            <p:nvPr/>
          </p:nvSpPr>
          <p:spPr bwMode="auto">
            <a:xfrm>
              <a:off x="2895600" y="2647950"/>
              <a:ext cx="762000" cy="216762"/>
            </a:xfrm>
            <a:prstGeom prst="rect">
              <a:avLst/>
            </a:prstGeom>
            <a:solidFill>
              <a:srgbClr val="FF8181"/>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1200">
                  <a:solidFill>
                    <a:srgbClr val="000000"/>
                  </a:solidFill>
                  <a:latin typeface="Trebuchet MS" panose="020B0603020202020204" pitchFamily="34" charset="0"/>
                  <a:sym typeface="Trebuchet MS" panose="020B0603020202020204" pitchFamily="34" charset="0"/>
                </a:rPr>
                <a:t>C</a:t>
              </a:r>
              <a:r>
                <a:rPr lang="fr-FR" altLang="en-US" sz="1200" baseline="-25000">
                  <a:solidFill>
                    <a:srgbClr val="000000"/>
                  </a:solidFill>
                  <a:latin typeface="Trebuchet MS" panose="020B0603020202020204" pitchFamily="34" charset="0"/>
                  <a:sym typeface="Trebuchet MS" panose="020B0603020202020204" pitchFamily="34" charset="0"/>
                </a:rPr>
                <a:t>A</a:t>
              </a:r>
              <a:r>
                <a:rPr lang="fr-FR" altLang="en-US" sz="1200">
                  <a:solidFill>
                    <a:srgbClr val="000000"/>
                  </a:solidFill>
                  <a:latin typeface="Trebuchet MS" panose="020B0603020202020204" pitchFamily="34" charset="0"/>
                  <a:sym typeface="Trebuchet MS" panose="020B0603020202020204" pitchFamily="34" charset="0"/>
                </a:rPr>
                <a:t> → A</a:t>
              </a:r>
              <a:r>
                <a:rPr lang="fr-FR" altLang="fr-FR" sz="1200">
                  <a:solidFill>
                    <a:srgbClr val="000000"/>
                  </a:solidFill>
                  <a:latin typeface="Trebuchet MS" panose="020B0603020202020204" pitchFamily="34" charset="0"/>
                  <a:sym typeface="Trebuchet MS" panose="020B0603020202020204" pitchFamily="34" charset="0"/>
                </a:rPr>
                <a:t>’</a:t>
              </a:r>
              <a:endParaRPr lang="fr-FR" altLang="en-US" sz="1200">
                <a:solidFill>
                  <a:srgbClr val="000000"/>
                </a:solidFill>
                <a:latin typeface="Trebuchet MS" panose="020B0603020202020204" pitchFamily="34" charset="0"/>
                <a:sym typeface="Trebuchet MS" panose="020B0603020202020204" pitchFamily="34" charset="0"/>
              </a:endParaRPr>
            </a:p>
          </p:txBody>
        </p:sp>
        <p:sp>
          <p:nvSpPr>
            <p:cNvPr id="75808" name="Google Shape;311;p35">
              <a:extLst>
                <a:ext uri="{FF2B5EF4-FFF2-40B4-BE49-F238E27FC236}">
                  <a16:creationId xmlns:a16="http://schemas.microsoft.com/office/drawing/2014/main" id="{34BC0B0C-4219-ED7D-4005-8AA9D7A922BF}"/>
                </a:ext>
              </a:extLst>
            </p:cNvPr>
            <p:cNvSpPr>
              <a:spLocks noChangeArrowheads="1"/>
            </p:cNvSpPr>
            <p:nvPr/>
          </p:nvSpPr>
          <p:spPr bwMode="auto">
            <a:xfrm>
              <a:off x="2895600" y="2864713"/>
              <a:ext cx="762000" cy="240438"/>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grpSp>
      <p:cxnSp>
        <p:nvCxnSpPr>
          <p:cNvPr id="75782" name="Google Shape;312;p35">
            <a:extLst>
              <a:ext uri="{FF2B5EF4-FFF2-40B4-BE49-F238E27FC236}">
                <a16:creationId xmlns:a16="http://schemas.microsoft.com/office/drawing/2014/main" id="{E53040D0-FA28-0C28-C9E0-5D9AB0AC6B58}"/>
              </a:ext>
            </a:extLst>
          </p:cNvPr>
          <p:cNvCxnSpPr>
            <a:cxnSpLocks noChangeShapeType="1"/>
          </p:cNvCxnSpPr>
          <p:nvPr/>
        </p:nvCxnSpPr>
        <p:spPr bwMode="auto">
          <a:xfrm rot="10800000">
            <a:off x="1295400" y="2819400"/>
            <a:ext cx="522288" cy="0"/>
          </a:xfrm>
          <a:prstGeom prst="straightConnector1">
            <a:avLst/>
          </a:prstGeom>
          <a:noFill/>
          <a:ln w="25400">
            <a:solidFill>
              <a:schemeClr val="tx1"/>
            </a:solidFill>
            <a:round/>
            <a:headEnd type="none" w="sm" len="sm"/>
            <a:tailEnd type="stealth" w="med" len="med"/>
          </a:ln>
          <a:extLst>
            <a:ext uri="{909E8E84-426E-40DD-AFC4-6F175D3DCCD1}">
              <a14:hiddenFill xmlns:a14="http://schemas.microsoft.com/office/drawing/2010/main">
                <a:noFill/>
              </a14:hiddenFill>
            </a:ext>
          </a:extLst>
        </p:spPr>
      </p:cxnSp>
      <p:cxnSp>
        <p:nvCxnSpPr>
          <p:cNvPr id="313" name="Google Shape;313;p35">
            <a:extLst>
              <a:ext uri="{FF2B5EF4-FFF2-40B4-BE49-F238E27FC236}">
                <a16:creationId xmlns:a16="http://schemas.microsoft.com/office/drawing/2014/main" id="{D0A8F269-77BD-267B-C66D-853C25D62E60}"/>
              </a:ext>
            </a:extLst>
          </p:cNvPr>
          <p:cNvCxnSpPr>
            <a:cxnSpLocks noChangeShapeType="1"/>
          </p:cNvCxnSpPr>
          <p:nvPr/>
        </p:nvCxnSpPr>
        <p:spPr bwMode="auto">
          <a:xfrm rot="10800000">
            <a:off x="2590800" y="2814638"/>
            <a:ext cx="522288" cy="0"/>
          </a:xfrm>
          <a:prstGeom prst="straightConnector1">
            <a:avLst/>
          </a:prstGeom>
          <a:noFill/>
          <a:ln w="25400">
            <a:solidFill>
              <a:schemeClr val="tx1"/>
            </a:solidFill>
            <a:round/>
            <a:headEnd type="none" w="sm" len="sm"/>
            <a:tailEnd type="stealth" w="med" len="med"/>
          </a:ln>
          <a:extLst>
            <a:ext uri="{909E8E84-426E-40DD-AFC4-6F175D3DCCD1}">
              <a14:hiddenFill xmlns:a14="http://schemas.microsoft.com/office/drawing/2010/main">
                <a:noFill/>
              </a14:hiddenFill>
            </a:ext>
          </a:extLst>
        </p:spPr>
      </p:cxnSp>
      <p:cxnSp>
        <p:nvCxnSpPr>
          <p:cNvPr id="314" name="Google Shape;314;p35">
            <a:extLst>
              <a:ext uri="{FF2B5EF4-FFF2-40B4-BE49-F238E27FC236}">
                <a16:creationId xmlns:a16="http://schemas.microsoft.com/office/drawing/2014/main" id="{7E4B4CF9-8EE6-C30B-DC46-5F568DFB87D8}"/>
              </a:ext>
            </a:extLst>
          </p:cNvPr>
          <p:cNvCxnSpPr>
            <a:cxnSpLocks noChangeShapeType="1"/>
            <a:stCxn id="75806" idx="1"/>
            <a:endCxn id="75819" idx="3"/>
          </p:cNvCxnSpPr>
          <p:nvPr/>
        </p:nvCxnSpPr>
        <p:spPr bwMode="auto">
          <a:xfrm rot="10800000">
            <a:off x="2590800" y="2962275"/>
            <a:ext cx="533400" cy="1530350"/>
          </a:xfrm>
          <a:prstGeom prst="straightConnector1">
            <a:avLst/>
          </a:prstGeom>
          <a:noFill/>
          <a:ln w="25400">
            <a:solidFill>
              <a:schemeClr val="tx1"/>
            </a:solidFill>
            <a:round/>
            <a:headEnd type="none" w="sm" len="sm"/>
            <a:tailEnd type="stealth" w="med" len="med"/>
          </a:ln>
          <a:extLst>
            <a:ext uri="{909E8E84-426E-40DD-AFC4-6F175D3DCCD1}">
              <a14:hiddenFill xmlns:a14="http://schemas.microsoft.com/office/drawing/2010/main">
                <a:noFill/>
              </a14:hiddenFill>
            </a:ext>
          </a:extLst>
        </p:spPr>
      </p:cxnSp>
      <p:grpSp>
        <p:nvGrpSpPr>
          <p:cNvPr id="315" name="Google Shape;315;p35">
            <a:extLst>
              <a:ext uri="{FF2B5EF4-FFF2-40B4-BE49-F238E27FC236}">
                <a16:creationId xmlns:a16="http://schemas.microsoft.com/office/drawing/2014/main" id="{4B8FE8CC-6EBC-6AB8-E61A-C670EE6919C8}"/>
              </a:ext>
            </a:extLst>
          </p:cNvPr>
          <p:cNvGrpSpPr>
            <a:grpSpLocks/>
          </p:cNvGrpSpPr>
          <p:nvPr/>
        </p:nvGrpSpPr>
        <p:grpSpPr bwMode="auto">
          <a:xfrm>
            <a:off x="4419600" y="2220913"/>
            <a:ext cx="762000" cy="1208087"/>
            <a:chOff x="2895600" y="2199376"/>
            <a:chExt cx="762000" cy="905775"/>
          </a:xfrm>
        </p:grpSpPr>
        <p:sp>
          <p:nvSpPr>
            <p:cNvPr id="75801" name="Google Shape;316;p35">
              <a:extLst>
                <a:ext uri="{FF2B5EF4-FFF2-40B4-BE49-F238E27FC236}">
                  <a16:creationId xmlns:a16="http://schemas.microsoft.com/office/drawing/2014/main" id="{9DD051E0-D069-D818-32F7-9E7A42F16A95}"/>
                </a:ext>
              </a:extLst>
            </p:cNvPr>
            <p:cNvSpPr>
              <a:spLocks noChangeArrowheads="1"/>
            </p:cNvSpPr>
            <p:nvPr/>
          </p:nvSpPr>
          <p:spPr bwMode="auto">
            <a:xfrm>
              <a:off x="2895600" y="2199376"/>
              <a:ext cx="762000" cy="228721"/>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02" name="Google Shape;317;p35">
              <a:extLst>
                <a:ext uri="{FF2B5EF4-FFF2-40B4-BE49-F238E27FC236}">
                  <a16:creationId xmlns:a16="http://schemas.microsoft.com/office/drawing/2014/main" id="{D76DEF2B-9458-33A9-BA4A-C66D91D0A120}"/>
                </a:ext>
              </a:extLst>
            </p:cNvPr>
            <p:cNvSpPr>
              <a:spLocks noChangeArrowheads="1"/>
            </p:cNvSpPr>
            <p:nvPr/>
          </p:nvSpPr>
          <p:spPr bwMode="auto">
            <a:xfrm>
              <a:off x="2895600" y="2427976"/>
              <a:ext cx="762000" cy="223643"/>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03" name="Google Shape;318;p35">
              <a:extLst>
                <a:ext uri="{FF2B5EF4-FFF2-40B4-BE49-F238E27FC236}">
                  <a16:creationId xmlns:a16="http://schemas.microsoft.com/office/drawing/2014/main" id="{5F73ACDB-356C-00B1-C47C-E2B12B74CD6E}"/>
                </a:ext>
              </a:extLst>
            </p:cNvPr>
            <p:cNvSpPr>
              <a:spLocks noChangeArrowheads="1"/>
            </p:cNvSpPr>
            <p:nvPr/>
          </p:nvSpPr>
          <p:spPr bwMode="auto">
            <a:xfrm>
              <a:off x="2895600" y="2647950"/>
              <a:ext cx="762000" cy="216762"/>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04" name="Google Shape;319;p35">
              <a:extLst>
                <a:ext uri="{FF2B5EF4-FFF2-40B4-BE49-F238E27FC236}">
                  <a16:creationId xmlns:a16="http://schemas.microsoft.com/office/drawing/2014/main" id="{AAB2C4B9-B39C-6323-6C89-D631DFF18450}"/>
                </a:ext>
              </a:extLst>
            </p:cNvPr>
            <p:cNvSpPr>
              <a:spLocks noChangeArrowheads="1"/>
            </p:cNvSpPr>
            <p:nvPr/>
          </p:nvSpPr>
          <p:spPr bwMode="auto">
            <a:xfrm>
              <a:off x="2895600" y="2864713"/>
              <a:ext cx="762000" cy="240438"/>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grpSp>
      <p:cxnSp>
        <p:nvCxnSpPr>
          <p:cNvPr id="320" name="Google Shape;320;p35">
            <a:extLst>
              <a:ext uri="{FF2B5EF4-FFF2-40B4-BE49-F238E27FC236}">
                <a16:creationId xmlns:a16="http://schemas.microsoft.com/office/drawing/2014/main" id="{3830AA42-87EF-E0E6-FBCC-AA51DE91DE4F}"/>
              </a:ext>
            </a:extLst>
          </p:cNvPr>
          <p:cNvCxnSpPr>
            <a:cxnSpLocks noChangeShapeType="1"/>
          </p:cNvCxnSpPr>
          <p:nvPr/>
        </p:nvCxnSpPr>
        <p:spPr bwMode="auto">
          <a:xfrm rot="10800000">
            <a:off x="3886200" y="2819400"/>
            <a:ext cx="522288" cy="0"/>
          </a:xfrm>
          <a:prstGeom prst="straightConnector1">
            <a:avLst/>
          </a:prstGeom>
          <a:noFill/>
          <a:ln w="25400">
            <a:solidFill>
              <a:schemeClr val="tx1"/>
            </a:solidFill>
            <a:round/>
            <a:headEnd type="none" w="sm" len="sm"/>
            <a:tailEnd type="stealth" w="med" len="med"/>
          </a:ln>
          <a:extLst>
            <a:ext uri="{909E8E84-426E-40DD-AFC4-6F175D3DCCD1}">
              <a14:hiddenFill xmlns:a14="http://schemas.microsoft.com/office/drawing/2010/main">
                <a:noFill/>
              </a14:hiddenFill>
            </a:ext>
          </a:extLst>
        </p:spPr>
      </p:cxnSp>
      <p:grpSp>
        <p:nvGrpSpPr>
          <p:cNvPr id="321" name="Google Shape;321;p35">
            <a:extLst>
              <a:ext uri="{FF2B5EF4-FFF2-40B4-BE49-F238E27FC236}">
                <a16:creationId xmlns:a16="http://schemas.microsoft.com/office/drawing/2014/main" id="{288B164D-1FBA-DC80-3C89-710B9252893A}"/>
              </a:ext>
            </a:extLst>
          </p:cNvPr>
          <p:cNvGrpSpPr>
            <a:grpSpLocks/>
          </p:cNvGrpSpPr>
          <p:nvPr/>
        </p:nvGrpSpPr>
        <p:grpSpPr bwMode="auto">
          <a:xfrm>
            <a:off x="5715000" y="2220913"/>
            <a:ext cx="762000" cy="1208087"/>
            <a:chOff x="2895600" y="2199376"/>
            <a:chExt cx="762000" cy="905775"/>
          </a:xfrm>
        </p:grpSpPr>
        <p:sp>
          <p:nvSpPr>
            <p:cNvPr id="75797" name="Google Shape;322;p35">
              <a:extLst>
                <a:ext uri="{FF2B5EF4-FFF2-40B4-BE49-F238E27FC236}">
                  <a16:creationId xmlns:a16="http://schemas.microsoft.com/office/drawing/2014/main" id="{0CF88B00-3461-8C01-19AA-0BA283EF669F}"/>
                </a:ext>
              </a:extLst>
            </p:cNvPr>
            <p:cNvSpPr>
              <a:spLocks noChangeArrowheads="1"/>
            </p:cNvSpPr>
            <p:nvPr/>
          </p:nvSpPr>
          <p:spPr bwMode="auto">
            <a:xfrm>
              <a:off x="2895600" y="2199376"/>
              <a:ext cx="762000" cy="228721"/>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798" name="Google Shape;323;p35">
              <a:extLst>
                <a:ext uri="{FF2B5EF4-FFF2-40B4-BE49-F238E27FC236}">
                  <a16:creationId xmlns:a16="http://schemas.microsoft.com/office/drawing/2014/main" id="{49060788-B6F5-410E-D257-A44C9E589279}"/>
                </a:ext>
              </a:extLst>
            </p:cNvPr>
            <p:cNvSpPr>
              <a:spLocks noChangeArrowheads="1"/>
            </p:cNvSpPr>
            <p:nvPr/>
          </p:nvSpPr>
          <p:spPr bwMode="auto">
            <a:xfrm>
              <a:off x="2895600" y="2427976"/>
              <a:ext cx="762000" cy="223643"/>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799" name="Google Shape;324;p35">
              <a:extLst>
                <a:ext uri="{FF2B5EF4-FFF2-40B4-BE49-F238E27FC236}">
                  <a16:creationId xmlns:a16="http://schemas.microsoft.com/office/drawing/2014/main" id="{761D5EEE-B15B-BBAD-8A78-FB3138404E42}"/>
                </a:ext>
              </a:extLst>
            </p:cNvPr>
            <p:cNvSpPr>
              <a:spLocks noChangeArrowheads="1"/>
            </p:cNvSpPr>
            <p:nvPr/>
          </p:nvSpPr>
          <p:spPr bwMode="auto">
            <a:xfrm>
              <a:off x="2895600" y="2647950"/>
              <a:ext cx="762000" cy="216762"/>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sp>
          <p:nvSpPr>
            <p:cNvPr id="75800" name="Google Shape;325;p35">
              <a:extLst>
                <a:ext uri="{FF2B5EF4-FFF2-40B4-BE49-F238E27FC236}">
                  <a16:creationId xmlns:a16="http://schemas.microsoft.com/office/drawing/2014/main" id="{1013B6A8-0F30-2214-01DC-9B8D8D73910B}"/>
                </a:ext>
              </a:extLst>
            </p:cNvPr>
            <p:cNvSpPr>
              <a:spLocks noChangeArrowheads="1"/>
            </p:cNvSpPr>
            <p:nvPr/>
          </p:nvSpPr>
          <p:spPr bwMode="auto">
            <a:xfrm>
              <a:off x="2895600" y="2864713"/>
              <a:ext cx="762000" cy="240438"/>
            </a:xfrm>
            <a:prstGeom prst="rect">
              <a:avLst/>
            </a:prstGeom>
            <a:solidFill>
              <a:srgbClr val="CCCCCC"/>
            </a:solidFill>
            <a:ln w="19050">
              <a:solidFill>
                <a:srgbClr val="666666"/>
              </a:solidFill>
              <a:round/>
              <a:headEnd type="none" w="sm" len="sm"/>
              <a:tailEnd type="none" w="sm" len="sm"/>
            </a:ln>
          </p:spPr>
          <p:txBody>
            <a:bodyPr lIns="91425" tIns="91425" rIns="91425" bIns="91425" anchor="ct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Tx/>
                <a:buNone/>
              </a:pPr>
              <a:endParaRPr lang="fr-FR" altLang="en-US" sz="1400">
                <a:solidFill>
                  <a:srgbClr val="000000"/>
                </a:solidFill>
                <a:latin typeface="Trebuchet MS" panose="020B0603020202020204" pitchFamily="34" charset="0"/>
                <a:sym typeface="Trebuchet MS" panose="020B0603020202020204" pitchFamily="34" charset="0"/>
              </a:endParaRPr>
            </a:p>
          </p:txBody>
        </p:sp>
      </p:grpSp>
      <p:cxnSp>
        <p:nvCxnSpPr>
          <p:cNvPr id="326" name="Google Shape;326;p35">
            <a:extLst>
              <a:ext uri="{FF2B5EF4-FFF2-40B4-BE49-F238E27FC236}">
                <a16:creationId xmlns:a16="http://schemas.microsoft.com/office/drawing/2014/main" id="{56584D27-D7E0-54A0-F114-EA7739BD46B8}"/>
              </a:ext>
            </a:extLst>
          </p:cNvPr>
          <p:cNvCxnSpPr>
            <a:cxnSpLocks noChangeShapeType="1"/>
          </p:cNvCxnSpPr>
          <p:nvPr/>
        </p:nvCxnSpPr>
        <p:spPr bwMode="auto">
          <a:xfrm rot="10800000">
            <a:off x="5181600" y="2819400"/>
            <a:ext cx="522288" cy="0"/>
          </a:xfrm>
          <a:prstGeom prst="straightConnector1">
            <a:avLst/>
          </a:prstGeom>
          <a:noFill/>
          <a:ln w="25400">
            <a:solidFill>
              <a:schemeClr val="tx1"/>
            </a:solidFill>
            <a:round/>
            <a:headEnd type="none" w="sm" len="sm"/>
            <a:tailEnd type="stealth" w="med" len="med"/>
          </a:ln>
          <a:extLst>
            <a:ext uri="{909E8E84-426E-40DD-AFC4-6F175D3DCCD1}">
              <a14:hiddenFill xmlns:a14="http://schemas.microsoft.com/office/drawing/2010/main">
                <a:noFill/>
              </a14:hiddenFill>
            </a:ext>
          </a:extLst>
        </p:spPr>
      </p:cxnSp>
      <p:cxnSp>
        <p:nvCxnSpPr>
          <p:cNvPr id="327" name="Google Shape;327;p35">
            <a:extLst>
              <a:ext uri="{FF2B5EF4-FFF2-40B4-BE49-F238E27FC236}">
                <a16:creationId xmlns:a16="http://schemas.microsoft.com/office/drawing/2014/main" id="{998DEC6D-CB5C-CA6E-36B9-A47BD5F6CAFA}"/>
              </a:ext>
            </a:extLst>
          </p:cNvPr>
          <p:cNvCxnSpPr>
            <a:cxnSpLocks noChangeShapeType="1"/>
          </p:cNvCxnSpPr>
          <p:nvPr/>
        </p:nvCxnSpPr>
        <p:spPr bwMode="auto">
          <a:xfrm>
            <a:off x="2851150" y="2220913"/>
            <a:ext cx="6350" cy="3341687"/>
          </a:xfrm>
          <a:prstGeom prst="straightConnector1">
            <a:avLst/>
          </a:prstGeom>
          <a:noFill/>
          <a:ln w="9525">
            <a:solidFill>
              <a:srgbClr val="7F7F7F"/>
            </a:solidFill>
            <a:prstDash val="dash"/>
            <a:round/>
            <a:headEnd type="none" w="sm" len="sm"/>
            <a:tailEnd type="none" w="sm" len="sm"/>
          </a:ln>
          <a:extLst>
            <a:ext uri="{909E8E84-426E-40DD-AFC4-6F175D3DCCD1}">
              <a14:hiddenFill xmlns:a14="http://schemas.microsoft.com/office/drawing/2010/main">
                <a:noFill/>
              </a14:hiddenFill>
            </a:ext>
          </a:extLst>
        </p:spPr>
      </p:cxnSp>
      <p:sp>
        <p:nvSpPr>
          <p:cNvPr id="328" name="Google Shape;328;p35">
            <a:extLst>
              <a:ext uri="{FF2B5EF4-FFF2-40B4-BE49-F238E27FC236}">
                <a16:creationId xmlns:a16="http://schemas.microsoft.com/office/drawing/2014/main" id="{06BB273C-DDDD-8351-CBFB-D998029AEFD7}"/>
              </a:ext>
            </a:extLst>
          </p:cNvPr>
          <p:cNvSpPr txBox="1">
            <a:spLocks noChangeArrowheads="1"/>
          </p:cNvSpPr>
          <p:nvPr/>
        </p:nvSpPr>
        <p:spPr bwMode="auto">
          <a:xfrm>
            <a:off x="1195388" y="5610225"/>
            <a:ext cx="3360737"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Hear about C</a:t>
            </a:r>
            <a:r>
              <a:rPr lang="fr-FR" altLang="en-US" sz="1800" baseline="-25000">
                <a:solidFill>
                  <a:srgbClr val="000000"/>
                </a:solidFill>
                <a:latin typeface="Trebuchet MS" panose="020B0603020202020204" pitchFamily="34" charset="0"/>
                <a:sym typeface="Trebuchet MS" panose="020B0603020202020204" pitchFamily="34" charset="0"/>
              </a:rPr>
              <a:t>A</a:t>
            </a:r>
            <a:r>
              <a:rPr lang="fr-FR" altLang="en-US" sz="1800">
                <a:solidFill>
                  <a:srgbClr val="000000"/>
                </a:solidFill>
                <a:latin typeface="Trebuchet MS" panose="020B0603020202020204" pitchFamily="34" charset="0"/>
                <a:sym typeface="Trebuchet MS" panose="020B0603020202020204" pitchFamily="34" charset="0"/>
              </a:rPr>
              <a:t> → B transaction</a:t>
            </a:r>
            <a:endParaRPr lang="fr-FR" altLang="en-US" sz="2800"/>
          </a:p>
          <a:p>
            <a:pPr algn="ct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0 confirmations</a:t>
            </a:r>
          </a:p>
        </p:txBody>
      </p:sp>
      <p:cxnSp>
        <p:nvCxnSpPr>
          <p:cNvPr id="329" name="Google Shape;329;p35">
            <a:extLst>
              <a:ext uri="{FF2B5EF4-FFF2-40B4-BE49-F238E27FC236}">
                <a16:creationId xmlns:a16="http://schemas.microsoft.com/office/drawing/2014/main" id="{6EE82826-F7CE-95CD-3990-E13AAE2DC915}"/>
              </a:ext>
            </a:extLst>
          </p:cNvPr>
          <p:cNvCxnSpPr>
            <a:cxnSpLocks noChangeShapeType="1"/>
            <a:endCxn id="75810" idx="0"/>
          </p:cNvCxnSpPr>
          <p:nvPr/>
        </p:nvCxnSpPr>
        <p:spPr bwMode="auto">
          <a:xfrm>
            <a:off x="3502025" y="1889125"/>
            <a:ext cx="3175" cy="641350"/>
          </a:xfrm>
          <a:prstGeom prst="straightConnector1">
            <a:avLst/>
          </a:prstGeom>
          <a:noFill/>
          <a:ln w="9525">
            <a:solidFill>
              <a:srgbClr val="7F7F7F"/>
            </a:solidFill>
            <a:prstDash val="dash"/>
            <a:round/>
            <a:headEnd type="none" w="sm" len="sm"/>
            <a:tailEnd type="none" w="sm" len="sm"/>
          </a:ln>
          <a:extLst>
            <a:ext uri="{909E8E84-426E-40DD-AFC4-6F175D3DCCD1}">
              <a14:hiddenFill xmlns:a14="http://schemas.microsoft.com/office/drawing/2010/main">
                <a:noFill/>
              </a14:hiddenFill>
            </a:ext>
          </a:extLst>
        </p:spPr>
      </p:cxnSp>
      <p:sp>
        <p:nvSpPr>
          <p:cNvPr id="330" name="Google Shape;330;p35">
            <a:extLst>
              <a:ext uri="{FF2B5EF4-FFF2-40B4-BE49-F238E27FC236}">
                <a16:creationId xmlns:a16="http://schemas.microsoft.com/office/drawing/2014/main" id="{AA6CE150-F6BA-3228-368E-63A8C4CEF48D}"/>
              </a:ext>
            </a:extLst>
          </p:cNvPr>
          <p:cNvSpPr txBox="1">
            <a:spLocks noChangeArrowheads="1"/>
          </p:cNvSpPr>
          <p:nvPr/>
        </p:nvSpPr>
        <p:spPr bwMode="auto">
          <a:xfrm>
            <a:off x="2652713" y="1397000"/>
            <a:ext cx="170021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1 confirmation</a:t>
            </a:r>
          </a:p>
        </p:txBody>
      </p:sp>
      <p:sp>
        <p:nvSpPr>
          <p:cNvPr id="331" name="Google Shape;331;p35">
            <a:extLst>
              <a:ext uri="{FF2B5EF4-FFF2-40B4-BE49-F238E27FC236}">
                <a16:creationId xmlns:a16="http://schemas.microsoft.com/office/drawing/2014/main" id="{04D13174-7971-7154-DEB8-46FA6B6527AF}"/>
              </a:ext>
            </a:extLst>
          </p:cNvPr>
          <p:cNvSpPr txBox="1">
            <a:spLocks noChangeArrowheads="1"/>
          </p:cNvSpPr>
          <p:nvPr/>
        </p:nvSpPr>
        <p:spPr bwMode="auto">
          <a:xfrm>
            <a:off x="3986213" y="4513263"/>
            <a:ext cx="1582737"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double-spend</a:t>
            </a:r>
            <a:br>
              <a:rPr lang="fr-FR" altLang="en-US" sz="1800">
                <a:solidFill>
                  <a:srgbClr val="000000"/>
                </a:solidFill>
                <a:latin typeface="Trebuchet MS" panose="020B0603020202020204" pitchFamily="34" charset="0"/>
                <a:sym typeface="Trebuchet MS" panose="020B0603020202020204" pitchFamily="34" charset="0"/>
              </a:rPr>
            </a:br>
            <a:r>
              <a:rPr lang="fr-FR" altLang="en-US" sz="1800">
                <a:solidFill>
                  <a:srgbClr val="000000"/>
                </a:solidFill>
                <a:latin typeface="Trebuchet MS" panose="020B0603020202020204" pitchFamily="34" charset="0"/>
                <a:sym typeface="Trebuchet MS" panose="020B0603020202020204" pitchFamily="34" charset="0"/>
              </a:rPr>
              <a:t>attempt</a:t>
            </a:r>
          </a:p>
        </p:txBody>
      </p:sp>
      <p:cxnSp>
        <p:nvCxnSpPr>
          <p:cNvPr id="332" name="Google Shape;332;p35">
            <a:extLst>
              <a:ext uri="{FF2B5EF4-FFF2-40B4-BE49-F238E27FC236}">
                <a16:creationId xmlns:a16="http://schemas.microsoft.com/office/drawing/2014/main" id="{C99CB545-0150-FA22-0305-FD4A1F6CDCB2}"/>
              </a:ext>
            </a:extLst>
          </p:cNvPr>
          <p:cNvCxnSpPr>
            <a:cxnSpLocks noChangeShapeType="1"/>
            <a:endCxn id="75797" idx="0"/>
          </p:cNvCxnSpPr>
          <p:nvPr/>
        </p:nvCxnSpPr>
        <p:spPr bwMode="auto">
          <a:xfrm>
            <a:off x="6092825" y="1889125"/>
            <a:ext cx="3175" cy="331788"/>
          </a:xfrm>
          <a:prstGeom prst="straightConnector1">
            <a:avLst/>
          </a:prstGeom>
          <a:noFill/>
          <a:ln w="9525">
            <a:solidFill>
              <a:srgbClr val="7F7F7F"/>
            </a:solidFill>
            <a:prstDash val="dash"/>
            <a:round/>
            <a:headEnd type="none" w="sm" len="sm"/>
            <a:tailEnd type="none" w="sm" len="sm"/>
          </a:ln>
          <a:extLst>
            <a:ext uri="{909E8E84-426E-40DD-AFC4-6F175D3DCCD1}">
              <a14:hiddenFill xmlns:a14="http://schemas.microsoft.com/office/drawing/2010/main">
                <a:noFill/>
              </a14:hiddenFill>
            </a:ext>
          </a:extLst>
        </p:spPr>
      </p:cxnSp>
      <p:sp>
        <p:nvSpPr>
          <p:cNvPr id="333" name="Google Shape;333;p35">
            <a:extLst>
              <a:ext uri="{FF2B5EF4-FFF2-40B4-BE49-F238E27FC236}">
                <a16:creationId xmlns:a16="http://schemas.microsoft.com/office/drawing/2014/main" id="{873218FC-0F8E-C12E-FA50-7311FF8E3D34}"/>
              </a:ext>
            </a:extLst>
          </p:cNvPr>
          <p:cNvSpPr txBox="1">
            <a:spLocks noChangeArrowheads="1"/>
          </p:cNvSpPr>
          <p:nvPr/>
        </p:nvSpPr>
        <p:spPr bwMode="auto">
          <a:xfrm>
            <a:off x="5195888" y="1397000"/>
            <a:ext cx="179546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3 confirmations</a:t>
            </a:r>
          </a:p>
        </p:txBody>
      </p:sp>
      <p:sp>
        <p:nvSpPr>
          <p:cNvPr id="334" name="Google Shape;334;p35">
            <a:extLst>
              <a:ext uri="{FF2B5EF4-FFF2-40B4-BE49-F238E27FC236}">
                <a16:creationId xmlns:a16="http://schemas.microsoft.com/office/drawing/2014/main" id="{5A58C92B-DB53-5987-AF94-1ADF18342E35}"/>
              </a:ext>
            </a:extLst>
          </p:cNvPr>
          <p:cNvSpPr txBox="1">
            <a:spLocks noChangeArrowheads="1"/>
          </p:cNvSpPr>
          <p:nvPr/>
        </p:nvSpPr>
        <p:spPr bwMode="auto">
          <a:xfrm>
            <a:off x="5715000" y="4154488"/>
            <a:ext cx="2819400" cy="2338387"/>
          </a:xfrm>
          <a:prstGeom prst="rect">
            <a:avLst/>
          </a:prstGeom>
          <a:solidFill>
            <a:srgbClr val="EFD7AE"/>
          </a:solidFill>
          <a:ln w="19050">
            <a:solidFill>
              <a:srgbClr val="E7C586"/>
            </a:solidFill>
            <a:round/>
            <a:headEnd type="none" w="sm" len="sm"/>
            <a:tailEnd type="none" w="sm" len="sm"/>
          </a:ln>
        </p:spPr>
        <p:txBody>
          <a:bodyPr lIns="91425" tIns="45700" rIns="91425" bIns="45700"/>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Double-spend probability </a:t>
            </a:r>
            <a:r>
              <a:rPr lang="fr-FR" altLang="en-US" sz="1800" u="sng">
                <a:solidFill>
                  <a:srgbClr val="000000"/>
                </a:solidFill>
                <a:latin typeface="Trebuchet MS" panose="020B0603020202020204" pitchFamily="34" charset="0"/>
                <a:sym typeface="Trebuchet MS" panose="020B0603020202020204" pitchFamily="34" charset="0"/>
              </a:rPr>
              <a:t>decreases exponentially</a:t>
            </a:r>
            <a:r>
              <a:rPr lang="fr-FR" altLang="en-US" sz="1800">
                <a:solidFill>
                  <a:srgbClr val="000000"/>
                </a:solidFill>
                <a:latin typeface="Trebuchet MS" panose="020B0603020202020204" pitchFamily="34" charset="0"/>
                <a:sym typeface="Trebuchet MS" panose="020B0603020202020204" pitchFamily="34" charset="0"/>
              </a:rPr>
              <a:t> with # of confirmations</a:t>
            </a:r>
            <a:endParaRPr lang="fr-FR" altLang="en-US" sz="2800"/>
          </a:p>
          <a:p>
            <a:pPr eaLnBrk="1" hangingPunct="1">
              <a:spcBef>
                <a:spcPct val="0"/>
              </a:spcBef>
              <a:buClr>
                <a:srgbClr val="000000"/>
              </a:buClr>
              <a:buFontTx/>
              <a:buNone/>
            </a:pPr>
            <a:endParaRPr lang="fr-FR" altLang="en-US" sz="1800">
              <a:solidFill>
                <a:srgbClr val="000000"/>
              </a:solidFill>
              <a:latin typeface="Trebuchet MS" panose="020B0603020202020204" pitchFamily="34" charset="0"/>
              <a:sym typeface="Trebuchet MS" panose="020B0603020202020204" pitchFamily="34" charset="0"/>
            </a:endParaRPr>
          </a:p>
          <a:p>
            <a:pPr eaLnBrk="1" hangingPunct="1">
              <a:spcBef>
                <a:spcPct val="0"/>
              </a:spcBef>
              <a:buClr>
                <a:srgbClr val="000000"/>
              </a:buClr>
              <a:buFont typeface="Trebuchet MS" panose="020B0603020202020204" pitchFamily="34" charset="0"/>
              <a:buNone/>
            </a:pPr>
            <a:r>
              <a:rPr lang="fr-FR" altLang="en-US" sz="1800">
                <a:solidFill>
                  <a:srgbClr val="000000"/>
                </a:solidFill>
                <a:latin typeface="Trebuchet MS" panose="020B0603020202020204" pitchFamily="34" charset="0"/>
                <a:sym typeface="Trebuchet MS" panose="020B0603020202020204" pitchFamily="34" charset="0"/>
              </a:rPr>
              <a:t>Most common heuristic: </a:t>
            </a:r>
            <a:br>
              <a:rPr lang="fr-FR" altLang="en-US" sz="1800">
                <a:solidFill>
                  <a:srgbClr val="000000"/>
                </a:solidFill>
                <a:latin typeface="Trebuchet MS" panose="020B0603020202020204" pitchFamily="34" charset="0"/>
                <a:sym typeface="Trebuchet MS" panose="020B0603020202020204" pitchFamily="34" charset="0"/>
              </a:rPr>
            </a:br>
            <a:r>
              <a:rPr lang="fr-FR" altLang="en-US" sz="1800">
                <a:solidFill>
                  <a:srgbClr val="000000"/>
                </a:solidFill>
                <a:latin typeface="Trebuchet MS" panose="020B0603020202020204" pitchFamily="34" charset="0"/>
                <a:sym typeface="Trebuchet MS" panose="020B0603020202020204" pitchFamily="34" charset="0"/>
              </a:rPr>
              <a:t>6 confirmations</a:t>
            </a:r>
          </a:p>
        </p:txBody>
      </p:sp>
      <p:sp>
        <p:nvSpPr>
          <p:cNvPr id="2" name="Slide Number Placeholder 1">
            <a:extLst>
              <a:ext uri="{FF2B5EF4-FFF2-40B4-BE49-F238E27FC236}">
                <a16:creationId xmlns:a16="http://schemas.microsoft.com/office/drawing/2014/main" id="{E7963F09-3A17-076E-3865-FFCD0593E2D0}"/>
              </a:ext>
            </a:extLst>
          </p:cNvPr>
          <p:cNvSpPr>
            <a:spLocks noGrp="1"/>
          </p:cNvSpPr>
          <p:nvPr>
            <p:ph type="sldNum" sz="quarter" idx="12"/>
          </p:nvPr>
        </p:nvSpPr>
        <p:spPr/>
        <p:txBody>
          <a:bodyPr/>
          <a:lstStyle/>
          <a:p>
            <a:fld id="{54AFB715-9BAA-466F-BD26-510BF652CDA2}" type="slidenum">
              <a:rPr lang="en-US" altLang="en-US" smtClean="0"/>
              <a:pPr/>
              <a:t>36</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27"/>
                                        </p:tgtEl>
                                        <p:attrNameLst>
                                          <p:attrName>style.visibility</p:attrName>
                                        </p:attrNameLst>
                                      </p:cBhvr>
                                      <p:to>
                                        <p:strVal val="visible"/>
                                      </p:to>
                                    </p:set>
                                    <p:animEffect transition="in" filter="fade">
                                      <p:cBhvr>
                                        <p:cTn id="7" dur="500"/>
                                        <p:tgtEl>
                                          <p:spTgt spid="327"/>
                                        </p:tgtEl>
                                      </p:cBhvr>
                                    </p:animEffect>
                                  </p:childTnLst>
                                </p:cTn>
                              </p:par>
                              <p:par>
                                <p:cTn id="8" presetID="10" presetClass="entr" presetSubtype="0" fill="hold" nodeType="withEffect">
                                  <p:stCondLst>
                                    <p:cond delay="0"/>
                                  </p:stCondLst>
                                  <p:childTnLst>
                                    <p:set>
                                      <p:cBhvr>
                                        <p:cTn id="9" dur="1" fill="hold">
                                          <p:stCondLst>
                                            <p:cond delay="0"/>
                                          </p:stCondLst>
                                        </p:cTn>
                                        <p:tgtEl>
                                          <p:spTgt spid="328"/>
                                        </p:tgtEl>
                                        <p:attrNameLst>
                                          <p:attrName>style.visibility</p:attrName>
                                        </p:attrNameLst>
                                      </p:cBhvr>
                                      <p:to>
                                        <p:strVal val="visible"/>
                                      </p:to>
                                    </p:set>
                                    <p:animEffect transition="in" filter="fade">
                                      <p:cBhvr>
                                        <p:cTn id="10" dur="500"/>
                                        <p:tgtEl>
                                          <p:spTgt spid="32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302"/>
                                        </p:tgtEl>
                                        <p:attrNameLst>
                                          <p:attrName>style.visibility</p:attrName>
                                        </p:attrNameLst>
                                      </p:cBhvr>
                                      <p:to>
                                        <p:strVal val="visible"/>
                                      </p:to>
                                    </p:set>
                                    <p:animEffect transition="in" filter="fade">
                                      <p:cBhvr>
                                        <p:cTn id="15" dur="500"/>
                                        <p:tgtEl>
                                          <p:spTgt spid="302"/>
                                        </p:tgtEl>
                                      </p:cBhvr>
                                    </p:animEffect>
                                  </p:childTnLst>
                                </p:cTn>
                              </p:par>
                              <p:par>
                                <p:cTn id="16" presetID="10" presetClass="entr" presetSubtype="0" fill="hold" nodeType="withEffect">
                                  <p:stCondLst>
                                    <p:cond delay="0"/>
                                  </p:stCondLst>
                                  <p:childTnLst>
                                    <p:set>
                                      <p:cBhvr>
                                        <p:cTn id="17" dur="1" fill="hold">
                                          <p:stCondLst>
                                            <p:cond delay="0"/>
                                          </p:stCondLst>
                                        </p:cTn>
                                        <p:tgtEl>
                                          <p:spTgt spid="313"/>
                                        </p:tgtEl>
                                        <p:attrNameLst>
                                          <p:attrName>style.visibility</p:attrName>
                                        </p:attrNameLst>
                                      </p:cBhvr>
                                      <p:to>
                                        <p:strVal val="visible"/>
                                      </p:to>
                                    </p:set>
                                    <p:animEffect transition="in" filter="fade">
                                      <p:cBhvr>
                                        <p:cTn id="18" dur="500"/>
                                        <p:tgtEl>
                                          <p:spTgt spid="313"/>
                                        </p:tgtEl>
                                      </p:cBhvr>
                                    </p:animEffect>
                                  </p:childTnLst>
                                </p:cTn>
                              </p:par>
                              <p:par>
                                <p:cTn id="19" presetID="10" presetClass="entr" presetSubtype="0" fill="hold" nodeType="withEffect">
                                  <p:stCondLst>
                                    <p:cond delay="0"/>
                                  </p:stCondLst>
                                  <p:childTnLst>
                                    <p:set>
                                      <p:cBhvr>
                                        <p:cTn id="20" dur="1" fill="hold">
                                          <p:stCondLst>
                                            <p:cond delay="0"/>
                                          </p:stCondLst>
                                        </p:cTn>
                                        <p:tgtEl>
                                          <p:spTgt spid="329"/>
                                        </p:tgtEl>
                                        <p:attrNameLst>
                                          <p:attrName>style.visibility</p:attrName>
                                        </p:attrNameLst>
                                      </p:cBhvr>
                                      <p:to>
                                        <p:strVal val="visible"/>
                                      </p:to>
                                    </p:set>
                                    <p:animEffect transition="in" filter="fade">
                                      <p:cBhvr>
                                        <p:cTn id="21" dur="500"/>
                                        <p:tgtEl>
                                          <p:spTgt spid="329"/>
                                        </p:tgtEl>
                                      </p:cBhvr>
                                    </p:animEffect>
                                  </p:childTnLst>
                                </p:cTn>
                              </p:par>
                              <p:par>
                                <p:cTn id="22" presetID="10" presetClass="entr" presetSubtype="0" fill="hold" nodeType="withEffect">
                                  <p:stCondLst>
                                    <p:cond delay="0"/>
                                  </p:stCondLst>
                                  <p:childTnLst>
                                    <p:set>
                                      <p:cBhvr>
                                        <p:cTn id="23" dur="1" fill="hold">
                                          <p:stCondLst>
                                            <p:cond delay="0"/>
                                          </p:stCondLst>
                                        </p:cTn>
                                        <p:tgtEl>
                                          <p:spTgt spid="330"/>
                                        </p:tgtEl>
                                        <p:attrNameLst>
                                          <p:attrName>style.visibility</p:attrName>
                                        </p:attrNameLst>
                                      </p:cBhvr>
                                      <p:to>
                                        <p:strVal val="visible"/>
                                      </p:to>
                                    </p:set>
                                    <p:animEffect transition="in" filter="fade">
                                      <p:cBhvr>
                                        <p:cTn id="24" dur="500"/>
                                        <p:tgtEl>
                                          <p:spTgt spid="33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314"/>
                                        </p:tgtEl>
                                        <p:attrNameLst>
                                          <p:attrName>style.visibility</p:attrName>
                                        </p:attrNameLst>
                                      </p:cBhvr>
                                      <p:to>
                                        <p:strVal val="visible"/>
                                      </p:to>
                                    </p:set>
                                    <p:animEffect transition="in" filter="fade">
                                      <p:cBhvr>
                                        <p:cTn id="29" dur="500"/>
                                        <p:tgtEl>
                                          <p:spTgt spid="314"/>
                                        </p:tgtEl>
                                      </p:cBhvr>
                                    </p:animEffect>
                                  </p:childTnLst>
                                </p:cTn>
                              </p:par>
                              <p:par>
                                <p:cTn id="30" presetID="10" presetClass="entr" presetSubtype="0" fill="hold" nodeType="withEffect">
                                  <p:stCondLst>
                                    <p:cond delay="0"/>
                                  </p:stCondLst>
                                  <p:childTnLst>
                                    <p:set>
                                      <p:cBhvr>
                                        <p:cTn id="31" dur="1" fill="hold">
                                          <p:stCondLst>
                                            <p:cond delay="0"/>
                                          </p:stCondLst>
                                        </p:cTn>
                                        <p:tgtEl>
                                          <p:spTgt spid="307"/>
                                        </p:tgtEl>
                                        <p:attrNameLst>
                                          <p:attrName>style.visibility</p:attrName>
                                        </p:attrNameLst>
                                      </p:cBhvr>
                                      <p:to>
                                        <p:strVal val="visible"/>
                                      </p:to>
                                    </p:set>
                                    <p:animEffect transition="in" filter="fade">
                                      <p:cBhvr>
                                        <p:cTn id="32" dur="500"/>
                                        <p:tgtEl>
                                          <p:spTgt spid="307"/>
                                        </p:tgtEl>
                                      </p:cBhvr>
                                    </p:animEffect>
                                  </p:childTnLst>
                                </p:cTn>
                              </p:par>
                              <p:par>
                                <p:cTn id="33" presetID="10" presetClass="entr" presetSubtype="0" fill="hold" nodeType="withEffect">
                                  <p:stCondLst>
                                    <p:cond delay="0"/>
                                  </p:stCondLst>
                                  <p:childTnLst>
                                    <p:set>
                                      <p:cBhvr>
                                        <p:cTn id="34" dur="1" fill="hold">
                                          <p:stCondLst>
                                            <p:cond delay="0"/>
                                          </p:stCondLst>
                                        </p:cTn>
                                        <p:tgtEl>
                                          <p:spTgt spid="331"/>
                                        </p:tgtEl>
                                        <p:attrNameLst>
                                          <p:attrName>style.visibility</p:attrName>
                                        </p:attrNameLst>
                                      </p:cBhvr>
                                      <p:to>
                                        <p:strVal val="visible"/>
                                      </p:to>
                                    </p:set>
                                    <p:animEffect transition="in" filter="fade">
                                      <p:cBhvr>
                                        <p:cTn id="35" dur="500"/>
                                        <p:tgtEl>
                                          <p:spTgt spid="33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nodeType="clickEffect">
                                  <p:stCondLst>
                                    <p:cond delay="0"/>
                                  </p:stCondLst>
                                  <p:childTnLst>
                                    <p:set>
                                      <p:cBhvr>
                                        <p:cTn id="39" dur="1" fill="hold">
                                          <p:stCondLst>
                                            <p:cond delay="0"/>
                                          </p:stCondLst>
                                        </p:cTn>
                                        <p:tgtEl>
                                          <p:spTgt spid="320"/>
                                        </p:tgtEl>
                                        <p:attrNameLst>
                                          <p:attrName>style.visibility</p:attrName>
                                        </p:attrNameLst>
                                      </p:cBhvr>
                                      <p:to>
                                        <p:strVal val="visible"/>
                                      </p:to>
                                    </p:set>
                                    <p:animEffect transition="in" filter="fade">
                                      <p:cBhvr>
                                        <p:cTn id="40" dur="500"/>
                                        <p:tgtEl>
                                          <p:spTgt spid="320"/>
                                        </p:tgtEl>
                                      </p:cBhvr>
                                    </p:animEffect>
                                  </p:childTnLst>
                                </p:cTn>
                              </p:par>
                              <p:par>
                                <p:cTn id="41" presetID="10" presetClass="entr" presetSubtype="0" fill="hold" nodeType="withEffect">
                                  <p:stCondLst>
                                    <p:cond delay="0"/>
                                  </p:stCondLst>
                                  <p:childTnLst>
                                    <p:set>
                                      <p:cBhvr>
                                        <p:cTn id="42" dur="1" fill="hold">
                                          <p:stCondLst>
                                            <p:cond delay="0"/>
                                          </p:stCondLst>
                                        </p:cTn>
                                        <p:tgtEl>
                                          <p:spTgt spid="315"/>
                                        </p:tgtEl>
                                        <p:attrNameLst>
                                          <p:attrName>style.visibility</p:attrName>
                                        </p:attrNameLst>
                                      </p:cBhvr>
                                      <p:to>
                                        <p:strVal val="visible"/>
                                      </p:to>
                                    </p:set>
                                    <p:animEffect transition="in" filter="fade">
                                      <p:cBhvr>
                                        <p:cTn id="43" dur="500"/>
                                        <p:tgtEl>
                                          <p:spTgt spid="31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nodeType="clickEffect">
                                  <p:stCondLst>
                                    <p:cond delay="0"/>
                                  </p:stCondLst>
                                  <p:childTnLst>
                                    <p:set>
                                      <p:cBhvr>
                                        <p:cTn id="47" dur="1" fill="hold">
                                          <p:stCondLst>
                                            <p:cond delay="0"/>
                                          </p:stCondLst>
                                        </p:cTn>
                                        <p:tgtEl>
                                          <p:spTgt spid="321"/>
                                        </p:tgtEl>
                                        <p:attrNameLst>
                                          <p:attrName>style.visibility</p:attrName>
                                        </p:attrNameLst>
                                      </p:cBhvr>
                                      <p:to>
                                        <p:strVal val="visible"/>
                                      </p:to>
                                    </p:set>
                                    <p:animEffect transition="in" filter="fade">
                                      <p:cBhvr>
                                        <p:cTn id="48" dur="500"/>
                                        <p:tgtEl>
                                          <p:spTgt spid="321"/>
                                        </p:tgtEl>
                                      </p:cBhvr>
                                    </p:animEffect>
                                  </p:childTnLst>
                                </p:cTn>
                              </p:par>
                              <p:par>
                                <p:cTn id="49" presetID="10" presetClass="entr" presetSubtype="0" fill="hold" nodeType="withEffect">
                                  <p:stCondLst>
                                    <p:cond delay="0"/>
                                  </p:stCondLst>
                                  <p:childTnLst>
                                    <p:set>
                                      <p:cBhvr>
                                        <p:cTn id="50" dur="1" fill="hold">
                                          <p:stCondLst>
                                            <p:cond delay="0"/>
                                          </p:stCondLst>
                                        </p:cTn>
                                        <p:tgtEl>
                                          <p:spTgt spid="326"/>
                                        </p:tgtEl>
                                        <p:attrNameLst>
                                          <p:attrName>style.visibility</p:attrName>
                                        </p:attrNameLst>
                                      </p:cBhvr>
                                      <p:to>
                                        <p:strVal val="visible"/>
                                      </p:to>
                                    </p:set>
                                    <p:animEffect transition="in" filter="fade">
                                      <p:cBhvr>
                                        <p:cTn id="51" dur="500"/>
                                        <p:tgtEl>
                                          <p:spTgt spid="326"/>
                                        </p:tgtEl>
                                      </p:cBhvr>
                                    </p:animEffect>
                                  </p:childTnLst>
                                </p:cTn>
                              </p:par>
                              <p:par>
                                <p:cTn id="52" presetID="10" presetClass="entr" presetSubtype="0" fill="hold" nodeType="withEffect">
                                  <p:stCondLst>
                                    <p:cond delay="0"/>
                                  </p:stCondLst>
                                  <p:childTnLst>
                                    <p:set>
                                      <p:cBhvr>
                                        <p:cTn id="53" dur="1" fill="hold">
                                          <p:stCondLst>
                                            <p:cond delay="0"/>
                                          </p:stCondLst>
                                        </p:cTn>
                                        <p:tgtEl>
                                          <p:spTgt spid="332"/>
                                        </p:tgtEl>
                                        <p:attrNameLst>
                                          <p:attrName>style.visibility</p:attrName>
                                        </p:attrNameLst>
                                      </p:cBhvr>
                                      <p:to>
                                        <p:strVal val="visible"/>
                                      </p:to>
                                    </p:set>
                                    <p:animEffect transition="in" filter="fade">
                                      <p:cBhvr>
                                        <p:cTn id="54" dur="500"/>
                                        <p:tgtEl>
                                          <p:spTgt spid="332"/>
                                        </p:tgtEl>
                                      </p:cBhvr>
                                    </p:animEffect>
                                  </p:childTnLst>
                                </p:cTn>
                              </p:par>
                              <p:par>
                                <p:cTn id="55" presetID="10" presetClass="entr" presetSubtype="0" fill="hold" nodeType="withEffect">
                                  <p:stCondLst>
                                    <p:cond delay="0"/>
                                  </p:stCondLst>
                                  <p:childTnLst>
                                    <p:set>
                                      <p:cBhvr>
                                        <p:cTn id="56" dur="1" fill="hold">
                                          <p:stCondLst>
                                            <p:cond delay="0"/>
                                          </p:stCondLst>
                                        </p:cTn>
                                        <p:tgtEl>
                                          <p:spTgt spid="333"/>
                                        </p:tgtEl>
                                        <p:attrNameLst>
                                          <p:attrName>style.visibility</p:attrName>
                                        </p:attrNameLst>
                                      </p:cBhvr>
                                      <p:to>
                                        <p:strVal val="visible"/>
                                      </p:to>
                                    </p:set>
                                    <p:animEffect transition="in" filter="fade">
                                      <p:cBhvr>
                                        <p:cTn id="57" dur="500"/>
                                        <p:tgtEl>
                                          <p:spTgt spid="33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nodeType="clickEffect">
                                  <p:stCondLst>
                                    <p:cond delay="0"/>
                                  </p:stCondLst>
                                  <p:childTnLst>
                                    <p:set>
                                      <p:cBhvr>
                                        <p:cTn id="61" dur="1" fill="hold">
                                          <p:stCondLst>
                                            <p:cond delay="0"/>
                                          </p:stCondLst>
                                        </p:cTn>
                                        <p:tgtEl>
                                          <p:spTgt spid="334"/>
                                        </p:tgtEl>
                                        <p:attrNameLst>
                                          <p:attrName>style.visibility</p:attrName>
                                        </p:attrNameLst>
                                      </p:cBhvr>
                                      <p:to>
                                        <p:strVal val="visible"/>
                                      </p:to>
                                    </p:set>
                                    <p:animEffect transition="in" filter="fade">
                                      <p:cBhvr>
                                        <p:cTn id="62" dur="5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Google Shape;504;p56">
            <a:extLst>
              <a:ext uri="{FF2B5EF4-FFF2-40B4-BE49-F238E27FC236}">
                <a16:creationId xmlns:a16="http://schemas.microsoft.com/office/drawing/2014/main" id="{00996EB5-F07B-C31B-9A5B-45EAC1373305}"/>
              </a:ext>
            </a:extLst>
          </p:cNvPr>
          <p:cNvSpPr>
            <a:spLocks noGrp="1" noChangeArrowheads="1"/>
          </p:cNvSpPr>
          <p:nvPr>
            <p:ph type="title"/>
          </p:nvPr>
        </p:nvSpPr>
        <p:spPr>
          <a:xfrm>
            <a:off x="457200" y="274638"/>
            <a:ext cx="8229600" cy="1143000"/>
          </a:xfrm>
        </p:spPr>
        <p:txBody>
          <a:bodyPr/>
          <a:lstStyle/>
          <a:p>
            <a:pPr>
              <a:spcBef>
                <a:spcPct val="0"/>
              </a:spcBef>
              <a:spcAft>
                <a:spcPct val="0"/>
              </a:spcAft>
              <a:buClr>
                <a:srgbClr val="000000"/>
              </a:buClr>
              <a:buSzTx/>
              <a:buFont typeface="Trebuchet MS" panose="020B0603020202020204" pitchFamily="34" charset="0"/>
              <a:buNone/>
            </a:pPr>
            <a:r>
              <a:rPr lang="fr-FR" altLang="en-US">
                <a:solidFill>
                  <a:srgbClr val="000000"/>
                </a:solidFill>
                <a:sym typeface="Trebuchet MS" panose="020B0603020202020204" pitchFamily="34" charset="0"/>
              </a:rPr>
              <a:t>What can a </a:t>
            </a:r>
            <a:r>
              <a:rPr lang="fr-FR" altLang="fr-FR">
                <a:solidFill>
                  <a:srgbClr val="000000"/>
                </a:solidFill>
                <a:sym typeface="Trebuchet MS" panose="020B0603020202020204" pitchFamily="34" charset="0"/>
              </a:rPr>
              <a:t>“</a:t>
            </a:r>
            <a:r>
              <a:rPr lang="fr-FR" altLang="en-US">
                <a:solidFill>
                  <a:srgbClr val="000000"/>
                </a:solidFill>
                <a:sym typeface="Trebuchet MS" panose="020B0603020202020204" pitchFamily="34" charset="0"/>
              </a:rPr>
              <a:t>51% attacker</a:t>
            </a:r>
            <a:r>
              <a:rPr lang="fr-FR" altLang="fr-FR">
                <a:solidFill>
                  <a:srgbClr val="000000"/>
                </a:solidFill>
                <a:sym typeface="Trebuchet MS" panose="020B0603020202020204" pitchFamily="34" charset="0"/>
              </a:rPr>
              <a:t>”</a:t>
            </a:r>
            <a:r>
              <a:rPr lang="fr-FR" altLang="en-US">
                <a:solidFill>
                  <a:srgbClr val="000000"/>
                </a:solidFill>
                <a:sym typeface="Trebuchet MS" panose="020B0603020202020204" pitchFamily="34" charset="0"/>
              </a:rPr>
              <a:t> do?</a:t>
            </a:r>
          </a:p>
        </p:txBody>
      </p:sp>
      <p:sp>
        <p:nvSpPr>
          <p:cNvPr id="77826" name="Google Shape;505;p56">
            <a:extLst>
              <a:ext uri="{FF2B5EF4-FFF2-40B4-BE49-F238E27FC236}">
                <a16:creationId xmlns:a16="http://schemas.microsoft.com/office/drawing/2014/main" id="{4BB5401E-09A3-300A-F3CE-DBA79AE3D3F8}"/>
              </a:ext>
            </a:extLst>
          </p:cNvPr>
          <p:cNvSpPr>
            <a:spLocks noGrp="1" noChangeArrowheads="1"/>
          </p:cNvSpPr>
          <p:nvPr>
            <p:ph type="body" idx="1"/>
          </p:nvPr>
        </p:nvSpPr>
        <p:spPr>
          <a:xfrm>
            <a:off x="457200" y="1600200"/>
            <a:ext cx="8229600" cy="4967288"/>
          </a:xfrm>
        </p:spPr>
        <p:txBody>
          <a:bodyPr/>
          <a:lstStyle/>
          <a:p>
            <a:pPr marL="0" indent="0">
              <a:spcBef>
                <a:spcPct val="0"/>
              </a:spcBef>
              <a:spcAft>
                <a:spcPct val="0"/>
              </a:spcAft>
              <a:buClr>
                <a:srgbClr val="000000"/>
              </a:buClr>
              <a:buSzTx/>
              <a:buFont typeface="Trebuchet MS" panose="020B0603020202020204" pitchFamily="34" charset="0"/>
              <a:buNone/>
            </a:pPr>
            <a:r>
              <a:rPr lang="fr-FR" altLang="en-US" sz="2400" dirty="0" err="1">
                <a:solidFill>
                  <a:srgbClr val="000000"/>
                </a:solidFill>
                <a:latin typeface="Trebuchet MS" panose="020B0603020202020204" pitchFamily="34" charset="0"/>
                <a:sym typeface="Trebuchet MS" panose="020B0603020202020204" pitchFamily="34" charset="0"/>
              </a:rPr>
              <a:t>Steal</a:t>
            </a:r>
            <a:r>
              <a:rPr lang="fr-FR" altLang="en-US" sz="2400" dirty="0">
                <a:solidFill>
                  <a:srgbClr val="000000"/>
                </a:solidFill>
                <a:latin typeface="Trebuchet MS" panose="020B0603020202020204" pitchFamily="34" charset="0"/>
                <a:sym typeface="Trebuchet MS" panose="020B0603020202020204" pitchFamily="34" charset="0"/>
              </a:rPr>
              <a:t> coins </a:t>
            </a:r>
            <a:r>
              <a:rPr lang="fr-FR" altLang="en-US" sz="2400" dirty="0" err="1">
                <a:solidFill>
                  <a:srgbClr val="000000"/>
                </a:solidFill>
                <a:latin typeface="Trebuchet MS" panose="020B0603020202020204" pitchFamily="34" charset="0"/>
                <a:sym typeface="Trebuchet MS" panose="020B0603020202020204" pitchFamily="34" charset="0"/>
              </a:rPr>
              <a:t>from</a:t>
            </a:r>
            <a:r>
              <a:rPr lang="fr-FR" altLang="en-US" sz="2400" dirty="0">
                <a:solidFill>
                  <a:srgbClr val="000000"/>
                </a:solidFill>
                <a:latin typeface="Trebuchet MS" panose="020B0603020202020204" pitchFamily="34" charset="0"/>
                <a:sym typeface="Trebuchet MS" panose="020B0603020202020204" pitchFamily="34" charset="0"/>
              </a:rPr>
              <a:t> </a:t>
            </a:r>
            <a:r>
              <a:rPr lang="fr-FR" altLang="en-US" sz="2400" dirty="0" err="1">
                <a:solidFill>
                  <a:srgbClr val="000000"/>
                </a:solidFill>
                <a:latin typeface="Trebuchet MS" panose="020B0603020202020204" pitchFamily="34" charset="0"/>
                <a:sym typeface="Trebuchet MS" panose="020B0603020202020204" pitchFamily="34" charset="0"/>
              </a:rPr>
              <a:t>existing</a:t>
            </a:r>
            <a:r>
              <a:rPr lang="fr-FR" altLang="en-US" sz="2400" dirty="0">
                <a:solidFill>
                  <a:srgbClr val="000000"/>
                </a:solidFill>
                <a:latin typeface="Trebuchet MS" panose="020B0603020202020204" pitchFamily="34" charset="0"/>
                <a:sym typeface="Trebuchet MS" panose="020B0603020202020204" pitchFamily="34" charset="0"/>
              </a:rPr>
              <a:t> </a:t>
            </a:r>
            <a:r>
              <a:rPr lang="fr-FR" altLang="en-US" sz="2400" dirty="0" err="1">
                <a:solidFill>
                  <a:srgbClr val="000000"/>
                </a:solidFill>
                <a:latin typeface="Trebuchet MS" panose="020B0603020202020204" pitchFamily="34" charset="0"/>
                <a:sym typeface="Trebuchet MS" panose="020B0603020202020204" pitchFamily="34" charset="0"/>
              </a:rPr>
              <a:t>address</a:t>
            </a:r>
            <a:r>
              <a:rPr lang="fr-FR" altLang="en-US" sz="2400" dirty="0">
                <a:solidFill>
                  <a:srgbClr val="000000"/>
                </a:solidFill>
                <a:latin typeface="Trebuchet MS" panose="020B0603020202020204" pitchFamily="34" charset="0"/>
                <a:sym typeface="Trebuchet MS" panose="020B0603020202020204" pitchFamily="34" charset="0"/>
              </a:rPr>
              <a:t>?</a:t>
            </a:r>
          </a:p>
          <a:p>
            <a:pPr marL="0" indent="0">
              <a:spcBef>
                <a:spcPct val="0"/>
              </a:spcBef>
              <a:spcAft>
                <a:spcPct val="0"/>
              </a:spcAft>
              <a:buClr>
                <a:srgbClr val="000000"/>
              </a:buClr>
              <a:buSzTx/>
              <a:buFont typeface="Trebuchet MS" panose="020B0603020202020204" pitchFamily="34" charset="0"/>
              <a:buNone/>
            </a:pPr>
            <a:endParaRPr lang="fr-FR" altLang="en-US" sz="24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400" dirty="0" err="1">
                <a:solidFill>
                  <a:srgbClr val="000000"/>
                </a:solidFill>
                <a:latin typeface="Trebuchet MS" panose="020B0603020202020204" pitchFamily="34" charset="0"/>
                <a:sym typeface="Trebuchet MS" panose="020B0603020202020204" pitchFamily="34" charset="0"/>
              </a:rPr>
              <a:t>Suppress</a:t>
            </a:r>
            <a:r>
              <a:rPr lang="fr-FR" altLang="en-US" sz="2400" dirty="0">
                <a:solidFill>
                  <a:srgbClr val="000000"/>
                </a:solidFill>
                <a:latin typeface="Trebuchet MS" panose="020B0603020202020204" pitchFamily="34" charset="0"/>
                <a:sym typeface="Trebuchet MS" panose="020B0603020202020204" pitchFamily="34" charset="0"/>
              </a:rPr>
              <a:t> </a:t>
            </a:r>
            <a:r>
              <a:rPr lang="fr-FR" altLang="en-US" sz="2400" dirty="0" err="1">
                <a:solidFill>
                  <a:srgbClr val="000000"/>
                </a:solidFill>
                <a:latin typeface="Trebuchet MS" panose="020B0603020202020204" pitchFamily="34" charset="0"/>
                <a:sym typeface="Trebuchet MS" panose="020B0603020202020204" pitchFamily="34" charset="0"/>
              </a:rPr>
              <a:t>some</a:t>
            </a:r>
            <a:r>
              <a:rPr lang="fr-FR" altLang="en-US" sz="2400" dirty="0">
                <a:solidFill>
                  <a:srgbClr val="000000"/>
                </a:solidFill>
                <a:latin typeface="Trebuchet MS" panose="020B0603020202020204" pitchFamily="34" charset="0"/>
                <a:sym typeface="Trebuchet MS" panose="020B0603020202020204" pitchFamily="34" charset="0"/>
              </a:rPr>
              <a:t> transactions?</a:t>
            </a:r>
            <a:endParaRPr lang="fr-FR" altLang="en-US" dirty="0"/>
          </a:p>
          <a:p>
            <a:pPr marL="0" indent="0">
              <a:spcBef>
                <a:spcPct val="0"/>
              </a:spcBef>
              <a:spcAft>
                <a:spcPct val="0"/>
              </a:spcAft>
              <a:buClr>
                <a:srgbClr val="000000"/>
              </a:buClr>
              <a:buSzTx/>
              <a:buFontTx/>
              <a:buChar char="•"/>
            </a:pPr>
            <a:r>
              <a:rPr lang="fr-FR" altLang="en-US" sz="2400" dirty="0" err="1">
                <a:solidFill>
                  <a:srgbClr val="000000"/>
                </a:solidFill>
                <a:latin typeface="Trebuchet MS" panose="020B0603020202020204" pitchFamily="34" charset="0"/>
                <a:sym typeface="Trebuchet MS" panose="020B0603020202020204" pitchFamily="34" charset="0"/>
              </a:rPr>
              <a:t>From</a:t>
            </a:r>
            <a:r>
              <a:rPr lang="fr-FR" altLang="en-US" sz="2400" dirty="0">
                <a:solidFill>
                  <a:srgbClr val="000000"/>
                </a:solidFill>
                <a:latin typeface="Trebuchet MS" panose="020B0603020202020204" pitchFamily="34" charset="0"/>
                <a:sym typeface="Trebuchet MS" panose="020B0603020202020204" pitchFamily="34" charset="0"/>
              </a:rPr>
              <a:t> the block </a:t>
            </a:r>
            <a:r>
              <a:rPr lang="fr-FR" altLang="en-US" sz="2400" dirty="0" err="1">
                <a:solidFill>
                  <a:srgbClr val="000000"/>
                </a:solidFill>
                <a:latin typeface="Trebuchet MS" panose="020B0603020202020204" pitchFamily="34" charset="0"/>
                <a:sym typeface="Trebuchet MS" panose="020B0603020202020204" pitchFamily="34" charset="0"/>
              </a:rPr>
              <a:t>chain</a:t>
            </a:r>
            <a:endParaRPr lang="fr-FR" altLang="en-US" sz="24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Tx/>
              <a:buChar char="•"/>
            </a:pPr>
            <a:r>
              <a:rPr lang="fr-FR" altLang="en-US" sz="2400" dirty="0" err="1">
                <a:solidFill>
                  <a:srgbClr val="000000"/>
                </a:solidFill>
                <a:latin typeface="Trebuchet MS" panose="020B0603020202020204" pitchFamily="34" charset="0"/>
                <a:sym typeface="Trebuchet MS" panose="020B0603020202020204" pitchFamily="34" charset="0"/>
              </a:rPr>
              <a:t>From</a:t>
            </a:r>
            <a:r>
              <a:rPr lang="fr-FR" altLang="en-US" sz="2400" dirty="0">
                <a:solidFill>
                  <a:srgbClr val="000000"/>
                </a:solidFill>
                <a:latin typeface="Trebuchet MS" panose="020B0603020202020204" pitchFamily="34" charset="0"/>
                <a:sym typeface="Trebuchet MS" panose="020B0603020202020204" pitchFamily="34" charset="0"/>
              </a:rPr>
              <a:t> the P2P network</a:t>
            </a:r>
            <a:endParaRPr lang="fr-FR" altLang="en-US" dirty="0"/>
          </a:p>
          <a:p>
            <a:pPr marL="0" indent="0">
              <a:spcBef>
                <a:spcPct val="0"/>
              </a:spcBef>
              <a:spcAft>
                <a:spcPct val="0"/>
              </a:spcAft>
              <a:buClr>
                <a:srgbClr val="000000"/>
              </a:buClr>
              <a:buSzTx/>
              <a:buFontTx/>
              <a:buNone/>
            </a:pPr>
            <a:endParaRPr lang="fr-FR" altLang="en-US" sz="24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400" dirty="0">
                <a:solidFill>
                  <a:srgbClr val="000000"/>
                </a:solidFill>
                <a:latin typeface="Trebuchet MS" panose="020B0603020202020204" pitchFamily="34" charset="0"/>
                <a:sym typeface="Trebuchet MS" panose="020B0603020202020204" pitchFamily="34" charset="0"/>
              </a:rPr>
              <a:t>Change the block </a:t>
            </a:r>
            <a:r>
              <a:rPr lang="fr-FR" altLang="en-US" sz="2400" dirty="0" err="1">
                <a:solidFill>
                  <a:srgbClr val="000000"/>
                </a:solidFill>
                <a:latin typeface="Trebuchet MS" panose="020B0603020202020204" pitchFamily="34" charset="0"/>
                <a:sym typeface="Trebuchet MS" panose="020B0603020202020204" pitchFamily="34" charset="0"/>
              </a:rPr>
              <a:t>reward</a:t>
            </a:r>
            <a:r>
              <a:rPr lang="fr-FR" altLang="en-US" sz="2400" dirty="0">
                <a:solidFill>
                  <a:srgbClr val="000000"/>
                </a:solidFill>
                <a:latin typeface="Trebuchet MS" panose="020B0603020202020204" pitchFamily="34" charset="0"/>
                <a:sym typeface="Trebuchet MS" panose="020B0603020202020204" pitchFamily="34" charset="0"/>
              </a:rPr>
              <a:t>?</a:t>
            </a:r>
            <a:endParaRPr lang="fr-FR" altLang="en-US" dirty="0"/>
          </a:p>
          <a:p>
            <a:pPr marL="0" indent="0">
              <a:spcBef>
                <a:spcPct val="0"/>
              </a:spcBef>
              <a:spcAft>
                <a:spcPct val="0"/>
              </a:spcAft>
              <a:buClr>
                <a:srgbClr val="000000"/>
              </a:buClr>
              <a:buSzTx/>
              <a:buFont typeface="Trebuchet MS" panose="020B0603020202020204" pitchFamily="34" charset="0"/>
              <a:buNone/>
            </a:pPr>
            <a:endParaRPr lang="fr-FR" altLang="en-US" sz="2400" dirty="0">
              <a:solidFill>
                <a:srgbClr val="000000"/>
              </a:solidFill>
              <a:latin typeface="Trebuchet MS" panose="020B0603020202020204" pitchFamily="34" charset="0"/>
              <a:sym typeface="Trebuchet MS" panose="020B0603020202020204" pitchFamily="34" charset="0"/>
            </a:endParaRPr>
          </a:p>
          <a:p>
            <a:pPr marL="0" indent="0">
              <a:spcBef>
                <a:spcPct val="0"/>
              </a:spcBef>
              <a:spcAft>
                <a:spcPct val="0"/>
              </a:spcAft>
              <a:buClr>
                <a:srgbClr val="000000"/>
              </a:buClr>
              <a:buSzTx/>
              <a:buFont typeface="Trebuchet MS" panose="020B0603020202020204" pitchFamily="34" charset="0"/>
              <a:buNone/>
            </a:pPr>
            <a:r>
              <a:rPr lang="fr-FR" altLang="en-US" sz="2400" dirty="0">
                <a:solidFill>
                  <a:srgbClr val="000000"/>
                </a:solidFill>
                <a:latin typeface="Trebuchet MS" panose="020B0603020202020204" pitchFamily="34" charset="0"/>
                <a:sym typeface="Trebuchet MS" panose="020B0603020202020204" pitchFamily="34" charset="0"/>
              </a:rPr>
              <a:t>Destroy confidence in Bitcoin?</a:t>
            </a:r>
            <a:endParaRPr lang="fr-FR" altLang="en-US" dirty="0"/>
          </a:p>
          <a:p>
            <a:pPr marL="0" indent="0">
              <a:spcBef>
                <a:spcPct val="0"/>
              </a:spcBef>
              <a:spcAft>
                <a:spcPct val="0"/>
              </a:spcAft>
              <a:buClr>
                <a:srgbClr val="000000"/>
              </a:buClr>
              <a:buSzTx/>
              <a:buFont typeface="Trebuchet MS" panose="020B0603020202020204" pitchFamily="34" charset="0"/>
              <a:buNone/>
            </a:pPr>
            <a:endParaRPr lang="fr-FR" altLang="en-US" sz="2400" dirty="0">
              <a:solidFill>
                <a:srgbClr val="000000"/>
              </a:solidFill>
              <a:latin typeface="Trebuchet MS" panose="020B0603020202020204" pitchFamily="34" charset="0"/>
              <a:sym typeface="Trebuchet MS" panose="020B0603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Google Shape;218;p25">
            <a:extLst>
              <a:ext uri="{FF2B5EF4-FFF2-40B4-BE49-F238E27FC236}">
                <a16:creationId xmlns:a16="http://schemas.microsoft.com/office/drawing/2014/main" id="{D50DE95D-FD6B-D77E-D29B-6879A73E16D9}"/>
              </a:ext>
            </a:extLst>
          </p:cNvPr>
          <p:cNvSpPr>
            <a:spLocks noGrp="1" noChangeArrowheads="1"/>
          </p:cNvSpPr>
          <p:nvPr>
            <p:ph type="title"/>
          </p:nvPr>
        </p:nvSpPr>
        <p:spPr/>
        <p:txBody>
          <a:bodyPr lIns="91425" tIns="91425" rIns="91425" bIns="91425" anchor="t"/>
          <a:lstStyle/>
          <a:p>
            <a:r>
              <a:rPr lang="en-US" altLang="en-US" sz="4000">
                <a:solidFill>
                  <a:schemeClr val="tx1"/>
                </a:solidFill>
                <a:cs typeface="Calibri Light" panose="020F0302020204030204" pitchFamily="34" charset="0"/>
              </a:rPr>
              <a:t>PoW Strengths </a:t>
            </a:r>
          </a:p>
        </p:txBody>
      </p:sp>
      <p:sp>
        <p:nvSpPr>
          <p:cNvPr id="79874" name="Google Shape;219;p25">
            <a:extLst>
              <a:ext uri="{FF2B5EF4-FFF2-40B4-BE49-F238E27FC236}">
                <a16:creationId xmlns:a16="http://schemas.microsoft.com/office/drawing/2014/main" id="{A829BA82-01DE-235E-BA8B-E2B1266071EE}"/>
              </a:ext>
            </a:extLst>
          </p:cNvPr>
          <p:cNvSpPr>
            <a:spLocks noGrp="1" noChangeArrowheads="1"/>
          </p:cNvSpPr>
          <p:nvPr>
            <p:ph idx="1"/>
          </p:nvPr>
        </p:nvSpPr>
        <p:spPr/>
        <p:txBody>
          <a:bodyPr lIns="91425" tIns="91425" rIns="91425" bIns="91425"/>
          <a:lstStyle/>
          <a:p>
            <a:pPr marL="571500">
              <a:spcBef>
                <a:spcPct val="0"/>
              </a:spcBef>
              <a:buClr>
                <a:schemeClr val="tx1"/>
              </a:buClr>
            </a:pPr>
            <a:r>
              <a:rPr lang="fr-FR" altLang="en-US" sz="2400"/>
              <a:t>Proven applicability, predictable block times </a:t>
            </a:r>
          </a:p>
          <a:p>
            <a:pPr marL="571500">
              <a:spcBef>
                <a:spcPct val="0"/>
              </a:spcBef>
              <a:buClr>
                <a:schemeClr val="tx1"/>
              </a:buClr>
            </a:pPr>
            <a:r>
              <a:rPr lang="fr-FR" altLang="en-US" sz="2400"/>
              <a:t>Does not rely on any other node being trustworthy</a:t>
            </a:r>
          </a:p>
          <a:p>
            <a:pPr marL="571500">
              <a:spcBef>
                <a:spcPct val="0"/>
              </a:spcBef>
              <a:buClr>
                <a:schemeClr val="tx1"/>
              </a:buClr>
            </a:pPr>
            <a:endParaRPr lang="fr-FR" altLang="en-US" sz="2400"/>
          </a:p>
          <a:p>
            <a:pPr marL="571500">
              <a:spcBef>
                <a:spcPct val="0"/>
              </a:spcBef>
              <a:buClr>
                <a:schemeClr val="tx1"/>
              </a:buClr>
            </a:pPr>
            <a:r>
              <a:rPr lang="fr-FR" altLang="en-US" sz="2400"/>
              <a:t>Only known vulnerability is the so-called </a:t>
            </a:r>
            <a:r>
              <a:rPr lang="fr-FR" altLang="fr-FR" sz="2400"/>
              <a:t>‘</a:t>
            </a:r>
            <a:r>
              <a:rPr lang="fr-FR" altLang="en-US" sz="2400"/>
              <a:t>51% attack</a:t>
            </a:r>
            <a:r>
              <a:rPr lang="fr-FR" altLang="fr-FR" sz="2400"/>
              <a:t>’</a:t>
            </a:r>
            <a:endParaRPr lang="fr-FR" altLang="ja-JP" sz="2400"/>
          </a:p>
          <a:p>
            <a:pPr marL="571500">
              <a:spcBef>
                <a:spcPct val="0"/>
              </a:spcBef>
              <a:buClr>
                <a:schemeClr val="tx1"/>
              </a:buClr>
            </a:pPr>
            <a:r>
              <a:rPr lang="fr-FR" altLang="en-US" sz="2400"/>
              <a:t>Uncensorable and publicly broadcast</a:t>
            </a:r>
          </a:p>
        </p:txBody>
      </p:sp>
      <p:sp>
        <p:nvSpPr>
          <p:cNvPr id="79875" name="Slide Number Placeholder 1">
            <a:extLst>
              <a:ext uri="{FF2B5EF4-FFF2-40B4-BE49-F238E27FC236}">
                <a16:creationId xmlns:a16="http://schemas.microsoft.com/office/drawing/2014/main" id="{C0A792EC-DF2B-1B66-2AA5-3ED81A1EB99A}"/>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CACB4C75-0845-412E-9B83-B72F8F858D91}" type="slidenum">
              <a:rPr lang="en-US" altLang="en-US" sz="1400"/>
              <a:pPr>
                <a:spcBef>
                  <a:spcPct val="0"/>
                </a:spcBef>
                <a:buFontTx/>
                <a:buNone/>
              </a:pPr>
              <a:t>38</a:t>
            </a:fld>
            <a:endParaRPr lang="en-US" altLang="en-US" sz="1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1" name="Picture 1">
            <a:extLst>
              <a:ext uri="{FF2B5EF4-FFF2-40B4-BE49-F238E27FC236}">
                <a16:creationId xmlns:a16="http://schemas.microsoft.com/office/drawing/2014/main" id="{4F4A7393-3962-25FF-1DA4-28DE758C925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81850" y="484188"/>
            <a:ext cx="150495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2" name="Google Shape;224;p26">
            <a:extLst>
              <a:ext uri="{FF2B5EF4-FFF2-40B4-BE49-F238E27FC236}">
                <a16:creationId xmlns:a16="http://schemas.microsoft.com/office/drawing/2014/main" id="{AA8BE809-3181-A3C3-CC53-772A4C8526F1}"/>
              </a:ext>
            </a:extLst>
          </p:cNvPr>
          <p:cNvSpPr>
            <a:spLocks noGrp="1" noChangeArrowheads="1"/>
          </p:cNvSpPr>
          <p:nvPr>
            <p:ph type="title"/>
          </p:nvPr>
        </p:nvSpPr>
        <p:spPr/>
        <p:txBody>
          <a:bodyPr lIns="91425" tIns="91425" rIns="91425" bIns="91425" anchor="t"/>
          <a:lstStyle/>
          <a:p>
            <a:r>
              <a:rPr lang="en-US" altLang="en-US">
                <a:solidFill>
                  <a:srgbClr val="000000"/>
                </a:solidFill>
              </a:rPr>
              <a:t>PoW Drawbacks</a:t>
            </a:r>
          </a:p>
        </p:txBody>
      </p:sp>
      <p:sp>
        <p:nvSpPr>
          <p:cNvPr id="81923" name="Google Shape;225;p26">
            <a:extLst>
              <a:ext uri="{FF2B5EF4-FFF2-40B4-BE49-F238E27FC236}">
                <a16:creationId xmlns:a16="http://schemas.microsoft.com/office/drawing/2014/main" id="{A55A2BF9-EFD6-4D6A-F70D-16F0C345F77F}"/>
              </a:ext>
            </a:extLst>
          </p:cNvPr>
          <p:cNvSpPr>
            <a:spLocks noGrp="1" noChangeArrowheads="1"/>
          </p:cNvSpPr>
          <p:nvPr>
            <p:ph idx="1"/>
          </p:nvPr>
        </p:nvSpPr>
        <p:spPr/>
        <p:txBody>
          <a:bodyPr lIns="91425" tIns="91425" rIns="91425" bIns="91425"/>
          <a:lstStyle/>
          <a:p>
            <a:pPr marL="603250" indent="-457200">
              <a:spcBef>
                <a:spcPct val="0"/>
              </a:spcBef>
              <a:buClr>
                <a:schemeClr val="tx1"/>
              </a:buClr>
            </a:pPr>
            <a:r>
              <a:rPr lang="fr-FR" altLang="en-US" sz="2400" dirty="0" err="1">
                <a:solidFill>
                  <a:srgbClr val="000000"/>
                </a:solidFill>
              </a:rPr>
              <a:t>Enormous</a:t>
            </a:r>
            <a:r>
              <a:rPr lang="fr-FR" altLang="en-US" sz="2400" dirty="0">
                <a:solidFill>
                  <a:srgbClr val="000000"/>
                </a:solidFill>
              </a:rPr>
              <a:t> </a:t>
            </a:r>
            <a:r>
              <a:rPr lang="fr-FR" altLang="en-US" sz="2400" dirty="0" err="1">
                <a:solidFill>
                  <a:srgbClr val="000000"/>
                </a:solidFill>
              </a:rPr>
              <a:t>waste</a:t>
            </a:r>
            <a:r>
              <a:rPr lang="fr-FR" altLang="en-US" sz="2400" dirty="0">
                <a:solidFill>
                  <a:srgbClr val="000000"/>
                </a:solidFill>
              </a:rPr>
              <a:t> of </a:t>
            </a:r>
            <a:r>
              <a:rPr lang="fr-FR" altLang="en-US" sz="2400" dirty="0" err="1">
                <a:solidFill>
                  <a:srgbClr val="000000"/>
                </a:solidFill>
              </a:rPr>
              <a:t>resources</a:t>
            </a:r>
            <a:endParaRPr lang="fr-FR" altLang="en-US" sz="2400" dirty="0">
              <a:solidFill>
                <a:srgbClr val="000000"/>
              </a:solidFill>
            </a:endParaRPr>
          </a:p>
          <a:p>
            <a:pPr marL="958850" lvl="1" indent="-342900">
              <a:spcBef>
                <a:spcPct val="0"/>
              </a:spcBef>
              <a:buClr>
                <a:schemeClr val="tx1"/>
              </a:buClr>
            </a:pPr>
            <a:r>
              <a:rPr lang="fr-FR" altLang="en-US" sz="2000" dirty="0">
                <a:solidFill>
                  <a:srgbClr val="000000"/>
                </a:solidFill>
              </a:rPr>
              <a:t>Bitcoin </a:t>
            </a:r>
            <a:r>
              <a:rPr lang="fr-FR" altLang="en-US" sz="2000" dirty="0" err="1">
                <a:solidFill>
                  <a:srgbClr val="000000"/>
                </a:solidFill>
              </a:rPr>
              <a:t>mining</a:t>
            </a:r>
            <a:r>
              <a:rPr lang="fr-FR" altLang="en-US" sz="2000" dirty="0">
                <a:solidFill>
                  <a:srgbClr val="000000"/>
                </a:solidFill>
              </a:rPr>
              <a:t> uses </a:t>
            </a:r>
            <a:r>
              <a:rPr lang="fr-FR" altLang="en-US" sz="2000" dirty="0" err="1">
                <a:solidFill>
                  <a:srgbClr val="000000"/>
                </a:solidFill>
              </a:rPr>
              <a:t>much</a:t>
            </a:r>
            <a:r>
              <a:rPr lang="fr-FR" altLang="en-US" sz="2000" dirty="0">
                <a:solidFill>
                  <a:srgbClr val="000000"/>
                </a:solidFill>
              </a:rPr>
              <a:t> </a:t>
            </a:r>
            <a:r>
              <a:rPr lang="fr-FR" altLang="en-US" sz="2000" dirty="0" err="1">
                <a:solidFill>
                  <a:srgbClr val="000000"/>
                </a:solidFill>
              </a:rPr>
              <a:t>energy</a:t>
            </a:r>
            <a:r>
              <a:rPr lang="fr-FR" altLang="en-US" sz="2000" dirty="0">
                <a:solidFill>
                  <a:srgbClr val="000000"/>
                </a:solidFill>
              </a:rPr>
              <a:t> as Argentina</a:t>
            </a:r>
          </a:p>
          <a:p>
            <a:pPr marL="603250" indent="-457200">
              <a:spcBef>
                <a:spcPct val="0"/>
              </a:spcBef>
              <a:buClr>
                <a:schemeClr val="tx1"/>
              </a:buClr>
            </a:pPr>
            <a:endParaRPr lang="fr-FR" altLang="en-US" sz="2400" dirty="0">
              <a:solidFill>
                <a:srgbClr val="000000"/>
              </a:solidFill>
            </a:endParaRPr>
          </a:p>
          <a:p>
            <a:pPr marL="603250" indent="-457200">
              <a:spcBef>
                <a:spcPct val="0"/>
              </a:spcBef>
              <a:buClr>
                <a:schemeClr val="tx1"/>
              </a:buClr>
            </a:pPr>
            <a:r>
              <a:rPr lang="fr-FR" altLang="en-US" sz="2400" dirty="0">
                <a:solidFill>
                  <a:srgbClr val="000000"/>
                </a:solidFill>
              </a:rPr>
              <a:t>ASIC hardware </a:t>
            </a:r>
            <a:r>
              <a:rPr lang="fr-FR" altLang="en-US" sz="2400" dirty="0" err="1">
                <a:solidFill>
                  <a:srgbClr val="000000"/>
                </a:solidFill>
              </a:rPr>
              <a:t>give</a:t>
            </a:r>
            <a:r>
              <a:rPr lang="fr-FR" altLang="en-US" sz="2400" dirty="0">
                <a:solidFill>
                  <a:srgbClr val="000000"/>
                </a:solidFill>
              </a:rPr>
              <a:t> </a:t>
            </a:r>
            <a:r>
              <a:rPr lang="fr-FR" altLang="en-US" sz="2400" dirty="0" err="1">
                <a:solidFill>
                  <a:srgbClr val="000000"/>
                </a:solidFill>
              </a:rPr>
              <a:t>advanced</a:t>
            </a:r>
            <a:r>
              <a:rPr lang="fr-FR" altLang="en-US" sz="2400" dirty="0">
                <a:solidFill>
                  <a:srgbClr val="000000"/>
                </a:solidFill>
              </a:rPr>
              <a:t> </a:t>
            </a:r>
            <a:r>
              <a:rPr lang="fr-FR" altLang="en-US" sz="2400" dirty="0" err="1">
                <a:solidFill>
                  <a:srgbClr val="000000"/>
                </a:solidFill>
              </a:rPr>
              <a:t>miners</a:t>
            </a:r>
            <a:r>
              <a:rPr lang="fr-FR" altLang="en-US" sz="2400" dirty="0">
                <a:solidFill>
                  <a:srgbClr val="000000"/>
                </a:solidFill>
              </a:rPr>
              <a:t> and                       </a:t>
            </a:r>
            <a:r>
              <a:rPr lang="fr-FR" altLang="en-US" sz="2400" dirty="0" err="1">
                <a:solidFill>
                  <a:srgbClr val="000000"/>
                </a:solidFill>
              </a:rPr>
              <a:t>mining</a:t>
            </a:r>
            <a:r>
              <a:rPr lang="fr-FR" altLang="en-US" sz="2400" dirty="0">
                <a:solidFill>
                  <a:srgbClr val="000000"/>
                </a:solidFill>
              </a:rPr>
              <a:t> pools a </a:t>
            </a:r>
            <a:r>
              <a:rPr lang="fr-FR" altLang="en-US" sz="2400" dirty="0" err="1">
                <a:solidFill>
                  <a:srgbClr val="000000"/>
                </a:solidFill>
              </a:rPr>
              <a:t>substantial</a:t>
            </a:r>
            <a:r>
              <a:rPr lang="fr-FR" altLang="en-US" sz="2400" dirty="0">
                <a:solidFill>
                  <a:srgbClr val="000000"/>
                </a:solidFill>
              </a:rPr>
              <a:t> </a:t>
            </a:r>
            <a:r>
              <a:rPr lang="fr-FR" altLang="en-US" sz="2400" dirty="0" err="1">
                <a:solidFill>
                  <a:srgbClr val="000000"/>
                </a:solidFill>
              </a:rPr>
              <a:t>advantage</a:t>
            </a:r>
            <a:r>
              <a:rPr lang="fr-FR" altLang="en-US" sz="2400" dirty="0">
                <a:solidFill>
                  <a:srgbClr val="000000"/>
                </a:solidFill>
              </a:rPr>
              <a:t> over                     the </a:t>
            </a:r>
            <a:r>
              <a:rPr lang="fr-FR" altLang="en-US" sz="2400" dirty="0" err="1">
                <a:solidFill>
                  <a:srgbClr val="000000"/>
                </a:solidFill>
              </a:rPr>
              <a:t>average</a:t>
            </a:r>
            <a:r>
              <a:rPr lang="fr-FR" altLang="en-US" sz="2400" dirty="0">
                <a:solidFill>
                  <a:srgbClr val="000000"/>
                </a:solidFill>
              </a:rPr>
              <a:t> miner</a:t>
            </a:r>
          </a:p>
          <a:p>
            <a:pPr marL="958850" lvl="1" indent="-342900">
              <a:spcBef>
                <a:spcPct val="0"/>
              </a:spcBef>
              <a:buClr>
                <a:schemeClr val="tx1"/>
              </a:buClr>
            </a:pPr>
            <a:r>
              <a:rPr lang="fr-FR" altLang="en-US" sz="2000" dirty="0">
                <a:solidFill>
                  <a:srgbClr val="000000"/>
                </a:solidFill>
              </a:rPr>
              <a:t>Massive start up </a:t>
            </a:r>
            <a:r>
              <a:rPr lang="fr-FR" altLang="en-US" sz="2000" dirty="0" err="1">
                <a:solidFill>
                  <a:srgbClr val="000000"/>
                </a:solidFill>
              </a:rPr>
              <a:t>costs</a:t>
            </a:r>
            <a:r>
              <a:rPr lang="fr-FR" altLang="en-US" sz="2000" dirty="0">
                <a:solidFill>
                  <a:srgbClr val="000000"/>
                </a:solidFill>
              </a:rPr>
              <a:t> can </a:t>
            </a:r>
            <a:r>
              <a:rPr lang="fr-FR" altLang="en-US" sz="2000" dirty="0" err="1">
                <a:solidFill>
                  <a:srgbClr val="000000"/>
                </a:solidFill>
              </a:rPr>
              <a:t>result</a:t>
            </a:r>
            <a:r>
              <a:rPr lang="fr-FR" altLang="en-US" sz="2000" dirty="0">
                <a:solidFill>
                  <a:srgbClr val="000000"/>
                </a:solidFill>
              </a:rPr>
              <a:t> in </a:t>
            </a:r>
            <a:r>
              <a:rPr lang="fr-FR" altLang="en-US" sz="2000" dirty="0" err="1">
                <a:solidFill>
                  <a:srgbClr val="000000"/>
                </a:solidFill>
              </a:rPr>
              <a:t>centralization</a:t>
            </a:r>
            <a:r>
              <a:rPr lang="fr-FR" altLang="en-US" sz="2000" dirty="0">
                <a:solidFill>
                  <a:srgbClr val="000000"/>
                </a:solidFill>
              </a:rPr>
              <a:t> of pools and </a:t>
            </a:r>
            <a:r>
              <a:rPr lang="fr-FR" altLang="en-US" sz="2000" dirty="0" err="1">
                <a:solidFill>
                  <a:srgbClr val="000000"/>
                </a:solidFill>
              </a:rPr>
              <a:t>resources</a:t>
            </a:r>
            <a:endParaRPr lang="fr-FR" altLang="en-US" sz="2000" dirty="0">
              <a:solidFill>
                <a:srgbClr val="000000"/>
              </a:solidFill>
            </a:endParaRPr>
          </a:p>
          <a:p>
            <a:pPr marL="958850" lvl="1" indent="-342900">
              <a:spcBef>
                <a:spcPct val="0"/>
              </a:spcBef>
              <a:buClr>
                <a:schemeClr val="tx1"/>
              </a:buClr>
            </a:pPr>
            <a:r>
              <a:rPr lang="fr-FR" altLang="en-US" sz="2000" dirty="0">
                <a:solidFill>
                  <a:srgbClr val="000000"/>
                </a:solidFill>
              </a:rPr>
              <a:t>A </a:t>
            </a:r>
            <a:r>
              <a:rPr lang="fr-FR" altLang="en-US" sz="2000" dirty="0" err="1">
                <a:solidFill>
                  <a:srgbClr val="000000"/>
                </a:solidFill>
              </a:rPr>
              <a:t>regular</a:t>
            </a:r>
            <a:r>
              <a:rPr lang="fr-FR" altLang="en-US" sz="2000" dirty="0">
                <a:solidFill>
                  <a:srgbClr val="000000"/>
                </a:solidFill>
              </a:rPr>
              <a:t> computer has </a:t>
            </a:r>
            <a:r>
              <a:rPr lang="fr-FR" altLang="en-US" sz="2000" dirty="0" err="1">
                <a:solidFill>
                  <a:srgbClr val="000000"/>
                </a:solidFill>
              </a:rPr>
              <a:t>essentially</a:t>
            </a:r>
            <a:r>
              <a:rPr lang="fr-FR" altLang="en-US" sz="2000" dirty="0">
                <a:solidFill>
                  <a:srgbClr val="000000"/>
                </a:solidFill>
              </a:rPr>
              <a:t> no </a:t>
            </a:r>
            <a:r>
              <a:rPr lang="fr-FR" altLang="en-US" sz="2000" dirty="0" err="1">
                <a:solidFill>
                  <a:srgbClr val="000000"/>
                </a:solidFill>
              </a:rPr>
              <a:t>hope</a:t>
            </a:r>
            <a:r>
              <a:rPr lang="fr-FR" altLang="en-US" sz="2000" dirty="0">
                <a:solidFill>
                  <a:srgbClr val="000000"/>
                </a:solidFill>
              </a:rPr>
              <a:t> of </a:t>
            </a:r>
            <a:r>
              <a:rPr lang="fr-FR" altLang="en-US" sz="2000" dirty="0" err="1">
                <a:solidFill>
                  <a:srgbClr val="000000"/>
                </a:solidFill>
              </a:rPr>
              <a:t>ever</a:t>
            </a:r>
            <a:r>
              <a:rPr lang="fr-FR" altLang="en-US" sz="2000" dirty="0">
                <a:solidFill>
                  <a:srgbClr val="000000"/>
                </a:solidFill>
              </a:rPr>
              <a:t> </a:t>
            </a:r>
            <a:r>
              <a:rPr lang="fr-FR" altLang="en-US" sz="2000" dirty="0" err="1">
                <a:solidFill>
                  <a:srgbClr val="000000"/>
                </a:solidFill>
              </a:rPr>
              <a:t>mining</a:t>
            </a:r>
            <a:r>
              <a:rPr lang="fr-FR" altLang="en-US" sz="2000" dirty="0">
                <a:solidFill>
                  <a:srgbClr val="000000"/>
                </a:solidFill>
              </a:rPr>
              <a:t> a block</a:t>
            </a:r>
          </a:p>
        </p:txBody>
      </p:sp>
      <p:sp>
        <p:nvSpPr>
          <p:cNvPr id="2" name="Slide Number Placeholder 1">
            <a:extLst>
              <a:ext uri="{FF2B5EF4-FFF2-40B4-BE49-F238E27FC236}">
                <a16:creationId xmlns:a16="http://schemas.microsoft.com/office/drawing/2014/main" id="{1616CAE2-4CF8-10C4-4D65-E0B684DB1698}"/>
              </a:ext>
            </a:extLst>
          </p:cNvPr>
          <p:cNvSpPr>
            <a:spLocks noGrp="1"/>
          </p:cNvSpPr>
          <p:nvPr>
            <p:ph type="sldNum" sz="quarter" idx="12"/>
          </p:nvPr>
        </p:nvSpPr>
        <p:spPr/>
        <p:txBody>
          <a:bodyPr/>
          <a:lstStyle/>
          <a:p>
            <a:fld id="{54AFB715-9BAA-466F-BD26-510BF652CDA2}" type="slidenum">
              <a:rPr lang="en-US" altLang="en-US" smtClean="0"/>
              <a:pPr/>
              <a:t>39</a:t>
            </a:fld>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69" name="Picture 1">
            <a:extLst>
              <a:ext uri="{FF2B5EF4-FFF2-40B4-BE49-F238E27FC236}">
                <a16:creationId xmlns:a16="http://schemas.microsoft.com/office/drawing/2014/main" id="{B3E4CD5E-F38B-19C8-312D-73B62190315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17410" y="497840"/>
            <a:ext cx="150495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0" name="Google Shape;224;p26">
            <a:extLst>
              <a:ext uri="{FF2B5EF4-FFF2-40B4-BE49-F238E27FC236}">
                <a16:creationId xmlns:a16="http://schemas.microsoft.com/office/drawing/2014/main" id="{7691D72D-9A95-FBF7-8FCF-93C6C357D737}"/>
              </a:ext>
            </a:extLst>
          </p:cNvPr>
          <p:cNvSpPr>
            <a:spLocks noGrp="1" noChangeArrowheads="1"/>
          </p:cNvSpPr>
          <p:nvPr>
            <p:ph type="title"/>
          </p:nvPr>
        </p:nvSpPr>
        <p:spPr/>
        <p:txBody>
          <a:bodyPr lIns="91425" tIns="91425" rIns="91425" bIns="91425" anchor="t"/>
          <a:lstStyle/>
          <a:p>
            <a:r>
              <a:rPr lang="en-US" altLang="en-US">
                <a:solidFill>
                  <a:srgbClr val="000000"/>
                </a:solidFill>
              </a:rPr>
              <a:t>PoW Drawbacks</a:t>
            </a:r>
          </a:p>
        </p:txBody>
      </p:sp>
      <p:sp>
        <p:nvSpPr>
          <p:cNvPr id="83971" name="Google Shape;225;p26">
            <a:extLst>
              <a:ext uri="{FF2B5EF4-FFF2-40B4-BE49-F238E27FC236}">
                <a16:creationId xmlns:a16="http://schemas.microsoft.com/office/drawing/2014/main" id="{9F4254FB-1747-EE8A-37D8-723250409EE5}"/>
              </a:ext>
            </a:extLst>
          </p:cNvPr>
          <p:cNvSpPr>
            <a:spLocks noGrp="1" noChangeArrowheads="1"/>
          </p:cNvSpPr>
          <p:nvPr>
            <p:ph idx="1"/>
          </p:nvPr>
        </p:nvSpPr>
        <p:spPr/>
        <p:txBody>
          <a:bodyPr lIns="91425" tIns="91425" rIns="91425" bIns="91425"/>
          <a:lstStyle/>
          <a:p>
            <a:pPr marL="488950">
              <a:spcBef>
                <a:spcPct val="0"/>
              </a:spcBef>
              <a:buClr>
                <a:schemeClr val="tx1"/>
              </a:buClr>
            </a:pPr>
            <a:r>
              <a:rPr lang="fr-FR" altLang="en-US" sz="2400" dirty="0"/>
              <a:t>Mining pools are able to </a:t>
            </a:r>
            <a:r>
              <a:rPr lang="fr-FR" altLang="en-US" sz="2400" dirty="0" err="1"/>
              <a:t>slightly</a:t>
            </a:r>
            <a:r>
              <a:rPr lang="fr-FR" altLang="en-US" sz="2400" dirty="0"/>
              <a:t> </a:t>
            </a:r>
            <a:r>
              <a:rPr lang="fr-FR" altLang="en-US" sz="2400" dirty="0" err="1"/>
              <a:t>game</a:t>
            </a:r>
            <a:r>
              <a:rPr lang="fr-FR" altLang="en-US" sz="2400" dirty="0"/>
              <a:t> the                   system by </a:t>
            </a:r>
            <a:r>
              <a:rPr lang="fr-FR" altLang="en-US" sz="2400" dirty="0" err="1"/>
              <a:t>delaying</a:t>
            </a:r>
            <a:r>
              <a:rPr lang="fr-FR" altLang="en-US" sz="2400" dirty="0"/>
              <a:t> the release of a </a:t>
            </a:r>
            <a:r>
              <a:rPr lang="fr-FR" altLang="en-US" sz="2400" dirty="0" err="1"/>
              <a:t>found</a:t>
            </a:r>
            <a:r>
              <a:rPr lang="fr-FR" altLang="en-US" sz="2400" dirty="0"/>
              <a:t>                          block and </a:t>
            </a:r>
            <a:r>
              <a:rPr lang="fr-FR" altLang="en-US" sz="2400" dirty="0" err="1"/>
              <a:t>gaining</a:t>
            </a:r>
            <a:r>
              <a:rPr lang="fr-FR" altLang="en-US" sz="2400" dirty="0"/>
              <a:t> a </a:t>
            </a:r>
            <a:r>
              <a:rPr lang="fr-FR" altLang="en-US" sz="2400" dirty="0" err="1"/>
              <a:t>slight</a:t>
            </a:r>
            <a:r>
              <a:rPr lang="fr-FR" altLang="en-US" sz="2400" dirty="0"/>
              <a:t> </a:t>
            </a:r>
            <a:r>
              <a:rPr lang="fr-FR" altLang="en-US" sz="2400" dirty="0" err="1"/>
              <a:t>head</a:t>
            </a:r>
            <a:r>
              <a:rPr lang="fr-FR" altLang="en-US" sz="2400" dirty="0"/>
              <a:t> start on </a:t>
            </a:r>
            <a:r>
              <a:rPr lang="fr-FR" altLang="en-US" sz="2400" dirty="0" err="1"/>
              <a:t>next</a:t>
            </a:r>
            <a:r>
              <a:rPr lang="fr-FR" altLang="en-US" sz="2400" dirty="0"/>
              <a:t> one</a:t>
            </a:r>
          </a:p>
          <a:p>
            <a:pPr marL="488950">
              <a:spcBef>
                <a:spcPct val="0"/>
              </a:spcBef>
              <a:buClr>
                <a:schemeClr val="tx1"/>
              </a:buClr>
            </a:pPr>
            <a:r>
              <a:rPr lang="fr-FR" altLang="en-US" sz="2400" dirty="0" err="1"/>
              <a:t>Scalability</a:t>
            </a:r>
            <a:r>
              <a:rPr lang="fr-FR" altLang="en-US" sz="2400" dirty="0"/>
              <a:t> issues </a:t>
            </a:r>
          </a:p>
          <a:p>
            <a:pPr marL="958850" lvl="1" indent="-342900">
              <a:spcBef>
                <a:spcPct val="0"/>
              </a:spcBef>
              <a:buClr>
                <a:schemeClr val="tx1"/>
              </a:buClr>
              <a:buFont typeface="Arial" panose="020B0604020202020204" pitchFamily="34" charset="0"/>
              <a:buChar char="•"/>
            </a:pPr>
            <a:r>
              <a:rPr lang="fr-FR" altLang="en-US" sz="2000" dirty="0" err="1"/>
              <a:t>Lower</a:t>
            </a:r>
            <a:r>
              <a:rPr lang="fr-FR" altLang="en-US" sz="2000" dirty="0"/>
              <a:t> transaction </a:t>
            </a:r>
            <a:r>
              <a:rPr lang="fr-FR" altLang="en-US" sz="2000" dirty="0" err="1"/>
              <a:t>throughput</a:t>
            </a:r>
            <a:r>
              <a:rPr lang="fr-FR" altLang="en-US" sz="2000" dirty="0"/>
              <a:t> </a:t>
            </a:r>
          </a:p>
          <a:p>
            <a:pPr marL="958850" lvl="1" indent="-342900">
              <a:spcBef>
                <a:spcPct val="0"/>
              </a:spcBef>
              <a:buClr>
                <a:schemeClr val="tx1"/>
              </a:buClr>
              <a:buFont typeface="Arial" panose="020B0604020202020204" pitchFamily="34" charset="0"/>
              <a:buChar char="•"/>
            </a:pPr>
            <a:r>
              <a:rPr lang="fr-FR" altLang="en-US" sz="2000" dirty="0" err="1"/>
              <a:t>Lowering</a:t>
            </a:r>
            <a:r>
              <a:rPr lang="fr-FR" altLang="en-US" sz="2000" dirty="0"/>
              <a:t> the block time (</a:t>
            </a:r>
            <a:r>
              <a:rPr lang="fr-FR" altLang="en-US" sz="2000" dirty="0" err="1"/>
              <a:t>problem</a:t>
            </a:r>
            <a:r>
              <a:rPr lang="fr-FR" altLang="en-US" sz="2000" dirty="0"/>
              <a:t> </a:t>
            </a:r>
            <a:r>
              <a:rPr lang="fr-FR" altLang="en-US" sz="2000" dirty="0" err="1"/>
              <a:t>difficulty</a:t>
            </a:r>
            <a:r>
              <a:rPr lang="fr-FR" altLang="en-US" sz="2000" dirty="0"/>
              <a:t>) </a:t>
            </a:r>
            <a:r>
              <a:rPr lang="fr-FR" altLang="en-US" sz="2000" dirty="0" err="1"/>
              <a:t>is</a:t>
            </a:r>
            <a:r>
              <a:rPr lang="fr-FR" altLang="en-US" sz="2000" dirty="0"/>
              <a:t> </a:t>
            </a:r>
            <a:r>
              <a:rPr lang="fr-FR" altLang="en-US" sz="2000" dirty="0" err="1"/>
              <a:t>potentially</a:t>
            </a:r>
            <a:r>
              <a:rPr lang="fr-FR" altLang="en-US" sz="2000" dirty="0"/>
              <a:t> </a:t>
            </a:r>
            <a:r>
              <a:rPr lang="fr-FR" altLang="en-US" sz="2000" dirty="0" err="1"/>
              <a:t>less</a:t>
            </a:r>
            <a:r>
              <a:rPr lang="fr-FR" altLang="en-US" sz="2000" dirty="0"/>
              <a:t> </a:t>
            </a:r>
            <a:r>
              <a:rPr lang="fr-FR" altLang="en-US" sz="2000" dirty="0" err="1"/>
              <a:t>secure</a:t>
            </a:r>
            <a:endParaRPr lang="fr-FR" altLang="en-US" sz="2000" dirty="0"/>
          </a:p>
          <a:p>
            <a:pPr marL="488950">
              <a:spcBef>
                <a:spcPct val="0"/>
              </a:spcBef>
              <a:buClr>
                <a:schemeClr val="tx1"/>
              </a:buClr>
            </a:pPr>
            <a:r>
              <a:rPr lang="fr-FR" altLang="en-US" sz="2400" dirty="0" err="1"/>
              <a:t>Miners</a:t>
            </a:r>
            <a:r>
              <a:rPr lang="fr-FR" altLang="en-US" sz="2400" dirty="0"/>
              <a:t> </a:t>
            </a:r>
            <a:r>
              <a:rPr lang="fr-FR" altLang="en-US" sz="2400" dirty="0" err="1"/>
              <a:t>often</a:t>
            </a:r>
            <a:r>
              <a:rPr lang="fr-FR" altLang="en-US" sz="2400" dirty="0"/>
              <a:t> </a:t>
            </a:r>
            <a:r>
              <a:rPr lang="fr-FR" altLang="en-US" sz="2400" dirty="0" err="1"/>
              <a:t>sell</a:t>
            </a:r>
            <a:r>
              <a:rPr lang="fr-FR" altLang="en-US" sz="2400" dirty="0"/>
              <a:t> the coins </a:t>
            </a:r>
            <a:r>
              <a:rPr lang="fr-FR" altLang="en-US" sz="2400" dirty="0" err="1"/>
              <a:t>immediately</a:t>
            </a:r>
            <a:r>
              <a:rPr lang="fr-FR" altLang="en-US" sz="2400" dirty="0"/>
              <a:t>, </a:t>
            </a:r>
            <a:r>
              <a:rPr lang="fr-FR" altLang="en-US" sz="2400" dirty="0" err="1"/>
              <a:t>removing</a:t>
            </a:r>
            <a:r>
              <a:rPr lang="fr-FR" altLang="en-US" sz="2400" dirty="0"/>
              <a:t> </a:t>
            </a:r>
            <a:r>
              <a:rPr lang="fr-FR" altLang="en-US" sz="2400" dirty="0" err="1"/>
              <a:t>any</a:t>
            </a:r>
            <a:r>
              <a:rPr lang="fr-FR" altLang="en-US" sz="2400" dirty="0"/>
              <a:t> </a:t>
            </a:r>
            <a:r>
              <a:rPr lang="fr-FR" altLang="en-US" sz="2400" dirty="0" err="1"/>
              <a:t>loyalty</a:t>
            </a:r>
            <a:r>
              <a:rPr lang="fr-FR" altLang="en-US" sz="2400" dirty="0"/>
              <a:t> to the </a:t>
            </a:r>
            <a:r>
              <a:rPr lang="fr-FR" altLang="en-US" sz="2400" dirty="0" err="1"/>
              <a:t>chain</a:t>
            </a:r>
            <a:r>
              <a:rPr lang="fr-FR" altLang="en-US" sz="2400" dirty="0"/>
              <a:t> </a:t>
            </a:r>
            <a:r>
              <a:rPr lang="fr-FR" altLang="en-US" sz="2400" dirty="0" err="1"/>
              <a:t>they</a:t>
            </a:r>
            <a:r>
              <a:rPr lang="fr-FR" altLang="en-US" sz="2400" dirty="0"/>
              <a:t> are </a:t>
            </a:r>
            <a:r>
              <a:rPr lang="fr-FR" altLang="en-US" sz="2400" dirty="0" err="1"/>
              <a:t>mining</a:t>
            </a:r>
            <a:endParaRPr lang="fr-FR" altLang="en-US" sz="2400" dirty="0"/>
          </a:p>
        </p:txBody>
      </p:sp>
      <p:sp>
        <p:nvSpPr>
          <p:cNvPr id="2" name="Slide Number Placeholder 1">
            <a:extLst>
              <a:ext uri="{FF2B5EF4-FFF2-40B4-BE49-F238E27FC236}">
                <a16:creationId xmlns:a16="http://schemas.microsoft.com/office/drawing/2014/main" id="{E646C2B6-C97E-BDCC-642F-2C307C660638}"/>
              </a:ext>
            </a:extLst>
          </p:cNvPr>
          <p:cNvSpPr>
            <a:spLocks noGrp="1"/>
          </p:cNvSpPr>
          <p:nvPr>
            <p:ph type="sldNum" sz="quarter" idx="12"/>
          </p:nvPr>
        </p:nvSpPr>
        <p:spPr/>
        <p:txBody>
          <a:bodyPr/>
          <a:lstStyle/>
          <a:p>
            <a:fld id="{54AFB715-9BAA-466F-BD26-510BF652CDA2}" type="slidenum">
              <a:rPr lang="en-US" altLang="en-US" smtClean="0"/>
              <a:pPr/>
              <a:t>40</a:t>
            </a:fld>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6018" name="Picture 4">
            <a:extLst>
              <a:ext uri="{FF2B5EF4-FFF2-40B4-BE49-F238E27FC236}">
                <a16:creationId xmlns:a16="http://schemas.microsoft.com/office/drawing/2014/main" id="{603C78CA-60A6-56A6-15C0-46146CF0E09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2667000"/>
            <a:ext cx="1947863"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19" name="Google Shape;236;p27">
            <a:extLst>
              <a:ext uri="{FF2B5EF4-FFF2-40B4-BE49-F238E27FC236}">
                <a16:creationId xmlns:a16="http://schemas.microsoft.com/office/drawing/2014/main" id="{B5876C73-9D7A-0AB9-6FE4-2EFB33B62E51}"/>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21100" y="1778000"/>
            <a:ext cx="2019300" cy="269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0" name="Google Shape;232;p27">
            <a:extLst>
              <a:ext uri="{FF2B5EF4-FFF2-40B4-BE49-F238E27FC236}">
                <a16:creationId xmlns:a16="http://schemas.microsoft.com/office/drawing/2014/main" id="{76756E63-BFC6-B1F6-B11A-F77F8C1951D8}"/>
              </a:ext>
            </a:extLst>
          </p:cNvPr>
          <p:cNvSpPr>
            <a:spLocks noGrp="1" noChangeArrowheads="1"/>
          </p:cNvSpPr>
          <p:nvPr>
            <p:ph type="title"/>
          </p:nvPr>
        </p:nvSpPr>
        <p:spPr/>
        <p:txBody>
          <a:bodyPr lIns="91425" tIns="91425" rIns="91425" bIns="91425" anchor="t"/>
          <a:lstStyle/>
          <a:p>
            <a:r>
              <a:rPr lang="en-US" altLang="en-US">
                <a:solidFill>
                  <a:srgbClr val="000000"/>
                </a:solidFill>
              </a:rPr>
              <a:t>Current PoW Systems </a:t>
            </a:r>
          </a:p>
        </p:txBody>
      </p:sp>
      <p:sp>
        <p:nvSpPr>
          <p:cNvPr id="86021" name="Google Shape;233;p27">
            <a:extLst>
              <a:ext uri="{FF2B5EF4-FFF2-40B4-BE49-F238E27FC236}">
                <a16:creationId xmlns:a16="http://schemas.microsoft.com/office/drawing/2014/main" id="{0FA1DE30-A7F0-373A-A5EB-6B5E4546F3EF}"/>
              </a:ext>
            </a:extLst>
          </p:cNvPr>
          <p:cNvSpPr>
            <a:spLocks noGrp="1" noChangeArrowheads="1"/>
          </p:cNvSpPr>
          <p:nvPr>
            <p:ph idx="1"/>
          </p:nvPr>
        </p:nvSpPr>
        <p:spPr/>
        <p:txBody>
          <a:bodyPr lIns="91425" tIns="91425" rIns="91425" bIns="91425"/>
          <a:lstStyle/>
          <a:p>
            <a:pPr marL="571500">
              <a:spcBef>
                <a:spcPct val="0"/>
              </a:spcBef>
              <a:buClr>
                <a:schemeClr val="tx1"/>
              </a:buClr>
            </a:pPr>
            <a:r>
              <a:rPr lang="fr-FR" altLang="en-US" sz="2400"/>
              <a:t>Bitcoin </a:t>
            </a:r>
          </a:p>
          <a:p>
            <a:pPr marL="571500">
              <a:spcBef>
                <a:spcPct val="0"/>
              </a:spcBef>
              <a:buClr>
                <a:schemeClr val="tx1"/>
              </a:buClr>
            </a:pPr>
            <a:r>
              <a:rPr lang="fr-FR" altLang="en-US" sz="2400"/>
              <a:t>Ethereum (Casper)</a:t>
            </a:r>
          </a:p>
          <a:p>
            <a:pPr marL="571500">
              <a:spcBef>
                <a:spcPct val="0"/>
              </a:spcBef>
              <a:buClr>
                <a:schemeClr val="tx1"/>
              </a:buClr>
            </a:pPr>
            <a:r>
              <a:rPr lang="fr-FR" altLang="en-US" sz="2400"/>
              <a:t>Litecoin </a:t>
            </a:r>
          </a:p>
          <a:p>
            <a:pPr marL="571500">
              <a:spcBef>
                <a:spcPct val="0"/>
              </a:spcBef>
              <a:buClr>
                <a:schemeClr val="tx1"/>
              </a:buClr>
            </a:pPr>
            <a:r>
              <a:rPr lang="fr-FR" altLang="en-US" sz="2400"/>
              <a:t>Bitcoin Cash </a:t>
            </a:r>
          </a:p>
          <a:p>
            <a:pPr marL="571500">
              <a:spcBef>
                <a:spcPct val="0"/>
              </a:spcBef>
              <a:buClr>
                <a:schemeClr val="tx1"/>
              </a:buClr>
            </a:pPr>
            <a:r>
              <a:rPr lang="fr-FR" altLang="en-US" sz="2400"/>
              <a:t>Many</a:t>
            </a:r>
            <a:r>
              <a:rPr lang="fr-FR" altLang="en-US" sz="2800"/>
              <a:t>, many more</a:t>
            </a:r>
          </a:p>
        </p:txBody>
      </p:sp>
      <p:sp>
        <p:nvSpPr>
          <p:cNvPr id="86022" name="Slide Number Placeholder 2">
            <a:extLst>
              <a:ext uri="{FF2B5EF4-FFF2-40B4-BE49-F238E27FC236}">
                <a16:creationId xmlns:a16="http://schemas.microsoft.com/office/drawing/2014/main" id="{3E9A7913-C9E7-F889-CE90-6C6551955D9E}"/>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4B1223A7-E33F-4E31-A083-D4777909D8B9}" type="slidenum">
              <a:rPr lang="en-US" altLang="en-US" sz="1400"/>
              <a:pPr>
                <a:spcBef>
                  <a:spcPct val="0"/>
                </a:spcBef>
                <a:buFontTx/>
                <a:buNone/>
              </a:pPr>
              <a:t>41</a:t>
            </a:fld>
            <a:endParaRPr lang="en-US" altLang="en-US" sz="1400"/>
          </a:p>
        </p:txBody>
      </p:sp>
      <p:pic>
        <p:nvPicPr>
          <p:cNvPr id="86023" name="Google Shape;234;p27">
            <a:extLst>
              <a:ext uri="{FF2B5EF4-FFF2-40B4-BE49-F238E27FC236}">
                <a16:creationId xmlns:a16="http://schemas.microsoft.com/office/drawing/2014/main" id="{628EFFC6-5ACD-4472-780C-0BE8B431E458}"/>
              </a:ext>
            </a:extLst>
          </p:cNvPr>
          <p:cNvPicPr preferRelativeResize="0">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086600" y="381000"/>
            <a:ext cx="1565275"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4" name="Google Shape;235;p27">
            <a:extLst>
              <a:ext uri="{FF2B5EF4-FFF2-40B4-BE49-F238E27FC236}">
                <a16:creationId xmlns:a16="http://schemas.microsoft.com/office/drawing/2014/main" id="{F00C13AE-F61A-DFB0-56BF-1795F3A2AE0A}"/>
              </a:ext>
            </a:extLst>
          </p:cNvPr>
          <p:cNvPicPr preferRelativeResize="0">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043488" y="431800"/>
            <a:ext cx="1917700" cy="2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5" name="TextBox 1">
            <a:extLst>
              <a:ext uri="{FF2B5EF4-FFF2-40B4-BE49-F238E27FC236}">
                <a16:creationId xmlns:a16="http://schemas.microsoft.com/office/drawing/2014/main" id="{49AFF9B5-96B2-8C53-AD9E-2CBA8FA0E9CE}"/>
              </a:ext>
            </a:extLst>
          </p:cNvPr>
          <p:cNvSpPr txBox="1">
            <a:spLocks noChangeArrowheads="1"/>
          </p:cNvSpPr>
          <p:nvPr/>
        </p:nvSpPr>
        <p:spPr bwMode="auto">
          <a:xfrm>
            <a:off x="131763" y="4872038"/>
            <a:ext cx="9012237"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en-US" altLang="en-US" sz="2800"/>
              <a:t>Many systems launch with a Proof-of-Work-like consensus mechanism, but later transition to a different, less resource intensive approach, often with proprietary features</a:t>
            </a:r>
          </a:p>
          <a:p>
            <a:pPr eaLnBrk="1" hangingPunct="1">
              <a:spcBef>
                <a:spcPct val="0"/>
              </a:spcBef>
              <a:buFontTx/>
              <a:buNone/>
            </a:pPr>
            <a:endParaRPr lang="en-US" altLang="en-US" sz="2800"/>
          </a:p>
        </p:txBody>
      </p:sp>
    </p:spTree>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re 5">
            <a:extLst>
              <a:ext uri="{FF2B5EF4-FFF2-40B4-BE49-F238E27FC236}">
                <a16:creationId xmlns:a16="http://schemas.microsoft.com/office/drawing/2014/main" id="{F4B5A9C0-45CB-72F0-BFB8-5D138F04D9B8}"/>
              </a:ext>
            </a:extLst>
          </p:cNvPr>
          <p:cNvSpPr>
            <a:spLocks noGrp="1" noChangeArrowheads="1"/>
          </p:cNvSpPr>
          <p:nvPr>
            <p:ph type="title"/>
          </p:nvPr>
        </p:nvSpPr>
        <p:spPr/>
        <p:txBody>
          <a:bodyPr/>
          <a:lstStyle/>
          <a:p>
            <a:r>
              <a:rPr lang="en-US" altLang="en-US"/>
              <a:t>Do not distribute ...</a:t>
            </a:r>
            <a:endParaRPr lang="fr-FR" altLang="en-US"/>
          </a:p>
        </p:txBody>
      </p:sp>
      <p:sp>
        <p:nvSpPr>
          <p:cNvPr id="88066" name="Espace réservé du contenu 6">
            <a:extLst>
              <a:ext uri="{FF2B5EF4-FFF2-40B4-BE49-F238E27FC236}">
                <a16:creationId xmlns:a16="http://schemas.microsoft.com/office/drawing/2014/main" id="{8929B1D4-85C3-2E92-9118-905DF81D96A4}"/>
              </a:ext>
            </a:extLst>
          </p:cNvPr>
          <p:cNvSpPr>
            <a:spLocks noGrp="1" noChangeArrowheads="1"/>
          </p:cNvSpPr>
          <p:nvPr>
            <p:ph idx="1"/>
          </p:nvPr>
        </p:nvSpPr>
        <p:spPr/>
        <p:txBody>
          <a:bodyPr/>
          <a:lstStyle/>
          <a:p>
            <a:r>
              <a:rPr lang="fr-FR" altLang="en-US" sz="2000"/>
              <a:t>These slides are not always prepared by me.</a:t>
            </a:r>
          </a:p>
          <a:p>
            <a:r>
              <a:rPr lang="fr-FR" altLang="en-US" sz="2000"/>
              <a:t>Most of the content comes from the reference book</a:t>
            </a:r>
          </a:p>
          <a:p>
            <a:pPr lvl="1"/>
            <a:r>
              <a:rPr lang="fr-FR" altLang="en-US" sz="1800"/>
              <a:t>Bitcoin and Cryptocurrency Technologies: A Comprehensive Introduction </a:t>
            </a:r>
          </a:p>
          <a:p>
            <a:pPr lvl="1"/>
            <a:r>
              <a:rPr lang="fr-FR" altLang="en-US" sz="1400">
                <a:solidFill>
                  <a:srgbClr val="008000"/>
                </a:solidFill>
                <a:latin typeface="Gill Sans MT" panose="020B0502020104020203" pitchFamily="34" charset="0"/>
              </a:rPr>
              <a:t>	Arvind Narayanan, Joseph Bonneau, </a:t>
            </a:r>
          </a:p>
          <a:p>
            <a:pPr lvl="1"/>
            <a:r>
              <a:rPr lang="fr-FR" altLang="en-US" sz="1400">
                <a:solidFill>
                  <a:srgbClr val="008000"/>
                </a:solidFill>
                <a:latin typeface="Gill Sans MT" panose="020B0502020104020203" pitchFamily="34" charset="0"/>
              </a:rPr>
              <a:t>	Edward Felten, Andrew Miller, Steven Goldfeder</a:t>
            </a:r>
          </a:p>
          <a:p>
            <a:endParaRPr lang="fr-FR" altLang="en-US" sz="2000"/>
          </a:p>
        </p:txBody>
      </p:sp>
      <p:sp>
        <p:nvSpPr>
          <p:cNvPr id="2" name="Slide Number Placeholder 1">
            <a:extLst>
              <a:ext uri="{FF2B5EF4-FFF2-40B4-BE49-F238E27FC236}">
                <a16:creationId xmlns:a16="http://schemas.microsoft.com/office/drawing/2014/main" id="{138134F1-1345-73DA-90C3-56EB53840619}"/>
              </a:ext>
            </a:extLst>
          </p:cNvPr>
          <p:cNvSpPr>
            <a:spLocks noGrp="1"/>
          </p:cNvSpPr>
          <p:nvPr>
            <p:ph type="sldNum" sz="quarter" idx="12"/>
          </p:nvPr>
        </p:nvSpPr>
        <p:spPr/>
        <p:txBody>
          <a:bodyPr/>
          <a:lstStyle/>
          <a:p>
            <a:fld id="{54AFB715-9BAA-466F-BD26-510BF652CDA2}" type="slidenum">
              <a:rPr lang="en-US" altLang="en-US" smtClean="0"/>
              <a:pPr/>
              <a:t>42</a:t>
            </a:fld>
            <a:endParaRPr lang="en-US" altLang="en-US"/>
          </a:p>
        </p:txBody>
      </p:sp>
    </p:spTree>
  </p:cSld>
  <p:clrMapOvr>
    <a:masterClrMapping/>
  </p:clrMapOvr>
</p:sld>
</file>

<file path=ppt/theme/theme1.xml><?xml version="1.0" encoding="utf-8"?>
<a:theme xmlns:a="http://schemas.openxmlformats.org/drawingml/2006/main" name="Lecture6 (Number System)">
  <a:themeElements>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cture6 (Number System)">
      <a:majorFont>
        <a:latin typeface="Trebuchet MS"/>
        <a:ea typeface="ＭＳ Ｐゴシック"/>
        <a:cs typeface=""/>
      </a:majorFont>
      <a:minorFont>
        <a:latin typeface="Arial"/>
        <a:ea typeface="ＭＳ Ｐゴシック"/>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cture6 (Number Syste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cture6 (Number Syste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cture6 (Number Syste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cture6 (Number Syste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cture6 (Number Syste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cture6 (Number Syste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cture6 (Number Syste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cture6 (Number Syste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cture6 (Number Syste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cture6 (Number Syste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cture6 (Number Syste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23836</TotalTime>
  <Words>3028</Words>
  <Application>Microsoft Office PowerPoint</Application>
  <PresentationFormat>On-screen Show (4:3)</PresentationFormat>
  <Paragraphs>371</Paragraphs>
  <Slides>42</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Gill Sans MT</vt:lpstr>
      <vt:lpstr>Trebuchet MS</vt:lpstr>
      <vt:lpstr>Wingdings</vt:lpstr>
      <vt:lpstr>Lecture6 (Number System)</vt:lpstr>
      <vt:lpstr>Lecture 06  PoW and PoS</vt:lpstr>
      <vt:lpstr>Roadmap </vt:lpstr>
      <vt:lpstr>Centralization vs. Decentralization</vt:lpstr>
      <vt:lpstr>Aspects of decentralization in Bitcoin</vt:lpstr>
      <vt:lpstr>Roadmap </vt:lpstr>
      <vt:lpstr>Decentralization Challenges</vt:lpstr>
      <vt:lpstr>The distributed consensus problem</vt:lpstr>
      <vt:lpstr>Why consensus is hard</vt:lpstr>
      <vt:lpstr>Two-Army (General’s) Problem</vt:lpstr>
      <vt:lpstr>Two-Army (General’s) Problem</vt:lpstr>
      <vt:lpstr>Two-Army (General’s) Problem</vt:lpstr>
      <vt:lpstr>Byzantine General’s Problem</vt:lpstr>
      <vt:lpstr>Impossibility Results</vt:lpstr>
      <vt:lpstr>Some well-known protocols</vt:lpstr>
      <vt:lpstr>Roadmap </vt:lpstr>
      <vt:lpstr>Consensus is Impossible?</vt:lpstr>
      <vt:lpstr>Bitcoin consensus: theory &amp; practice</vt:lpstr>
      <vt:lpstr>Some things Bitcoin does differently</vt:lpstr>
      <vt:lpstr>Some things Bitcoin does differently</vt:lpstr>
      <vt:lpstr>Roadmap </vt:lpstr>
      <vt:lpstr>Consensus algorithm (simplified)</vt:lpstr>
      <vt:lpstr>Roadmap </vt:lpstr>
      <vt:lpstr>Assumption of honesty is problematic</vt:lpstr>
      <vt:lpstr>Incentive 1: block reward</vt:lpstr>
      <vt:lpstr>There’s a finite supply of bitcoins</vt:lpstr>
      <vt:lpstr>Incentive 2: transaction fees</vt:lpstr>
      <vt:lpstr>Roadmap </vt:lpstr>
      <vt:lpstr>Proof of work</vt:lpstr>
      <vt:lpstr>Equivalent views of proof of work</vt:lpstr>
      <vt:lpstr>Hash puzzles</vt:lpstr>
      <vt:lpstr>PoW property 1: difficult to compute</vt:lpstr>
      <vt:lpstr>PoW property 2: parameterizable cost</vt:lpstr>
      <vt:lpstr>PoW property 3: trivial to verify</vt:lpstr>
      <vt:lpstr>Roadmap </vt:lpstr>
      <vt:lpstr>Key security assumption</vt:lpstr>
      <vt:lpstr>From Bob the merchant’s point of view</vt:lpstr>
      <vt:lpstr>What can a “51% attacker” do?</vt:lpstr>
      <vt:lpstr>PoW Strengths </vt:lpstr>
      <vt:lpstr>PoW Drawbacks</vt:lpstr>
      <vt:lpstr>PoW Drawbacks</vt:lpstr>
      <vt:lpstr>Current PoW Systems </vt:lpstr>
      <vt:lpstr>Do not distribute ...</vt:lpstr>
    </vt:vector>
  </TitlesOfParts>
  <Manager/>
  <Company>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Ehtesham Zahoor</dc:creator>
  <cp:keywords/>
  <dc:description/>
  <cp:lastModifiedBy>Asif Muhammad</cp:lastModifiedBy>
  <cp:revision>589</cp:revision>
  <dcterms:created xsi:type="dcterms:W3CDTF">2006-05-16T22:38:36Z</dcterms:created>
  <dcterms:modified xsi:type="dcterms:W3CDTF">2023-09-13T13:49:49Z</dcterms:modified>
  <cp:category/>
</cp:coreProperties>
</file>