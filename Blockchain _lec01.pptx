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3"/>
  </p:notesMasterIdLst>
  <p:sldIdLst>
    <p:sldId id="256" r:id="rId2"/>
    <p:sldId id="258" r:id="rId3"/>
    <p:sldId id="336" r:id="rId4"/>
    <p:sldId id="259" r:id="rId5"/>
    <p:sldId id="260" r:id="rId6"/>
    <p:sldId id="306" r:id="rId7"/>
    <p:sldId id="307" r:id="rId8"/>
    <p:sldId id="330" r:id="rId9"/>
    <p:sldId id="308" r:id="rId10"/>
    <p:sldId id="309" r:id="rId11"/>
    <p:sldId id="333" r:id="rId12"/>
    <p:sldId id="334" r:id="rId13"/>
    <p:sldId id="335" r:id="rId14"/>
    <p:sldId id="310" r:id="rId15"/>
    <p:sldId id="311" r:id="rId16"/>
    <p:sldId id="332" r:id="rId17"/>
    <p:sldId id="312" r:id="rId18"/>
    <p:sldId id="338" r:id="rId19"/>
    <p:sldId id="337" r:id="rId20"/>
    <p:sldId id="329" r:id="rId21"/>
    <p:sldId id="284" r:id="rId22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4"/>
      <p:bold r:id="rId25"/>
      <p:italic r:id="rId26"/>
      <p:boldItalic r:id="rId27"/>
    </p:embeddedFont>
    <p:embeddedFont>
      <p:font typeface="Barlow Semi Condensed Medium" panose="00000606000000000000" pitchFamily="2" charset="0"/>
      <p:regular r:id="rId28"/>
      <p:bold r:id="rId29"/>
      <p:italic r:id="rId30"/>
      <p:boldItalic r:id="rId31"/>
    </p:embeddedFont>
    <p:embeddedFont>
      <p:font typeface="Fjalla One" panose="02000506040000020004" pitchFamily="2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4533CC-0329-4FCE-A75B-7AC12C81AB15}">
  <a:tblStyle styleId="{D94533CC-0329-4FCE-A75B-7AC12C81AB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5768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3556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1093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95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963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5599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6397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7671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7678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270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39818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63791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7815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3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86816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0367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5" r:id="rId7"/>
    <p:sldLayoutId id="2147483673" r:id="rId8"/>
    <p:sldLayoutId id="2147483674" r:id="rId9"/>
    <p:sldLayoutId id="2147483675" r:id="rId10"/>
    <p:sldLayoutId id="2147483676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97647" y="959820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384987" y="1401440"/>
            <a:ext cx="4151688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dk2"/>
                </a:solidFill>
              </a:rPr>
              <a:t>Blockchain</a:t>
            </a:r>
            <a:endParaRPr sz="36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>
                <a:solidFill>
                  <a:schemeClr val="accent1"/>
                </a:solidFill>
              </a:rPr>
              <a:t> </a:t>
            </a:r>
            <a:endParaRPr sz="23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4619168" y="1606014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64208" y="777264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What is Blockchain?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664207" y="50709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/>
              <a:t>Properties of Blockchain</a:t>
            </a:r>
            <a:endParaRPr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GB" dirty="0"/>
              <a:t>Understanding the properties of </a:t>
            </a:r>
            <a:r>
              <a:rPr lang="en-GB" dirty="0" err="1"/>
              <a:t>Blockchain</a:t>
            </a:r>
            <a:endParaRPr dirty="0"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86125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</a:pPr>
            <a:r>
              <a:rPr lang="en-US" dirty="0"/>
              <a:t>Types of Network</a:t>
            </a:r>
          </a:p>
          <a:p>
            <a:pPr lvl="0">
              <a:lnSpc>
                <a:spcPct val="115000"/>
              </a:lnSpc>
            </a:pPr>
            <a:endParaRPr dirty="0"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64207" y="2871216"/>
            <a:ext cx="2557539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Network types in context of </a:t>
            </a:r>
            <a:r>
              <a:rPr lang="en-US" dirty="0" err="1"/>
              <a:t>blockchain</a:t>
            </a:r>
            <a:endParaRPr dirty="0"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95174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Applications</a:t>
            </a:r>
            <a:endParaRPr dirty="0"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743344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GB" dirty="0"/>
              <a:t>Application of </a:t>
            </a:r>
            <a:r>
              <a:rPr lang="en-GB" dirty="0" err="1"/>
              <a:t>blockchain</a:t>
            </a:r>
            <a:endParaRPr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4619168" y="1606014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64208" y="777264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GB" dirty="0"/>
              <a:t>What is cryptocurrency?</a:t>
            </a: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664207" y="50709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Cryptocurrency</a:t>
            </a:r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7" y="1746046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/>
              <a:t>Conclusion</a:t>
            </a:r>
            <a:endParaRPr dirty="0"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 </a:t>
            </a:r>
            <a:endParaRPr dirty="0"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07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855400" y="2394168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 dirty="0"/>
              <a:t>Introduction</a:t>
            </a:r>
            <a:endParaRPr sz="47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532177" y="365761"/>
            <a:ext cx="3886343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65376" y="941761"/>
            <a:ext cx="6019944" cy="2701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 err="1"/>
              <a:t>Blockchain</a:t>
            </a:r>
            <a:r>
              <a:rPr lang="en-GB" dirty="0"/>
              <a:t> is a decentralized, distributed ledger technology that enables secure, transparent, and tamper-resistant record-keeping.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dirty="0"/>
              <a:t>It consists of a chain of blocks, each containing a list of transactions, and is maintained by a network of computers (nodes) across the globe.</a:t>
            </a:r>
            <a:endParaRPr lang="en-GB" sz="1600" dirty="0"/>
          </a:p>
          <a:p>
            <a:pPr algn="just"/>
            <a:endParaRPr lang="en-GB" sz="1600" i="1" dirty="0"/>
          </a:p>
          <a:p>
            <a:pPr algn="just"/>
            <a:r>
              <a:rPr lang="en-GB" b="1" dirty="0"/>
              <a:t>Key Points:</a:t>
            </a:r>
          </a:p>
          <a:p>
            <a:pPr marL="285750" lvl="2" indent="-285750" algn="just">
              <a:buFont typeface="Wingdings" panose="05000000000000000000" pitchFamily="2" charset="2"/>
              <a:buChar char="q"/>
            </a:pPr>
            <a:r>
              <a:rPr lang="en-GB" dirty="0"/>
              <a:t>Decentralized Ledger</a:t>
            </a:r>
          </a:p>
          <a:p>
            <a:pPr marL="285750" lvl="8" indent="-285750">
              <a:buFont typeface="Wingdings" panose="05000000000000000000" pitchFamily="2" charset="2"/>
              <a:buChar char="q"/>
            </a:pPr>
            <a:r>
              <a:rPr lang="en-GB" dirty="0"/>
              <a:t>Tamper-Resistant</a:t>
            </a:r>
          </a:p>
          <a:p>
            <a:pPr marL="285750" lvl="8" indent="-285750">
              <a:buFont typeface="Wingdings" panose="05000000000000000000" pitchFamily="2" charset="2"/>
              <a:buChar char="q"/>
            </a:pPr>
            <a:r>
              <a:rPr lang="en-GB" dirty="0"/>
              <a:t>Transparency</a:t>
            </a:r>
          </a:p>
          <a:p>
            <a:pPr marL="285750" lvl="8" indent="-285750">
              <a:buFont typeface="Wingdings" panose="05000000000000000000" pitchFamily="2" charset="2"/>
              <a:buChar char="q"/>
            </a:pPr>
            <a:r>
              <a:rPr lang="en-GB" dirty="0"/>
              <a:t>Consensus Mechanism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AutoShape 4" descr="What is a blockchain? - Bitstamp Learn Center | Learn Center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6" descr="What is a blockchain? - Bitstamp Learn Center | Learn Center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632097" y="2415385"/>
            <a:ext cx="388265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dirty="0"/>
              <a:t>Properties of blockchain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4846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532177" y="365761"/>
            <a:ext cx="4584549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b="1" dirty="0"/>
              <a:t>Properties of </a:t>
            </a:r>
            <a:r>
              <a:rPr lang="en-GB" b="1" dirty="0" err="1"/>
              <a:t>Blockchain</a:t>
            </a:r>
            <a:endParaRPr lang="en-GB" b="1"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65376" y="941761"/>
            <a:ext cx="6019944" cy="2701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sz="1600" b="1" dirty="0"/>
              <a:t>Decentralization:</a:t>
            </a:r>
            <a:endParaRPr lang="en-GB" sz="16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600" dirty="0"/>
              <a:t>No single authority controls the entire network.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Enhances security and eliminates the need for intermediaries.</a:t>
            </a:r>
          </a:p>
          <a:p>
            <a:pPr algn="l"/>
            <a:endParaRPr lang="en-GB" sz="600" b="1" dirty="0"/>
          </a:p>
          <a:p>
            <a:pPr algn="l"/>
            <a:r>
              <a:rPr lang="en-GB" sz="1600" b="1" dirty="0"/>
              <a:t>Immutability:</a:t>
            </a:r>
            <a:endParaRPr lang="en-GB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Once a block is added to the chain, it cannot be altered.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Ensures data integrity and prevents fraud.</a:t>
            </a:r>
          </a:p>
          <a:p>
            <a:pPr algn="l"/>
            <a:endParaRPr lang="en-GB" sz="600" b="1" dirty="0"/>
          </a:p>
          <a:p>
            <a:pPr algn="l"/>
            <a:r>
              <a:rPr lang="en-GB" sz="1600" b="1" dirty="0"/>
              <a:t>Transparency:</a:t>
            </a:r>
            <a:endParaRPr lang="en-GB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All participants have access to the entire </a:t>
            </a:r>
            <a:r>
              <a:rPr lang="en-GB" sz="1600" dirty="0" err="1"/>
              <a:t>blockchain</a:t>
            </a:r>
            <a:r>
              <a:rPr lang="en-GB" sz="16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Increases trust among users.</a:t>
            </a:r>
          </a:p>
          <a:p>
            <a:pPr lvl="1"/>
            <a:endParaRPr lang="en-GB" sz="1600" dirty="0"/>
          </a:p>
          <a:p>
            <a:pPr algn="just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00566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532177" y="365761"/>
            <a:ext cx="3886343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b="1" dirty="0"/>
              <a:t>Properties of </a:t>
            </a:r>
            <a:r>
              <a:rPr lang="en-GB" b="1" dirty="0" err="1"/>
              <a:t>Blockchain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65376" y="941761"/>
            <a:ext cx="6019944" cy="2701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1" algn="just"/>
            <a:r>
              <a:rPr lang="en-GB" sz="1600" b="1" dirty="0"/>
              <a:t>Security:</a:t>
            </a:r>
            <a:endParaRPr lang="en-GB" sz="1600" dirty="0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Cryptographic algorithms secure data and transactions.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Resistant to hacking and unauthorized access.</a:t>
            </a:r>
          </a:p>
          <a:p>
            <a:pPr lvl="1" algn="just"/>
            <a:endParaRPr lang="en-GB" sz="600" b="1" dirty="0"/>
          </a:p>
          <a:p>
            <a:pPr lvl="1" algn="just"/>
            <a:r>
              <a:rPr lang="en-GB" sz="1600" b="1" dirty="0"/>
              <a:t>Smart Contracts:</a:t>
            </a:r>
            <a:endParaRPr lang="en-GB" sz="1600" dirty="0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Self-executing contracts with predefined rules.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Automate and enforce contractual agreements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83840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632097" y="2443739"/>
            <a:ext cx="388265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GB" sz="2400" dirty="0"/>
              <a:t>Network Evolution</a:t>
            </a:r>
            <a:endParaRPr lang="en-US" sz="2400" dirty="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0729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03576" y="365761"/>
            <a:ext cx="4371897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Network</a:t>
            </a:r>
            <a:r>
              <a:rPr lang="en-US" dirty="0"/>
              <a:t> Evolution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9552" y="905327"/>
            <a:ext cx="6544486" cy="3672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800" b="1" dirty="0"/>
              <a:t>Centralized Networks (Early </a:t>
            </a:r>
            <a:r>
              <a:rPr lang="en-GB" sz="1800" b="1" dirty="0" err="1"/>
              <a:t>Blockchain</a:t>
            </a:r>
            <a:r>
              <a:rPr lang="en-GB" sz="1800" b="1" dirty="0"/>
              <a:t> Implementations):</a:t>
            </a:r>
          </a:p>
          <a:p>
            <a:pPr algn="just"/>
            <a:endParaRPr lang="en-GB" sz="7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Early </a:t>
            </a:r>
            <a:r>
              <a:rPr lang="en-GB" sz="1800" dirty="0" err="1"/>
              <a:t>blockchain</a:t>
            </a:r>
            <a:r>
              <a:rPr lang="en-GB" sz="1800" dirty="0"/>
              <a:t>: Centralized setup like traditional databases.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Single entity controlled infrastructure, validated transactions, maintained ledger.</a:t>
            </a:r>
          </a:p>
          <a:p>
            <a:pPr algn="just"/>
            <a:endParaRPr lang="en-GB" sz="200" dirty="0"/>
          </a:p>
          <a:p>
            <a:pPr algn="just"/>
            <a:r>
              <a:rPr lang="en-GB" sz="1800" b="1" dirty="0"/>
              <a:t>Pros: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Easy to set up and manage.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Fast transaction processing due to single point of control.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Scalable to handle high transaction volume.</a:t>
            </a:r>
            <a:endParaRPr lang="en-GB" sz="1800" b="1" dirty="0"/>
          </a:p>
          <a:p>
            <a:pPr algn="just"/>
            <a:endParaRPr lang="en-GB" sz="700" b="1" dirty="0"/>
          </a:p>
          <a:p>
            <a:pPr algn="just"/>
            <a:r>
              <a:rPr lang="en-GB" sz="1800" b="1" dirty="0"/>
              <a:t>Cons: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Single point of failure.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Lack of trust.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Limited transparency.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b="1" dirty="0"/>
          </a:p>
          <a:p>
            <a:pPr algn="just"/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219615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03576" y="365761"/>
            <a:ext cx="4371897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Network</a:t>
            </a:r>
            <a:r>
              <a:rPr lang="en-US" dirty="0"/>
              <a:t> Evolution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9552" y="862797"/>
            <a:ext cx="6516132" cy="3672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800" b="1" dirty="0"/>
              <a:t> Decentralized Networks (The Rise of Public </a:t>
            </a:r>
            <a:r>
              <a:rPr lang="en-GB" sz="1800" b="1" dirty="0" err="1"/>
              <a:t>Blockchains</a:t>
            </a:r>
            <a:r>
              <a:rPr lang="en-GB" sz="1800" b="1" dirty="0"/>
              <a:t>):</a:t>
            </a:r>
            <a:endParaRPr lang="en-GB" sz="7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Developers pioneered decentralized networks to overcome centralized system limitations.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Distributed network of nodes collaboratively validates transactions, eliminating single control point.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Prominent examples include Bitcoin and </a:t>
            </a:r>
            <a:r>
              <a:rPr lang="en-US" sz="1600" dirty="0" err="1"/>
              <a:t>Ethereum</a:t>
            </a:r>
            <a:r>
              <a:rPr lang="en-US" sz="1600" dirty="0"/>
              <a:t>.</a:t>
            </a:r>
          </a:p>
          <a:p>
            <a:pPr algn="just"/>
            <a:endParaRPr lang="en-GB" sz="200" dirty="0"/>
          </a:p>
          <a:p>
            <a:pPr algn="just"/>
            <a:r>
              <a:rPr lang="en-GB" sz="1800" b="1" dirty="0"/>
              <a:t>Pros: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No single entity can manipulate the ledger, making it tamper-proof..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Users verify transactions themselves, promoting transparency and trust.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No central authority can block transactions..</a:t>
            </a:r>
            <a:endParaRPr lang="en-GB" sz="1800" b="1" dirty="0"/>
          </a:p>
          <a:p>
            <a:pPr algn="just"/>
            <a:endParaRPr lang="en-GB" sz="700" b="1" dirty="0"/>
          </a:p>
          <a:p>
            <a:pPr algn="just"/>
            <a:r>
              <a:rPr lang="en-GB" sz="1800" b="1" dirty="0"/>
              <a:t>Cons: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Slower transaction processing.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Scalability challenges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Increased complexity.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b="1" dirty="0"/>
          </a:p>
          <a:p>
            <a:pPr algn="just"/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386416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03576" y="365761"/>
            <a:ext cx="4371897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Network</a:t>
            </a:r>
            <a:r>
              <a:rPr lang="en-US" dirty="0"/>
              <a:t> Evolution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9552" y="862797"/>
            <a:ext cx="6516132" cy="3672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800" b="1" dirty="0"/>
              <a:t> Distributed Networks (Hybrid Approaches):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Some </a:t>
            </a:r>
            <a:r>
              <a:rPr lang="en-GB" sz="1600" dirty="0" err="1"/>
              <a:t>blockchains</a:t>
            </a:r>
            <a:r>
              <a:rPr lang="en-GB" sz="1600" dirty="0"/>
              <a:t> adopt distributed architectures, dividing tasks among various nodes.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Certain nodes specialize in validation, while others focus on data storage, addressing scalability concerns.</a:t>
            </a:r>
          </a:p>
          <a:p>
            <a:pPr algn="just"/>
            <a:endParaRPr lang="en-GB" sz="500" dirty="0"/>
          </a:p>
          <a:p>
            <a:pPr algn="just"/>
            <a:r>
              <a:rPr lang="en-GB" sz="1800" b="1" dirty="0"/>
              <a:t>Pros: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Improved scalability: Handles higher transaction volumes.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Increased efficiency: Node specialization optimizes resource use.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Maintain decentralization: Some network elements stay decentralized.</a:t>
            </a:r>
          </a:p>
          <a:p>
            <a:pPr algn="just"/>
            <a:endParaRPr lang="en-GB" sz="400" b="1" dirty="0"/>
          </a:p>
          <a:p>
            <a:pPr algn="just"/>
            <a:r>
              <a:rPr lang="en-GB" sz="1800" b="1" dirty="0"/>
              <a:t>Cons: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Increased complexity in designing and managing distributed networks.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Potential security vulnerabilities: Nodes may have varying security levels.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Trade-offs in decentralization: Level varies based on distribution model.</a:t>
            </a:r>
            <a:endParaRPr lang="en-GB" sz="1800" b="1" dirty="0"/>
          </a:p>
          <a:p>
            <a:pPr algn="just"/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290613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03576" y="365761"/>
            <a:ext cx="4371897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Network</a:t>
            </a:r>
            <a:r>
              <a:rPr lang="en-US" dirty="0"/>
              <a:t> Evolution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9552" y="862797"/>
            <a:ext cx="6516132" cy="3672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800" b="1" dirty="0"/>
              <a:t> Peer-to-Peer (P2P) Networks (Emerging Innovations):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P2P networks enable universal participation in validating transactions and storing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Eliminates specialized nodes for a fully distributed ledger.</a:t>
            </a:r>
          </a:p>
          <a:p>
            <a:pPr algn="just"/>
            <a:endParaRPr lang="en-GB" sz="500" dirty="0"/>
          </a:p>
          <a:p>
            <a:pPr algn="just"/>
            <a:r>
              <a:rPr lang="en-GB" sz="1800" b="1" dirty="0"/>
              <a:t>Pros: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Maximum decentralization: No single entity or node controls the network.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Improved security and privacy: Data is distributed across many nodes.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Greater scalability potential: Network can handle massive transaction volumes.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400" b="1" dirty="0"/>
          </a:p>
          <a:p>
            <a:pPr algn="just"/>
            <a:r>
              <a:rPr lang="en-GB" sz="1800" b="1" dirty="0"/>
              <a:t>Cons: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Increased complexity in designing and managing distributed networks.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Potential security vulnerabilities: Nodes may have varying security levels.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Trade-offs in decentralization: Level varies based on distribution model.</a:t>
            </a:r>
            <a:endParaRPr lang="en-GB" sz="1800" b="1" dirty="0"/>
          </a:p>
          <a:p>
            <a:pPr algn="just"/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249988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514272" y="2316149"/>
            <a:ext cx="388265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3200" dirty="0"/>
              <a:t>Applications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855400" y="2836200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4722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42562" y="450821"/>
            <a:ext cx="487340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Application Areas of Blockchain</a:t>
            </a:r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2465" y="1026821"/>
            <a:ext cx="6019944" cy="2701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GB" sz="1600" b="1" dirty="0"/>
              <a:t>Financial Services:</a:t>
            </a:r>
            <a:endParaRPr lang="en-GB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Secure and transparent transactions (cryptocurrencies).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Faster cross-border payments.</a:t>
            </a:r>
          </a:p>
          <a:p>
            <a:pPr algn="l"/>
            <a:endParaRPr lang="en-GB" sz="500" b="1" dirty="0"/>
          </a:p>
          <a:p>
            <a:pPr algn="l"/>
            <a:r>
              <a:rPr lang="en-GB" sz="1600" b="1" dirty="0"/>
              <a:t>Supply Chain Management:</a:t>
            </a:r>
            <a:endParaRPr lang="en-GB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Enhanced traceability and transparency.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Reduces fraud and errors in the supply chain.</a:t>
            </a:r>
          </a:p>
          <a:p>
            <a:pPr algn="l"/>
            <a:endParaRPr lang="en-GB" sz="500" b="1" dirty="0"/>
          </a:p>
          <a:p>
            <a:pPr algn="l"/>
            <a:r>
              <a:rPr lang="en-GB" sz="1600" b="1" dirty="0"/>
              <a:t>Healthcare:</a:t>
            </a:r>
            <a:endParaRPr lang="en-GB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Secure storage and sharing of patient data.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sz="1600" dirty="0"/>
              <a:t>Efficient management of medical records.</a:t>
            </a:r>
          </a:p>
        </p:txBody>
      </p:sp>
    </p:spTree>
    <p:extLst>
      <p:ext uri="{BB962C8B-B14F-4D97-AF65-F5344CB8AC3E}">
        <p14:creationId xmlns:p14="http://schemas.microsoft.com/office/powerpoint/2010/main" val="423017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42562" y="450821"/>
            <a:ext cx="487340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Application Areas of Blockchain</a:t>
            </a:r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2465" y="1026821"/>
            <a:ext cx="6019944" cy="2701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GB" sz="1600" b="1" dirty="0"/>
              <a:t>Smart Contracts in Legal:</a:t>
            </a:r>
            <a:endParaRPr lang="en-GB" sz="1600" dirty="0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Automated and secure execution of contracts.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Reduces the need for intermediaries.</a:t>
            </a:r>
          </a:p>
          <a:p>
            <a:pPr algn="just"/>
            <a:endParaRPr lang="en-GB" sz="500" b="1" dirty="0"/>
          </a:p>
          <a:p>
            <a:pPr algn="just"/>
            <a:r>
              <a:rPr lang="en-GB" sz="1600" b="1" dirty="0"/>
              <a:t>Identity Management:</a:t>
            </a:r>
            <a:endParaRPr lang="en-GB" sz="1600" dirty="0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Secure storage and verification of identities.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Reduces identity theft and fraud.</a:t>
            </a:r>
          </a:p>
          <a:p>
            <a:pPr algn="just"/>
            <a:endParaRPr lang="en-GB" sz="500" b="1" dirty="0"/>
          </a:p>
          <a:p>
            <a:pPr algn="just"/>
            <a:r>
              <a:rPr lang="en-GB" sz="1600" b="1" dirty="0"/>
              <a:t>Voting Systems:</a:t>
            </a:r>
            <a:endParaRPr lang="en-GB" sz="1600" dirty="0"/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Transparent and tamper-proof voting processes.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Enhances the integrity of electoral systems.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72264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514272" y="2231088"/>
            <a:ext cx="388265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Cryptocurrency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855400" y="2836200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633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342562" y="450821"/>
            <a:ext cx="4873401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Cryptocurrency</a:t>
            </a:r>
            <a:endParaRPr lang="en-US" b="1"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72465" y="1026821"/>
            <a:ext cx="6416894" cy="27016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Digital or virtual currency that uses cryptography for security.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Operates independently of central banks or governments.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Transactions are recorded on a decentralized ledger called a </a:t>
            </a:r>
            <a:r>
              <a:rPr lang="en-GB" sz="1600" dirty="0" err="1"/>
              <a:t>blockchain</a:t>
            </a:r>
            <a:r>
              <a:rPr lang="en-GB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Provides secure, transparent, and borderless transactions.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Enables peer-to-peer transfers without intermediaries.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Examples include Bitcoin, </a:t>
            </a:r>
            <a:r>
              <a:rPr lang="en-GB" sz="1600" dirty="0" err="1"/>
              <a:t>Ethereum</a:t>
            </a:r>
            <a:r>
              <a:rPr lang="en-GB" sz="1600" dirty="0"/>
              <a:t>, and </a:t>
            </a:r>
            <a:r>
              <a:rPr lang="en-GB" sz="1600" dirty="0" err="1"/>
              <a:t>Litecoin</a:t>
            </a:r>
            <a:r>
              <a:rPr lang="en-GB" sz="1600" dirty="0"/>
              <a:t>.</a:t>
            </a:r>
          </a:p>
          <a:p>
            <a:pPr algn="just"/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54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514272" y="2231088"/>
            <a:ext cx="3882656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2800" dirty="0"/>
              <a:t>Conclusion</a:t>
            </a:r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855400" y="2836200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buClr>
                <a:schemeClr val="dk1"/>
              </a:buClr>
              <a:buSzPts val="1100"/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5784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212863" y="486264"/>
            <a:ext cx="4706679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1448611" y="977201"/>
            <a:ext cx="6419482" cy="38074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Evolution of network types in </a:t>
            </a:r>
            <a:r>
              <a:rPr lang="en-GB" sz="1800" dirty="0" err="1"/>
              <a:t>blockchain</a:t>
            </a:r>
            <a:r>
              <a:rPr lang="en-GB" sz="1800" dirty="0"/>
              <a:t> is ongoing.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Constant exploration of new architectures and hybrid models.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Balancing security, decentralization, and scalability is a priority.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P2P networks show promise but coexistence of different types expected.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b="1" dirty="0"/>
          </a:p>
        </p:txBody>
      </p:sp>
    </p:spTree>
    <p:extLst>
      <p:ext uri="{BB962C8B-B14F-4D97-AF65-F5344CB8AC3E}">
        <p14:creationId xmlns:p14="http://schemas.microsoft.com/office/powerpoint/2010/main" val="3513806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3606" name="Google Shape;3606;p63"/>
          <p:cNvSpPr txBox="1">
            <a:spLocks noGrp="1"/>
          </p:cNvSpPr>
          <p:nvPr>
            <p:ph type="subTitle" idx="1"/>
          </p:nvPr>
        </p:nvSpPr>
        <p:spPr>
          <a:xfrm>
            <a:off x="2954467" y="1746934"/>
            <a:ext cx="3099900" cy="7708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 you have any questions?</a:t>
            </a:r>
            <a:endParaRPr sz="2000" dirty="0"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59595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607" name="Google Shape;3607;p63"/>
          <p:cNvSpPr txBox="1">
            <a:spLocks noGrp="1"/>
          </p:cNvSpPr>
          <p:nvPr>
            <p:ph type="subTitle" idx="4294967295"/>
          </p:nvPr>
        </p:nvSpPr>
        <p:spPr>
          <a:xfrm>
            <a:off x="2673650" y="4233275"/>
            <a:ext cx="37932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Please keep this slide for attribution</a:t>
            </a:r>
            <a:endParaRPr sz="11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024" y="3420004"/>
            <a:ext cx="4663844" cy="10821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792</Words>
  <Application>Microsoft Office PowerPoint</Application>
  <PresentationFormat>On-screen Show (16:9)</PresentationFormat>
  <Paragraphs>168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Barlow Semi Condensed</vt:lpstr>
      <vt:lpstr>Fjalla One</vt:lpstr>
      <vt:lpstr>Wingdings</vt:lpstr>
      <vt:lpstr>Arial</vt:lpstr>
      <vt:lpstr>Barlow Semi Condensed Medium</vt:lpstr>
      <vt:lpstr>Technology Consulting by Slidesgo</vt:lpstr>
      <vt:lpstr>Blockchain</vt:lpstr>
      <vt:lpstr>Table of Contents</vt:lpstr>
      <vt:lpstr>Table of Contents</vt:lpstr>
      <vt:lpstr>Introduction</vt:lpstr>
      <vt:lpstr>Introduction</vt:lpstr>
      <vt:lpstr>Properties of blockchain</vt:lpstr>
      <vt:lpstr>Properties of Blockchain</vt:lpstr>
      <vt:lpstr>Properties of Blockchain</vt:lpstr>
      <vt:lpstr>Network Evolution</vt:lpstr>
      <vt:lpstr>Network Evolution</vt:lpstr>
      <vt:lpstr>Network Evolution</vt:lpstr>
      <vt:lpstr>Network Evolution</vt:lpstr>
      <vt:lpstr>Network Evolution</vt:lpstr>
      <vt:lpstr>Applications</vt:lpstr>
      <vt:lpstr>Application Areas of Blockchain</vt:lpstr>
      <vt:lpstr>Application Areas of Blockchain</vt:lpstr>
      <vt:lpstr>Cryptocurrency</vt:lpstr>
      <vt:lpstr>Cryptocurrency</vt:lpstr>
      <vt:lpstr>Conclusion</vt:lpstr>
      <vt:lpstr>Conclusion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DLP &amp; SANDBOXING</dc:title>
  <dc:creator>Mubariz</dc:creator>
  <cp:lastModifiedBy>Mubariz Rehman</cp:lastModifiedBy>
  <cp:revision>39</cp:revision>
  <dcterms:modified xsi:type="dcterms:W3CDTF">2024-02-16T12:12:33Z</dcterms:modified>
</cp:coreProperties>
</file>