
<file path=[Content_Types].xml><?xml version="1.0" encoding="utf-8"?>
<Types xmlns="http://schemas.openxmlformats.org/package/2006/content-types">
  <Default Extension="png" ContentType="image/png"/>
  <Default Extension="bin" ContentType="image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75" r:id="rId2"/>
  </p:sldMasterIdLst>
  <p:notesMasterIdLst>
    <p:notesMasterId r:id="rId65"/>
  </p:notesMasterIdLst>
  <p:sldIdLst>
    <p:sldId id="274" r:id="rId3"/>
    <p:sldId id="277" r:id="rId4"/>
    <p:sldId id="279" r:id="rId5"/>
    <p:sldId id="280" r:id="rId6"/>
    <p:sldId id="281" r:id="rId7"/>
    <p:sldId id="340" r:id="rId8"/>
    <p:sldId id="282" r:id="rId9"/>
    <p:sldId id="341" r:id="rId10"/>
    <p:sldId id="283" r:id="rId11"/>
    <p:sldId id="284" r:id="rId12"/>
    <p:sldId id="285" r:id="rId13"/>
    <p:sldId id="342" r:id="rId14"/>
    <p:sldId id="343" r:id="rId15"/>
    <p:sldId id="344" r:id="rId16"/>
    <p:sldId id="289" r:id="rId17"/>
    <p:sldId id="290" r:id="rId18"/>
    <p:sldId id="347" r:id="rId19"/>
    <p:sldId id="346" r:id="rId20"/>
    <p:sldId id="349" r:id="rId21"/>
    <p:sldId id="291" r:id="rId22"/>
    <p:sldId id="352" r:id="rId23"/>
    <p:sldId id="351" r:id="rId24"/>
    <p:sldId id="293" r:id="rId25"/>
    <p:sldId id="292" r:id="rId26"/>
    <p:sldId id="294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387" r:id="rId52"/>
    <p:sldId id="389" r:id="rId53"/>
    <p:sldId id="390" r:id="rId54"/>
    <p:sldId id="391" r:id="rId55"/>
    <p:sldId id="392" r:id="rId56"/>
    <p:sldId id="394" r:id="rId57"/>
    <p:sldId id="395" r:id="rId58"/>
    <p:sldId id="396" r:id="rId59"/>
    <p:sldId id="397" r:id="rId60"/>
    <p:sldId id="398" r:id="rId61"/>
    <p:sldId id="399" r:id="rId62"/>
    <p:sldId id="400" r:id="rId63"/>
    <p:sldId id="361" r:id="rId6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35095-144B-4D4E-BBC3-424B337EB78A}" v="3" dt="2023-10-09T05:22:23.844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86"/>
    <p:restoredTop sz="84000" autoAdjust="0"/>
  </p:normalViewPr>
  <p:slideViewPr>
    <p:cSldViewPr>
      <p:cViewPr varScale="1">
        <p:scale>
          <a:sx n="74" d="100"/>
          <a:sy n="74" d="100"/>
        </p:scale>
        <p:origin x="13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48E35095-144B-4D4E-BBC3-424B337EB78A}"/>
    <pc:docChg chg="delSld modSld">
      <pc:chgData name="Asif Muhammad" userId="6b0af2cb-2f76-400b-94d9-178b55ef4f85" providerId="ADAL" clId="{48E35095-144B-4D4E-BBC3-424B337EB78A}" dt="2023-10-11T14:18:27.672" v="19" actId="20577"/>
      <pc:docMkLst>
        <pc:docMk/>
      </pc:docMkLst>
      <pc:sldChg chg="modSp mod">
        <pc:chgData name="Asif Muhammad" userId="6b0af2cb-2f76-400b-94d9-178b55ef4f85" providerId="ADAL" clId="{48E35095-144B-4D4E-BBC3-424B337EB78A}" dt="2023-10-08T13:37:46.346" v="6" actId="6549"/>
        <pc:sldMkLst>
          <pc:docMk/>
          <pc:sldMk cId="0" sldId="274"/>
        </pc:sldMkLst>
        <pc:spChg chg="mod">
          <ac:chgData name="Asif Muhammad" userId="6b0af2cb-2f76-400b-94d9-178b55ef4f85" providerId="ADAL" clId="{48E35095-144B-4D4E-BBC3-424B337EB78A}" dt="2023-10-08T13:37:46.346" v="6" actId="6549"/>
          <ac:spMkLst>
            <pc:docMk/>
            <pc:sldMk cId="0" sldId="274"/>
            <ac:spMk id="72706" creationId="{416C7C91-AC21-8E6B-81BA-46FCD14461AC}"/>
          </ac:spMkLst>
        </pc:spChg>
      </pc:sldChg>
      <pc:sldChg chg="modSp">
        <pc:chgData name="Asif Muhammad" userId="6b0af2cb-2f76-400b-94d9-178b55ef4f85" providerId="ADAL" clId="{48E35095-144B-4D4E-BBC3-424B337EB78A}" dt="2023-10-09T04:46:28.821" v="9" actId="20577"/>
        <pc:sldMkLst>
          <pc:docMk/>
          <pc:sldMk cId="0" sldId="282"/>
        </pc:sldMkLst>
        <pc:spChg chg="mod">
          <ac:chgData name="Asif Muhammad" userId="6b0af2cb-2f76-400b-94d9-178b55ef4f85" providerId="ADAL" clId="{48E35095-144B-4D4E-BBC3-424B337EB78A}" dt="2023-10-09T04:46:28.821" v="9" actId="20577"/>
          <ac:spMkLst>
            <pc:docMk/>
            <pc:sldMk cId="0" sldId="282"/>
            <ac:spMk id="71" creationId="{B2DE668F-FF6C-E43C-5E80-00306D433EEC}"/>
          </ac:spMkLst>
        </pc:spChg>
      </pc:sldChg>
      <pc:sldChg chg="modSp mod">
        <pc:chgData name="Asif Muhammad" userId="6b0af2cb-2f76-400b-94d9-178b55ef4f85" providerId="ADAL" clId="{48E35095-144B-4D4E-BBC3-424B337EB78A}" dt="2023-10-10T01:14:46.768" v="12" actId="20577"/>
        <pc:sldMkLst>
          <pc:docMk/>
          <pc:sldMk cId="0" sldId="349"/>
        </pc:sldMkLst>
        <pc:spChg chg="mod">
          <ac:chgData name="Asif Muhammad" userId="6b0af2cb-2f76-400b-94d9-178b55ef4f85" providerId="ADAL" clId="{48E35095-144B-4D4E-BBC3-424B337EB78A}" dt="2023-10-10T01:14:46.768" v="12" actId="20577"/>
          <ac:spMkLst>
            <pc:docMk/>
            <pc:sldMk cId="0" sldId="349"/>
            <ac:spMk id="50178" creationId="{18D36E63-42FE-75C5-A8CC-E50A3DCB0B71}"/>
          </ac:spMkLst>
        </pc:spChg>
      </pc:sldChg>
      <pc:sldChg chg="del">
        <pc:chgData name="Asif Muhammad" userId="6b0af2cb-2f76-400b-94d9-178b55ef4f85" providerId="ADAL" clId="{48E35095-144B-4D4E-BBC3-424B337EB78A}" dt="2023-10-08T13:38:12.711" v="7" actId="47"/>
        <pc:sldMkLst>
          <pc:docMk/>
          <pc:sldMk cId="0" sldId="362"/>
        </pc:sldMkLst>
      </pc:sldChg>
      <pc:sldChg chg="mod modShow">
        <pc:chgData name="Asif Muhammad" userId="6b0af2cb-2f76-400b-94d9-178b55ef4f85" providerId="ADAL" clId="{48E35095-144B-4D4E-BBC3-424B337EB78A}" dt="2023-10-11T14:10:35.348" v="17" actId="729"/>
        <pc:sldMkLst>
          <pc:docMk/>
          <pc:sldMk cId="0" sldId="391"/>
        </pc:sldMkLst>
      </pc:sldChg>
      <pc:sldChg chg="modSp mod">
        <pc:chgData name="Asif Muhammad" userId="6b0af2cb-2f76-400b-94d9-178b55ef4f85" providerId="ADAL" clId="{48E35095-144B-4D4E-BBC3-424B337EB78A}" dt="2023-10-11T14:18:27.672" v="19" actId="20577"/>
        <pc:sldMkLst>
          <pc:docMk/>
          <pc:sldMk cId="0" sldId="395"/>
        </pc:sldMkLst>
        <pc:spChg chg="mod">
          <ac:chgData name="Asif Muhammad" userId="6b0af2cb-2f76-400b-94d9-178b55ef4f85" providerId="ADAL" clId="{48E35095-144B-4D4E-BBC3-424B337EB78A}" dt="2023-10-11T14:18:27.672" v="19" actId="20577"/>
          <ac:spMkLst>
            <pc:docMk/>
            <pc:sldMk cId="0" sldId="395"/>
            <ac:spMk id="122882" creationId="{D0A2538A-DECE-923A-EBD3-DE9F6FA3DDBD}"/>
          </ac:spMkLst>
        </pc:spChg>
      </pc:sldChg>
      <pc:sldChg chg="del">
        <pc:chgData name="Asif Muhammad" userId="6b0af2cb-2f76-400b-94d9-178b55ef4f85" providerId="ADAL" clId="{48E35095-144B-4D4E-BBC3-424B337EB78A}" dt="2023-10-10T01:17:07.111" v="13" actId="47"/>
        <pc:sldMkLst>
          <pc:docMk/>
          <pc:sldMk cId="0" sldId="401"/>
        </pc:sldMkLst>
      </pc:sldChg>
      <pc:sldChg chg="del">
        <pc:chgData name="Asif Muhammad" userId="6b0af2cb-2f76-400b-94d9-178b55ef4f85" providerId="ADAL" clId="{48E35095-144B-4D4E-BBC3-424B337EB78A}" dt="2023-10-10T01:17:28.138" v="15" actId="47"/>
        <pc:sldMkLst>
          <pc:docMk/>
          <pc:sldMk cId="0" sldId="402"/>
        </pc:sldMkLst>
      </pc:sldChg>
      <pc:sldChg chg="del">
        <pc:chgData name="Asif Muhammad" userId="6b0af2cb-2f76-400b-94d9-178b55ef4f85" providerId="ADAL" clId="{48E35095-144B-4D4E-BBC3-424B337EB78A}" dt="2023-10-10T01:17:15.724" v="14" actId="47"/>
        <pc:sldMkLst>
          <pc:docMk/>
          <pc:sldMk cId="0" sldId="403"/>
        </pc:sldMkLst>
      </pc:sldChg>
      <pc:sldChg chg="del">
        <pc:chgData name="Asif Muhammad" userId="6b0af2cb-2f76-400b-94d9-178b55ef4f85" providerId="ADAL" clId="{48E35095-144B-4D4E-BBC3-424B337EB78A}" dt="2023-10-10T01:17:36.777" v="16" actId="47"/>
        <pc:sldMkLst>
          <pc:docMk/>
          <pc:sldMk cId="0" sldId="4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C9EDA2E-DEB0-055A-0580-DD44F3621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99950FF-FFB4-898A-12C7-BC8E1BA5064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976B8598-5C6F-B02D-D3DD-1189B6EBF8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D1C7F47C-BE10-36A9-6048-AD648DE3621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738E907B-F78F-C8D1-1811-246C59D44F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CA4C2FE0-A6D4-0BC9-D4EC-29BEAB69E7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324BA22-0AAB-4EB3-958F-85A30867F6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F5EE6BCC-BF21-D23E-9345-EA200139A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8CAB34-6EB1-4033-8E9A-BA2C284B7057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4EFEB8F8-1356-5100-5CB8-FAF7E2546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2BAB652-65F2-5F35-4585-C2A432568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Google Shape;32;g36e91fd57_030:notes">
            <a:extLst>
              <a:ext uri="{FF2B5EF4-FFF2-40B4-BE49-F238E27FC236}">
                <a16:creationId xmlns:a16="http://schemas.microsoft.com/office/drawing/2014/main" id="{FDC72499-D82A-0DB1-8EF9-58E0A1C6F6A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9458" name="Google Shape;33;g36e91fd57_030:notes">
            <a:extLst>
              <a:ext uri="{FF2B5EF4-FFF2-40B4-BE49-F238E27FC236}">
                <a16:creationId xmlns:a16="http://schemas.microsoft.com/office/drawing/2014/main" id="{379324AA-00A8-6DD7-9946-8D15F1655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But what rules?</a:t>
            </a:r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Need to clarify what 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append-only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 means</a:t>
            </a:r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Google Shape;44;g18f88b7d4_05:notes">
            <a:extLst>
              <a:ext uri="{FF2B5EF4-FFF2-40B4-BE49-F238E27FC236}">
                <a16:creationId xmlns:a16="http://schemas.microsoft.com/office/drawing/2014/main" id="{20AA2812-AEDF-C1C3-6E4D-3A039A06581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21506" name="Google Shape;45;g18f88b7d4_05:notes">
            <a:extLst>
              <a:ext uri="{FF2B5EF4-FFF2-40B4-BE49-F238E27FC236}">
                <a16:creationId xmlns:a16="http://schemas.microsoft.com/office/drawing/2014/main" id="{92F2B5E7-D1B6-E6EF-4075-F37CD9C07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Google Shape;44;g18f88b7d4_05:notes">
            <a:extLst>
              <a:ext uri="{FF2B5EF4-FFF2-40B4-BE49-F238E27FC236}">
                <a16:creationId xmlns:a16="http://schemas.microsoft.com/office/drawing/2014/main" id="{3E1F85C0-9CAC-767B-3CE2-86DBEC38C9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24578" name="Google Shape;45;g18f88b7d4_05:notes">
            <a:extLst>
              <a:ext uri="{FF2B5EF4-FFF2-40B4-BE49-F238E27FC236}">
                <a16:creationId xmlns:a16="http://schemas.microsoft.com/office/drawing/2014/main" id="{4D2008D4-4A73-75B8-F916-AFF395042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Google Shape;60;g36e91fd57_0161:notes">
            <a:extLst>
              <a:ext uri="{FF2B5EF4-FFF2-40B4-BE49-F238E27FC236}">
                <a16:creationId xmlns:a16="http://schemas.microsoft.com/office/drawing/2014/main" id="{F346C933-7B69-EA94-A889-E51F8B73A59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27650" name="Google Shape;61;g36e91fd57_0161:notes">
            <a:extLst>
              <a:ext uri="{FF2B5EF4-FFF2-40B4-BE49-F238E27FC236}">
                <a16:creationId xmlns:a16="http://schemas.microsoft.com/office/drawing/2014/main" id="{A75D175A-602D-25BD-9D3D-88448B981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This is called a 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change address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Google Shape;84;g36e91fd57_0184:notes">
            <a:extLst>
              <a:ext uri="{FF2B5EF4-FFF2-40B4-BE49-F238E27FC236}">
                <a16:creationId xmlns:a16="http://schemas.microsoft.com/office/drawing/2014/main" id="{BBFB2507-9721-57B7-A564-AEB552B727F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30722" name="Google Shape;85;g36e91fd57_0184:notes">
            <a:extLst>
              <a:ext uri="{FF2B5EF4-FFF2-40B4-BE49-F238E27FC236}">
                <a16:creationId xmlns:a16="http://schemas.microsoft.com/office/drawing/2014/main" id="{E7669123-44BB-17AB-F080-DAA430372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Google Shape;102;g36e91fd57_0220:notes">
            <a:extLst>
              <a:ext uri="{FF2B5EF4-FFF2-40B4-BE49-F238E27FC236}">
                <a16:creationId xmlns:a16="http://schemas.microsoft.com/office/drawing/2014/main" id="{48ABA583-8D36-BFCE-9742-4E6CDBE18EB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32770" name="Google Shape;103;g36e91fd57_0220:notes">
            <a:extLst>
              <a:ext uri="{FF2B5EF4-FFF2-40B4-BE49-F238E27FC236}">
                <a16:creationId xmlns:a16="http://schemas.microsoft.com/office/drawing/2014/main" id="{B4A81083-3B89-8E9D-5611-E1C815C3E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Google Shape;121;g36e91fd57_0140:notes">
            <a:extLst>
              <a:ext uri="{FF2B5EF4-FFF2-40B4-BE49-F238E27FC236}">
                <a16:creationId xmlns:a16="http://schemas.microsoft.com/office/drawing/2014/main" id="{E4DD4794-9B3F-37CE-7EC1-0706A67AD42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34818" name="Google Shape;122;g36e91fd57_0140:notes">
            <a:extLst>
              <a:ext uri="{FF2B5EF4-FFF2-40B4-BE49-F238E27FC236}">
                <a16:creationId xmlns:a16="http://schemas.microsoft.com/office/drawing/2014/main" id="{8076B9C0-E02E-2314-0657-F4FB973B4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Google Shape;133;g36e91fd57_0244:notes">
            <a:extLst>
              <a:ext uri="{FF2B5EF4-FFF2-40B4-BE49-F238E27FC236}">
                <a16:creationId xmlns:a16="http://schemas.microsoft.com/office/drawing/2014/main" id="{44DE0694-B863-322D-BAE2-526CB2866C0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36866" name="Google Shape;134;g36e91fd57_0244:notes">
            <a:extLst>
              <a:ext uri="{FF2B5EF4-FFF2-40B4-BE49-F238E27FC236}">
                <a16:creationId xmlns:a16="http://schemas.microsoft.com/office/drawing/2014/main" id="{28196D2C-709A-0EB0-E843-1E3BDE5ED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Google Shape;148;g36e91fd57_0255:notes">
            <a:extLst>
              <a:ext uri="{FF2B5EF4-FFF2-40B4-BE49-F238E27FC236}">
                <a16:creationId xmlns:a16="http://schemas.microsoft.com/office/drawing/2014/main" id="{BD9513CC-7D8B-6E97-279D-335375D72C2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38914" name="Google Shape;149;g36e91fd57_0255:notes">
            <a:extLst>
              <a:ext uri="{FF2B5EF4-FFF2-40B4-BE49-F238E27FC236}">
                <a16:creationId xmlns:a16="http://schemas.microsoft.com/office/drawing/2014/main" id="{CA1621F1-9BD2-F72B-665B-2C2A5830A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Google Shape;160;g36e91fd57_0273:notes">
            <a:extLst>
              <a:ext uri="{FF2B5EF4-FFF2-40B4-BE49-F238E27FC236}">
                <a16:creationId xmlns:a16="http://schemas.microsoft.com/office/drawing/2014/main" id="{343209F8-359E-2006-59C0-21A728A8DE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40962" name="Google Shape;161;g36e91fd57_0273:notes">
            <a:extLst>
              <a:ext uri="{FF2B5EF4-FFF2-40B4-BE49-F238E27FC236}">
                <a16:creationId xmlns:a16="http://schemas.microsoft.com/office/drawing/2014/main" id="{B819E933-2C22-AC09-7724-CF4F81DF8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Google Shape;174;g36e91fd57_0111:notes">
            <a:extLst>
              <a:ext uri="{FF2B5EF4-FFF2-40B4-BE49-F238E27FC236}">
                <a16:creationId xmlns:a16="http://schemas.microsoft.com/office/drawing/2014/main" id="{F721ABB0-CD29-3249-7048-828FC1FF4A3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43010" name="Google Shape;175;g36e91fd57_0111:notes">
            <a:extLst>
              <a:ext uri="{FF2B5EF4-FFF2-40B4-BE49-F238E27FC236}">
                <a16:creationId xmlns:a16="http://schemas.microsoft.com/office/drawing/2014/main" id="{CF5F36D7-554B-7247-62E8-120901677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 sz="11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Google Shape;179;g36e91fd57_0315:notes">
            <a:extLst>
              <a:ext uri="{FF2B5EF4-FFF2-40B4-BE49-F238E27FC236}">
                <a16:creationId xmlns:a16="http://schemas.microsoft.com/office/drawing/2014/main" id="{F7D9F238-8BD3-72E1-3368-01CC7254E74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45058" name="Google Shape;180;g36e91fd57_0315:notes">
            <a:extLst>
              <a:ext uri="{FF2B5EF4-FFF2-40B4-BE49-F238E27FC236}">
                <a16:creationId xmlns:a16="http://schemas.microsoft.com/office/drawing/2014/main" id="{7C13E27C-A25F-63F3-AFD0-348038EBF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Google Shape;179;g36e91fd57_0315:notes">
            <a:extLst>
              <a:ext uri="{FF2B5EF4-FFF2-40B4-BE49-F238E27FC236}">
                <a16:creationId xmlns:a16="http://schemas.microsoft.com/office/drawing/2014/main" id="{7F8FFBCE-B293-37F3-48CE-CD843E4A95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47106" name="Google Shape;180;g36e91fd57_0315:notes">
            <a:extLst>
              <a:ext uri="{FF2B5EF4-FFF2-40B4-BE49-F238E27FC236}">
                <a16:creationId xmlns:a16="http://schemas.microsoft.com/office/drawing/2014/main" id="{F3EBE914-DD20-73D8-6487-7A194D28D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Google Shape;179;g36e91fd57_0315:notes">
            <a:extLst>
              <a:ext uri="{FF2B5EF4-FFF2-40B4-BE49-F238E27FC236}">
                <a16:creationId xmlns:a16="http://schemas.microsoft.com/office/drawing/2014/main" id="{7ADE0D8E-8BD9-25F5-8C72-BAC62401A41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49154" name="Google Shape;180;g36e91fd57_0315:notes">
            <a:extLst>
              <a:ext uri="{FF2B5EF4-FFF2-40B4-BE49-F238E27FC236}">
                <a16:creationId xmlns:a16="http://schemas.microsoft.com/office/drawing/2014/main" id="{58AD5296-77D8-B9A1-B393-70B7F3D6C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Google Shape;185;g36e91fd57_0330:notes">
            <a:extLst>
              <a:ext uri="{FF2B5EF4-FFF2-40B4-BE49-F238E27FC236}">
                <a16:creationId xmlns:a16="http://schemas.microsoft.com/office/drawing/2014/main" id="{DB5A5ADD-01B3-0378-A5F3-4CCCCAD47CF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52226" name="Google Shape;186;g36e91fd57_0330:notes">
            <a:extLst>
              <a:ext uri="{FF2B5EF4-FFF2-40B4-BE49-F238E27FC236}">
                <a16:creationId xmlns:a16="http://schemas.microsoft.com/office/drawing/2014/main" id="{A5E08C8F-C43D-317F-048A-9E21197F8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Google Shape;207;g36e91fd57_056:notes">
            <a:extLst>
              <a:ext uri="{FF2B5EF4-FFF2-40B4-BE49-F238E27FC236}">
                <a16:creationId xmlns:a16="http://schemas.microsoft.com/office/drawing/2014/main" id="{EFB988EC-5DFF-33F3-DDCF-D2ACA93307B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56322" name="Google Shape;208;g36e91fd57_056:notes">
            <a:extLst>
              <a:ext uri="{FF2B5EF4-FFF2-40B4-BE49-F238E27FC236}">
                <a16:creationId xmlns:a16="http://schemas.microsoft.com/office/drawing/2014/main" id="{EB7A5E19-60D4-B01B-D016-2B0EA8B10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Google Shape;197;g36e91fd57_0359:notes">
            <a:extLst>
              <a:ext uri="{FF2B5EF4-FFF2-40B4-BE49-F238E27FC236}">
                <a16:creationId xmlns:a16="http://schemas.microsoft.com/office/drawing/2014/main" id="{BC0BBC62-FDC9-DF75-0BB7-C87EF64776A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58370" name="Google Shape;198;g36e91fd57_0359:notes">
            <a:extLst>
              <a:ext uri="{FF2B5EF4-FFF2-40B4-BE49-F238E27FC236}">
                <a16:creationId xmlns:a16="http://schemas.microsoft.com/office/drawing/2014/main" id="{6D86C6D6-1582-D75F-4C6A-BFE31B26E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Google Shape;227;g36e91fd57_0378:notes">
            <a:extLst>
              <a:ext uri="{FF2B5EF4-FFF2-40B4-BE49-F238E27FC236}">
                <a16:creationId xmlns:a16="http://schemas.microsoft.com/office/drawing/2014/main" id="{6B981CC7-35FB-A9ED-E908-C4B0C03B36A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60418" name="Google Shape;228;g36e91fd57_0378:notes">
            <a:extLst>
              <a:ext uri="{FF2B5EF4-FFF2-40B4-BE49-F238E27FC236}">
                <a16:creationId xmlns:a16="http://schemas.microsoft.com/office/drawing/2014/main" id="{9DEB527E-F37F-D61B-D1B8-F47BD4686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Google Shape;241;g36e91fd57_0409:notes">
            <a:extLst>
              <a:ext uri="{FF2B5EF4-FFF2-40B4-BE49-F238E27FC236}">
                <a16:creationId xmlns:a16="http://schemas.microsoft.com/office/drawing/2014/main" id="{04311E50-82BE-E0FF-D9B9-B095FC3AF9D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62466" name="Google Shape;242;g36e91fd57_0409:notes">
            <a:extLst>
              <a:ext uri="{FF2B5EF4-FFF2-40B4-BE49-F238E27FC236}">
                <a16:creationId xmlns:a16="http://schemas.microsoft.com/office/drawing/2014/main" id="{A6FC14E0-8B68-EBA4-1F77-4BD413FA0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Google Shape;248;g36e91fd57_0414:notes">
            <a:extLst>
              <a:ext uri="{FF2B5EF4-FFF2-40B4-BE49-F238E27FC236}">
                <a16:creationId xmlns:a16="http://schemas.microsoft.com/office/drawing/2014/main" id="{7043DF50-1693-FF1E-F76A-335B1F6CB15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64514" name="Google Shape;249;g36e91fd57_0414:notes">
            <a:extLst>
              <a:ext uri="{FF2B5EF4-FFF2-40B4-BE49-F238E27FC236}">
                <a16:creationId xmlns:a16="http://schemas.microsoft.com/office/drawing/2014/main" id="{D76E85F2-4D0F-882C-BC92-FF9E044EF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Uses: spam/griefing. Transfer to another cryptocurrency. Fidelity bond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Google Shape;255;g36e91fd57_0424:notes">
            <a:extLst>
              <a:ext uri="{FF2B5EF4-FFF2-40B4-BE49-F238E27FC236}">
                <a16:creationId xmlns:a16="http://schemas.microsoft.com/office/drawing/2014/main" id="{313864C1-E040-9C7A-D306-257412FF711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66562" name="Google Shape;256;g36e91fd57_0424:notes">
            <a:extLst>
              <a:ext uri="{FF2B5EF4-FFF2-40B4-BE49-F238E27FC236}">
                <a16:creationId xmlns:a16="http://schemas.microsoft.com/office/drawing/2014/main" id="{F85C7DAF-5DBF-BA4D-B862-98AFF9034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Google Shape;279;g36e91fd57_0534:notes">
            <a:extLst>
              <a:ext uri="{FF2B5EF4-FFF2-40B4-BE49-F238E27FC236}">
                <a16:creationId xmlns:a16="http://schemas.microsoft.com/office/drawing/2014/main" id="{566A944D-DCC1-1213-56EA-E03EE021798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68610" name="Google Shape;280;g36e91fd57_0534:notes">
            <a:extLst>
              <a:ext uri="{FF2B5EF4-FFF2-40B4-BE49-F238E27FC236}">
                <a16:creationId xmlns:a16="http://schemas.microsoft.com/office/drawing/2014/main" id="{7ED05EE8-6C32-E18B-A90D-6A7BF1D4F7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Google Shape;292;g36e91fd57_0132:notes">
            <a:extLst>
              <a:ext uri="{FF2B5EF4-FFF2-40B4-BE49-F238E27FC236}">
                <a16:creationId xmlns:a16="http://schemas.microsoft.com/office/drawing/2014/main" id="{19635E2E-8CCD-3766-13C2-ADBABD0F7C4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70658" name="Google Shape;293;g36e91fd57_0132:notes">
            <a:extLst>
              <a:ext uri="{FF2B5EF4-FFF2-40B4-BE49-F238E27FC236}">
                <a16:creationId xmlns:a16="http://schemas.microsoft.com/office/drawing/2014/main" id="{0618759B-584B-0282-8008-216D4E1A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 sz="11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Google Shape;297;g36e91fd57_0480:notes">
            <a:extLst>
              <a:ext uri="{FF2B5EF4-FFF2-40B4-BE49-F238E27FC236}">
                <a16:creationId xmlns:a16="http://schemas.microsoft.com/office/drawing/2014/main" id="{1FAEE8F1-F8B9-9894-9F53-F54EE750D28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72706" name="Google Shape;298;g36e91fd57_0480:notes">
            <a:extLst>
              <a:ext uri="{FF2B5EF4-FFF2-40B4-BE49-F238E27FC236}">
                <a16:creationId xmlns:a16="http://schemas.microsoft.com/office/drawing/2014/main" id="{689D1771-A2D2-A73D-DC1E-F06122E14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Gavel from OpenClipArt.com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Google Shape;320;g36e91fd57_0464:notes">
            <a:extLst>
              <a:ext uri="{FF2B5EF4-FFF2-40B4-BE49-F238E27FC236}">
                <a16:creationId xmlns:a16="http://schemas.microsoft.com/office/drawing/2014/main" id="{887628B9-8A0A-E307-63B0-A5784B12804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74754" name="Google Shape;321;g36e91fd57_0464:notes">
            <a:extLst>
              <a:ext uri="{FF2B5EF4-FFF2-40B4-BE49-F238E27FC236}">
                <a16:creationId xmlns:a16="http://schemas.microsoft.com/office/drawing/2014/main" id="{CD995F63-C80E-A73D-9AC6-4C4FFEB84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These are mostly dead thanks to Mt. Gox, Instawallet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Google Shape;341;g36e91fd57_0476:notes">
            <a:extLst>
              <a:ext uri="{FF2B5EF4-FFF2-40B4-BE49-F238E27FC236}">
                <a16:creationId xmlns:a16="http://schemas.microsoft.com/office/drawing/2014/main" id="{2B37E588-6A4C-1C3C-AB52-D6B952E6F2E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76802" name="Google Shape;342;g36e91fd57_0476:notes">
            <a:extLst>
              <a:ext uri="{FF2B5EF4-FFF2-40B4-BE49-F238E27FC236}">
                <a16:creationId xmlns:a16="http://schemas.microsoft.com/office/drawing/2014/main" id="{2DDA558A-CA70-7FD8-DBC7-D591DE8A4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What if Bob never paid?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Google Shape;371;g36ed44a44_23:notes">
            <a:extLst>
              <a:ext uri="{FF2B5EF4-FFF2-40B4-BE49-F238E27FC236}">
                <a16:creationId xmlns:a16="http://schemas.microsoft.com/office/drawing/2014/main" id="{0BCE2A0A-7D8D-E98F-DFB0-5C27C1790FB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78850" name="Google Shape;372;g36ed44a44_23:notes">
            <a:extLst>
              <a:ext uri="{FF2B5EF4-FFF2-40B4-BE49-F238E27FC236}">
                <a16:creationId xmlns:a16="http://schemas.microsoft.com/office/drawing/2014/main" id="{09ADBF61-FA8C-5E4E-1FE2-FDDB4522A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Google Shape;378;g36ed44a44_218:notes">
            <a:extLst>
              <a:ext uri="{FF2B5EF4-FFF2-40B4-BE49-F238E27FC236}">
                <a16:creationId xmlns:a16="http://schemas.microsoft.com/office/drawing/2014/main" id="{68A8AE37-94B0-A804-BD83-5A0E629D417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80898" name="Google Shape;379;g36ed44a44_218:notes">
            <a:extLst>
              <a:ext uri="{FF2B5EF4-FFF2-40B4-BE49-F238E27FC236}">
                <a16:creationId xmlns:a16="http://schemas.microsoft.com/office/drawing/2014/main" id="{FFFE99D1-17E8-4AA2-6F82-D9173BDBA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Google Shape;385;g36e91fd57_01091:notes">
            <a:extLst>
              <a:ext uri="{FF2B5EF4-FFF2-40B4-BE49-F238E27FC236}">
                <a16:creationId xmlns:a16="http://schemas.microsoft.com/office/drawing/2014/main" id="{F153009B-11D8-48A2-3E9F-7D34C73458B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82946" name="Google Shape;386;g36e91fd57_01091:notes">
            <a:extLst>
              <a:ext uri="{FF2B5EF4-FFF2-40B4-BE49-F238E27FC236}">
                <a16:creationId xmlns:a16="http://schemas.microsoft.com/office/drawing/2014/main" id="{E317745F-C7F1-BE44-0B24-D78E761F4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 sz="11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Google Shape;390;g36e91fd57_0815:notes">
            <a:extLst>
              <a:ext uri="{FF2B5EF4-FFF2-40B4-BE49-F238E27FC236}">
                <a16:creationId xmlns:a16="http://schemas.microsoft.com/office/drawing/2014/main" id="{01502D63-89A7-02F9-B5E7-8F4F70189ED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84994" name="Google Shape;391;g36e91fd57_0815:notes">
            <a:extLst>
              <a:ext uri="{FF2B5EF4-FFF2-40B4-BE49-F238E27FC236}">
                <a16:creationId xmlns:a16="http://schemas.microsoft.com/office/drawing/2014/main" id="{2F86233E-6E6F-E7CC-F4CF-400D8BECF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Google Shape;396;g36e91fd57_0884:notes">
            <a:extLst>
              <a:ext uri="{FF2B5EF4-FFF2-40B4-BE49-F238E27FC236}">
                <a16:creationId xmlns:a16="http://schemas.microsoft.com/office/drawing/2014/main" id="{B4D0ADE6-7E91-4513-69F5-B50FCB64D19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87042" name="Google Shape;397;g36e91fd57_0884:notes">
            <a:extLst>
              <a:ext uri="{FF2B5EF4-FFF2-40B4-BE49-F238E27FC236}">
                <a16:creationId xmlns:a16="http://schemas.microsoft.com/office/drawing/2014/main" id="{F91E7369-03DA-19A3-0CB6-4C03A3E66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Google Shape;431;g36e91fd57_0969:notes">
            <a:extLst>
              <a:ext uri="{FF2B5EF4-FFF2-40B4-BE49-F238E27FC236}">
                <a16:creationId xmlns:a16="http://schemas.microsoft.com/office/drawing/2014/main" id="{0CCB72B5-5832-D465-0F1E-57BEE4B516C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89090" name="Google Shape;432;g36e91fd57_0969:notes">
            <a:extLst>
              <a:ext uri="{FF2B5EF4-FFF2-40B4-BE49-F238E27FC236}">
                <a16:creationId xmlns:a16="http://schemas.microsoft.com/office/drawing/2014/main" id="{32B705E4-FD4A-867C-A3B0-FBB341DD8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Google Shape;441;g36e91fd57_0950:notes">
            <a:extLst>
              <a:ext uri="{FF2B5EF4-FFF2-40B4-BE49-F238E27FC236}">
                <a16:creationId xmlns:a16="http://schemas.microsoft.com/office/drawing/2014/main" id="{E5C74BCE-5CBA-30FC-40A7-A9628ECB92A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91138" name="Google Shape;442;g36e91fd57_0950:notes">
            <a:extLst>
              <a:ext uri="{FF2B5EF4-FFF2-40B4-BE49-F238E27FC236}">
                <a16:creationId xmlns:a16="http://schemas.microsoft.com/office/drawing/2014/main" id="{B8CC8897-84E3-A358-EE24-818DCF424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Google Shape;455;g36ed44a44_238:notes">
            <a:extLst>
              <a:ext uri="{FF2B5EF4-FFF2-40B4-BE49-F238E27FC236}">
                <a16:creationId xmlns:a16="http://schemas.microsoft.com/office/drawing/2014/main" id="{E1CEECC3-58F9-8294-A54D-BA990EE2C5C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93186" name="Google Shape;456;g36ed44a44_238:notes">
            <a:extLst>
              <a:ext uri="{FF2B5EF4-FFF2-40B4-BE49-F238E27FC236}">
                <a16:creationId xmlns:a16="http://schemas.microsoft.com/office/drawing/2014/main" id="{67F2BF69-2315-D6B0-11D3-8C73D5EF1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Google Shape;471;g36e91fd57_0299:notes">
            <a:extLst>
              <a:ext uri="{FF2B5EF4-FFF2-40B4-BE49-F238E27FC236}">
                <a16:creationId xmlns:a16="http://schemas.microsoft.com/office/drawing/2014/main" id="{58488EA4-BB92-C7D0-EE14-5AA8F9F4027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95234" name="Google Shape;472;g36e91fd57_0299:notes">
            <a:extLst>
              <a:ext uri="{FF2B5EF4-FFF2-40B4-BE49-F238E27FC236}">
                <a16:creationId xmlns:a16="http://schemas.microsoft.com/office/drawing/2014/main" id="{E08021C6-D0B5-11DA-152A-A3500A85C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Google Shape;478;g36e91fd57_0128:notes">
            <a:extLst>
              <a:ext uri="{FF2B5EF4-FFF2-40B4-BE49-F238E27FC236}">
                <a16:creationId xmlns:a16="http://schemas.microsoft.com/office/drawing/2014/main" id="{52288150-2E0D-F0C2-E327-2703110F8E4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97282" name="Google Shape;479;g36e91fd57_0128:notes">
            <a:extLst>
              <a:ext uri="{FF2B5EF4-FFF2-40B4-BE49-F238E27FC236}">
                <a16:creationId xmlns:a16="http://schemas.microsoft.com/office/drawing/2014/main" id="{1A201834-0B9B-3F35-3784-D65BB0CEB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 sz="11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Google Shape;483;g36e91fd57_0589:notes">
            <a:extLst>
              <a:ext uri="{FF2B5EF4-FFF2-40B4-BE49-F238E27FC236}">
                <a16:creationId xmlns:a16="http://schemas.microsoft.com/office/drawing/2014/main" id="{E5CD8D55-3A74-88A5-66BD-6D36A5E0FED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99330" name="Google Shape;484;g36e91fd57_0589:notes">
            <a:extLst>
              <a:ext uri="{FF2B5EF4-FFF2-40B4-BE49-F238E27FC236}">
                <a16:creationId xmlns:a16="http://schemas.microsoft.com/office/drawing/2014/main" id="{497419CC-02B0-D9FB-0035-D787FB3C7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Google Shape;489;g36e91fd57_0484:notes">
            <a:extLst>
              <a:ext uri="{FF2B5EF4-FFF2-40B4-BE49-F238E27FC236}">
                <a16:creationId xmlns:a16="http://schemas.microsoft.com/office/drawing/2014/main" id="{2FD6016C-7958-50C9-6B55-DCBFB3C0429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01378" name="Google Shape;490;g36e91fd57_0484:notes">
            <a:extLst>
              <a:ext uri="{FF2B5EF4-FFF2-40B4-BE49-F238E27FC236}">
                <a16:creationId xmlns:a16="http://schemas.microsoft.com/office/drawing/2014/main" id="{CCE1E659-7C30-699B-75FD-C2D735662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No geographic topology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Seed nodes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No formal way of leaving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Google Shape;522;g36e91fd57_0658:notes">
            <a:extLst>
              <a:ext uri="{FF2B5EF4-FFF2-40B4-BE49-F238E27FC236}">
                <a16:creationId xmlns:a16="http://schemas.microsoft.com/office/drawing/2014/main" id="{44B086BB-0B16-4C1D-7C96-304B13A790F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03426" name="Google Shape;523;g36e91fd57_0658:notes">
            <a:extLst>
              <a:ext uri="{FF2B5EF4-FFF2-40B4-BE49-F238E27FC236}">
                <a16:creationId xmlns:a16="http://schemas.microsoft.com/office/drawing/2014/main" id="{C2C4E4EB-718D-5914-1ADD-BC6C7D4DE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Transactions are propagated in the 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pending transaction pool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Google Shape;558;g36e91fd57_0713:notes">
            <a:extLst>
              <a:ext uri="{FF2B5EF4-FFF2-40B4-BE49-F238E27FC236}">
                <a16:creationId xmlns:a16="http://schemas.microsoft.com/office/drawing/2014/main" id="{AE0B5E34-1E7B-8D9B-8DF8-76AD37E9873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05474" name="Google Shape;559;g36e91fd57_0713:notes">
            <a:extLst>
              <a:ext uri="{FF2B5EF4-FFF2-40B4-BE49-F238E27FC236}">
                <a16:creationId xmlns:a16="http://schemas.microsoft.com/office/drawing/2014/main" id="{045846BB-C1AC-9F03-B100-5ADCD7A3C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Google Shape;568;g36e91fd57_0766:notes">
            <a:extLst>
              <a:ext uri="{FF2B5EF4-FFF2-40B4-BE49-F238E27FC236}">
                <a16:creationId xmlns:a16="http://schemas.microsoft.com/office/drawing/2014/main" id="{EDF2D168-8E4D-D744-7B64-B69386BDC9A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07522" name="Google Shape;569;g36e91fd57_0766:notes">
            <a:extLst>
              <a:ext uri="{FF2B5EF4-FFF2-40B4-BE49-F238E27FC236}">
                <a16:creationId xmlns:a16="http://schemas.microsoft.com/office/drawing/2014/main" id="{494D1F0C-D10B-C739-6586-6361E26DF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Google Shape;606;g36e91fd57_01009:notes">
            <a:extLst>
              <a:ext uri="{FF2B5EF4-FFF2-40B4-BE49-F238E27FC236}">
                <a16:creationId xmlns:a16="http://schemas.microsoft.com/office/drawing/2014/main" id="{F288A9C1-5A9D-1FEA-2534-C57652A04FE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09570" name="Google Shape;607;g36e91fd57_01009:notes">
            <a:extLst>
              <a:ext uri="{FF2B5EF4-FFF2-40B4-BE49-F238E27FC236}">
                <a16:creationId xmlns:a16="http://schemas.microsoft.com/office/drawing/2014/main" id="{7F470BE5-5A1B-E30E-BAA9-81AE70534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Google Shape;613;g36e91fd57_0756:notes">
            <a:extLst>
              <a:ext uri="{FF2B5EF4-FFF2-40B4-BE49-F238E27FC236}">
                <a16:creationId xmlns:a16="http://schemas.microsoft.com/office/drawing/2014/main" id="{6C413D6F-8E5B-40CC-232A-E3E7328F215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11618" name="Google Shape;614;g36e91fd57_0756:notes">
            <a:extLst>
              <a:ext uri="{FF2B5EF4-FFF2-40B4-BE49-F238E27FC236}">
                <a16:creationId xmlns:a16="http://schemas.microsoft.com/office/drawing/2014/main" id="{F16A275E-EEFA-7B9D-F018-856CFB7C9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Google Shape;627;g36e91fd57_0648:notes">
            <a:extLst>
              <a:ext uri="{FF2B5EF4-FFF2-40B4-BE49-F238E27FC236}">
                <a16:creationId xmlns:a16="http://schemas.microsoft.com/office/drawing/2014/main" id="{4BC77B1B-0F0A-C5B9-5ABA-E85058BEE8A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13666" name="Google Shape;628;g36e91fd57_0648:notes">
            <a:extLst>
              <a:ext uri="{FF2B5EF4-FFF2-40B4-BE49-F238E27FC236}">
                <a16:creationId xmlns:a16="http://schemas.microsoft.com/office/drawing/2014/main" id="{952D9B2B-481A-F0B8-B149-FC26D9751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Google Shape;633;g36e91fd57_0643:notes">
            <a:extLst>
              <a:ext uri="{FF2B5EF4-FFF2-40B4-BE49-F238E27FC236}">
                <a16:creationId xmlns:a16="http://schemas.microsoft.com/office/drawing/2014/main" id="{6D4A6D7F-2E0D-B03E-468A-50AD853CEF8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15714" name="Google Shape;634;g36e91fd57_0643:notes">
            <a:extLst>
              <a:ext uri="{FF2B5EF4-FFF2-40B4-BE49-F238E27FC236}">
                <a16:creationId xmlns:a16="http://schemas.microsoft.com/office/drawing/2014/main" id="{C5721D2D-E066-D21D-94EC-BEEC93BF4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Google Shape;639;g36e91fd57_01019:notes">
            <a:extLst>
              <a:ext uri="{FF2B5EF4-FFF2-40B4-BE49-F238E27FC236}">
                <a16:creationId xmlns:a16="http://schemas.microsoft.com/office/drawing/2014/main" id="{47D1D946-70BF-6EF2-2D10-54A6775B18D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17762" name="Google Shape;640;g36e91fd57_01019:notes">
            <a:extLst>
              <a:ext uri="{FF2B5EF4-FFF2-40B4-BE49-F238E27FC236}">
                <a16:creationId xmlns:a16="http://schemas.microsoft.com/office/drawing/2014/main" id="{9A6441B8-A47A-DC44-4AE0-3CB0D27A1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Google Shape;653;g36e91fd57_0522:notes">
            <a:extLst>
              <a:ext uri="{FF2B5EF4-FFF2-40B4-BE49-F238E27FC236}">
                <a16:creationId xmlns:a16="http://schemas.microsoft.com/office/drawing/2014/main" id="{94E05960-98C6-AA91-58C5-C427996E5D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19810" name="Google Shape;654;g36e91fd57_0522:notes">
            <a:extLst>
              <a:ext uri="{FF2B5EF4-FFF2-40B4-BE49-F238E27FC236}">
                <a16:creationId xmlns:a16="http://schemas.microsoft.com/office/drawing/2014/main" id="{EB744649-A3AC-A612-C5B4-6EA99C6A3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Also called 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lightweight nodes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Google Shape;665;g36e91fd57_0136:notes">
            <a:extLst>
              <a:ext uri="{FF2B5EF4-FFF2-40B4-BE49-F238E27FC236}">
                <a16:creationId xmlns:a16="http://schemas.microsoft.com/office/drawing/2014/main" id="{97E009EA-0E3D-8855-C3C7-F73B187D702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121858" name="Google Shape;666;g36e91fd57_0136:notes">
            <a:extLst>
              <a:ext uri="{FF2B5EF4-FFF2-40B4-BE49-F238E27FC236}">
                <a16:creationId xmlns:a16="http://schemas.microsoft.com/office/drawing/2014/main" id="{91EFD51A-32DE-550B-C873-06E709E65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 sz="11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Google Shape;670;g36ed44a44_254:notes">
            <a:extLst>
              <a:ext uri="{FF2B5EF4-FFF2-40B4-BE49-F238E27FC236}">
                <a16:creationId xmlns:a16="http://schemas.microsoft.com/office/drawing/2014/main" id="{CABA08AF-F205-EB60-8FA7-25873B26EB5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23906" name="Google Shape;671;g36ed44a44_254:notes">
            <a:extLst>
              <a:ext uri="{FF2B5EF4-FFF2-40B4-BE49-F238E27FC236}">
                <a16:creationId xmlns:a16="http://schemas.microsoft.com/office/drawing/2014/main" id="{A45CDC56-4433-284F-0230-B5777C2AD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Google Shape;678;g36ed44a44_261:notes">
            <a:extLst>
              <a:ext uri="{FF2B5EF4-FFF2-40B4-BE49-F238E27FC236}">
                <a16:creationId xmlns:a16="http://schemas.microsoft.com/office/drawing/2014/main" id="{3E01FC42-BE11-C5BA-A7BD-DDD84ACC4B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25954" name="Google Shape;679;g36ed44a44_261:notes">
            <a:extLst>
              <a:ext uri="{FF2B5EF4-FFF2-40B4-BE49-F238E27FC236}">
                <a16:creationId xmlns:a16="http://schemas.microsoft.com/office/drawing/2014/main" id="{C0DCB8D0-4BC1-463F-6DAF-B70BAF193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Google Shape;684;g36ed44a44_70:notes">
            <a:extLst>
              <a:ext uri="{FF2B5EF4-FFF2-40B4-BE49-F238E27FC236}">
                <a16:creationId xmlns:a16="http://schemas.microsoft.com/office/drawing/2014/main" id="{6B497F03-01DF-4D05-C5D6-767506174A0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28002" name="Google Shape;685;g36ed44a44_70:notes">
            <a:extLst>
              <a:ext uri="{FF2B5EF4-FFF2-40B4-BE49-F238E27FC236}">
                <a16:creationId xmlns:a16="http://schemas.microsoft.com/office/drawing/2014/main" id="{D6587F3C-60C5-6B4E-CFF4-2AA462CE2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Google Shape;690;g36ed44a44_75:notes">
            <a:extLst>
              <a:ext uri="{FF2B5EF4-FFF2-40B4-BE49-F238E27FC236}">
                <a16:creationId xmlns:a16="http://schemas.microsoft.com/office/drawing/2014/main" id="{C7805D10-10FE-1DD9-8878-FF3D5E2EDA3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30050" name="Google Shape;691;g36ed44a44_75:notes">
            <a:extLst>
              <a:ext uri="{FF2B5EF4-FFF2-40B4-BE49-F238E27FC236}">
                <a16:creationId xmlns:a16="http://schemas.microsoft.com/office/drawing/2014/main" id="{AF3E4D8D-B148-FC44-2300-C9BA990F3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Google Shape;735;g36e91fd57_0526:notes">
            <a:extLst>
              <a:ext uri="{FF2B5EF4-FFF2-40B4-BE49-F238E27FC236}">
                <a16:creationId xmlns:a16="http://schemas.microsoft.com/office/drawing/2014/main" id="{2F39A5E7-9C3C-DD76-CA5D-5CCC5A80507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32098" name="Google Shape;736;g36e91fd57_0526:notes">
            <a:extLst>
              <a:ext uri="{FF2B5EF4-FFF2-40B4-BE49-F238E27FC236}">
                <a16:creationId xmlns:a16="http://schemas.microsoft.com/office/drawing/2014/main" id="{9A01DCFA-98B1-D0AF-FCD7-963480A0B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Google Shape;756;g36e91fd57_0530:notes">
            <a:extLst>
              <a:ext uri="{FF2B5EF4-FFF2-40B4-BE49-F238E27FC236}">
                <a16:creationId xmlns:a16="http://schemas.microsoft.com/office/drawing/2014/main" id="{8F0F5F1A-7E47-A15A-39E9-50003F02873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174193200 w 120000"/>
              <a:gd name="T3" fmla="*/ 0 h 120000"/>
              <a:gd name="T4" fmla="*/ 1741932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134146" name="Google Shape;757;g36e91fd57_0530:notes">
            <a:extLst>
              <a:ext uri="{FF2B5EF4-FFF2-40B4-BE49-F238E27FC236}">
                <a16:creationId xmlns:a16="http://schemas.microsoft.com/office/drawing/2014/main" id="{905D536D-4E87-FD8F-6A32-2EFDAB851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34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971B55-D765-8AE4-EBD9-60DE5A2BAA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858F4E-061E-7B32-6014-6CACC8CA9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1B1208-F55C-B00B-0898-210B3821BC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02B93-1387-4733-8CF6-DE1FAF62C4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67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270F54-AA1A-7F9F-9747-B3238D7200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BAAE72-0755-A957-5A47-C3D8A31FF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4F54DB-5577-76B9-1983-6783D96E92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73845B-4CA5-45CA-AEDD-9CEBCF48EC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63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8DB0A6-0F7B-3215-FA7F-C9ED377AF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5A30E1-1281-A09D-FBE9-A3C0461EA0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6304B8-056A-508F-4893-5D6800CF74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29A723-EE96-48C2-8F4B-0EA8C6BD32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13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A4C5C-6A08-884D-2328-951A6C4FDA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7E03E-C491-3E8B-97D6-95A9D1AFF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014C4F-E308-8DAC-A398-C099E92BC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34496-FA2E-4FA1-9A37-A75E1A5025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4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F4C730-516B-B53B-AB91-C511F9ECB3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72B9FDD-6A20-F379-FFC2-8356A2221D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D6C7541-4767-3B41-DF65-B547150AFF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C3721-401C-4405-9BCA-A75F2C9E0E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31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454251-E594-F33C-280B-1882F21A8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60131C8-BC09-3897-EE3A-6BADF3AFE9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EB91EA-0D9E-53DC-D5C7-6A5F2571DD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214364-1D09-4371-911A-B98A3819B0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09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D655990-EED5-7E01-9B0C-937F4BBA95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BB6CA8-73B9-5136-CCDE-0DBA015F3E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2E4EF1-81E5-B28C-E970-91F821595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52A205-AEBA-4DCF-9D9A-33F200B9E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21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1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14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56ACD-6BF0-C0F3-41CC-B2025C2177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B9663A-BD58-3D54-543D-379E45EA83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22A23-0B5B-8736-54CD-98833A9E0F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586E6-777C-4BC0-93BF-D73B5EFBC7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46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2C6DC-CF9C-10D4-8288-035220A88D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3A8D0-9E4F-B5BC-874F-F9FCC3EA9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BE2787-50F6-72E6-7953-D4AB29C73F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DDBA2A-F910-4812-821C-B573C6A3F0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7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4D6FFE-C332-2B45-DC43-AAF49A91C5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1AA373-8C3C-96A0-6C72-6CB545D79E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4AA3A8-A8A5-63D7-2053-F3251A5F6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6F0AB8-C06E-4D7E-A07E-2B2200067F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93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1"/>
            <a:ext cx="2114550" cy="559276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1"/>
            <a:ext cx="6191250" cy="559276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711649-DFD9-BC11-1172-877E9188E2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8FC53A-A7C5-B79C-CFDA-64FD69232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7AB6FF-E0EE-9AE7-7A5F-76611781A2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3CF33-0F2E-4345-BFF4-EEDE8539E9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45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spcFirstLastPara="1" lIns="91425" tIns="91425" rIns="91425" bIns="91425" anchor="b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600210"/>
            <a:ext cx="8229600" cy="4967575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9362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2111125"/>
            <a:ext cx="7772400" cy="1546475"/>
          </a:xfrm>
          <a:prstGeom prst="rect">
            <a:avLst/>
          </a:prstGeom>
        </p:spPr>
        <p:txBody>
          <a:bodyPr spcFirstLastPara="1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85800" y="3786740"/>
            <a:ext cx="7772400" cy="1046317"/>
          </a:xfrm>
          <a:prstGeom prst="rect">
            <a:avLst/>
          </a:prstGeom>
        </p:spPr>
        <p:txBody>
          <a:bodyPr spcFirstLastPara="1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2859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spcFirstLastPara="1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600210"/>
            <a:ext cx="8229600" cy="4967575"/>
          </a:xfrm>
          <a:prstGeom prst="rect">
            <a:avLst/>
          </a:prstGeom>
        </p:spPr>
        <p:txBody>
          <a:bodyPr spcFirstLastPara="1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1164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spcFirstLastPara="1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600210"/>
            <a:ext cx="3994526" cy="4967575"/>
          </a:xfrm>
          <a:prstGeom prst="rect">
            <a:avLst/>
          </a:prstGeom>
        </p:spPr>
        <p:txBody>
          <a:bodyPr spcFirstLastPara="1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4692274" y="1600210"/>
            <a:ext cx="3994526" cy="4967575"/>
          </a:xfrm>
          <a:prstGeom prst="rect">
            <a:avLst/>
          </a:prstGeom>
        </p:spPr>
        <p:txBody>
          <a:bodyPr spcFirstLastPara="1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5036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spcFirstLastPara="1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284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5875080"/>
            <a:ext cx="8229600" cy="692693"/>
          </a:xfrm>
          <a:prstGeom prst="rect">
            <a:avLst/>
          </a:prstGeom>
        </p:spPr>
        <p:txBody>
          <a:bodyPr spcFirstLastPara="1"/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0962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35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4E7486-CF8E-ACBA-E533-4B6E5407A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49D210-4DFC-8BD7-A2D0-5B2294DE1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9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D8EA7B2-6053-2ECD-9979-A4F4E6B814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1CD5BE8F-3962-652C-F5D5-1C8DF047D1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D60F420-7BCB-3339-E0A8-16CEBF29B2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E24B1A3-FC1E-4D84-8783-75FCACAE3CC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183C3FB8-880C-E394-F212-CEE7E84A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  <a:ea typeface="ＭＳ Ｐゴシック" charset="0"/>
              </a:rPr>
              <a:t>Lecture 08 - Mechanics of Bitcoin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7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6;p1">
            <a:extLst>
              <a:ext uri="{FF2B5EF4-FFF2-40B4-BE49-F238E27FC236}">
                <a16:creationId xmlns:a16="http://schemas.microsoft.com/office/drawing/2014/main" id="{3EC426BB-347F-10B9-B093-A6168569FB6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/>
          <a:p>
            <a:pPr lvl="0"/>
            <a:endParaRPr lang="fr-FR" altLang="en-US">
              <a:sym typeface="Arial" panose="020B0604020202020204" pitchFamily="34" charset="0"/>
            </a:endParaRPr>
          </a:p>
        </p:txBody>
      </p:sp>
      <p:sp>
        <p:nvSpPr>
          <p:cNvPr id="13315" name="Google Shape;7;p1">
            <a:extLst>
              <a:ext uri="{FF2B5EF4-FFF2-40B4-BE49-F238E27FC236}">
                <a16:creationId xmlns:a16="http://schemas.microsoft.com/office/drawing/2014/main" id="{CA6D9E8E-1222-5FAE-D61D-EF1180D7E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en-US">
              <a:sym typeface="Arial" panose="020B0604020202020204" pitchFamily="34" charset="0"/>
            </a:endParaRPr>
          </a:p>
        </p:txBody>
      </p:sp>
      <p:sp>
        <p:nvSpPr>
          <p:cNvPr id="13316" name="Google Shape;8;p1">
            <a:extLst>
              <a:ext uri="{FF2B5EF4-FFF2-40B4-BE49-F238E27FC236}">
                <a16:creationId xmlns:a16="http://schemas.microsoft.com/office/drawing/2014/main" id="{1CB69F79-E0D2-18EF-3F36-8244F063B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-3175"/>
            <a:ext cx="9525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fr-FR" altLang="en-US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317" name="Google Shape;9;p1">
            <a:extLst>
              <a:ext uri="{FF2B5EF4-FFF2-40B4-BE49-F238E27FC236}">
                <a16:creationId xmlns:a16="http://schemas.microsoft.com/office/drawing/2014/main" id="{9D5C913A-28E0-9A14-2A3E-CABD1955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9700" y="0"/>
            <a:ext cx="9525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fr-FR" altLang="en-US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ＭＳ Ｐゴシック" charset="0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16C7C91-AC21-8E6B-81BA-46FCD14461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905000"/>
            <a:ext cx="8458200" cy="3124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rgbClr val="0000FF"/>
                </a:solidFill>
                <a:cs typeface="+mj-cs"/>
              </a:rPr>
              <a:t>Lecture 08 </a:t>
            </a:r>
            <a:br>
              <a:rPr lang="en-US" dirty="0">
                <a:solidFill>
                  <a:srgbClr val="0000FF"/>
                </a:solidFill>
                <a:cs typeface="+mj-cs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Mechanics of Bitcoin</a:t>
            </a:r>
            <a:endParaRPr lang="en-US" dirty="0">
              <a:solidFill>
                <a:srgbClr val="0000FF"/>
              </a:solidFill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00FA5-4E2B-27EB-01F6-B65BE66D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Google Shape;35;p9">
            <a:extLst>
              <a:ext uri="{FF2B5EF4-FFF2-40B4-BE49-F238E27FC236}">
                <a16:creationId xmlns:a16="http://schemas.microsoft.com/office/drawing/2014/main" id="{326FF0FC-8DE5-8F29-E35E-DCD6B7866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Recap: </a:t>
            </a:r>
            <a:r>
              <a:rPr lang="fr-FR" altLang="en-US" b="0"/>
              <a:t>Bitcoin consensus</a:t>
            </a:r>
            <a:endParaRPr lang="fr-FR" altLang="en-US" b="0">
              <a:sym typeface="Trebuchet MS" panose="020B0603020202020204" pitchFamily="34" charset="0"/>
            </a:endParaRPr>
          </a:p>
        </p:txBody>
      </p:sp>
      <p:sp>
        <p:nvSpPr>
          <p:cNvPr id="18434" name="Google Shape;36;p9">
            <a:extLst>
              <a:ext uri="{FF2B5EF4-FFF2-40B4-BE49-F238E27FC236}">
                <a16:creationId xmlns:a16="http://schemas.microsoft.com/office/drawing/2014/main" id="{8CA9436B-9955-C0C2-D93A-8AA5E8059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fr-FR" altLang="en-US"/>
              <a:t>Bitcoin consensus gives us:</a:t>
            </a:r>
          </a:p>
          <a:p>
            <a:pPr marL="0" indent="0">
              <a:buFontTx/>
              <a:buNone/>
            </a:pPr>
            <a:endParaRPr lang="fr-FR" altLang="en-US"/>
          </a:p>
          <a:p>
            <a:pPr marL="0" indent="0"/>
            <a:r>
              <a:rPr lang="fr-FR" altLang="en-US"/>
              <a:t>Append-only ledger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Decentralized consensus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Miners to validate transactions</a:t>
            </a:r>
            <a:endParaRPr lang="fr-FR" altLang="en-US" i="1"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220712B9-E837-3E74-7ADB-A7F2034E1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73525"/>
            <a:ext cx="8450263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fr-FR" altLang="en-US" sz="3000" i="1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assuming a currency exists to motivate miners!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9D17C-EC5C-7D2B-0D5F-A7828A7A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Google Shape;47;p11">
            <a:extLst>
              <a:ext uri="{FF2B5EF4-FFF2-40B4-BE49-F238E27FC236}">
                <a16:creationId xmlns:a16="http://schemas.microsoft.com/office/drawing/2014/main" id="{BDE3D309-66EF-8A9C-D1CD-FC11C9D64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3947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An account-based ledger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20482" name="Google Shape;48;p11">
            <a:extLst>
              <a:ext uri="{FF2B5EF4-FFF2-40B4-BE49-F238E27FC236}">
                <a16:creationId xmlns:a16="http://schemas.microsoft.com/office/drawing/2014/main" id="{2C24B6E6-B937-AEE0-E656-51EB72C03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660525"/>
            <a:ext cx="5616575" cy="579438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Create 25 coins and credit to Alice</a:t>
            </a:r>
            <a:r>
              <a:rPr lang="fr-FR" altLang="en-US" sz="1800" baseline="-25000">
                <a:latin typeface="Trebuchet MS" panose="020B0603020202020204" pitchFamily="34" charset="0"/>
                <a:sym typeface="Trebuchet MS" panose="020B0603020202020204" pitchFamily="34" charset="0"/>
              </a:rPr>
              <a:t>ASSERTED BY MINERS</a:t>
            </a:r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2A33346B-2A20-0DA4-50D3-04E3A1ED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239963"/>
            <a:ext cx="5616575" cy="579437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17 coins from Alice to Bob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237292B-C787-A40B-D131-AB3FBA7FE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819400"/>
            <a:ext cx="5616575" cy="579438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8 coins from Bob to Carol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SIGNED(Bob)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1" name="Google Shape;51;p11">
            <a:extLst>
              <a:ext uri="{FF2B5EF4-FFF2-40B4-BE49-F238E27FC236}">
                <a16:creationId xmlns:a16="http://schemas.microsoft.com/office/drawing/2014/main" id="{EC1A273B-1F74-5EC4-303D-41A926D1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398838"/>
            <a:ext cx="5616575" cy="579437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5 coins from Carol to Alice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SIGNED(Carol)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20486" name="Google Shape;52;p11">
            <a:extLst>
              <a:ext uri="{FF2B5EF4-FFF2-40B4-BE49-F238E27FC236}">
                <a16:creationId xmlns:a16="http://schemas.microsoft.com/office/drawing/2014/main" id="{8F9D3E6C-BC75-EDD1-5A58-26E02085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181600"/>
            <a:ext cx="4845050" cy="703263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600">
                <a:latin typeface="Trebuchet MS" panose="020B0603020202020204" pitchFamily="34" charset="0"/>
                <a:sym typeface="Trebuchet MS" panose="020B0603020202020204" pitchFamily="34" charset="0"/>
              </a:rPr>
              <a:t>SIMPLIFICATION: only one transaction per block</a:t>
            </a:r>
          </a:p>
        </p:txBody>
      </p:sp>
      <p:cxnSp>
        <p:nvCxnSpPr>
          <p:cNvPr id="20487" name="Google Shape;53;p11">
            <a:extLst>
              <a:ext uri="{FF2B5EF4-FFF2-40B4-BE49-F238E27FC236}">
                <a16:creationId xmlns:a16="http://schemas.microsoft.com/office/drawing/2014/main" id="{AEF5FD50-560E-8859-4643-FCE466C712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3" y="1800225"/>
            <a:ext cx="0" cy="35210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8" name="Google Shape;54;p11">
            <a:extLst>
              <a:ext uri="{FF2B5EF4-FFF2-40B4-BE49-F238E27FC236}">
                <a16:creationId xmlns:a16="http://schemas.microsoft.com/office/drawing/2014/main" id="{D054924A-0B69-80DB-6A71-DBF79BAB5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336675"/>
            <a:ext cx="5984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time</a:t>
            </a:r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716B704-4008-688C-84C3-3FA630C9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978275"/>
            <a:ext cx="5616575" cy="579438"/>
          </a:xfrm>
          <a:prstGeom prst="rect">
            <a:avLst/>
          </a:prstGeom>
          <a:solidFill>
            <a:srgbClr val="F6B26B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15 coins from Alice to David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re 1">
            <a:extLst>
              <a:ext uri="{FF2B5EF4-FFF2-40B4-BE49-F238E27FC236}">
                <a16:creationId xmlns:a16="http://schemas.microsoft.com/office/drawing/2014/main" id="{125CAD9B-8A76-09DA-B654-A9638F582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An account-based ledger</a:t>
            </a:r>
          </a:p>
        </p:txBody>
      </p:sp>
      <p:sp>
        <p:nvSpPr>
          <p:cNvPr id="22530" name="Espace réservé du texte 2">
            <a:extLst>
              <a:ext uri="{FF2B5EF4-FFF2-40B4-BE49-F238E27FC236}">
                <a16:creationId xmlns:a16="http://schemas.microsoft.com/office/drawing/2014/main" id="{950358AB-B083-BE36-7297-508F68712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The downside to this way of doing things is that anyone who wants to determine if a transaction is valid will have to keep track of these account balances. </a:t>
            </a:r>
          </a:p>
          <a:p>
            <a:endParaRPr lang="fr-FR" altLang="en-US" sz="2800"/>
          </a:p>
          <a:p>
            <a:endParaRPr lang="fr-FR" altLang="en-US" sz="2800"/>
          </a:p>
          <a:p>
            <a:endParaRPr lang="fr-FR" altLang="en-US" sz="2800"/>
          </a:p>
          <a:p>
            <a:endParaRPr lang="fr-FR" altLang="en-US"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7D4F0-CF7F-F3E2-ED43-47BC739E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Google Shape;47;p11">
            <a:extLst>
              <a:ext uri="{FF2B5EF4-FFF2-40B4-BE49-F238E27FC236}">
                <a16:creationId xmlns:a16="http://schemas.microsoft.com/office/drawing/2014/main" id="{9DEE4BAA-1DD0-6715-3DBD-C497F7891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3947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An account-based ledger (</a:t>
            </a:r>
            <a:r>
              <a:rPr lang="fr-FR" altLang="en-US" i="1"/>
              <a:t>not</a:t>
            </a:r>
            <a:r>
              <a:rPr lang="fr-FR" altLang="en-US"/>
              <a:t> Bitcoin)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23554" name="Google Shape;48;p11">
            <a:extLst>
              <a:ext uri="{FF2B5EF4-FFF2-40B4-BE49-F238E27FC236}">
                <a16:creationId xmlns:a16="http://schemas.microsoft.com/office/drawing/2014/main" id="{59455EBE-06A2-70B4-E7AB-33C37F5B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660525"/>
            <a:ext cx="5616575" cy="579438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Create 25 coins and credit to Alice</a:t>
            </a:r>
            <a:r>
              <a:rPr lang="fr-FR" altLang="en-US" sz="1800" baseline="-25000">
                <a:latin typeface="Trebuchet MS" panose="020B0603020202020204" pitchFamily="34" charset="0"/>
                <a:sym typeface="Trebuchet MS" panose="020B0603020202020204" pitchFamily="34" charset="0"/>
              </a:rPr>
              <a:t>ASSERTED BY MINERS</a:t>
            </a:r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4417E622-663D-0CDA-CD15-995D15A1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239963"/>
            <a:ext cx="5616575" cy="579437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17 coins from Alice to Bob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779530DD-8334-C694-8F17-470B50C4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819400"/>
            <a:ext cx="5616575" cy="579438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8 coins from Bob to Carol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SIGNED(Bob)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1" name="Google Shape;51;p11">
            <a:extLst>
              <a:ext uri="{FF2B5EF4-FFF2-40B4-BE49-F238E27FC236}">
                <a16:creationId xmlns:a16="http://schemas.microsoft.com/office/drawing/2014/main" id="{9FCDA0B1-4DD7-B833-5BF4-9A2C5A24B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398838"/>
            <a:ext cx="5616575" cy="579437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5 coins from Carol to Alice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SIGNED(Carol)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23558" name="Google Shape;52;p11">
            <a:extLst>
              <a:ext uri="{FF2B5EF4-FFF2-40B4-BE49-F238E27FC236}">
                <a16:creationId xmlns:a16="http://schemas.microsoft.com/office/drawing/2014/main" id="{D587B3A7-0DDD-732B-8CB3-89619708C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986463"/>
            <a:ext cx="5186363" cy="703262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600">
                <a:latin typeface="Trebuchet MS" panose="020B0603020202020204" pitchFamily="34" charset="0"/>
                <a:sym typeface="Trebuchet MS" panose="020B0603020202020204" pitchFamily="34" charset="0"/>
              </a:rPr>
              <a:t>SIMPLIFICATION: only one transaction per block</a:t>
            </a:r>
          </a:p>
        </p:txBody>
      </p:sp>
      <p:cxnSp>
        <p:nvCxnSpPr>
          <p:cNvPr id="23559" name="Google Shape;53;p11">
            <a:extLst>
              <a:ext uri="{FF2B5EF4-FFF2-40B4-BE49-F238E27FC236}">
                <a16:creationId xmlns:a16="http://schemas.microsoft.com/office/drawing/2014/main" id="{6B7A0F8A-B653-AD95-4917-642CA8E802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3" y="1800225"/>
            <a:ext cx="0" cy="35210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0" name="Google Shape;54;p11">
            <a:extLst>
              <a:ext uri="{FF2B5EF4-FFF2-40B4-BE49-F238E27FC236}">
                <a16:creationId xmlns:a16="http://schemas.microsoft.com/office/drawing/2014/main" id="{5F72182C-F740-B310-2007-4314F6E58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" y="1336675"/>
            <a:ext cx="7000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time</a:t>
            </a:r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B9538AFC-CA40-D06A-C04E-3E44E7C20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978275"/>
            <a:ext cx="5616575" cy="579438"/>
          </a:xfrm>
          <a:prstGeom prst="rect">
            <a:avLst/>
          </a:prstGeom>
          <a:solidFill>
            <a:srgbClr val="F6B26B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Transfer 15 coins from Alice to David</a:t>
            </a:r>
            <a:r>
              <a:rPr lang="fr-FR" altLang="en-US" sz="1800" baseline="-25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cxnSp>
        <p:nvCxnSpPr>
          <p:cNvPr id="56" name="Google Shape;56;p11">
            <a:extLst>
              <a:ext uri="{FF2B5EF4-FFF2-40B4-BE49-F238E27FC236}">
                <a16:creationId xmlns:a16="http://schemas.microsoft.com/office/drawing/2014/main" id="{70C97AC5-E823-3BD7-27DF-507148040BF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019925" y="1128713"/>
            <a:ext cx="19050" cy="2452687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360551D8-D5AA-63C9-0A80-2947422B6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675" y="1466850"/>
            <a:ext cx="15525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might need to scan backwards until genesis!</a:t>
            </a:r>
          </a:p>
        </p:txBody>
      </p:sp>
      <p:sp>
        <p:nvSpPr>
          <p:cNvPr id="58" name="Google Shape;58;p11">
            <a:extLst>
              <a:ext uri="{FF2B5EF4-FFF2-40B4-BE49-F238E27FC236}">
                <a16:creationId xmlns:a16="http://schemas.microsoft.com/office/drawing/2014/main" id="{AB27D9B9-1482-5191-2FA1-08FA19110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3656013"/>
            <a:ext cx="2055812" cy="1006475"/>
          </a:xfrm>
          <a:prstGeom prst="cloudCallout">
            <a:avLst>
              <a:gd name="adj1" fmla="val -68995"/>
              <a:gd name="adj2" fmla="val 20028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is this valid?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re 1">
            <a:extLst>
              <a:ext uri="{FF2B5EF4-FFF2-40B4-BE49-F238E27FC236}">
                <a16:creationId xmlns:a16="http://schemas.microsoft.com/office/drawing/2014/main" id="{E118B856-8D37-1205-CADA-452B4DE6F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The bitcoin ledger</a:t>
            </a:r>
          </a:p>
        </p:txBody>
      </p:sp>
      <p:sp>
        <p:nvSpPr>
          <p:cNvPr id="25602" name="Espace réservé du texte 2">
            <a:extLst>
              <a:ext uri="{FF2B5EF4-FFF2-40B4-BE49-F238E27FC236}">
                <a16:creationId xmlns:a16="http://schemas.microsoft.com/office/drawing/2014/main" id="{C0EE9F21-FB31-82D8-D35B-2C4489372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Bitcoin uses a ledger that just keeps track of transactions </a:t>
            </a:r>
          </a:p>
          <a:p>
            <a:r>
              <a:rPr lang="fr-FR" altLang="en-US" sz="2400"/>
              <a:t>Transactions specify a number of inputs and outputs </a:t>
            </a:r>
          </a:p>
          <a:p>
            <a:pPr lvl="1"/>
            <a:r>
              <a:rPr lang="fr-FR" altLang="en-US" sz="2000"/>
              <a:t>Inputs are coins being consumed (created in a previous transaction) </a:t>
            </a:r>
          </a:p>
          <a:p>
            <a:pPr lvl="1"/>
            <a:r>
              <a:rPr lang="fr-FR" altLang="en-US" sz="2000"/>
              <a:t>outputs are coins being created. </a:t>
            </a:r>
          </a:p>
          <a:p>
            <a:pPr lvl="1"/>
            <a:r>
              <a:rPr lang="fr-FR" altLang="en-US" sz="2000"/>
              <a:t>Each transaction has a unique identifier. Outputs are indexed beginning with 0, so we will refer to the first output as </a:t>
            </a:r>
            <a:r>
              <a:rPr lang="fr-FR" altLang="fr-FR" sz="2000"/>
              <a:t>“</a:t>
            </a:r>
            <a:r>
              <a:rPr lang="fr-FR" altLang="en-US" sz="2000"/>
              <a:t>output 0</a:t>
            </a:r>
            <a:r>
              <a:rPr lang="fr-FR" altLang="fr-FR" sz="2000"/>
              <a:t>”</a:t>
            </a:r>
            <a:r>
              <a:rPr lang="fr-FR" altLang="en-US" sz="2000"/>
              <a:t>. </a:t>
            </a:r>
          </a:p>
          <a:p>
            <a:pPr lvl="1"/>
            <a:endParaRPr lang="fr-FR" altLang="en-US" sz="20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  <a:p>
            <a:endParaRPr lang="fr-FR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CC7EE2-927A-9893-8279-F26F678B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Google Shape;63;p12">
            <a:extLst>
              <a:ext uri="{FF2B5EF4-FFF2-40B4-BE49-F238E27FC236}">
                <a16:creationId xmlns:a16="http://schemas.microsoft.com/office/drawing/2014/main" id="{C55F9F2B-A24B-FFED-E863-99DC54CE7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A transaction-based ledger (Bitcoin)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26626" name="Google Shape;64;p12">
            <a:extLst>
              <a:ext uri="{FF2B5EF4-FFF2-40B4-BE49-F238E27FC236}">
                <a16:creationId xmlns:a16="http://schemas.microsoft.com/office/drawing/2014/main" id="{B969953D-BCE6-6983-AC61-56287598D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096963"/>
            <a:ext cx="5616575" cy="11430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	Inputs: Ø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       Outputs: 25.0</a:t>
            </a: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→</a:t>
            </a: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Alice</a:t>
            </a:r>
            <a:endParaRPr lang="fr-FR" altLang="en-US" sz="1800" baseline="-250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65" name="Google Shape;65;p12">
            <a:extLst>
              <a:ext uri="{FF2B5EF4-FFF2-40B4-BE49-F238E27FC236}">
                <a16:creationId xmlns:a16="http://schemas.microsoft.com/office/drawing/2014/main" id="{7D531944-BACD-D21D-137C-D52DCC5E8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239963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1[0]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17.0→Bob, 8.0→Alice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sp>
        <p:nvSpPr>
          <p:cNvPr id="26628" name="Google Shape;66;p12">
            <a:extLst>
              <a:ext uri="{FF2B5EF4-FFF2-40B4-BE49-F238E27FC236}">
                <a16:creationId xmlns:a16="http://schemas.microsoft.com/office/drawing/2014/main" id="{FF90784F-E47E-E69A-0DC9-302C98E16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6084888"/>
            <a:ext cx="4429125" cy="703262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000">
                <a:latin typeface="Trebuchet MS" panose="020B0603020202020204" pitchFamily="34" charset="0"/>
                <a:sym typeface="Trebuchet MS" panose="020B0603020202020204" pitchFamily="34" charset="0"/>
              </a:rPr>
              <a:t>SIMPLIFICATION: only one transaction per block</a:t>
            </a:r>
          </a:p>
        </p:txBody>
      </p:sp>
      <p:cxnSp>
        <p:nvCxnSpPr>
          <p:cNvPr id="26629" name="Google Shape;67;p12">
            <a:extLst>
              <a:ext uri="{FF2B5EF4-FFF2-40B4-BE49-F238E27FC236}">
                <a16:creationId xmlns:a16="http://schemas.microsoft.com/office/drawing/2014/main" id="{4EE7ACDE-F0C0-9F9A-C269-ED043FD496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3" y="1800225"/>
            <a:ext cx="0" cy="35210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0" name="Google Shape;68;p12">
            <a:extLst>
              <a:ext uri="{FF2B5EF4-FFF2-40B4-BE49-F238E27FC236}">
                <a16:creationId xmlns:a16="http://schemas.microsoft.com/office/drawing/2014/main" id="{DB888522-B89C-3F99-62E5-A0217B4DC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336675"/>
            <a:ext cx="5984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time</a:t>
            </a:r>
          </a:p>
        </p:txBody>
      </p:sp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7AE177BE-77F7-2941-CFDE-BDB40F5DF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4741863"/>
            <a:ext cx="2055812" cy="1006475"/>
          </a:xfrm>
          <a:prstGeom prst="cloudCallout">
            <a:avLst>
              <a:gd name="adj1" fmla="val -60657"/>
              <a:gd name="adj2" fmla="val 40917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is this valid?</a:t>
            </a:r>
          </a:p>
        </p:txBody>
      </p:sp>
      <p:sp>
        <p:nvSpPr>
          <p:cNvPr id="70" name="Google Shape;70;p12">
            <a:extLst>
              <a:ext uri="{FF2B5EF4-FFF2-40B4-BE49-F238E27FC236}">
                <a16:creationId xmlns:a16="http://schemas.microsoft.com/office/drawing/2014/main" id="{05D82848-60E4-76F8-4D54-9E9BF4F8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1663" y="3379788"/>
            <a:ext cx="1554162" cy="77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finite scan to check for validity</a:t>
            </a:r>
          </a:p>
        </p:txBody>
      </p:sp>
      <p:sp>
        <p:nvSpPr>
          <p:cNvPr id="71" name="Google Shape;71;p12">
            <a:extLst>
              <a:ext uri="{FF2B5EF4-FFF2-40B4-BE49-F238E27FC236}">
                <a16:creationId xmlns:a16="http://schemas.microsoft.com/office/drawing/2014/main" id="{B2DE668F-FF6C-E43C-5E80-00306D433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490913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 dirty="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2[0]</a:t>
            </a:r>
            <a:endParaRPr lang="fr-FR" altLang="en-US" sz="1800" baseline="-25000" dirty="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 dirty="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8.0→Carol, 9.0→Bob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 dirty="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SIGNED(Bob)</a:t>
            </a:r>
          </a:p>
        </p:txBody>
      </p:sp>
      <p:sp>
        <p:nvSpPr>
          <p:cNvPr id="72" name="Google Shape;72;p12">
            <a:extLst>
              <a:ext uri="{FF2B5EF4-FFF2-40B4-BE49-F238E27FC236}">
                <a16:creationId xmlns:a16="http://schemas.microsoft.com/office/drawing/2014/main" id="{F50151BF-EEBA-C60F-8299-186595A0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4741863"/>
            <a:ext cx="5616575" cy="1244600"/>
          </a:xfrm>
          <a:prstGeom prst="rect">
            <a:avLst/>
          </a:prstGeom>
          <a:solidFill>
            <a:srgbClr val="F6B26B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2[1]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6.0→David, 2.0→Alice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cxnSp>
        <p:nvCxnSpPr>
          <p:cNvPr id="73" name="Google Shape;73;p12">
            <a:extLst>
              <a:ext uri="{FF2B5EF4-FFF2-40B4-BE49-F238E27FC236}">
                <a16:creationId xmlns:a16="http://schemas.microsoft.com/office/drawing/2014/main" id="{9152C85B-EA4F-4731-108E-8B81D610716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455863" y="3114675"/>
            <a:ext cx="1573212" cy="1668463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Google Shape;74;p12">
            <a:extLst>
              <a:ext uri="{FF2B5EF4-FFF2-40B4-BE49-F238E27FC236}">
                <a16:creationId xmlns:a16="http://schemas.microsoft.com/office/drawing/2014/main" id="{530E5A66-4B90-9846-3395-FDA5918E067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781800" y="2797175"/>
            <a:ext cx="0" cy="197485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Google Shape;75;p12">
            <a:extLst>
              <a:ext uri="{FF2B5EF4-FFF2-40B4-BE49-F238E27FC236}">
                <a16:creationId xmlns:a16="http://schemas.microsoft.com/office/drawing/2014/main" id="{0F631E83-2EE6-CD62-6DD2-E95F38C08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163" y="1487488"/>
            <a:ext cx="2319337" cy="868362"/>
          </a:xfrm>
          <a:prstGeom prst="rect">
            <a:avLst/>
          </a:prstGeom>
          <a:solidFill>
            <a:srgbClr val="6AA84F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we implement this with hash pointers</a:t>
            </a:r>
          </a:p>
        </p:txBody>
      </p:sp>
      <p:cxnSp>
        <p:nvCxnSpPr>
          <p:cNvPr id="76" name="Google Shape;76;p12">
            <a:extLst>
              <a:ext uri="{FF2B5EF4-FFF2-40B4-BE49-F238E27FC236}">
                <a16:creationId xmlns:a16="http://schemas.microsoft.com/office/drawing/2014/main" id="{0109EB35-488E-7B05-F9C4-53F0CBC3E19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497138" y="3076575"/>
            <a:ext cx="433387" cy="55403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Google Shape;77;p12">
            <a:extLst>
              <a:ext uri="{FF2B5EF4-FFF2-40B4-BE49-F238E27FC236}">
                <a16:creationId xmlns:a16="http://schemas.microsoft.com/office/drawing/2014/main" id="{D44BB5E6-B803-7913-2925-676DD86B9E5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455863" y="1968500"/>
            <a:ext cx="438150" cy="37623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Google Shape;78;p12">
            <a:extLst>
              <a:ext uri="{FF2B5EF4-FFF2-40B4-BE49-F238E27FC236}">
                <a16:creationId xmlns:a16="http://schemas.microsoft.com/office/drawing/2014/main" id="{A94B490E-E60B-8544-AAE9-7A8D73A4F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993900"/>
            <a:ext cx="2220913" cy="700088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change address</a:t>
            </a:r>
          </a:p>
        </p:txBody>
      </p:sp>
      <p:sp>
        <p:nvSpPr>
          <p:cNvPr id="26641" name="Google Shape;79;p12">
            <a:extLst>
              <a:ext uri="{FF2B5EF4-FFF2-40B4-BE49-F238E27FC236}">
                <a16:creationId xmlns:a16="http://schemas.microsoft.com/office/drawing/2014/main" id="{8DE89BAE-EACB-3369-6B10-B48D60AD2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096963"/>
            <a:ext cx="339725" cy="461962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1</a:t>
            </a:r>
          </a:p>
        </p:txBody>
      </p:sp>
      <p:sp>
        <p:nvSpPr>
          <p:cNvPr id="80" name="Google Shape;80;p12">
            <a:extLst>
              <a:ext uri="{FF2B5EF4-FFF2-40B4-BE49-F238E27FC236}">
                <a16:creationId xmlns:a16="http://schemas.microsoft.com/office/drawing/2014/main" id="{EA15CF38-300F-F504-6E30-97460B132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2239963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2</a:t>
            </a:r>
          </a:p>
        </p:txBody>
      </p:sp>
      <p:sp>
        <p:nvSpPr>
          <p:cNvPr id="81" name="Google Shape;81;p12">
            <a:extLst>
              <a:ext uri="{FF2B5EF4-FFF2-40B4-BE49-F238E27FC236}">
                <a16:creationId xmlns:a16="http://schemas.microsoft.com/office/drawing/2014/main" id="{F62855BC-065E-4DBA-BF1F-702EF543C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490913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3</a:t>
            </a:r>
          </a:p>
        </p:txBody>
      </p:sp>
      <p:sp>
        <p:nvSpPr>
          <p:cNvPr id="82" name="Google Shape;82;p12">
            <a:extLst>
              <a:ext uri="{FF2B5EF4-FFF2-40B4-BE49-F238E27FC236}">
                <a16:creationId xmlns:a16="http://schemas.microsoft.com/office/drawing/2014/main" id="{1049B743-DC47-0C2C-71C4-EA3CFE104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4741863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re 1">
            <a:extLst>
              <a:ext uri="{FF2B5EF4-FFF2-40B4-BE49-F238E27FC236}">
                <a16:creationId xmlns:a16="http://schemas.microsoft.com/office/drawing/2014/main" id="{0B5429B6-B390-384D-F9D2-607C1B2B1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How does it improve verification?</a:t>
            </a:r>
          </a:p>
        </p:txBody>
      </p:sp>
      <p:sp>
        <p:nvSpPr>
          <p:cNvPr id="28674" name="Espace réservé du texte 2">
            <a:extLst>
              <a:ext uri="{FF2B5EF4-FFF2-40B4-BE49-F238E27FC236}">
                <a16:creationId xmlns:a16="http://schemas.microsoft.com/office/drawing/2014/main" id="{A4FC4462-8FB7-B962-A017-C508A136C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We need to look up the transaction output that Alice referenced,</a:t>
            </a:r>
          </a:p>
          <a:p>
            <a:pPr lvl="1"/>
            <a:r>
              <a:rPr lang="fr-FR" altLang="en-US" sz="2400"/>
              <a:t> it has a value of 25 bitcoins and it hasn</a:t>
            </a:r>
            <a:r>
              <a:rPr lang="fr-FR" altLang="fr-FR" sz="2400"/>
              <a:t>’</a:t>
            </a:r>
            <a:r>
              <a:rPr lang="fr-FR" altLang="en-US" sz="2400"/>
              <a:t>t already been spent. </a:t>
            </a:r>
          </a:p>
          <a:p>
            <a:pPr lvl="1"/>
            <a:endParaRPr lang="fr-FR" altLang="en-US" sz="2400"/>
          </a:p>
          <a:p>
            <a:r>
              <a:rPr lang="fr-FR" altLang="en-US" sz="2800"/>
              <a:t>To ensure it hasn</a:t>
            </a:r>
            <a:r>
              <a:rPr lang="fr-FR" altLang="fr-FR" sz="2800"/>
              <a:t>’</a:t>
            </a:r>
            <a:r>
              <a:rPr lang="fr-FR" altLang="en-US" sz="2800"/>
              <a:t>t been spent,</a:t>
            </a:r>
          </a:p>
          <a:p>
            <a:pPr lvl="1"/>
            <a:r>
              <a:rPr lang="fr-FR" altLang="en-US" sz="2400"/>
              <a:t> we need to scan the block chain between the referenced transaction and the latest block. </a:t>
            </a:r>
          </a:p>
          <a:p>
            <a:pPr lvl="1"/>
            <a:r>
              <a:rPr lang="fr-FR" altLang="en-US" sz="2400"/>
              <a:t>We don</a:t>
            </a:r>
            <a:r>
              <a:rPr lang="fr-FR" altLang="fr-FR" sz="2400"/>
              <a:t>’</a:t>
            </a:r>
            <a:r>
              <a:rPr lang="fr-FR" altLang="en-US" sz="2400"/>
              <a:t>t need to go all the way back to the beginning of the block chain, </a:t>
            </a:r>
          </a:p>
          <a:p>
            <a:endParaRPr lang="fr-FR" altLang="en-US"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C8777-CA31-97D4-7C21-6EBA3AFB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Google Shape;87;p13">
            <a:extLst>
              <a:ext uri="{FF2B5EF4-FFF2-40B4-BE49-F238E27FC236}">
                <a16:creationId xmlns:a16="http://schemas.microsoft.com/office/drawing/2014/main" id="{ECE1CADF-23E4-D042-63FA-1BD8CBDBC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Merging value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29698" name="Google Shape;88;p13">
            <a:extLst>
              <a:ext uri="{FF2B5EF4-FFF2-40B4-BE49-F238E27FC236}">
                <a16:creationId xmlns:a16="http://schemas.microsoft.com/office/drawing/2014/main" id="{D642BCFA-DD74-5C19-AB83-B7E8EF5AD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589088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...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17.0→Bob, 8.0→Alice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sp>
        <p:nvSpPr>
          <p:cNvPr id="29699" name="Google Shape;89;p13">
            <a:extLst>
              <a:ext uri="{FF2B5EF4-FFF2-40B4-BE49-F238E27FC236}">
                <a16:creationId xmlns:a16="http://schemas.microsoft.com/office/drawing/2014/main" id="{0F0A0DD5-0E9C-5F04-943B-29E3115EA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6084888"/>
            <a:ext cx="4429125" cy="703262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latin typeface="Trebuchet MS" panose="020B0603020202020204" pitchFamily="34" charset="0"/>
                <a:sym typeface="Trebuchet MS" panose="020B0603020202020204" pitchFamily="34" charset="0"/>
              </a:rPr>
              <a:t>SIMPLIFICATION: only one transaction per block</a:t>
            </a:r>
          </a:p>
        </p:txBody>
      </p:sp>
      <p:cxnSp>
        <p:nvCxnSpPr>
          <p:cNvPr id="29700" name="Google Shape;90;p13">
            <a:extLst>
              <a:ext uri="{FF2B5EF4-FFF2-40B4-BE49-F238E27FC236}">
                <a16:creationId xmlns:a16="http://schemas.microsoft.com/office/drawing/2014/main" id="{8C6FA959-CF63-B191-BD08-E6A9F90193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3" y="1800225"/>
            <a:ext cx="0" cy="35210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1" name="Google Shape;91;p13">
            <a:extLst>
              <a:ext uri="{FF2B5EF4-FFF2-40B4-BE49-F238E27FC236}">
                <a16:creationId xmlns:a16="http://schemas.microsoft.com/office/drawing/2014/main" id="{601A008E-35D6-C9EB-99FA-9FB395F70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336675"/>
            <a:ext cx="5984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time</a:t>
            </a:r>
          </a:p>
        </p:txBody>
      </p:sp>
      <p:sp>
        <p:nvSpPr>
          <p:cNvPr id="29702" name="Google Shape;92;p13">
            <a:extLst>
              <a:ext uri="{FF2B5EF4-FFF2-40B4-BE49-F238E27FC236}">
                <a16:creationId xmlns:a16="http://schemas.microsoft.com/office/drawing/2014/main" id="{C630A3F1-9140-CCC1-0B61-C58315085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125788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1[1]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6.0→Carol, 2.0→Bob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SIGNED(Carol)</a:t>
            </a:r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FC3DB80C-B34F-CF92-F2BA-9005493A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4741863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1[0], 2[1]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19.0→Bob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SIGNED(Bob)</a:t>
            </a:r>
          </a:p>
        </p:txBody>
      </p:sp>
      <p:cxnSp>
        <p:nvCxnSpPr>
          <p:cNvPr id="94" name="Google Shape;94;p13">
            <a:extLst>
              <a:ext uri="{FF2B5EF4-FFF2-40B4-BE49-F238E27FC236}">
                <a16:creationId xmlns:a16="http://schemas.microsoft.com/office/drawing/2014/main" id="{7C446793-85C4-E1B5-D4C8-EA7BCEA4529B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401888" y="2541588"/>
            <a:ext cx="358775" cy="2246312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" name="Google Shape;95;p13">
            <a:extLst>
              <a:ext uri="{FF2B5EF4-FFF2-40B4-BE49-F238E27FC236}">
                <a16:creationId xmlns:a16="http://schemas.microsoft.com/office/drawing/2014/main" id="{1D96A893-FC40-7024-26CA-91522B342E2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995613" y="4005263"/>
            <a:ext cx="1220787" cy="79375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6" name="Google Shape;96;p13">
            <a:extLst>
              <a:ext uri="{FF2B5EF4-FFF2-40B4-BE49-F238E27FC236}">
                <a16:creationId xmlns:a16="http://schemas.microsoft.com/office/drawing/2014/main" id="{7E5DA6FE-7F4B-864A-C3C6-BF2EB2D18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2747963"/>
            <a:ext cx="3397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...</a:t>
            </a:r>
          </a:p>
        </p:txBody>
      </p:sp>
      <p:sp>
        <p:nvSpPr>
          <p:cNvPr id="29707" name="Google Shape;97;p13">
            <a:extLst>
              <a:ext uri="{FF2B5EF4-FFF2-40B4-BE49-F238E27FC236}">
                <a16:creationId xmlns:a16="http://schemas.microsoft.com/office/drawing/2014/main" id="{A044BA16-C588-A7A4-B025-58B10A426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370388"/>
            <a:ext cx="339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...</a:t>
            </a:r>
          </a:p>
        </p:txBody>
      </p:sp>
      <p:sp>
        <p:nvSpPr>
          <p:cNvPr id="29708" name="Google Shape;98;p13">
            <a:extLst>
              <a:ext uri="{FF2B5EF4-FFF2-40B4-BE49-F238E27FC236}">
                <a16:creationId xmlns:a16="http://schemas.microsoft.com/office/drawing/2014/main" id="{FF05F7F9-6A1B-98A3-2B73-FAEE8DFF6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589088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1</a:t>
            </a:r>
          </a:p>
        </p:txBody>
      </p:sp>
      <p:sp>
        <p:nvSpPr>
          <p:cNvPr id="29709" name="Google Shape;99;p13">
            <a:extLst>
              <a:ext uri="{FF2B5EF4-FFF2-40B4-BE49-F238E27FC236}">
                <a16:creationId xmlns:a16="http://schemas.microsoft.com/office/drawing/2014/main" id="{21C5BC89-E1BB-C8E0-2CBA-4FAD1238F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125788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2</a:t>
            </a:r>
          </a:p>
        </p:txBody>
      </p:sp>
      <p:sp>
        <p:nvSpPr>
          <p:cNvPr id="100" name="Google Shape;100;p13">
            <a:extLst>
              <a:ext uri="{FF2B5EF4-FFF2-40B4-BE49-F238E27FC236}">
                <a16:creationId xmlns:a16="http://schemas.microsoft.com/office/drawing/2014/main" id="{EFDEF4FC-8BBB-2A86-2172-8607FE0E8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4741863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Google Shape;105;p14">
            <a:extLst>
              <a:ext uri="{FF2B5EF4-FFF2-40B4-BE49-F238E27FC236}">
                <a16:creationId xmlns:a16="http://schemas.microsoft.com/office/drawing/2014/main" id="{C9BC2800-3C4B-B636-CE84-27E8D9EDA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Joint payments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31746" name="Google Shape;106;p14">
            <a:extLst>
              <a:ext uri="{FF2B5EF4-FFF2-40B4-BE49-F238E27FC236}">
                <a16:creationId xmlns:a16="http://schemas.microsoft.com/office/drawing/2014/main" id="{5CE80320-B3A6-D538-A3BC-A783E399E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589088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...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17.0→Bob, 8.0→Alice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SIGNED(Alice)</a:t>
            </a:r>
          </a:p>
        </p:txBody>
      </p:sp>
      <p:sp>
        <p:nvSpPr>
          <p:cNvPr id="31747" name="Google Shape;107;p14">
            <a:extLst>
              <a:ext uri="{FF2B5EF4-FFF2-40B4-BE49-F238E27FC236}">
                <a16:creationId xmlns:a16="http://schemas.microsoft.com/office/drawing/2014/main" id="{CE8929B0-7DDC-6C2F-00A3-33A119BF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6084888"/>
            <a:ext cx="4429125" cy="703262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600">
                <a:latin typeface="Trebuchet MS" panose="020B0603020202020204" pitchFamily="34" charset="0"/>
                <a:sym typeface="Trebuchet MS" panose="020B0603020202020204" pitchFamily="34" charset="0"/>
              </a:rPr>
              <a:t>SIMPLIFICATION: only one transaction per block</a:t>
            </a:r>
          </a:p>
        </p:txBody>
      </p:sp>
      <p:cxnSp>
        <p:nvCxnSpPr>
          <p:cNvPr id="31748" name="Google Shape;108;p14">
            <a:extLst>
              <a:ext uri="{FF2B5EF4-FFF2-40B4-BE49-F238E27FC236}">
                <a16:creationId xmlns:a16="http://schemas.microsoft.com/office/drawing/2014/main" id="{688DCAD0-1D19-F723-3CC1-8EA7366430F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3" y="1800225"/>
            <a:ext cx="0" cy="35210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Google Shape;109;p14">
            <a:extLst>
              <a:ext uri="{FF2B5EF4-FFF2-40B4-BE49-F238E27FC236}">
                <a16:creationId xmlns:a16="http://schemas.microsoft.com/office/drawing/2014/main" id="{5041D252-012B-4CF1-492B-13D18958D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336675"/>
            <a:ext cx="5984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time</a:t>
            </a:r>
          </a:p>
        </p:txBody>
      </p:sp>
      <p:sp>
        <p:nvSpPr>
          <p:cNvPr id="31750" name="Google Shape;110;p14">
            <a:extLst>
              <a:ext uri="{FF2B5EF4-FFF2-40B4-BE49-F238E27FC236}">
                <a16:creationId xmlns:a16="http://schemas.microsoft.com/office/drawing/2014/main" id="{BE758469-FC48-7083-DD57-FFB476C4F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3125788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1[1]</a:t>
            </a:r>
            <a:endParaRPr lang="fr-FR" altLang="en-US" sz="1800" baseline="-25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6.0→Carol, 2.0→Bob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SIGNED(Carol)</a:t>
            </a: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2C141572-8530-5AC1-D12A-B0E73997B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4741863"/>
            <a:ext cx="5616575" cy="1244600"/>
          </a:xfrm>
          <a:prstGeom prst="rect">
            <a:avLst/>
          </a:prstGeom>
          <a:solidFill>
            <a:srgbClr val="CCCCCC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Inputs: 2[0], 2[1]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Outputs: 8.0→David</a:t>
            </a:r>
          </a:p>
          <a:p>
            <a:pPr algn="r"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SIGNED(Carol), SIGNED(Bob)</a:t>
            </a:r>
          </a:p>
        </p:txBody>
      </p:sp>
      <p:cxnSp>
        <p:nvCxnSpPr>
          <p:cNvPr id="112" name="Google Shape;112;p14">
            <a:extLst>
              <a:ext uri="{FF2B5EF4-FFF2-40B4-BE49-F238E27FC236}">
                <a16:creationId xmlns:a16="http://schemas.microsoft.com/office/drawing/2014/main" id="{E3CDB692-A279-B0D8-F24A-958A89DB006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432050" y="4046538"/>
            <a:ext cx="404813" cy="701675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Google Shape;113;p14">
            <a:extLst>
              <a:ext uri="{FF2B5EF4-FFF2-40B4-BE49-F238E27FC236}">
                <a16:creationId xmlns:a16="http://schemas.microsoft.com/office/drawing/2014/main" id="{A1E15EF4-C9A1-35DD-C56B-8A72FA52E1F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955925" y="3995738"/>
            <a:ext cx="1230313" cy="762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4" name="Google Shape;114;p14">
            <a:extLst>
              <a:ext uri="{FF2B5EF4-FFF2-40B4-BE49-F238E27FC236}">
                <a16:creationId xmlns:a16="http://schemas.microsoft.com/office/drawing/2014/main" id="{BB2A8A54-D07B-36C9-F667-BE287C0B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2747963"/>
            <a:ext cx="3397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...</a:t>
            </a:r>
          </a:p>
        </p:txBody>
      </p:sp>
      <p:sp>
        <p:nvSpPr>
          <p:cNvPr id="31755" name="Google Shape;115;p14">
            <a:extLst>
              <a:ext uri="{FF2B5EF4-FFF2-40B4-BE49-F238E27FC236}">
                <a16:creationId xmlns:a16="http://schemas.microsoft.com/office/drawing/2014/main" id="{0FFB669D-D898-B89D-AFF6-BAC9B4BE4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370388"/>
            <a:ext cx="339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...</a:t>
            </a: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373BE051-673E-B045-A804-001C4F730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450" y="4981575"/>
            <a:ext cx="1905000" cy="649288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B6D7A8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two signatures!</a:t>
            </a:r>
          </a:p>
        </p:txBody>
      </p:sp>
      <p:sp>
        <p:nvSpPr>
          <p:cNvPr id="31757" name="Google Shape;117;p14">
            <a:extLst>
              <a:ext uri="{FF2B5EF4-FFF2-40B4-BE49-F238E27FC236}">
                <a16:creationId xmlns:a16="http://schemas.microsoft.com/office/drawing/2014/main" id="{F84C2350-5169-D202-CCA2-75789A6FD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589088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1</a:t>
            </a:r>
          </a:p>
        </p:txBody>
      </p:sp>
      <p:sp>
        <p:nvSpPr>
          <p:cNvPr id="31758" name="Google Shape;118;p14">
            <a:extLst>
              <a:ext uri="{FF2B5EF4-FFF2-40B4-BE49-F238E27FC236}">
                <a16:creationId xmlns:a16="http://schemas.microsoft.com/office/drawing/2014/main" id="{147522A6-CCB3-4C1C-FB8E-A468A536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125788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2</a:t>
            </a:r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12EE24A6-53AE-3B09-9183-A9CC8BC9D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4741863"/>
            <a:ext cx="339725" cy="463550"/>
          </a:xfrm>
          <a:prstGeom prst="rect">
            <a:avLst/>
          </a:prstGeom>
          <a:solidFill>
            <a:srgbClr val="00FF00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>
                <a:latin typeface="Courier New" panose="02070309020205020404" pitchFamily="49" charset="0"/>
                <a:sym typeface="Courier New" panose="02070309020205020404" pitchFamily="49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Google Shape;124;p15">
            <a:extLst>
              <a:ext uri="{FF2B5EF4-FFF2-40B4-BE49-F238E27FC236}">
                <a16:creationId xmlns:a16="http://schemas.microsoft.com/office/drawing/2014/main" id="{F2593BB0-8324-8F4D-1AC0-AA54535E7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The real deal: a Bitcoin transaction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33794" name="Google Shape;125;p15">
            <a:extLst>
              <a:ext uri="{FF2B5EF4-FFF2-40B4-BE49-F238E27FC236}">
                <a16:creationId xmlns:a16="http://schemas.microsoft.com/office/drawing/2014/main" id="{966E6FCE-5B7E-08C6-37E9-26204959C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5263" y="1363663"/>
            <a:ext cx="8229600" cy="5527675"/>
          </a:xfrm>
        </p:spPr>
        <p:txBody>
          <a:bodyPr/>
          <a:lstStyle/>
          <a:p>
            <a:pPr marL="0" indent="0">
              <a:spcAft>
                <a:spcPct val="0"/>
              </a:spcAft>
              <a:buClr>
                <a:srgbClr val="000000"/>
              </a:buClr>
              <a:buSzTx/>
              <a:buFontTx/>
              <a:buNone/>
            </a:pPr>
            <a:r>
              <a:rPr lang="fr-FR" altLang="en-US" sz="1100"/>
              <a:t>{</a:t>
            </a:r>
            <a:br>
              <a:rPr lang="fr-FR" altLang="en-US" sz="1100"/>
            </a:br>
            <a:r>
              <a:rPr lang="fr-FR" altLang="en-US" sz="1100"/>
              <a:t>      "hash":"5a42590fbe0a90ee8e8747244d6c84f0db1a3a24e8f1b95b10c9e050990b8b6b",</a:t>
            </a:r>
            <a:br>
              <a:rPr lang="fr-FR" altLang="en-US" sz="1100"/>
            </a:br>
            <a:r>
              <a:rPr lang="fr-FR" altLang="en-US" sz="1100"/>
              <a:t>      "ver":1,</a:t>
            </a:r>
            <a:br>
              <a:rPr lang="fr-FR" altLang="en-US" sz="1100"/>
            </a:br>
            <a:r>
              <a:rPr lang="fr-FR" altLang="en-US" sz="1100"/>
              <a:t>      "vin_sz":2,</a:t>
            </a:r>
            <a:br>
              <a:rPr lang="fr-FR" altLang="en-US" sz="1100"/>
            </a:br>
            <a:r>
              <a:rPr lang="fr-FR" altLang="en-US" sz="1100"/>
              <a:t>      "vout_sz":1,</a:t>
            </a:r>
            <a:br>
              <a:rPr lang="fr-FR" altLang="en-US" sz="1100"/>
            </a:br>
            <a:r>
              <a:rPr lang="fr-FR" altLang="en-US" sz="1100"/>
              <a:t>      "lock_time":0,</a:t>
            </a:r>
            <a:br>
              <a:rPr lang="fr-FR" altLang="en-US" sz="1100"/>
            </a:br>
            <a:r>
              <a:rPr lang="fr-FR" altLang="en-US" sz="1100"/>
              <a:t>      "size":404,</a:t>
            </a:r>
            <a:br>
              <a:rPr lang="fr-FR" altLang="en-US" sz="1100"/>
            </a:br>
            <a:r>
              <a:rPr lang="fr-FR" altLang="en-US" sz="1100"/>
              <a:t>      "in":[</a:t>
            </a:r>
            <a:br>
              <a:rPr lang="fr-FR" altLang="en-US" sz="1100"/>
            </a:br>
            <a:r>
              <a:rPr lang="fr-FR" altLang="en-US" sz="1100"/>
              <a:t>        {</a:t>
            </a:r>
            <a:br>
              <a:rPr lang="fr-FR" altLang="en-US" sz="1100"/>
            </a:br>
            <a:r>
              <a:rPr lang="fr-FR" altLang="en-US" sz="1100"/>
              <a:t>          "prev_out":{</a:t>
            </a:r>
            <a:br>
              <a:rPr lang="fr-FR" altLang="en-US" sz="1100"/>
            </a:br>
            <a:r>
              <a:rPr lang="fr-FR" altLang="en-US" sz="1100"/>
              <a:t>            "hash":"3be4ac9728a0823cf5e2deb2e86fc0bd2aa503a91d307b42ba76117d79280260",</a:t>
            </a:r>
            <a:br>
              <a:rPr lang="fr-FR" altLang="en-US" sz="1100"/>
            </a:br>
            <a:r>
              <a:rPr lang="fr-FR" altLang="en-US" sz="1100"/>
              <a:t>            "n":0</a:t>
            </a:r>
            <a:br>
              <a:rPr lang="fr-FR" altLang="en-US" sz="1100"/>
            </a:br>
            <a:r>
              <a:rPr lang="fr-FR" altLang="en-US" sz="1100"/>
              <a:t>          }, </a:t>
            </a:r>
          </a:p>
          <a:p>
            <a:pPr marL="0" indent="0">
              <a:spcAft>
                <a:spcPct val="0"/>
              </a:spcAft>
              <a:buClr>
                <a:srgbClr val="000000"/>
              </a:buClr>
              <a:buSzTx/>
              <a:buFontTx/>
              <a:buNone/>
            </a:pPr>
            <a:r>
              <a:rPr lang="fr-FR" altLang="en-US" sz="1100"/>
              <a:t>"scriptSig":"30440..."</a:t>
            </a:r>
            <a:br>
              <a:rPr lang="fr-FR" altLang="en-US" sz="1100"/>
            </a:br>
            <a:r>
              <a:rPr lang="fr-FR" altLang="en-US" sz="1100"/>
              <a:t>        },</a:t>
            </a:r>
            <a:br>
              <a:rPr lang="fr-FR" altLang="en-US" sz="1100"/>
            </a:br>
            <a:r>
              <a:rPr lang="fr-FR" altLang="en-US" sz="1100"/>
              <a:t>        {</a:t>
            </a:r>
            <a:br>
              <a:rPr lang="fr-FR" altLang="en-US" sz="1100"/>
            </a:br>
            <a:r>
              <a:rPr lang="fr-FR" altLang="en-US" sz="1100"/>
              <a:t>          "prev_out":{</a:t>
            </a:r>
            <a:br>
              <a:rPr lang="fr-FR" altLang="en-US" sz="1100"/>
            </a:br>
            <a:r>
              <a:rPr lang="fr-FR" altLang="en-US" sz="1100"/>
              <a:t>            "hash":"7508e6ab259b4df0fd5147bab0c949d81473db4518f81afc5c3f52f91ff6b34e",</a:t>
            </a:r>
            <a:br>
              <a:rPr lang="fr-FR" altLang="en-US" sz="1100"/>
            </a:br>
            <a:r>
              <a:rPr lang="fr-FR" altLang="en-US" sz="1100"/>
              <a:t>            "n":0</a:t>
            </a:r>
            <a:br>
              <a:rPr lang="fr-FR" altLang="en-US" sz="1100"/>
            </a:br>
            <a:r>
              <a:rPr lang="fr-FR" altLang="en-US" sz="1100"/>
              <a:t>          },</a:t>
            </a:r>
            <a:br>
              <a:rPr lang="fr-FR" altLang="en-US" sz="1100"/>
            </a:br>
            <a:r>
              <a:rPr lang="fr-FR" altLang="en-US" sz="1100"/>
              <a:t>          "scriptSig":"3f3a4ce81...."</a:t>
            </a:r>
            <a:br>
              <a:rPr lang="fr-FR" altLang="en-US" sz="1100"/>
            </a:br>
            <a:r>
              <a:rPr lang="fr-FR" altLang="en-US" sz="1100"/>
              <a:t>        }</a:t>
            </a:r>
            <a:br>
              <a:rPr lang="fr-FR" altLang="en-US" sz="1100"/>
            </a:br>
            <a:r>
              <a:rPr lang="fr-FR" altLang="en-US" sz="1100"/>
              <a:t>      ],</a:t>
            </a:r>
            <a:br>
              <a:rPr lang="fr-FR" altLang="en-US" sz="1100"/>
            </a:br>
            <a:r>
              <a:rPr lang="fr-FR" altLang="en-US" sz="1100"/>
              <a:t>      "out":[</a:t>
            </a:r>
            <a:br>
              <a:rPr lang="fr-FR" altLang="en-US" sz="1100"/>
            </a:br>
            <a:r>
              <a:rPr lang="fr-FR" altLang="en-US" sz="1100"/>
              <a:t>        {</a:t>
            </a:r>
            <a:br>
              <a:rPr lang="fr-FR" altLang="en-US" sz="1100"/>
            </a:br>
            <a:r>
              <a:rPr lang="fr-FR" altLang="en-US" sz="1100"/>
              <a:t>          "value":"10.12287097",</a:t>
            </a:r>
            <a:br>
              <a:rPr lang="fr-FR" altLang="en-US" sz="1100"/>
            </a:br>
            <a:r>
              <a:rPr lang="fr-FR" altLang="en-US" sz="1100"/>
              <a:t>          "scriptPubKey":"OP_DUP OP_HASH160 69e02e18b5705a05dd6b28ed517716c894b3d42e OP_EQUALVERIFY OP_CHECKSIG"</a:t>
            </a:r>
            <a:br>
              <a:rPr lang="fr-FR" altLang="en-US" sz="1100"/>
            </a:br>
            <a:r>
              <a:rPr lang="fr-FR" altLang="en-US" sz="1100"/>
              <a:t>        }</a:t>
            </a:r>
            <a:br>
              <a:rPr lang="fr-FR" altLang="en-US" sz="1100"/>
            </a:br>
            <a:r>
              <a:rPr lang="fr-FR" altLang="en-US" sz="1100"/>
              <a:t>      ]</a:t>
            </a:r>
          </a:p>
          <a:p>
            <a:pPr marL="0" indent="0">
              <a:spcAft>
                <a:spcPct val="0"/>
              </a:spcAft>
              <a:buClr>
                <a:srgbClr val="000000"/>
              </a:buClr>
              <a:buSzTx/>
              <a:buFontTx/>
              <a:buNone/>
            </a:pPr>
            <a:r>
              <a:rPr lang="fr-FR" altLang="en-US" sz="1100"/>
              <a:t>}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endParaRPr lang="fr-FR" altLang="en-US" sz="1100"/>
          </a:p>
        </p:txBody>
      </p:sp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C4856D3E-6576-3F6B-29A3-30BCA5EF5304}"/>
              </a:ext>
            </a:extLst>
          </p:cNvPr>
          <p:cNvSpPr>
            <a:spLocks/>
          </p:cNvSpPr>
          <p:nvPr/>
        </p:nvSpPr>
        <p:spPr bwMode="auto">
          <a:xfrm>
            <a:off x="1143000" y="1447800"/>
            <a:ext cx="276225" cy="1004888"/>
          </a:xfrm>
          <a:prstGeom prst="leftBrace">
            <a:avLst>
              <a:gd name="adj1" fmla="val 8320"/>
              <a:gd name="adj2" fmla="val 48606"/>
            </a:avLst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5840DF86-B59C-C3CF-61F3-A0465501AE17}"/>
              </a:ext>
            </a:extLst>
          </p:cNvPr>
          <p:cNvSpPr>
            <a:spLocks/>
          </p:cNvSpPr>
          <p:nvPr/>
        </p:nvSpPr>
        <p:spPr bwMode="auto">
          <a:xfrm>
            <a:off x="1143000" y="2667000"/>
            <a:ext cx="276225" cy="2765425"/>
          </a:xfrm>
          <a:prstGeom prst="leftBrace">
            <a:avLst>
              <a:gd name="adj1" fmla="val 8343"/>
              <a:gd name="adj2" fmla="val 48606"/>
            </a:avLst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F26C2820-7027-1AD8-3448-D05FABE38628}"/>
              </a:ext>
            </a:extLst>
          </p:cNvPr>
          <p:cNvSpPr>
            <a:spLocks/>
          </p:cNvSpPr>
          <p:nvPr/>
        </p:nvSpPr>
        <p:spPr bwMode="auto">
          <a:xfrm>
            <a:off x="1143000" y="5478463"/>
            <a:ext cx="276225" cy="1143000"/>
          </a:xfrm>
          <a:prstGeom prst="leftBrace">
            <a:avLst>
              <a:gd name="adj1" fmla="val 8333"/>
              <a:gd name="adj2" fmla="val 48606"/>
            </a:avLst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129" name="Google Shape;129;p15">
            <a:extLst>
              <a:ext uri="{FF2B5EF4-FFF2-40B4-BE49-F238E27FC236}">
                <a16:creationId xmlns:a16="http://schemas.microsoft.com/office/drawing/2014/main" id="{59545B2A-C1CF-D79F-A20B-44F25814C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3" y="3781425"/>
            <a:ext cx="1173162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input(s)</a:t>
            </a:r>
          </a:p>
        </p:txBody>
      </p:sp>
      <p:sp>
        <p:nvSpPr>
          <p:cNvPr id="130" name="Google Shape;130;p15">
            <a:extLst>
              <a:ext uri="{FF2B5EF4-FFF2-40B4-BE49-F238E27FC236}">
                <a16:creationId xmlns:a16="http://schemas.microsoft.com/office/drawing/2014/main" id="{ED93DE4A-41B1-C9EF-505F-A1FF68859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3" y="1858963"/>
            <a:ext cx="1173162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metadata</a:t>
            </a:r>
          </a:p>
        </p:txBody>
      </p:sp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40E69C63-0FC1-974C-E741-E52E55984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3" y="5743575"/>
            <a:ext cx="1173162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output(s)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Google Shape;136;p16">
            <a:extLst>
              <a:ext uri="{FF2B5EF4-FFF2-40B4-BE49-F238E27FC236}">
                <a16:creationId xmlns:a16="http://schemas.microsoft.com/office/drawing/2014/main" id="{E976ABA8-D3AC-D75E-4B64-89249219C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600" b="1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The real deal: transaction metadata</a:t>
            </a:r>
          </a:p>
        </p:txBody>
      </p:sp>
      <p:sp>
        <p:nvSpPr>
          <p:cNvPr id="35842" name="Google Shape;137;p16">
            <a:extLst>
              <a:ext uri="{FF2B5EF4-FFF2-40B4-BE49-F238E27FC236}">
                <a16:creationId xmlns:a16="http://schemas.microsoft.com/office/drawing/2014/main" id="{D4512140-E6A7-D109-8530-6F2C1C823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0" y="1143000"/>
            <a:ext cx="8229600" cy="5867400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{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"hash":"5a42590...b8b6b",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"ver":1,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"vin_sz":2,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"vout_sz":1,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"lock_time":0,</a:t>
            </a:r>
            <a:b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"size":404,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...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2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}</a:t>
            </a: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410D6868-1304-50B9-0E74-4A04E0638E84}"/>
              </a:ext>
            </a:extLst>
          </p:cNvPr>
          <p:cNvSpPr/>
          <p:nvPr/>
        </p:nvSpPr>
        <p:spPr>
          <a:xfrm>
            <a:off x="1763713" y="2424113"/>
            <a:ext cx="322262" cy="126365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D5853BF2-E89F-EA4D-CB73-1128A1FCB523}"/>
              </a:ext>
            </a:extLst>
          </p:cNvPr>
          <p:cNvSpPr txBox="1"/>
          <p:nvPr/>
        </p:nvSpPr>
        <p:spPr>
          <a:xfrm>
            <a:off x="280988" y="4235450"/>
            <a:ext cx="1482725" cy="563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housekeeping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8530B8BC-DEC9-9396-16FE-23DDC01C346D}"/>
              </a:ext>
            </a:extLst>
          </p:cNvPr>
          <p:cNvSpPr txBox="1"/>
          <p:nvPr/>
        </p:nvSpPr>
        <p:spPr>
          <a:xfrm>
            <a:off x="280988" y="2773363"/>
            <a:ext cx="1482725" cy="5651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housekeeping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5D604C40-2113-4788-65A5-5B1E0F908355}"/>
              </a:ext>
            </a:extLst>
          </p:cNvPr>
          <p:cNvSpPr/>
          <p:nvPr/>
        </p:nvSpPr>
        <p:spPr>
          <a:xfrm>
            <a:off x="1809750" y="4346575"/>
            <a:ext cx="276225" cy="341313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A7334B42-83FC-A16D-9A8D-1B605D9C8E0C}"/>
              </a:ext>
            </a:extLst>
          </p:cNvPr>
          <p:cNvSpPr txBox="1"/>
          <p:nvPr/>
        </p:nvSpPr>
        <p:spPr>
          <a:xfrm>
            <a:off x="230188" y="1812925"/>
            <a:ext cx="1579562" cy="5651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hash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7CC68CF8-13AF-44DA-9C49-795DA8DBA820}"/>
              </a:ext>
            </a:extLst>
          </p:cNvPr>
          <p:cNvSpPr/>
          <p:nvPr/>
        </p:nvSpPr>
        <p:spPr>
          <a:xfrm>
            <a:off x="1760538" y="1924050"/>
            <a:ext cx="274637" cy="3429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7D131C1D-5F01-380D-AB95-1A11045D3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3735388"/>
            <a:ext cx="1577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fr-FR"/>
              <a:t>“</a:t>
            </a:r>
            <a:r>
              <a:rPr lang="en-US" altLang="en-US"/>
              <a:t>not valid before</a:t>
            </a:r>
            <a:r>
              <a:rPr lang="en-US" altLang="fr-FR"/>
              <a:t>”</a:t>
            </a:r>
            <a:endParaRPr lang="fr-FR" altLang="en-US"/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5ABD3D3D-CD25-45D3-C74C-7BAECF82D96C}"/>
              </a:ext>
            </a:extLst>
          </p:cNvPr>
          <p:cNvSpPr/>
          <p:nvPr/>
        </p:nvSpPr>
        <p:spPr>
          <a:xfrm>
            <a:off x="1809750" y="3846513"/>
            <a:ext cx="276225" cy="341312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CC41ABC6-4B9F-A70F-1CD4-1A0BB736BD9B}"/>
              </a:ext>
            </a:extLst>
          </p:cNvPr>
          <p:cNvSpPr/>
          <p:nvPr/>
        </p:nvSpPr>
        <p:spPr>
          <a:xfrm>
            <a:off x="5105400" y="3505200"/>
            <a:ext cx="1895475" cy="6032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on this later...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Google Shape;151;p17">
            <a:extLst>
              <a:ext uri="{FF2B5EF4-FFF2-40B4-BE49-F238E27FC236}">
                <a16:creationId xmlns:a16="http://schemas.microsoft.com/office/drawing/2014/main" id="{607F9383-EA58-2434-C502-A5656AC17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600" b="1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The real deal: transaction inputs</a:t>
            </a:r>
          </a:p>
        </p:txBody>
      </p:sp>
      <p:sp>
        <p:nvSpPr>
          <p:cNvPr id="37890" name="Google Shape;152;p17">
            <a:extLst>
              <a:ext uri="{FF2B5EF4-FFF2-40B4-BE49-F238E27FC236}">
                <a16:creationId xmlns:a16="http://schemas.microsoft.com/office/drawing/2014/main" id="{9460377D-FFE6-A72A-AA2B-93ACCCB88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05000" y="1295400"/>
            <a:ext cx="8229600" cy="5495925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"in":[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{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"prev_out":{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  "hash":"3be4...80260",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  "n":0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}, 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"scriptSig":"30440....3f3a4ce81"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},</a:t>
            </a:r>
            <a:b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</a:b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... 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8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],`</a:t>
            </a: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4A1850DC-0F05-9544-42C0-7B6A40BF2C6C}"/>
              </a:ext>
            </a:extLst>
          </p:cNvPr>
          <p:cNvSpPr/>
          <p:nvPr/>
        </p:nvSpPr>
        <p:spPr>
          <a:xfrm>
            <a:off x="1846263" y="2681288"/>
            <a:ext cx="276225" cy="1006475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5E6706B1-EE79-F064-C7D5-6378E3739345}"/>
              </a:ext>
            </a:extLst>
          </p:cNvPr>
          <p:cNvSpPr/>
          <p:nvPr/>
        </p:nvSpPr>
        <p:spPr>
          <a:xfrm>
            <a:off x="1866900" y="4148138"/>
            <a:ext cx="234950" cy="454025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10889BF1-0A39-2C14-CC91-405F0AFD5331}"/>
              </a:ext>
            </a:extLst>
          </p:cNvPr>
          <p:cNvSpPr/>
          <p:nvPr/>
        </p:nvSpPr>
        <p:spPr>
          <a:xfrm>
            <a:off x="1887538" y="5064125"/>
            <a:ext cx="193675" cy="563563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54C8C1D0-2466-8665-3F6D-99E8CF2BE6EE}"/>
              </a:ext>
            </a:extLst>
          </p:cNvPr>
          <p:cNvSpPr txBox="1"/>
          <p:nvPr/>
        </p:nvSpPr>
        <p:spPr>
          <a:xfrm>
            <a:off x="280988" y="4092575"/>
            <a:ext cx="1173162" cy="5651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signature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14ABE3B0-A06B-D4B5-269F-AFA5F8036947}"/>
              </a:ext>
            </a:extLst>
          </p:cNvPr>
          <p:cNvSpPr txBox="1"/>
          <p:nvPr/>
        </p:nvSpPr>
        <p:spPr>
          <a:xfrm>
            <a:off x="280988" y="2681288"/>
            <a:ext cx="1173162" cy="7667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BE034174-5CBD-5E48-C85C-5AAD9E7F1177}"/>
              </a:ext>
            </a:extLst>
          </p:cNvPr>
          <p:cNvSpPr txBox="1"/>
          <p:nvPr/>
        </p:nvSpPr>
        <p:spPr>
          <a:xfrm>
            <a:off x="280988" y="5064125"/>
            <a:ext cx="1328737" cy="690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(more inputs)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Google Shape;163;p18">
            <a:extLst>
              <a:ext uri="{FF2B5EF4-FFF2-40B4-BE49-F238E27FC236}">
                <a16:creationId xmlns:a16="http://schemas.microsoft.com/office/drawing/2014/main" id="{8769BE35-FB68-02B7-159E-4389996BE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3600" b="1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The real deal: transaction outputs</a:t>
            </a:r>
          </a:p>
        </p:txBody>
      </p:sp>
      <p:sp>
        <p:nvSpPr>
          <p:cNvPr id="39938" name="Google Shape;164;p18">
            <a:extLst>
              <a:ext uri="{FF2B5EF4-FFF2-40B4-BE49-F238E27FC236}">
                <a16:creationId xmlns:a16="http://schemas.microsoft.com/office/drawing/2014/main" id="{047E8A89-0ED8-3499-B513-85670E355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76400" y="1743075"/>
            <a:ext cx="8229600" cy="5495925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"out":[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{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"value":"10.12287097",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  "scriptPubKey":"OP_DUP OP_HASH160 69e...3d42e OP_EQUALVERIFY OP_CHECKSIG"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  },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	  ...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latin typeface="Trebuchet MS" panose="020B0603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Trebuchet MS" panose="020B0603020202020204" pitchFamily="34" charset="0"/>
              </a:rPr>
              <a:t>      ]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endParaRPr lang="fr-FR" altLang="en-US" sz="2400">
              <a:latin typeface="Trebuchet MS" panose="020B0603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Trebuchet MS" panose="020B0603020202020204" pitchFamily="34" charset="0"/>
            </a:endParaRP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endParaRPr lang="fr-FR" altLang="en-US" sz="2400">
              <a:latin typeface="Trebuchet MS" panose="020B0603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7C91287E-90F1-38E8-D867-6DEDE75AF47D}"/>
              </a:ext>
            </a:extLst>
          </p:cNvPr>
          <p:cNvSpPr/>
          <p:nvPr/>
        </p:nvSpPr>
        <p:spPr>
          <a:xfrm>
            <a:off x="1846263" y="2681288"/>
            <a:ext cx="296862" cy="454025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508591D8-DA4B-BBD1-FBEA-F517A259D00A}"/>
              </a:ext>
            </a:extLst>
          </p:cNvPr>
          <p:cNvSpPr/>
          <p:nvPr/>
        </p:nvSpPr>
        <p:spPr>
          <a:xfrm>
            <a:off x="1887538" y="5064125"/>
            <a:ext cx="193675" cy="563563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B3419AE1-D421-8B92-1761-62AB85CF7BA1}"/>
              </a:ext>
            </a:extLst>
          </p:cNvPr>
          <p:cNvSpPr txBox="1"/>
          <p:nvPr/>
        </p:nvSpPr>
        <p:spPr>
          <a:xfrm>
            <a:off x="280988" y="2497138"/>
            <a:ext cx="1173162" cy="5651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value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4A4A7B6F-3FE6-FE5A-49A1-E542673F2342}"/>
              </a:ext>
            </a:extLst>
          </p:cNvPr>
          <p:cNvSpPr txBox="1"/>
          <p:nvPr/>
        </p:nvSpPr>
        <p:spPr>
          <a:xfrm>
            <a:off x="280988" y="3395663"/>
            <a:ext cx="1173162" cy="7667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recipient address??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0C813751-DFDA-78D0-C4E3-E7ED8D7733AF}"/>
              </a:ext>
            </a:extLst>
          </p:cNvPr>
          <p:cNvSpPr txBox="1"/>
          <p:nvPr/>
        </p:nvSpPr>
        <p:spPr>
          <a:xfrm>
            <a:off x="280988" y="5064125"/>
            <a:ext cx="1565275" cy="690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(more outputs)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C94EC024-FDDD-ADA5-DF47-C40284037C48}"/>
              </a:ext>
            </a:extLst>
          </p:cNvPr>
          <p:cNvSpPr/>
          <p:nvPr/>
        </p:nvSpPr>
        <p:spPr>
          <a:xfrm>
            <a:off x="4535488" y="4208463"/>
            <a:ext cx="1895475" cy="6032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on this soon...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18">
            <a:extLst>
              <a:ext uri="{FF2B5EF4-FFF2-40B4-BE49-F238E27FC236}">
                <a16:creationId xmlns:a16="http://schemas.microsoft.com/office/drawing/2014/main" id="{8CB6475C-A38B-7514-8073-9AE698E61049}"/>
              </a:ext>
            </a:extLst>
          </p:cNvPr>
          <p:cNvCxnSpPr>
            <a:cxnSpLocks noChangeShapeType="1"/>
            <a:stCxn id="168" idx="3"/>
          </p:cNvCxnSpPr>
          <p:nvPr/>
        </p:nvCxnSpPr>
        <p:spPr bwMode="auto">
          <a:xfrm rot="10800000" flipH="1">
            <a:off x="1454150" y="3656013"/>
            <a:ext cx="5740400" cy="122237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" name="Google Shape;172;p18">
            <a:extLst>
              <a:ext uri="{FF2B5EF4-FFF2-40B4-BE49-F238E27FC236}">
                <a16:creationId xmlns:a16="http://schemas.microsoft.com/office/drawing/2014/main" id="{20F7AA0E-D948-70D6-1B97-397E1253A2DF}"/>
              </a:ext>
            </a:extLst>
          </p:cNvPr>
          <p:cNvSpPr/>
          <p:nvPr/>
        </p:nvSpPr>
        <p:spPr>
          <a:xfrm>
            <a:off x="7186613" y="3054350"/>
            <a:ext cx="1500187" cy="766763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Google Shape;177;p19">
            <a:extLst>
              <a:ext uri="{FF2B5EF4-FFF2-40B4-BE49-F238E27FC236}">
                <a16:creationId xmlns:a16="http://schemas.microsoft.com/office/drawing/2014/main" id="{B18D1C6D-894C-3281-35F9-E06CBC8463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2254250"/>
            <a:ext cx="7772400" cy="2297113"/>
          </a:xfrm>
        </p:spPr>
        <p:txBody>
          <a:bodyPr lIns="91425" tIns="91425" rIns="91425" bIns="91425"/>
          <a:lstStyle/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r>
              <a:rPr lang="en-US" altLang="en-US"/>
              <a:t>Bitcoin scripts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F579FD-9B91-60B6-EA30-72EA1F62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Google Shape;182;p20">
            <a:extLst>
              <a:ext uri="{FF2B5EF4-FFF2-40B4-BE49-F238E27FC236}">
                <a16:creationId xmlns:a16="http://schemas.microsoft.com/office/drawing/2014/main" id="{E3E64A33-3D3C-D735-DE4E-1F844F6AF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0263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Output </a:t>
            </a:r>
            <a:r>
              <a:rPr lang="fr-FR" altLang="fr-FR"/>
              <a:t>“</a:t>
            </a:r>
            <a:r>
              <a:rPr lang="fr-FR" altLang="en-US"/>
              <a:t>addresses</a:t>
            </a:r>
            <a:r>
              <a:rPr lang="fr-FR" altLang="fr-FR"/>
              <a:t>”</a:t>
            </a:r>
            <a:r>
              <a:rPr lang="fr-FR" altLang="en-US"/>
              <a:t> are really </a:t>
            </a:r>
            <a:r>
              <a:rPr lang="fr-FR" altLang="en-US" i="1"/>
              <a:t>scripts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sp>
        <p:nvSpPr>
          <p:cNvPr id="44034" name="Google Shape;183;p20">
            <a:extLst>
              <a:ext uri="{FF2B5EF4-FFF2-40B4-BE49-F238E27FC236}">
                <a16:creationId xmlns:a16="http://schemas.microsoft.com/office/drawing/2014/main" id="{9C49DFBE-4E76-1D5E-780C-485952CAF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79850"/>
            <a:ext cx="7094538" cy="2246313"/>
          </a:xfrm>
          <a:prstGeom prst="rect">
            <a:avLst/>
          </a:prstGeom>
          <a:solidFill>
            <a:srgbClr val="F1C2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OP_DUP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OP_HASH160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69e02e18...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OP_EQUALVERIFY OP_CHECKSIG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id="{E3A78DCE-B4CA-480A-095B-18355B607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76400"/>
            <a:ext cx="7924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3600" baseline="30000"/>
              <a:t>Each transaction output doesn</a:t>
            </a:r>
            <a:r>
              <a:rPr lang="fr-FR" altLang="fr-FR" sz="3600" baseline="30000"/>
              <a:t>’</a:t>
            </a:r>
            <a:r>
              <a:rPr lang="fr-FR" altLang="en-US" sz="3600" baseline="30000"/>
              <a:t>t just specify a public key. It actually specifies a script.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3600" baseline="30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3600" baseline="30000">
                <a:solidFill>
                  <a:srgbClr val="FF0000"/>
                </a:solidFill>
              </a:rPr>
              <a:t>The addresses in bitcoin, the ones used in transactions are hashes of public key!</a:t>
            </a:r>
            <a:endParaRPr lang="fr-FR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Google Shape;182;p20">
            <a:extLst>
              <a:ext uri="{FF2B5EF4-FFF2-40B4-BE49-F238E27FC236}">
                <a16:creationId xmlns:a16="http://schemas.microsoft.com/office/drawing/2014/main" id="{51B72A03-E76C-20D2-86BC-F2522C567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0263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Output </a:t>
            </a:r>
            <a:r>
              <a:rPr lang="fr-FR" altLang="fr-FR"/>
              <a:t>“</a:t>
            </a:r>
            <a:r>
              <a:rPr lang="fr-FR" altLang="en-US"/>
              <a:t>addresses</a:t>
            </a:r>
            <a:r>
              <a:rPr lang="fr-FR" altLang="fr-FR"/>
              <a:t>”</a:t>
            </a:r>
            <a:r>
              <a:rPr lang="fr-FR" altLang="en-US"/>
              <a:t> are really </a:t>
            </a:r>
            <a:r>
              <a:rPr lang="fr-FR" altLang="en-US" i="1"/>
              <a:t>scripts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sp>
        <p:nvSpPr>
          <p:cNvPr id="46082" name="Google Shape;183;p20">
            <a:extLst>
              <a:ext uri="{FF2B5EF4-FFF2-40B4-BE49-F238E27FC236}">
                <a16:creationId xmlns:a16="http://schemas.microsoft.com/office/drawing/2014/main" id="{8BD39F86-91C8-7B48-E289-9946AF294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79850"/>
            <a:ext cx="7094538" cy="2246313"/>
          </a:xfrm>
          <a:prstGeom prst="rect">
            <a:avLst/>
          </a:prstGeom>
          <a:solidFill>
            <a:srgbClr val="F1C2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OP_DUP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OP_HASH160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69e02e18...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OP_EQUALVERIFY OP_CHECKSIG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6083" name="Rectangle 1">
            <a:extLst>
              <a:ext uri="{FF2B5EF4-FFF2-40B4-BE49-F238E27FC236}">
                <a16:creationId xmlns:a16="http://schemas.microsoft.com/office/drawing/2014/main" id="{03D94437-A331-5843-B839-37CE4264E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76400"/>
            <a:ext cx="7924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3600" baseline="30000">
                <a:solidFill>
                  <a:srgbClr val="FF0000"/>
                </a:solidFill>
              </a:rPr>
              <a:t>We need to check that while redeeming this transaction, the person has the public key that hashes to this 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3600" baseline="30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3600" baseline="30000">
                <a:solidFill>
                  <a:srgbClr val="FF0000"/>
                </a:solidFill>
              </a:rPr>
              <a:t>And we need to check signature as well!</a:t>
            </a:r>
            <a:endParaRPr lang="fr-FR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Google Shape;182;p20">
            <a:extLst>
              <a:ext uri="{FF2B5EF4-FFF2-40B4-BE49-F238E27FC236}">
                <a16:creationId xmlns:a16="http://schemas.microsoft.com/office/drawing/2014/main" id="{F554DFDE-F3D5-53EE-4B91-DB9FA744C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Scripts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pic>
        <p:nvPicPr>
          <p:cNvPr id="3" name="Espace réservé du contenu 2">
            <a:extLst>
              <a:ext uri="{FF2B5EF4-FFF2-40B4-BE49-F238E27FC236}">
                <a16:creationId xmlns:a16="http://schemas.microsoft.com/office/drawing/2014/main" id="{50D80927-6CAA-10B8-DEBB-B825954A5A1F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76400"/>
            <a:ext cx="8369300" cy="4191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435AC8-2CC8-67C4-F8EA-76F1D941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re 1">
            <a:extLst>
              <a:ext uri="{FF2B5EF4-FFF2-40B4-BE49-F238E27FC236}">
                <a16:creationId xmlns:a16="http://schemas.microsoft.com/office/drawing/2014/main" id="{067BD74A-8682-6A2C-7E4F-98355374A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scripting logic</a:t>
            </a:r>
          </a:p>
        </p:txBody>
      </p:sp>
      <p:sp>
        <p:nvSpPr>
          <p:cNvPr id="50178" name="Espace réservé du contenu 2">
            <a:extLst>
              <a:ext uri="{FF2B5EF4-FFF2-40B4-BE49-F238E27FC236}">
                <a16:creationId xmlns:a16="http://schemas.microsoft.com/office/drawing/2014/main" id="{18D36E63-42FE-75C5-A8CC-E50A3DCB0B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 dirty="0"/>
              <a:t>To </a:t>
            </a:r>
            <a:r>
              <a:rPr lang="fr-FR" altLang="en-US" sz="2400" dirty="0" err="1"/>
              <a:t>validate</a:t>
            </a:r>
            <a:r>
              <a:rPr lang="fr-FR" altLang="en-US" sz="2400" dirty="0"/>
              <a:t> </a:t>
            </a:r>
            <a:r>
              <a:rPr lang="fr-FR" altLang="en-US" sz="2400" dirty="0" err="1"/>
              <a:t>that</a:t>
            </a:r>
            <a:r>
              <a:rPr lang="fr-FR" altLang="en-US" sz="2400" dirty="0"/>
              <a:t> a transaction </a:t>
            </a:r>
            <a:r>
              <a:rPr lang="fr-FR" altLang="en-US" sz="2400" dirty="0" err="1"/>
              <a:t>redeems</a:t>
            </a:r>
            <a:r>
              <a:rPr lang="fr-FR" altLang="en-US" sz="2400" dirty="0"/>
              <a:t> a </a:t>
            </a:r>
            <a:r>
              <a:rPr lang="fr-FR" altLang="en-US" sz="2400" dirty="0" err="1"/>
              <a:t>previous</a:t>
            </a:r>
            <a:r>
              <a:rPr lang="fr-FR" altLang="en-US" sz="2400" dirty="0"/>
              <a:t> transaction output </a:t>
            </a:r>
            <a:r>
              <a:rPr lang="fr-FR" altLang="en-US" sz="2400" dirty="0" err="1"/>
              <a:t>correctly</a:t>
            </a:r>
            <a:r>
              <a:rPr lang="fr-FR" altLang="en-US" sz="2400" dirty="0"/>
              <a:t>, </a:t>
            </a:r>
          </a:p>
          <a:p>
            <a:pPr lvl="1"/>
            <a:r>
              <a:rPr lang="fr-FR" altLang="en-US" sz="2000" dirty="0" err="1"/>
              <a:t>we</a:t>
            </a:r>
            <a:r>
              <a:rPr lang="fr-FR" altLang="en-US" sz="2000" dirty="0"/>
              <a:t> combine the new </a:t>
            </a:r>
            <a:r>
              <a:rPr lang="fr-FR" altLang="en-US" sz="2000" dirty="0" err="1"/>
              <a:t>transaction</a:t>
            </a:r>
            <a:r>
              <a:rPr lang="fr-FR" altLang="fr-FR" sz="2000" dirty="0" err="1"/>
              <a:t>’</a:t>
            </a:r>
            <a:r>
              <a:rPr lang="fr-FR" altLang="en-US" sz="2000" dirty="0" err="1"/>
              <a:t>s</a:t>
            </a:r>
            <a:r>
              <a:rPr lang="fr-FR" altLang="en-US" sz="2000" dirty="0"/>
              <a:t> input script and the </a:t>
            </a:r>
            <a:r>
              <a:rPr lang="fr-FR" altLang="en-US" sz="2000" dirty="0" err="1"/>
              <a:t>earlier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transaction</a:t>
            </a:r>
            <a:r>
              <a:rPr lang="fr-FR" altLang="fr-FR" sz="2000" dirty="0" err="1"/>
              <a:t>’</a:t>
            </a:r>
            <a:r>
              <a:rPr lang="fr-FR" altLang="en-US" sz="2000" dirty="0" err="1"/>
              <a:t>s</a:t>
            </a:r>
            <a:r>
              <a:rPr lang="fr-FR" altLang="en-US" sz="2000" dirty="0"/>
              <a:t> output script. </a:t>
            </a:r>
          </a:p>
          <a:p>
            <a:pPr lvl="1"/>
            <a:r>
              <a:rPr lang="fr-FR" altLang="en-US" sz="2000" dirty="0" err="1"/>
              <a:t>We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simply</a:t>
            </a:r>
            <a:r>
              <a:rPr lang="fr-FR" altLang="en-US" sz="2000" dirty="0"/>
              <a:t> </a:t>
            </a:r>
            <a:r>
              <a:rPr lang="fr-FR" altLang="en-US" sz="2000" dirty="0" err="1"/>
              <a:t>concatenate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them</a:t>
            </a:r>
            <a:r>
              <a:rPr lang="fr-FR" altLang="en-US" sz="2000" dirty="0"/>
              <a:t>, and the </a:t>
            </a:r>
            <a:r>
              <a:rPr lang="fr-FR" altLang="en-US" sz="2000" dirty="0" err="1"/>
              <a:t>resulting</a:t>
            </a:r>
            <a:r>
              <a:rPr lang="fr-FR" altLang="en-US" sz="2000" dirty="0"/>
              <a:t> script must run </a:t>
            </a:r>
            <a:r>
              <a:rPr lang="fr-FR" altLang="en-US" sz="2000" dirty="0" err="1"/>
              <a:t>successfully</a:t>
            </a:r>
            <a:r>
              <a:rPr lang="fr-FR" altLang="en-US" sz="2000" dirty="0"/>
              <a:t> in </a:t>
            </a:r>
            <a:r>
              <a:rPr lang="fr-FR" altLang="en-US" sz="2000" dirty="0" err="1"/>
              <a:t>order</a:t>
            </a:r>
            <a:r>
              <a:rPr lang="fr-FR" altLang="en-US" sz="2000" dirty="0"/>
              <a:t> for the transaction to </a:t>
            </a:r>
            <a:r>
              <a:rPr lang="fr-FR" altLang="en-US" sz="2000" dirty="0" err="1"/>
              <a:t>be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valid</a:t>
            </a:r>
            <a:r>
              <a:rPr lang="fr-FR" altLang="en-US" sz="2000" dirty="0"/>
              <a:t>. </a:t>
            </a:r>
          </a:p>
          <a:p>
            <a:pPr lvl="1"/>
            <a:r>
              <a:rPr lang="fr-FR" altLang="en-US" sz="2000" dirty="0" err="1"/>
              <a:t>These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two</a:t>
            </a:r>
            <a:r>
              <a:rPr lang="fr-FR" altLang="en-US" sz="2000" dirty="0"/>
              <a:t> scripts are </a:t>
            </a:r>
            <a:r>
              <a:rPr lang="fr-FR" altLang="en-US" sz="2000" dirty="0" err="1"/>
              <a:t>called</a:t>
            </a:r>
            <a:r>
              <a:rPr lang="fr-FR" altLang="en-US" sz="2000" dirty="0"/>
              <a:t> </a:t>
            </a:r>
            <a:r>
              <a:rPr lang="fr-FR" altLang="en-US" sz="2000" b="1" i="1" dirty="0"/>
              <a:t>s</a:t>
            </a:r>
            <a:r>
              <a:rPr lang="fr-FR" altLang="en-US" sz="2000" dirty="0"/>
              <a:t>​</a:t>
            </a:r>
            <a:r>
              <a:rPr lang="fr-FR" altLang="en-US" sz="2000" b="1" i="1" dirty="0" err="1"/>
              <a:t>criptPubKey</a:t>
            </a:r>
            <a:r>
              <a:rPr lang="fr-FR" altLang="en-US" sz="2000" dirty="0"/>
              <a:t>​ and </a:t>
            </a:r>
            <a:r>
              <a:rPr lang="fr-FR" altLang="en-US" sz="2000" b="1" i="1" dirty="0"/>
              <a:t>s</a:t>
            </a:r>
            <a:r>
              <a:rPr lang="fr-FR" altLang="en-US" sz="2000" dirty="0"/>
              <a:t>​</a:t>
            </a:r>
            <a:r>
              <a:rPr lang="fr-FR" altLang="en-US" sz="2000" b="1" i="1" dirty="0" err="1"/>
              <a:t>criptSig</a:t>
            </a:r>
            <a:r>
              <a:rPr lang="fr-FR" altLang="en-US" sz="2000" dirty="0"/>
              <a:t>​ </a:t>
            </a:r>
            <a:r>
              <a:rPr lang="fr-FR" altLang="en-US" sz="2000" dirty="0" err="1"/>
              <a:t>because</a:t>
            </a:r>
            <a:r>
              <a:rPr lang="fr-FR" altLang="en-US" sz="2000" dirty="0"/>
              <a:t> in the </a:t>
            </a:r>
            <a:r>
              <a:rPr lang="fr-FR" altLang="en-US" sz="2000" dirty="0" err="1"/>
              <a:t>simplest</a:t>
            </a:r>
            <a:r>
              <a:rPr lang="fr-FR" altLang="en-US" sz="2000" dirty="0"/>
              <a:t> case, the output script </a:t>
            </a:r>
            <a:r>
              <a:rPr lang="fr-FR" altLang="en-US" sz="2000" dirty="0" err="1"/>
              <a:t>just</a:t>
            </a:r>
            <a:r>
              <a:rPr lang="fr-FR" altLang="en-US" sz="2000" dirty="0"/>
              <a:t> </a:t>
            </a:r>
            <a:r>
              <a:rPr lang="fr-FR" altLang="en-US" sz="2000" dirty="0" err="1"/>
              <a:t>specifies</a:t>
            </a:r>
            <a:r>
              <a:rPr lang="fr-FR" altLang="en-US" sz="2000" dirty="0"/>
              <a:t> a public key (or an </a:t>
            </a:r>
            <a:r>
              <a:rPr lang="fr-FR" altLang="en-US" sz="2000" dirty="0" err="1"/>
              <a:t>address</a:t>
            </a:r>
            <a:r>
              <a:rPr lang="fr-FR" altLang="en-US" sz="2000" dirty="0"/>
              <a:t> to </a:t>
            </a:r>
            <a:r>
              <a:rPr lang="fr-FR" altLang="en-US" sz="2000" dirty="0" err="1"/>
              <a:t>which</a:t>
            </a:r>
            <a:r>
              <a:rPr lang="fr-FR" altLang="en-US" sz="2000" dirty="0"/>
              <a:t> the public key </a:t>
            </a:r>
            <a:r>
              <a:rPr lang="fr-FR" altLang="en-US" sz="2000" dirty="0" err="1"/>
              <a:t>hashes</a:t>
            </a:r>
            <a:r>
              <a:rPr lang="fr-FR" altLang="en-US" sz="2000" dirty="0"/>
              <a:t>), and the input script </a:t>
            </a:r>
            <a:r>
              <a:rPr lang="fr-FR" altLang="en-US" sz="2000" dirty="0" err="1"/>
              <a:t>specifies</a:t>
            </a:r>
            <a:r>
              <a:rPr lang="fr-FR" altLang="en-US" sz="2000" dirty="0"/>
              <a:t> a signature </a:t>
            </a:r>
            <a:r>
              <a:rPr lang="fr-FR" altLang="en-US" sz="2000" dirty="0" err="1"/>
              <a:t>with</a:t>
            </a:r>
            <a:r>
              <a:rPr lang="fr-FR" altLang="en-US" sz="2000" dirty="0"/>
              <a:t> </a:t>
            </a:r>
            <a:r>
              <a:rPr lang="fr-FR" altLang="en-US" sz="2000" dirty="0" err="1"/>
              <a:t>that</a:t>
            </a:r>
            <a:r>
              <a:rPr lang="fr-FR" altLang="en-US" sz="2000" dirty="0"/>
              <a:t> public key. </a:t>
            </a:r>
          </a:p>
          <a:p>
            <a:endParaRPr lang="fr-FR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86D036-EFA1-55DC-D646-E1ED7CB8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Google Shape;188;p21">
            <a:extLst>
              <a:ext uri="{FF2B5EF4-FFF2-40B4-BE49-F238E27FC236}">
                <a16:creationId xmlns:a16="http://schemas.microsoft.com/office/drawing/2014/main" id="{7B4EA5E7-8017-584D-AE64-4FA490A93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0263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Input </a:t>
            </a:r>
            <a:r>
              <a:rPr lang="fr-FR" altLang="fr-FR"/>
              <a:t>“</a:t>
            </a:r>
            <a:r>
              <a:rPr lang="fr-FR" altLang="en-US"/>
              <a:t>addresses</a:t>
            </a:r>
            <a:r>
              <a:rPr lang="fr-FR" altLang="fr-FR"/>
              <a:t>”</a:t>
            </a:r>
            <a:r>
              <a:rPr lang="fr-FR" altLang="en-US"/>
              <a:t> are </a:t>
            </a:r>
            <a:r>
              <a:rPr lang="fr-FR" altLang="en-US" i="1"/>
              <a:t>also</a:t>
            </a:r>
            <a:r>
              <a:rPr lang="fr-FR" altLang="en-US"/>
              <a:t> scripts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51202" name="Google Shape;189;p21">
            <a:extLst>
              <a:ext uri="{FF2B5EF4-FFF2-40B4-BE49-F238E27FC236}">
                <a16:creationId xmlns:a16="http://schemas.microsoft.com/office/drawing/2014/main" id="{185CF786-460E-7CC7-AA8D-EE82D8990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063" y="3879850"/>
            <a:ext cx="7094537" cy="2246313"/>
          </a:xfrm>
          <a:prstGeom prst="rect">
            <a:avLst/>
          </a:prstGeom>
          <a:solidFill>
            <a:srgbClr val="F1C2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OP_DUP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OP_HASH160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69e02e18...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OP_EQUALVERIFY OP_CHECKSIG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1203" name="Google Shape;190;p21">
            <a:extLst>
              <a:ext uri="{FF2B5EF4-FFF2-40B4-BE49-F238E27FC236}">
                <a16:creationId xmlns:a16="http://schemas.microsoft.com/office/drawing/2014/main" id="{ABD92A70-9F1F-EA32-CFD7-28C05978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063" y="1635125"/>
            <a:ext cx="7094537" cy="2244725"/>
          </a:xfrm>
          <a:prstGeom prst="rect">
            <a:avLst/>
          </a:prstGeom>
          <a:solidFill>
            <a:srgbClr val="D5A6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30440220...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0467d2c9...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91" name="Google Shape;191;p21">
            <a:extLst>
              <a:ext uri="{FF2B5EF4-FFF2-40B4-BE49-F238E27FC236}">
                <a16:creationId xmlns:a16="http://schemas.microsoft.com/office/drawing/2014/main" id="{CAB61B3F-4546-55A4-72C4-ACC5D2BCA0B5}"/>
              </a:ext>
            </a:extLst>
          </p:cNvPr>
          <p:cNvSpPr>
            <a:spLocks/>
          </p:cNvSpPr>
          <p:nvPr/>
        </p:nvSpPr>
        <p:spPr bwMode="auto">
          <a:xfrm>
            <a:off x="1435100" y="1724025"/>
            <a:ext cx="369888" cy="2155825"/>
          </a:xfrm>
          <a:prstGeom prst="leftBrace">
            <a:avLst>
              <a:gd name="adj1" fmla="val 8365"/>
              <a:gd name="adj2" fmla="val 48606"/>
            </a:avLst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192" name="Google Shape;192;p21">
            <a:extLst>
              <a:ext uri="{FF2B5EF4-FFF2-40B4-BE49-F238E27FC236}">
                <a16:creationId xmlns:a16="http://schemas.microsoft.com/office/drawing/2014/main" id="{FBB105D9-7E07-478D-5EE1-4F9453A3FC5B}"/>
              </a:ext>
            </a:extLst>
          </p:cNvPr>
          <p:cNvSpPr>
            <a:spLocks/>
          </p:cNvSpPr>
          <p:nvPr/>
        </p:nvSpPr>
        <p:spPr bwMode="auto">
          <a:xfrm>
            <a:off x="1435100" y="3970338"/>
            <a:ext cx="369888" cy="2155825"/>
          </a:xfrm>
          <a:prstGeom prst="leftBrace">
            <a:avLst>
              <a:gd name="adj1" fmla="val 8365"/>
              <a:gd name="adj2" fmla="val 48606"/>
            </a:avLst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193" name="Google Shape;193;p21">
            <a:extLst>
              <a:ext uri="{FF2B5EF4-FFF2-40B4-BE49-F238E27FC236}">
                <a16:creationId xmlns:a16="http://schemas.microsoft.com/office/drawing/2014/main" id="{9E806927-629F-44BC-59B1-C3593E5B1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2520950"/>
            <a:ext cx="1176337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scriptSig</a:t>
            </a:r>
          </a:p>
        </p:txBody>
      </p:sp>
      <p:sp>
        <p:nvSpPr>
          <p:cNvPr id="194" name="Google Shape;194;p21">
            <a:extLst>
              <a:ext uri="{FF2B5EF4-FFF2-40B4-BE49-F238E27FC236}">
                <a16:creationId xmlns:a16="http://schemas.microsoft.com/office/drawing/2014/main" id="{A6C2F39F-FB93-066D-E2B6-C2A7ED958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1225"/>
            <a:ext cx="169227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scriptPubKey</a:t>
            </a:r>
          </a:p>
        </p:txBody>
      </p:sp>
      <p:sp>
        <p:nvSpPr>
          <p:cNvPr id="195" name="Google Shape;195;p21">
            <a:extLst>
              <a:ext uri="{FF2B5EF4-FFF2-40B4-BE49-F238E27FC236}">
                <a16:creationId xmlns:a16="http://schemas.microsoft.com/office/drawing/2014/main" id="{F9DAE0AA-5FB8-E4F0-0FE6-DD24738B5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888" y="6223000"/>
            <a:ext cx="6265862" cy="56515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Trebuchet MS" panose="020B0603020202020204" pitchFamily="34" charset="0"/>
                <a:sym typeface="Trebuchet MS" panose="020B0603020202020204" pitchFamily="34" charset="0"/>
              </a:rPr>
              <a:t>TO VERIFY</a:t>
            </a: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: Concatenated script must execute completely with no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re 1">
            <a:extLst>
              <a:ext uri="{FF2B5EF4-FFF2-40B4-BE49-F238E27FC236}">
                <a16:creationId xmlns:a16="http://schemas.microsoft.com/office/drawing/2014/main" id="{DF5CF5A8-2CFC-4577-EA2F-057FFD903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Scipts</a:t>
            </a:r>
          </a:p>
        </p:txBody>
      </p:sp>
      <p:sp>
        <p:nvSpPr>
          <p:cNvPr id="53250" name="Espace réservé du texte 2">
            <a:extLst>
              <a:ext uri="{FF2B5EF4-FFF2-40B4-BE49-F238E27FC236}">
                <a16:creationId xmlns:a16="http://schemas.microsoft.com/office/drawing/2014/main" id="{C63C4939-80CD-9FBF-4415-0C6FD5D9F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/>
              <a:t>A stack based programming language, all we</a:t>
            </a:r>
            <a:r>
              <a:rPr lang="fr-FR" altLang="fr-FR" sz="2800"/>
              <a:t>’</a:t>
            </a:r>
            <a:r>
              <a:rPr lang="fr-FR" altLang="en-US" sz="2800"/>
              <a:t>ll need is a stack that we can push data to and pop data from! </a:t>
            </a:r>
          </a:p>
          <a:p>
            <a:endParaRPr lang="fr-FR" altLang="en-US" sz="2800"/>
          </a:p>
          <a:p>
            <a:r>
              <a:rPr lang="fr-FR" altLang="en-US" sz="2800"/>
              <a:t>There are two types of instructions: data instructions and opcodes. </a:t>
            </a:r>
          </a:p>
          <a:p>
            <a:pPr lvl="1"/>
            <a:r>
              <a:rPr lang="fr-FR" altLang="en-US" sz="2400"/>
              <a:t>When a data instruction appears in a script, that data is simply pushed onto the top of the stack. </a:t>
            </a:r>
          </a:p>
          <a:p>
            <a:pPr lvl="1"/>
            <a:r>
              <a:rPr lang="fr-FR" altLang="en-US" sz="2400"/>
              <a:t>Opcodes, on the other hand, perform some function, often taking as input data that is on top of the stack. </a:t>
            </a:r>
          </a:p>
          <a:p>
            <a:endParaRPr lang="fr-FR" altLang="en-US" sz="2800"/>
          </a:p>
          <a:p>
            <a:endParaRPr lang="fr-FR" altLang="en-US" sz="2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875CBF-F076-FFFC-7154-8EBB45D2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re 1">
            <a:extLst>
              <a:ext uri="{FF2B5EF4-FFF2-40B4-BE49-F238E27FC236}">
                <a16:creationId xmlns:a16="http://schemas.microsoft.com/office/drawing/2014/main" id="{FD1BE736-4ED5-6784-23EF-39B89336B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Common Script Instructions</a:t>
            </a:r>
          </a:p>
        </p:txBody>
      </p:sp>
      <p:pic>
        <p:nvPicPr>
          <p:cNvPr id="54274" name="Image 3" descr="Screenshot 2019-09-19 at 9.50.37 AM.pdf">
            <a:extLst>
              <a:ext uri="{FF2B5EF4-FFF2-40B4-BE49-F238E27FC236}">
                <a16:creationId xmlns:a16="http://schemas.microsoft.com/office/drawing/2014/main" id="{3BB63C11-83E4-ED6C-DCBA-29CF475E6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785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Google Shape;210;p23">
            <a:extLst>
              <a:ext uri="{FF2B5EF4-FFF2-40B4-BE49-F238E27FC236}">
                <a16:creationId xmlns:a16="http://schemas.microsoft.com/office/drawing/2014/main" id="{BE1AB050-012D-FBB6-68DB-73B2F7804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Bitcoin script execution example</a:t>
            </a:r>
            <a:endParaRPr lang="fr-FR" altLang="en-US" i="1"/>
          </a:p>
        </p:txBody>
      </p:sp>
      <p:sp>
        <p:nvSpPr>
          <p:cNvPr id="55298" name="Google Shape;211;p23">
            <a:extLst>
              <a:ext uri="{FF2B5EF4-FFF2-40B4-BE49-F238E27FC236}">
                <a16:creationId xmlns:a16="http://schemas.microsoft.com/office/drawing/2014/main" id="{3B9ABD13-E7C0-6BF1-6A81-9E4B6A06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78513"/>
            <a:ext cx="8953500" cy="611187"/>
          </a:xfrm>
          <a:prstGeom prst="rect">
            <a:avLst/>
          </a:prstGeom>
          <a:solidFill>
            <a:srgbClr val="B6D7A8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500" b="1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&lt;sig&gt; &lt;pubKey&gt; OP_DUP OP_HASH160 &lt;pubKeyHash?&gt; OP_EQUALVERIFY OP_CHECKSIG</a:t>
            </a:r>
            <a:endParaRPr lang="fr-FR" altLang="en-US" sz="1500"/>
          </a:p>
        </p:txBody>
      </p:sp>
      <p:cxnSp>
        <p:nvCxnSpPr>
          <p:cNvPr id="212" name="Google Shape;212;p23">
            <a:extLst>
              <a:ext uri="{FF2B5EF4-FFF2-40B4-BE49-F238E27FC236}">
                <a16:creationId xmlns:a16="http://schemas.microsoft.com/office/drawing/2014/main" id="{E5294051-D410-8736-9503-FBBFC3B9F0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3063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3" name="Google Shape;213;p23">
            <a:extLst>
              <a:ext uri="{FF2B5EF4-FFF2-40B4-BE49-F238E27FC236}">
                <a16:creationId xmlns:a16="http://schemas.microsoft.com/office/drawing/2014/main" id="{4F980E38-29AA-8531-3E73-D6B95F20CA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22375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4" name="Google Shape;214;p23">
            <a:extLst>
              <a:ext uri="{FF2B5EF4-FFF2-40B4-BE49-F238E27FC236}">
                <a16:creationId xmlns:a16="http://schemas.microsoft.com/office/drawing/2014/main" id="{DA4EC869-A6D3-C10C-8F47-C6D373C48B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90763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" name="Google Shape;215;p23">
            <a:extLst>
              <a:ext uri="{FF2B5EF4-FFF2-40B4-BE49-F238E27FC236}">
                <a16:creationId xmlns:a16="http://schemas.microsoft.com/office/drawing/2014/main" id="{6BAF5C4D-45A7-21F6-93B5-A160B13B8F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30575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" name="Google Shape;216;p23">
            <a:extLst>
              <a:ext uri="{FF2B5EF4-FFF2-40B4-BE49-F238E27FC236}">
                <a16:creationId xmlns:a16="http://schemas.microsoft.com/office/drawing/2014/main" id="{A1BD36A5-263E-5BDB-B741-7EE25C6EF5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76750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7" name="Google Shape;217;p23">
            <a:extLst>
              <a:ext uri="{FF2B5EF4-FFF2-40B4-BE49-F238E27FC236}">
                <a16:creationId xmlns:a16="http://schemas.microsoft.com/office/drawing/2014/main" id="{04D972C2-B2F0-A166-E99A-4CE93393AE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8725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" name="Google Shape;218;p23">
            <a:extLst>
              <a:ext uri="{FF2B5EF4-FFF2-40B4-BE49-F238E27FC236}">
                <a16:creationId xmlns:a16="http://schemas.microsoft.com/office/drawing/2014/main" id="{22E496D6-727D-FE90-FD24-4118E8EE5B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51800" y="5102225"/>
            <a:ext cx="0" cy="661988"/>
          </a:xfrm>
          <a:prstGeom prst="straightConnector1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9" name="Google Shape;219;p23">
            <a:extLst>
              <a:ext uri="{FF2B5EF4-FFF2-40B4-BE49-F238E27FC236}">
                <a16:creationId xmlns:a16="http://schemas.microsoft.com/office/drawing/2014/main" id="{B894D440-B877-0D6F-261C-42974AAA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841750"/>
            <a:ext cx="2841625" cy="631825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&lt;sig&gt;</a:t>
            </a:r>
          </a:p>
        </p:txBody>
      </p:sp>
      <p:sp>
        <p:nvSpPr>
          <p:cNvPr id="220" name="Google Shape;220;p23">
            <a:extLst>
              <a:ext uri="{FF2B5EF4-FFF2-40B4-BE49-F238E27FC236}">
                <a16:creationId xmlns:a16="http://schemas.microsoft.com/office/drawing/2014/main" id="{5FC27594-4D41-319D-FAD3-C50D9477A6C6}"/>
              </a:ext>
            </a:extLst>
          </p:cNvPr>
          <p:cNvSpPr txBox="1"/>
          <p:nvPr/>
        </p:nvSpPr>
        <p:spPr>
          <a:xfrm>
            <a:off x="3633425" y="1334233"/>
            <a:ext cx="1137600" cy="273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" sz="9600" b="1">
                <a:solidFill>
                  <a:srgbClr val="274E13"/>
                </a:solidFill>
                <a:highlight>
                  <a:srgbClr val="F9F9F9"/>
                </a:highlight>
                <a:latin typeface="Arial" charset="0"/>
                <a:ea typeface="ＭＳ Ｐゴシック" charset="0"/>
                <a:cs typeface="ＭＳ Ｐゴシック" charset="0"/>
              </a:rPr>
              <a:t>✓</a:t>
            </a:r>
            <a:endParaRPr sz="9600" b="1">
              <a:solidFill>
                <a:srgbClr val="274E13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1" name="Google Shape;221;p23">
            <a:extLst>
              <a:ext uri="{FF2B5EF4-FFF2-40B4-BE49-F238E27FC236}">
                <a16:creationId xmlns:a16="http://schemas.microsoft.com/office/drawing/2014/main" id="{B41AA4D1-19A3-40D1-20AD-1BFB3CFC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209925"/>
            <a:ext cx="2841625" cy="631825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&lt;pubKey&gt;</a:t>
            </a:r>
          </a:p>
        </p:txBody>
      </p:sp>
      <p:sp>
        <p:nvSpPr>
          <p:cNvPr id="222" name="Google Shape;222;p23">
            <a:extLst>
              <a:ext uri="{FF2B5EF4-FFF2-40B4-BE49-F238E27FC236}">
                <a16:creationId xmlns:a16="http://schemas.microsoft.com/office/drawing/2014/main" id="{BA22F35D-1CFD-C0BA-F170-0A19E1C44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576513"/>
            <a:ext cx="2841625" cy="633412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&lt;pubKey&gt;</a:t>
            </a:r>
          </a:p>
        </p:txBody>
      </p:sp>
      <p:sp>
        <p:nvSpPr>
          <p:cNvPr id="223" name="Google Shape;223;p23">
            <a:extLst>
              <a:ext uri="{FF2B5EF4-FFF2-40B4-BE49-F238E27FC236}">
                <a16:creationId xmlns:a16="http://schemas.microsoft.com/office/drawing/2014/main" id="{54CE59A6-E26B-A605-F381-EAF5417C2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944688"/>
            <a:ext cx="2841625" cy="631825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&lt;pubKeyHash?&gt;</a:t>
            </a:r>
          </a:p>
        </p:txBody>
      </p:sp>
      <p:sp>
        <p:nvSpPr>
          <p:cNvPr id="224" name="Google Shape;224;p23">
            <a:extLst>
              <a:ext uri="{FF2B5EF4-FFF2-40B4-BE49-F238E27FC236}">
                <a16:creationId xmlns:a16="http://schemas.microsoft.com/office/drawing/2014/main" id="{70404765-2F92-053E-76D3-963BC3649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581275"/>
            <a:ext cx="2841625" cy="633413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&lt;pubKeyHash&gt;</a:t>
            </a:r>
          </a:p>
        </p:txBody>
      </p:sp>
      <p:sp>
        <p:nvSpPr>
          <p:cNvPr id="225" name="Google Shape;225;p23">
            <a:extLst>
              <a:ext uri="{FF2B5EF4-FFF2-40B4-BE49-F238E27FC236}">
                <a16:creationId xmlns:a16="http://schemas.microsoft.com/office/drawing/2014/main" id="{4BEF896D-711E-6C5D-617D-EFB0377B9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841750"/>
            <a:ext cx="2841625" cy="631825"/>
          </a:xfrm>
          <a:prstGeom prst="rect">
            <a:avLst/>
          </a:prstGeom>
          <a:solidFill>
            <a:srgbClr val="6AA84F"/>
          </a:solidFill>
          <a:ln w="1905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>
                <a:latin typeface="Courier New" panose="02070309020205020404" pitchFamily="49" charset="0"/>
                <a:sym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Google Shape;200;p22">
            <a:extLst>
              <a:ext uri="{FF2B5EF4-FFF2-40B4-BE49-F238E27FC236}">
                <a16:creationId xmlns:a16="http://schemas.microsoft.com/office/drawing/2014/main" id="{3C0CD3D1-2335-0D48-9323-E9CD7F2BB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scripting language (</a:t>
            </a:r>
            <a:r>
              <a:rPr lang="fr-FR" altLang="fr-FR"/>
              <a:t>“</a:t>
            </a:r>
            <a:r>
              <a:rPr lang="fr-FR" altLang="en-US"/>
              <a:t>Script</a:t>
            </a:r>
            <a:r>
              <a:rPr lang="fr-FR" altLang="fr-FR"/>
              <a:t>”</a:t>
            </a:r>
            <a:r>
              <a:rPr lang="fr-FR" altLang="en-US"/>
              <a:t>)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57346" name="Google Shape;201;p22">
            <a:extLst>
              <a:ext uri="{FF2B5EF4-FFF2-40B4-BE49-F238E27FC236}">
                <a16:creationId xmlns:a16="http://schemas.microsoft.com/office/drawing/2014/main" id="{A1692826-C01C-D7CD-8078-CB6BF9020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fr-FR" altLang="en-US"/>
              <a:t>Design goals</a:t>
            </a:r>
          </a:p>
          <a:p>
            <a:pPr marL="0" indent="0"/>
            <a:r>
              <a:rPr lang="fr-FR" altLang="en-US"/>
              <a:t>Built for Bitcoin (inspired by Forth)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Simple, compact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Support for cryptography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Stack-based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Limits on time/memory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No looping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563BB-A839-86F0-372C-8467189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Google Shape;230;p24">
            <a:extLst>
              <a:ext uri="{FF2B5EF4-FFF2-40B4-BE49-F238E27FC236}">
                <a16:creationId xmlns:a16="http://schemas.microsoft.com/office/drawing/2014/main" id="{D922CC12-5B29-109E-3A56-7F5FBDEA4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script instructions</a:t>
            </a:r>
            <a:endParaRPr lang="fr-FR" altLang="en-US" i="1"/>
          </a:p>
        </p:txBody>
      </p:sp>
      <p:sp>
        <p:nvSpPr>
          <p:cNvPr id="59394" name="Google Shape;231;p24">
            <a:extLst>
              <a:ext uri="{FF2B5EF4-FFF2-40B4-BE49-F238E27FC236}">
                <a16:creationId xmlns:a16="http://schemas.microsoft.com/office/drawing/2014/main" id="{8545D3B8-D39E-2477-7500-500B0D0DEA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fr-FR" altLang="en-US"/>
              <a:t>256 opcodes total (15 disabled, 75 reserved)</a:t>
            </a:r>
          </a:p>
          <a:p>
            <a:pPr marL="0" indent="0"/>
            <a:r>
              <a:rPr lang="fr-FR" altLang="en-US"/>
              <a:t>Arithmetic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If/then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Logic/data handling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Crypto!</a:t>
            </a:r>
          </a:p>
          <a:p>
            <a:pPr marL="1828800" lvl="1">
              <a:spcBef>
                <a:spcPct val="0"/>
              </a:spcBef>
            </a:pPr>
            <a:r>
              <a:rPr lang="fr-FR" altLang="en-US"/>
              <a:t>Hashes</a:t>
            </a:r>
          </a:p>
          <a:p>
            <a:pPr marL="1828800" lvl="1">
              <a:spcBef>
                <a:spcPct val="0"/>
              </a:spcBef>
            </a:pPr>
            <a:r>
              <a:rPr lang="fr-FR" altLang="en-US"/>
              <a:t>Signature verification</a:t>
            </a:r>
          </a:p>
          <a:p>
            <a:pPr marL="1828800" lvl="1">
              <a:spcBef>
                <a:spcPct val="0"/>
              </a:spcBef>
            </a:pPr>
            <a:r>
              <a:rPr lang="fr-FR" altLang="en-US"/>
              <a:t>Multi-signature verification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26D96B-4EA8-A7F7-A14A-E8144674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Google Shape;244;p26">
            <a:extLst>
              <a:ext uri="{FF2B5EF4-FFF2-40B4-BE49-F238E27FC236}">
                <a16:creationId xmlns:a16="http://schemas.microsoft.com/office/drawing/2014/main" id="{938258CF-B5F8-67FD-FF38-EC350205B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3200"/>
              <a:t>Bitcoin scripts in practice</a:t>
            </a:r>
            <a:endParaRPr lang="fr-FR" altLang="en-US" sz="3200" i="1"/>
          </a:p>
        </p:txBody>
      </p:sp>
      <p:sp>
        <p:nvSpPr>
          <p:cNvPr id="61442" name="Google Shape;245;p26">
            <a:extLst>
              <a:ext uri="{FF2B5EF4-FFF2-40B4-BE49-F238E27FC236}">
                <a16:creationId xmlns:a16="http://schemas.microsoft.com/office/drawing/2014/main" id="{0A59775A-7095-672D-8C90-C2E8C255E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indent="-457200"/>
            <a:r>
              <a:rPr lang="fr-FR" altLang="en-US" sz="2400"/>
              <a:t>Most nodes whitelist known scripts</a:t>
            </a:r>
          </a:p>
          <a:p>
            <a:pPr indent="-457200">
              <a:spcBef>
                <a:spcPct val="0"/>
              </a:spcBef>
            </a:pPr>
            <a:r>
              <a:rPr lang="fr-FR" altLang="en-US" sz="2400"/>
              <a:t>99.9% are simple signature checks</a:t>
            </a:r>
          </a:p>
          <a:p>
            <a:pPr indent="-457200">
              <a:spcBef>
                <a:spcPct val="0"/>
              </a:spcBef>
            </a:pPr>
            <a:r>
              <a:rPr lang="fr-FR" altLang="en-US" sz="2400"/>
              <a:t>~0.01% are MULTISIG</a:t>
            </a:r>
          </a:p>
          <a:p>
            <a:pPr indent="-457200">
              <a:spcBef>
                <a:spcPct val="0"/>
              </a:spcBef>
            </a:pPr>
            <a:r>
              <a:rPr lang="fr-FR" altLang="en-US" sz="2400"/>
              <a:t>~0.01% are </a:t>
            </a:r>
            <a:r>
              <a:rPr lang="fr-FR" altLang="en-US" sz="2400">
                <a:solidFill>
                  <a:srgbClr val="0000FF"/>
                </a:solidFill>
              </a:rPr>
              <a:t>Pay-to-Script-Hash</a:t>
            </a:r>
          </a:p>
          <a:p>
            <a:pPr indent="-457200">
              <a:spcBef>
                <a:spcPct val="0"/>
              </a:spcBef>
              <a:buClr>
                <a:srgbClr val="000000"/>
              </a:buClr>
            </a:pPr>
            <a:r>
              <a:rPr lang="fr-FR" altLang="en-US" sz="2400">
                <a:solidFill>
                  <a:srgbClr val="000000"/>
                </a:solidFill>
              </a:rPr>
              <a:t>Remainder are errors, proof-of-burn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3E4DC-52A2-5672-A40D-9F61C426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Google Shape;251;p27">
            <a:extLst>
              <a:ext uri="{FF2B5EF4-FFF2-40B4-BE49-F238E27FC236}">
                <a16:creationId xmlns:a16="http://schemas.microsoft.com/office/drawing/2014/main" id="{D570175C-791C-DE39-496E-A5529185A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Proof-of-burn</a:t>
            </a:r>
            <a:endParaRPr lang="fr-FR" altLang="en-US" i="1"/>
          </a:p>
        </p:txBody>
      </p:sp>
      <p:sp>
        <p:nvSpPr>
          <p:cNvPr id="63490" name="Google Shape;252;p27">
            <a:extLst>
              <a:ext uri="{FF2B5EF4-FFF2-40B4-BE49-F238E27FC236}">
                <a16:creationId xmlns:a16="http://schemas.microsoft.com/office/drawing/2014/main" id="{38E38853-1B39-7A4A-DF13-1A2A960C2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79850"/>
            <a:ext cx="7094538" cy="2246313"/>
          </a:xfrm>
          <a:prstGeom prst="rect">
            <a:avLst/>
          </a:prstGeom>
          <a:solidFill>
            <a:srgbClr val="F1C2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OP_RETURN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&lt;arbitrary data&gt;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253" name="Google Shape;253;p27">
            <a:extLst>
              <a:ext uri="{FF2B5EF4-FFF2-40B4-BE49-F238E27FC236}">
                <a16:creationId xmlns:a16="http://schemas.microsoft.com/office/drawing/2014/main" id="{1C91DFD2-B780-D0AB-14D3-7067E8418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635125"/>
            <a:ext cx="7094538" cy="2244725"/>
          </a:xfrm>
          <a:prstGeom prst="rect">
            <a:avLst/>
          </a:prstGeom>
          <a:solidFill>
            <a:srgbClr val="D5A6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nothing</a:t>
            </a:r>
            <a:r>
              <a:rPr lang="fr-FR" altLang="fr-FR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’</a:t>
            </a: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s going to redeem that ☹</a:t>
            </a:r>
            <a:endParaRPr lang="fr-FR" altLang="en-US" sz="2400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Google Shape;258;p28">
            <a:extLst>
              <a:ext uri="{FF2B5EF4-FFF2-40B4-BE49-F238E27FC236}">
                <a16:creationId xmlns:a16="http://schemas.microsoft.com/office/drawing/2014/main" id="{D0495910-4C6C-5A26-CB00-623AE17A5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Should senders specify scripts?</a:t>
            </a:r>
            <a:endParaRPr lang="fr-FR" altLang="en-US" i="1"/>
          </a:p>
        </p:txBody>
      </p:sp>
      <p:sp>
        <p:nvSpPr>
          <p:cNvPr id="65538" name="Google Shape;259;p28">
            <a:extLst>
              <a:ext uri="{FF2B5EF4-FFF2-40B4-BE49-F238E27FC236}">
                <a16:creationId xmlns:a16="http://schemas.microsoft.com/office/drawing/2014/main" id="{9C150A94-AFAD-56F8-B932-47C097A0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233613"/>
            <a:ext cx="1427163" cy="1741487"/>
          </a:xfrm>
          <a:prstGeom prst="smileyFace">
            <a:avLst>
              <a:gd name="adj" fmla="val 4653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65539" name="Google Shape;260;p28">
            <a:extLst>
              <a:ext uri="{FF2B5EF4-FFF2-40B4-BE49-F238E27FC236}">
                <a16:creationId xmlns:a16="http://schemas.microsoft.com/office/drawing/2014/main" id="{533EDD7F-E077-3A32-633C-8281C9C7D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1809750"/>
            <a:ext cx="2695575" cy="2589213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65540" name="Google Shape;261;p28">
            <a:extLst>
              <a:ext uri="{FF2B5EF4-FFF2-40B4-BE49-F238E27FC236}">
                <a16:creationId xmlns:a16="http://schemas.microsoft.com/office/drawing/2014/main" id="{2245E2D9-FC7C-C91E-1357-625F215F3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1704975"/>
            <a:ext cx="1573212" cy="7493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/>
              <a:t>Big Box</a:t>
            </a:r>
          </a:p>
        </p:txBody>
      </p:sp>
      <p:cxnSp>
        <p:nvCxnSpPr>
          <p:cNvPr id="262" name="Google Shape;262;p28">
            <a:extLst>
              <a:ext uri="{FF2B5EF4-FFF2-40B4-BE49-F238E27FC236}">
                <a16:creationId xmlns:a16="http://schemas.microsoft.com/office/drawing/2014/main" id="{E8792EF0-F02D-ECDC-D952-DC39FB7339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51038" y="2478088"/>
            <a:ext cx="3265487" cy="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3" name="Google Shape;263;p28">
            <a:extLst>
              <a:ext uri="{FF2B5EF4-FFF2-40B4-BE49-F238E27FC236}">
                <a16:creationId xmlns:a16="http://schemas.microsoft.com/office/drawing/2014/main" id="{AA75AF77-FF02-0184-269F-36760DF0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914525"/>
            <a:ext cx="30464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I</a:t>
            </a:r>
            <a:r>
              <a:rPr lang="fr-FR" altLang="fr-FR" sz="2800"/>
              <a:t>’</a:t>
            </a:r>
            <a:r>
              <a:rPr lang="fr-FR" altLang="en-US" sz="2800"/>
              <a:t>m ready to pay for my purchases!</a:t>
            </a:r>
          </a:p>
        </p:txBody>
      </p:sp>
      <p:cxnSp>
        <p:nvCxnSpPr>
          <p:cNvPr id="264" name="Google Shape;264;p28">
            <a:extLst>
              <a:ext uri="{FF2B5EF4-FFF2-40B4-BE49-F238E27FC236}">
                <a16:creationId xmlns:a16="http://schemas.microsoft.com/office/drawing/2014/main" id="{EB6066DD-1DAE-1B08-49ED-BB74BB7868A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51038" y="3233738"/>
            <a:ext cx="3294062" cy="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5" name="Google Shape;265;p28">
            <a:extLst>
              <a:ext uri="{FF2B5EF4-FFF2-40B4-BE49-F238E27FC236}">
                <a16:creationId xmlns:a16="http://schemas.microsoft.com/office/drawing/2014/main" id="{95031C04-314C-5CB0-78AF-292176ADD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3360738"/>
            <a:ext cx="3265488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Cool! Well we</a:t>
            </a:r>
            <a:r>
              <a:rPr lang="fr-FR" altLang="fr-FR" sz="2000"/>
              <a:t>’</a:t>
            </a:r>
            <a:r>
              <a:rPr lang="fr-FR" altLang="en-US" sz="2000"/>
              <a:t>re using MULTISIG now, so include a script requiring 2 of our 3 account managers to approve. Don</a:t>
            </a:r>
            <a:r>
              <a:rPr lang="fr-FR" altLang="fr-FR" sz="2000"/>
              <a:t>’</a:t>
            </a:r>
            <a:r>
              <a:rPr lang="fr-FR" altLang="en-US" sz="2000"/>
              <a:t>t get any of those details wrong. Thanks for shopping at Big Box!</a:t>
            </a:r>
          </a:p>
        </p:txBody>
      </p:sp>
      <p:sp>
        <p:nvSpPr>
          <p:cNvPr id="266" name="Google Shape;266;p28">
            <a:extLst>
              <a:ext uri="{FF2B5EF4-FFF2-40B4-BE49-F238E27FC236}">
                <a16:creationId xmlns:a16="http://schemas.microsoft.com/office/drawing/2014/main" id="{F84B7B62-7155-1DB3-43D3-BE009F238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233613"/>
            <a:ext cx="1427163" cy="1741487"/>
          </a:xfrm>
          <a:prstGeom prst="smileyFace">
            <a:avLst>
              <a:gd name="adj" fmla="val -4653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267" name="Google Shape;267;p28">
            <a:extLst>
              <a:ext uri="{FF2B5EF4-FFF2-40B4-BE49-F238E27FC236}">
                <a16:creationId xmlns:a16="http://schemas.microsoft.com/office/drawing/2014/main" id="{2EE261DA-2235-3CEF-1B79-8E3CD368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1524000"/>
            <a:ext cx="533400" cy="601663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 b="1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Google Shape;282;p30">
            <a:extLst>
              <a:ext uri="{FF2B5EF4-FFF2-40B4-BE49-F238E27FC236}">
                <a16:creationId xmlns:a16="http://schemas.microsoft.com/office/drawing/2014/main" id="{BFB0E2FB-7996-C6EE-21D1-29C4E174C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Pay to script hash</a:t>
            </a:r>
            <a:endParaRPr lang="fr-FR" altLang="en-US" i="1"/>
          </a:p>
        </p:txBody>
      </p:sp>
      <p:sp>
        <p:nvSpPr>
          <p:cNvPr id="67586" name="Google Shape;283;p30">
            <a:extLst>
              <a:ext uri="{FF2B5EF4-FFF2-40B4-BE49-F238E27FC236}">
                <a16:creationId xmlns:a16="http://schemas.microsoft.com/office/drawing/2014/main" id="{BE7E3391-AF6E-55C4-D0BB-4409BF5B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233613"/>
            <a:ext cx="1427163" cy="1741487"/>
          </a:xfrm>
          <a:prstGeom prst="smileyFace">
            <a:avLst>
              <a:gd name="adj" fmla="val 4653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67587" name="Google Shape;284;p30">
            <a:extLst>
              <a:ext uri="{FF2B5EF4-FFF2-40B4-BE49-F238E27FC236}">
                <a16:creationId xmlns:a16="http://schemas.microsoft.com/office/drawing/2014/main" id="{0B0A652A-E77E-265C-AB86-11CED1FF7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1809750"/>
            <a:ext cx="2695575" cy="2589213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67588" name="Google Shape;285;p30">
            <a:extLst>
              <a:ext uri="{FF2B5EF4-FFF2-40B4-BE49-F238E27FC236}">
                <a16:creationId xmlns:a16="http://schemas.microsoft.com/office/drawing/2014/main" id="{87DC8D15-A445-87ED-63B4-03C48B38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1704975"/>
            <a:ext cx="1573212" cy="749300"/>
          </a:xfrm>
          <a:prstGeom prst="cube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400" b="1"/>
              <a:t>Big Box</a:t>
            </a:r>
          </a:p>
        </p:txBody>
      </p:sp>
      <p:cxnSp>
        <p:nvCxnSpPr>
          <p:cNvPr id="67589" name="Google Shape;286;p30">
            <a:extLst>
              <a:ext uri="{FF2B5EF4-FFF2-40B4-BE49-F238E27FC236}">
                <a16:creationId xmlns:a16="http://schemas.microsoft.com/office/drawing/2014/main" id="{26EAE204-FEBF-69F0-5861-253BFE050D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51038" y="2478088"/>
            <a:ext cx="3265487" cy="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0" name="Google Shape;287;p30">
            <a:extLst>
              <a:ext uri="{FF2B5EF4-FFF2-40B4-BE49-F238E27FC236}">
                <a16:creationId xmlns:a16="http://schemas.microsoft.com/office/drawing/2014/main" id="{72F28700-4600-E977-B07C-860BD8FF8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914525"/>
            <a:ext cx="30464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I</a:t>
            </a:r>
            <a:r>
              <a:rPr lang="fr-FR" altLang="fr-FR" sz="2800"/>
              <a:t>’</a:t>
            </a:r>
            <a:r>
              <a:rPr lang="fr-FR" altLang="en-US" sz="2800"/>
              <a:t>m ready to pay for my purchases!</a:t>
            </a:r>
          </a:p>
        </p:txBody>
      </p:sp>
      <p:cxnSp>
        <p:nvCxnSpPr>
          <p:cNvPr id="288" name="Google Shape;288;p30">
            <a:extLst>
              <a:ext uri="{FF2B5EF4-FFF2-40B4-BE49-F238E27FC236}">
                <a16:creationId xmlns:a16="http://schemas.microsoft.com/office/drawing/2014/main" id="{831979A4-2B20-381C-86C1-69CD1D77A70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51038" y="3233738"/>
            <a:ext cx="3294062" cy="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9" name="Google Shape;289;p30">
            <a:extLst>
              <a:ext uri="{FF2B5EF4-FFF2-40B4-BE49-F238E27FC236}">
                <a16:creationId xmlns:a16="http://schemas.microsoft.com/office/drawing/2014/main" id="{00B10DE1-D5D5-A2FF-68EC-F3EC9C1B6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3360738"/>
            <a:ext cx="3265488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Great! Here</a:t>
            </a:r>
            <a:r>
              <a:rPr lang="fr-FR" altLang="fr-FR" sz="2800"/>
              <a:t>’</a:t>
            </a:r>
            <a:r>
              <a:rPr lang="fr-FR" altLang="en-US" sz="2800"/>
              <a:t>s our address: 0x3454</a:t>
            </a:r>
          </a:p>
        </p:txBody>
      </p:sp>
      <p:sp>
        <p:nvSpPr>
          <p:cNvPr id="67593" name="Google Shape;290;p30">
            <a:extLst>
              <a:ext uri="{FF2B5EF4-FFF2-40B4-BE49-F238E27FC236}">
                <a16:creationId xmlns:a16="http://schemas.microsoft.com/office/drawing/2014/main" id="{FBDC8ADB-B834-7F78-3817-E2A85D9D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233613"/>
            <a:ext cx="1427163" cy="1741487"/>
          </a:xfrm>
          <a:prstGeom prst="smileyFace">
            <a:avLst>
              <a:gd name="adj" fmla="val 4653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Google Shape;295;p31">
            <a:extLst>
              <a:ext uri="{FF2B5EF4-FFF2-40B4-BE49-F238E27FC236}">
                <a16:creationId xmlns:a16="http://schemas.microsoft.com/office/drawing/2014/main" id="{4C89F0A0-9338-5F4E-E12A-F033880500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2254250"/>
            <a:ext cx="7772400" cy="2297113"/>
          </a:xfrm>
        </p:spPr>
        <p:txBody>
          <a:bodyPr lIns="91425" tIns="91425" rIns="91425" bIns="91425"/>
          <a:lstStyle/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/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r>
              <a:rPr lang="en-US" altLang="en-US"/>
              <a:t>Applications of Bitcoin scripts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DD40C-C30F-8BC7-3C2D-6A6A4277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Google Shape;300;p32">
            <a:extLst>
              <a:ext uri="{FF2B5EF4-FFF2-40B4-BE49-F238E27FC236}">
                <a16:creationId xmlns:a16="http://schemas.microsoft.com/office/drawing/2014/main" id="{30A1C7FA-3312-52F6-858D-912125E14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Example 1: Escrow transactions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sp>
        <p:nvSpPr>
          <p:cNvPr id="301" name="Google Shape;301;p32">
            <a:extLst>
              <a:ext uri="{FF2B5EF4-FFF2-40B4-BE49-F238E27FC236}">
                <a16:creationId xmlns:a16="http://schemas.microsoft.com/office/drawing/2014/main" id="{CEEAAFB5-4365-E511-B52C-B11D4CD4C029}"/>
              </a:ext>
            </a:extLst>
          </p:cNvPr>
          <p:cNvSpPr/>
          <p:nvPr/>
        </p:nvSpPr>
        <p:spPr>
          <a:xfrm>
            <a:off x="146050" y="3698875"/>
            <a:ext cx="1425575" cy="1741488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>
            <a:extLst>
              <a:ext uri="{FF2B5EF4-FFF2-40B4-BE49-F238E27FC236}">
                <a16:creationId xmlns:a16="http://schemas.microsoft.com/office/drawing/2014/main" id="{7BC82CA1-4CDA-5E62-8531-1BD8A225048B}"/>
              </a:ext>
            </a:extLst>
          </p:cNvPr>
          <p:cNvSpPr/>
          <p:nvPr/>
        </p:nvSpPr>
        <p:spPr>
          <a:xfrm>
            <a:off x="7112000" y="3698875"/>
            <a:ext cx="1427163" cy="1741488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2">
            <a:extLst>
              <a:ext uri="{FF2B5EF4-FFF2-40B4-BE49-F238E27FC236}">
                <a16:creationId xmlns:a16="http://schemas.microsoft.com/office/drawing/2014/main" id="{F4857D18-C665-B336-DFE8-C21AA68C8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5426075"/>
            <a:ext cx="5365750" cy="130175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PROBLEM: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Alice wants to buy online from Bob. Alice doesn</a:t>
            </a:r>
            <a:r>
              <a:rPr lang="en-US" altLang="fr-FR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 want to pay until after Bob ships.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Bob doesn</a:t>
            </a:r>
            <a:r>
              <a:rPr lang="en-US" altLang="fr-FR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 want to ship until after Alice pays.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04" name="Google Shape;304;p32">
            <a:extLst>
              <a:ext uri="{FF2B5EF4-FFF2-40B4-BE49-F238E27FC236}">
                <a16:creationId xmlns:a16="http://schemas.microsoft.com/office/drawing/2014/main" id="{E35CECCA-866D-15C1-F209-B67D81C1CAD2}"/>
              </a:ext>
            </a:extLst>
          </p:cNvPr>
          <p:cNvSpPr/>
          <p:nvPr/>
        </p:nvSpPr>
        <p:spPr>
          <a:xfrm>
            <a:off x="1945843" y="4610893"/>
            <a:ext cx="5002213" cy="887413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to 2-of-3 of Alice, Bob, Judy (MULTISIG)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32">
            <a:extLst>
              <a:ext uri="{FF2B5EF4-FFF2-40B4-BE49-F238E27FC236}">
                <a16:creationId xmlns:a16="http://schemas.microsoft.com/office/drawing/2014/main" id="{08C5D5D5-A7DE-AD37-1807-5AC5549F1457}"/>
              </a:ext>
            </a:extLst>
          </p:cNvPr>
          <p:cNvSpPr txBox="1"/>
          <p:nvPr/>
        </p:nvSpPr>
        <p:spPr>
          <a:xfrm>
            <a:off x="7512050" y="5440363"/>
            <a:ext cx="627063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>
            <a:extLst>
              <a:ext uri="{FF2B5EF4-FFF2-40B4-BE49-F238E27FC236}">
                <a16:creationId xmlns:a16="http://schemas.microsoft.com/office/drawing/2014/main" id="{D8179388-A527-AF5B-F286-108C83EBD877}"/>
              </a:ext>
            </a:extLst>
          </p:cNvPr>
          <p:cNvSpPr txBox="1"/>
          <p:nvPr/>
        </p:nvSpPr>
        <p:spPr>
          <a:xfrm>
            <a:off x="544513" y="5440363"/>
            <a:ext cx="628650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2">
            <a:extLst>
              <a:ext uri="{FF2B5EF4-FFF2-40B4-BE49-F238E27FC236}">
                <a16:creationId xmlns:a16="http://schemas.microsoft.com/office/drawing/2014/main" id="{7E8AB448-FD50-BFDC-3D50-D0B3179ED4A5}"/>
              </a:ext>
            </a:extLst>
          </p:cNvPr>
          <p:cNvSpPr/>
          <p:nvPr/>
        </p:nvSpPr>
        <p:spPr>
          <a:xfrm>
            <a:off x="725488" y="1236663"/>
            <a:ext cx="1019175" cy="12446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>
            <a:extLst>
              <a:ext uri="{FF2B5EF4-FFF2-40B4-BE49-F238E27FC236}">
                <a16:creationId xmlns:a16="http://schemas.microsoft.com/office/drawing/2014/main" id="{E794AE9D-1010-C1C4-7C34-9D5AF127518F}"/>
              </a:ext>
            </a:extLst>
          </p:cNvPr>
          <p:cNvSpPr/>
          <p:nvPr/>
        </p:nvSpPr>
        <p:spPr>
          <a:xfrm>
            <a:off x="3605609" y="3331802"/>
            <a:ext cx="1300163" cy="1143000"/>
          </a:xfrm>
          <a:prstGeom prst="cube">
            <a:avLst>
              <a:gd name="adj" fmla="val 25000"/>
            </a:avLst>
          </a:prstGeom>
          <a:solidFill>
            <a:srgbClr val="B45F06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To: Alice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From: Bob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32">
            <a:extLst>
              <a:ext uri="{FF2B5EF4-FFF2-40B4-BE49-F238E27FC236}">
                <a16:creationId xmlns:a16="http://schemas.microsoft.com/office/drawing/2014/main" id="{1F61990D-0E19-4698-F9CE-1588AC45D59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598613" y="4911725"/>
            <a:ext cx="5459412" cy="0"/>
          </a:xfrm>
          <a:prstGeom prst="straightConnector1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0" name="Google Shape;310;p32">
            <a:extLst>
              <a:ext uri="{FF2B5EF4-FFF2-40B4-BE49-F238E27FC236}">
                <a16:creationId xmlns:a16="http://schemas.microsoft.com/office/drawing/2014/main" id="{E251823E-09B4-43B7-F8C2-8B325040C058}"/>
              </a:ext>
            </a:extLst>
          </p:cNvPr>
          <p:cNvSpPr/>
          <p:nvPr/>
        </p:nvSpPr>
        <p:spPr>
          <a:xfrm>
            <a:off x="1916113" y="2222500"/>
            <a:ext cx="5003800" cy="887413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to Bob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SIGNED(ALICE, BOB)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11" name="Google Shape;311;p32">
            <a:extLst>
              <a:ext uri="{FF2B5EF4-FFF2-40B4-BE49-F238E27FC236}">
                <a16:creationId xmlns:a16="http://schemas.microsoft.com/office/drawing/2014/main" id="{67F8407C-CF2A-DF38-F42C-A910C966B3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28850" y="2876550"/>
            <a:ext cx="212725" cy="267493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2" name="Google Shape;312;p32">
            <a:extLst>
              <a:ext uri="{FF2B5EF4-FFF2-40B4-BE49-F238E27FC236}">
                <a16:creationId xmlns:a16="http://schemas.microsoft.com/office/drawing/2014/main" id="{EDADCF5C-9EFD-C470-B171-FF96B0A75F8E}"/>
              </a:ext>
            </a:extLst>
          </p:cNvPr>
          <p:cNvSpPr txBox="1"/>
          <p:nvPr/>
        </p:nvSpPr>
        <p:spPr>
          <a:xfrm>
            <a:off x="2767013" y="1417638"/>
            <a:ext cx="3151187" cy="76993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30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(normal case)</a:t>
            </a:r>
            <a:endParaRPr sz="30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>
            <a:extLst>
              <a:ext uri="{FF2B5EF4-FFF2-40B4-BE49-F238E27FC236}">
                <a16:creationId xmlns:a16="http://schemas.microsoft.com/office/drawing/2014/main" id="{A04AE09F-9015-0750-7812-1621B2096832}"/>
              </a:ext>
            </a:extLst>
          </p:cNvPr>
          <p:cNvSpPr/>
          <p:nvPr/>
        </p:nvSpPr>
        <p:spPr>
          <a:xfrm>
            <a:off x="4859338" y="3935413"/>
            <a:ext cx="133350" cy="331787"/>
          </a:xfrm>
          <a:prstGeom prst="irregularSeal2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>
            <a:extLst>
              <a:ext uri="{FF2B5EF4-FFF2-40B4-BE49-F238E27FC236}">
                <a16:creationId xmlns:a16="http://schemas.microsoft.com/office/drawing/2014/main" id="{FDAC48D9-F2D2-39F3-16CF-D3002AE41203}"/>
              </a:ext>
            </a:extLst>
          </p:cNvPr>
          <p:cNvSpPr/>
          <p:nvPr/>
        </p:nvSpPr>
        <p:spPr>
          <a:xfrm rot="4877682">
            <a:off x="4186238" y="3471863"/>
            <a:ext cx="284162" cy="398462"/>
          </a:xfrm>
          <a:prstGeom prst="irregularSeal2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>
            <a:extLst>
              <a:ext uri="{FF2B5EF4-FFF2-40B4-BE49-F238E27FC236}">
                <a16:creationId xmlns:a16="http://schemas.microsoft.com/office/drawing/2014/main" id="{EFDEA729-7523-708E-0870-CD1AA4440FC6}"/>
              </a:ext>
            </a:extLst>
          </p:cNvPr>
          <p:cNvSpPr/>
          <p:nvPr/>
        </p:nvSpPr>
        <p:spPr>
          <a:xfrm>
            <a:off x="1906588" y="2259013"/>
            <a:ext cx="5002212" cy="887412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Pay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SIGNED(ALICE, JUDY)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2">
            <a:extLst>
              <a:ext uri="{FF2B5EF4-FFF2-40B4-BE49-F238E27FC236}">
                <a16:creationId xmlns:a16="http://schemas.microsoft.com/office/drawing/2014/main" id="{0B1171D1-0DAC-7E3E-3F99-D3765FD69E5D}"/>
              </a:ext>
            </a:extLst>
          </p:cNvPr>
          <p:cNvSpPr txBox="1"/>
          <p:nvPr/>
        </p:nvSpPr>
        <p:spPr>
          <a:xfrm>
            <a:off x="2751930" y="4303352"/>
            <a:ext cx="3152775" cy="76993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30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(disputed case)</a:t>
            </a:r>
            <a:endParaRPr sz="300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>
            <a:extLst>
              <a:ext uri="{FF2B5EF4-FFF2-40B4-BE49-F238E27FC236}">
                <a16:creationId xmlns:a16="http://schemas.microsoft.com/office/drawing/2014/main" id="{E8119681-3DEC-5442-7945-17A982007F11}"/>
              </a:ext>
            </a:extLst>
          </p:cNvPr>
          <p:cNvSpPr txBox="1"/>
          <p:nvPr/>
        </p:nvSpPr>
        <p:spPr>
          <a:xfrm>
            <a:off x="863600" y="2451100"/>
            <a:ext cx="627063" cy="43021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Judy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2">
            <a:extLst>
              <a:ext uri="{FF2B5EF4-FFF2-40B4-BE49-F238E27FC236}">
                <a16:creationId xmlns:a16="http://schemas.microsoft.com/office/drawing/2014/main" id="{4D10CF79-F070-5DE6-C7B5-519A5F56681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874713"/>
            <a:ext cx="1300162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Google Shape;324;p33">
            <a:extLst>
              <a:ext uri="{FF2B5EF4-FFF2-40B4-BE49-F238E27FC236}">
                <a16:creationId xmlns:a16="http://schemas.microsoft.com/office/drawing/2014/main" id="{EF1F07ED-B055-D3A8-0733-371044D70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Example 2: Green addresses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6C01E626-42B0-36D4-F1B7-DA2707D051C6}"/>
              </a:ext>
            </a:extLst>
          </p:cNvPr>
          <p:cNvSpPr/>
          <p:nvPr/>
        </p:nvSpPr>
        <p:spPr>
          <a:xfrm>
            <a:off x="146050" y="3698875"/>
            <a:ext cx="1425575" cy="1741488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3">
            <a:extLst>
              <a:ext uri="{FF2B5EF4-FFF2-40B4-BE49-F238E27FC236}">
                <a16:creationId xmlns:a16="http://schemas.microsoft.com/office/drawing/2014/main" id="{B7CB15E1-A376-410D-3AA3-875DD0EA40F3}"/>
              </a:ext>
            </a:extLst>
          </p:cNvPr>
          <p:cNvSpPr txBox="1"/>
          <p:nvPr/>
        </p:nvSpPr>
        <p:spPr>
          <a:xfrm>
            <a:off x="544513" y="5440363"/>
            <a:ext cx="628650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97DEEF42-1F08-637B-1CAD-991239B94216}"/>
              </a:ext>
            </a:extLst>
          </p:cNvPr>
          <p:cNvSpPr/>
          <p:nvPr/>
        </p:nvSpPr>
        <p:spPr>
          <a:xfrm>
            <a:off x="7112000" y="3698875"/>
            <a:ext cx="1427163" cy="1741488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3C0B840C-7D0C-8051-F98D-828EBE235832}"/>
              </a:ext>
            </a:extLst>
          </p:cNvPr>
          <p:cNvSpPr txBox="1"/>
          <p:nvPr/>
        </p:nvSpPr>
        <p:spPr>
          <a:xfrm>
            <a:off x="7512050" y="5440363"/>
            <a:ext cx="627063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>
            <a:extLst>
              <a:ext uri="{FF2B5EF4-FFF2-40B4-BE49-F238E27FC236}">
                <a16:creationId xmlns:a16="http://schemas.microsoft.com/office/drawing/2014/main" id="{A49311ED-0E5A-B67A-5D59-C575D7BE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5426075"/>
            <a:ext cx="5365750" cy="130175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PROBLEM: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Alice wants to pay Bob.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Bob can</a:t>
            </a:r>
            <a:r>
              <a:rPr lang="en-US" altLang="fr-FR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 wait 6 verifications to guard against double-spends, or is offline completely.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pic>
        <p:nvPicPr>
          <p:cNvPr id="330" name="Google Shape;330;p33">
            <a:extLst>
              <a:ext uri="{FF2B5EF4-FFF2-40B4-BE49-F238E27FC236}">
                <a16:creationId xmlns:a16="http://schemas.microsoft.com/office/drawing/2014/main" id="{22FEF56F-B7A2-0978-6CF6-7E40B4925F6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8" y="1595438"/>
            <a:ext cx="130651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77A54391-BFEB-D137-C687-306A14C80BB3}"/>
              </a:ext>
            </a:extLst>
          </p:cNvPr>
          <p:cNvSpPr/>
          <p:nvPr/>
        </p:nvSpPr>
        <p:spPr>
          <a:xfrm>
            <a:off x="1746250" y="4195763"/>
            <a:ext cx="5002213" cy="887412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Pay x to Bob, y to Bank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SIGNED(BANK)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3" name="Google Shape;333;p33">
            <a:extLst>
              <a:ext uri="{FF2B5EF4-FFF2-40B4-BE49-F238E27FC236}">
                <a16:creationId xmlns:a16="http://schemas.microsoft.com/office/drawing/2014/main" id="{5CD539F9-29FE-BDF8-9D1E-121268E038F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1517650" y="3078163"/>
            <a:ext cx="1562100" cy="768350"/>
          </a:xfrm>
          <a:prstGeom prst="straightConnector1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4" name="Google Shape;334;p33">
            <a:extLst>
              <a:ext uri="{FF2B5EF4-FFF2-40B4-BE49-F238E27FC236}">
                <a16:creationId xmlns:a16="http://schemas.microsoft.com/office/drawing/2014/main" id="{63052078-D709-515F-FB99-D0889B1B7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8" y="2516188"/>
            <a:ext cx="2913062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It</a:t>
            </a:r>
            <a:r>
              <a:rPr lang="en-US" altLang="fr-FR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’</a:t>
            </a: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s me, Alice! Could you make out  a green payment to Bob?</a:t>
            </a:r>
            <a:endParaRPr lang="fr-FR" altLang="en-US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5" name="Google Shape;335;p33">
            <a:extLst>
              <a:ext uri="{FF2B5EF4-FFF2-40B4-BE49-F238E27FC236}">
                <a16:creationId xmlns:a16="http://schemas.microsoft.com/office/drawing/2014/main" id="{37F7B7C3-DC1A-68A7-9422-F1B8EFC40A1B}"/>
              </a:ext>
            </a:extLst>
          </p:cNvPr>
          <p:cNvSpPr txBox="1"/>
          <p:nvPr/>
        </p:nvSpPr>
        <p:spPr>
          <a:xfrm>
            <a:off x="3484563" y="3098800"/>
            <a:ext cx="628650" cy="43021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33">
            <a:extLst>
              <a:ext uri="{FF2B5EF4-FFF2-40B4-BE49-F238E27FC236}">
                <a16:creationId xmlns:a16="http://schemas.microsoft.com/office/drawing/2014/main" id="{62B45BEF-C225-E555-8528-EFAE06F0820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12913"/>
            <a:ext cx="95885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" name="Google Shape;337;p33">
            <a:extLst>
              <a:ext uri="{FF2B5EF4-FFF2-40B4-BE49-F238E27FC236}">
                <a16:creationId xmlns:a16="http://schemas.microsoft.com/office/drawing/2014/main" id="{59A1DA2B-86B0-13CF-EEBF-802269EA4115}"/>
              </a:ext>
            </a:extLst>
          </p:cNvPr>
          <p:cNvSpPr/>
          <p:nvPr/>
        </p:nvSpPr>
        <p:spPr>
          <a:xfrm>
            <a:off x="4451350" y="4291013"/>
            <a:ext cx="1757363" cy="557212"/>
          </a:xfrm>
          <a:prstGeom prst="horizont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double spend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3">
            <a:extLst>
              <a:ext uri="{FF2B5EF4-FFF2-40B4-BE49-F238E27FC236}">
                <a16:creationId xmlns:a16="http://schemas.microsoft.com/office/drawing/2014/main" id="{41141042-E9C7-66E3-5EE3-D8452F77401B}"/>
              </a:ext>
            </a:extLst>
          </p:cNvPr>
          <p:cNvSpPr/>
          <p:nvPr/>
        </p:nvSpPr>
        <p:spPr>
          <a:xfrm>
            <a:off x="4562475" y="1417638"/>
            <a:ext cx="4235450" cy="1028700"/>
          </a:xfrm>
          <a:prstGeom prst="wedgeEllipseCallout">
            <a:avLst>
              <a:gd name="adj1" fmla="val -49320"/>
              <a:gd name="adj2" fmla="val 5926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004</a:t>
            </a: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days since last double spend!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>
            <a:extLst>
              <a:ext uri="{FF2B5EF4-FFF2-40B4-BE49-F238E27FC236}">
                <a16:creationId xmlns:a16="http://schemas.microsoft.com/office/drawing/2014/main" id="{1E3E96CB-28DB-08F3-DD33-A27C65817BFC}"/>
              </a:ext>
            </a:extLst>
          </p:cNvPr>
          <p:cNvSpPr/>
          <p:nvPr/>
        </p:nvSpPr>
        <p:spPr>
          <a:xfrm>
            <a:off x="5211763" y="1811338"/>
            <a:ext cx="417512" cy="271462"/>
          </a:xfrm>
          <a:prstGeom prst="rect">
            <a:avLst/>
          </a:prstGeom>
          <a:solidFill>
            <a:srgbClr val="CC687A">
              <a:alpha val="5885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Google Shape;344;p34">
            <a:extLst>
              <a:ext uri="{FF2B5EF4-FFF2-40B4-BE49-F238E27FC236}">
                <a16:creationId xmlns:a16="http://schemas.microsoft.com/office/drawing/2014/main" id="{A278F430-5F05-622E-879F-628F05CB7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Example 3: Efficient micro-payments</a:t>
            </a:r>
            <a:endParaRPr lang="fr-FR" altLang="en-US" i="1">
              <a:sym typeface="Trebuchet MS" panose="020B0603020202020204" pitchFamily="34" charset="0"/>
            </a:endParaRPr>
          </a:p>
        </p:txBody>
      </p:sp>
      <p:sp>
        <p:nvSpPr>
          <p:cNvPr id="345" name="Google Shape;345;p34">
            <a:extLst>
              <a:ext uri="{FF2B5EF4-FFF2-40B4-BE49-F238E27FC236}">
                <a16:creationId xmlns:a16="http://schemas.microsoft.com/office/drawing/2014/main" id="{ADC467A2-C591-CA2E-F1FE-EB0CEE2446A4}"/>
              </a:ext>
            </a:extLst>
          </p:cNvPr>
          <p:cNvSpPr/>
          <p:nvPr/>
        </p:nvSpPr>
        <p:spPr>
          <a:xfrm>
            <a:off x="101600" y="4195763"/>
            <a:ext cx="1425575" cy="1743075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>
            <a:extLst>
              <a:ext uri="{FF2B5EF4-FFF2-40B4-BE49-F238E27FC236}">
                <a16:creationId xmlns:a16="http://schemas.microsoft.com/office/drawing/2014/main" id="{43C4FCD4-1A24-7ECF-4B20-14F707D7580A}"/>
              </a:ext>
            </a:extLst>
          </p:cNvPr>
          <p:cNvSpPr txBox="1"/>
          <p:nvPr/>
        </p:nvSpPr>
        <p:spPr>
          <a:xfrm>
            <a:off x="500063" y="5938838"/>
            <a:ext cx="628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>
            <a:extLst>
              <a:ext uri="{FF2B5EF4-FFF2-40B4-BE49-F238E27FC236}">
                <a16:creationId xmlns:a16="http://schemas.microsoft.com/office/drawing/2014/main" id="{B3AF9C45-5386-BD3F-1E5D-E4A387C62B59}"/>
              </a:ext>
            </a:extLst>
          </p:cNvPr>
          <p:cNvSpPr/>
          <p:nvPr/>
        </p:nvSpPr>
        <p:spPr>
          <a:xfrm>
            <a:off x="7112000" y="3981450"/>
            <a:ext cx="1427163" cy="1741488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>
            <a:extLst>
              <a:ext uri="{FF2B5EF4-FFF2-40B4-BE49-F238E27FC236}">
                <a16:creationId xmlns:a16="http://schemas.microsoft.com/office/drawing/2014/main" id="{F4296202-163E-6AB1-E6AC-33A3676B41AA}"/>
              </a:ext>
            </a:extLst>
          </p:cNvPr>
          <p:cNvSpPr txBox="1"/>
          <p:nvPr/>
        </p:nvSpPr>
        <p:spPr>
          <a:xfrm>
            <a:off x="7512050" y="5722938"/>
            <a:ext cx="627063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4">
            <a:extLst>
              <a:ext uri="{FF2B5EF4-FFF2-40B4-BE49-F238E27FC236}">
                <a16:creationId xmlns:a16="http://schemas.microsoft.com/office/drawing/2014/main" id="{B9B60C9A-4497-3EC4-A386-AC1A034A7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5426075"/>
            <a:ext cx="5365750" cy="1301750"/>
          </a:xfrm>
          <a:prstGeom prst="roundRect">
            <a:avLst>
              <a:gd name="adj" fmla="val 16667"/>
            </a:avLst>
          </a:prstGeom>
          <a:solidFill>
            <a:srgbClr val="D5A6BD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PROBLEM: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Alice wants to pay Bob for each minute of phone service. She doesn</a:t>
            </a:r>
            <a:r>
              <a:rPr lang="en-US" altLang="fr-FR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 want to incur a transaction fee every minute.</a:t>
            </a:r>
            <a:endParaRPr lang="fr-FR" altLang="en-US" sz="18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50" name="Google Shape;350;p34">
            <a:extLst>
              <a:ext uri="{FF2B5EF4-FFF2-40B4-BE49-F238E27FC236}">
                <a16:creationId xmlns:a16="http://schemas.microsoft.com/office/drawing/2014/main" id="{9EE67E67-9BF6-8BE8-17DC-3E963C67B870}"/>
              </a:ext>
            </a:extLst>
          </p:cNvPr>
          <p:cNvSpPr/>
          <p:nvPr/>
        </p:nvSpPr>
        <p:spPr>
          <a:xfrm>
            <a:off x="1817688" y="4953000"/>
            <a:ext cx="5003800" cy="655638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01 to Bob, 99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1" name="Google Shape;351;p34">
            <a:extLst>
              <a:ext uri="{FF2B5EF4-FFF2-40B4-BE49-F238E27FC236}">
                <a16:creationId xmlns:a16="http://schemas.microsoft.com/office/drawing/2014/main" id="{9E83019B-3E6C-313A-9433-ACF395E80B50}"/>
              </a:ext>
            </a:extLst>
          </p:cNvPr>
          <p:cNvSpPr/>
          <p:nvPr/>
        </p:nvSpPr>
        <p:spPr>
          <a:xfrm>
            <a:off x="1817688" y="4297363"/>
            <a:ext cx="5003800" cy="655637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02 to Bob, 98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" name="Google Shape;352;p34">
            <a:extLst>
              <a:ext uri="{FF2B5EF4-FFF2-40B4-BE49-F238E27FC236}">
                <a16:creationId xmlns:a16="http://schemas.microsoft.com/office/drawing/2014/main" id="{F9298F6F-1F80-F290-9A2A-8B7A07F5F353}"/>
              </a:ext>
            </a:extLst>
          </p:cNvPr>
          <p:cNvSpPr/>
          <p:nvPr/>
        </p:nvSpPr>
        <p:spPr>
          <a:xfrm>
            <a:off x="1817688" y="3640138"/>
            <a:ext cx="5003800" cy="657225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03 to Bob, 97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p34">
            <a:extLst>
              <a:ext uri="{FF2B5EF4-FFF2-40B4-BE49-F238E27FC236}">
                <a16:creationId xmlns:a16="http://schemas.microsoft.com/office/drawing/2014/main" id="{D5108DB5-3A07-A294-E702-92D39F11C3FE}"/>
              </a:ext>
            </a:extLst>
          </p:cNvPr>
          <p:cNvSpPr/>
          <p:nvPr/>
        </p:nvSpPr>
        <p:spPr>
          <a:xfrm>
            <a:off x="1817688" y="2984500"/>
            <a:ext cx="5003800" cy="655638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04 to Bob, 96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p34">
            <a:extLst>
              <a:ext uri="{FF2B5EF4-FFF2-40B4-BE49-F238E27FC236}">
                <a16:creationId xmlns:a16="http://schemas.microsoft.com/office/drawing/2014/main" id="{EB27A556-8222-5BEF-6378-970CD4E1B300}"/>
              </a:ext>
            </a:extLst>
          </p:cNvPr>
          <p:cNvSpPr/>
          <p:nvPr/>
        </p:nvSpPr>
        <p:spPr>
          <a:xfrm>
            <a:off x="1817688" y="1873250"/>
            <a:ext cx="5003800" cy="655638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42 to Bob, 58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SIGNED(ALICE)___________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92AA2642-9765-7537-1130-9A3DDA70D052}"/>
              </a:ext>
            </a:extLst>
          </p:cNvPr>
          <p:cNvSpPr txBox="1"/>
          <p:nvPr/>
        </p:nvSpPr>
        <p:spPr>
          <a:xfrm>
            <a:off x="1927225" y="2466975"/>
            <a:ext cx="773113" cy="43021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>
            <a:extLst>
              <a:ext uri="{FF2B5EF4-FFF2-40B4-BE49-F238E27FC236}">
                <a16:creationId xmlns:a16="http://schemas.microsoft.com/office/drawing/2014/main" id="{E1402B10-584D-1620-C8FB-D14746781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538" y="3633788"/>
            <a:ext cx="1447800" cy="655637"/>
          </a:xfrm>
          <a:prstGeom prst="wedgeEllipseCallout">
            <a:avLst>
              <a:gd name="adj1" fmla="val -33454"/>
              <a:gd name="adj2" fmla="val 94352"/>
            </a:avLst>
          </a:prstGeom>
          <a:solidFill>
            <a:srgbClr val="FFE599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fr-FR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’</a:t>
            </a: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m done!</a:t>
            </a:r>
            <a:endParaRPr lang="fr-FR" altLang="en-US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7" name="Google Shape;357;p34">
            <a:extLst>
              <a:ext uri="{FF2B5EF4-FFF2-40B4-BE49-F238E27FC236}">
                <a16:creationId xmlns:a16="http://schemas.microsoft.com/office/drawing/2014/main" id="{5FF305FB-4031-0E0A-D2F5-1BF117955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275" y="3540125"/>
            <a:ext cx="1554163" cy="655638"/>
          </a:xfrm>
          <a:prstGeom prst="wedgeEllipseCallout">
            <a:avLst>
              <a:gd name="adj1" fmla="val 32014"/>
              <a:gd name="adj2" fmla="val 92981"/>
            </a:avLst>
          </a:prstGeom>
          <a:solidFill>
            <a:srgbClr val="FFE599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lang="en-US" altLang="fr-FR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’</a:t>
            </a:r>
            <a:r>
              <a:rPr lang="en-US" altLang="en-US" sz="14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ll publish!</a:t>
            </a:r>
            <a:endParaRPr lang="fr-FR" altLang="en-US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8" name="Google Shape;358;p34">
            <a:extLst>
              <a:ext uri="{FF2B5EF4-FFF2-40B4-BE49-F238E27FC236}">
                <a16:creationId xmlns:a16="http://schemas.microsoft.com/office/drawing/2014/main" id="{552A9B63-6DFF-D364-8D62-800FB6E5E51E}"/>
              </a:ext>
            </a:extLst>
          </p:cNvPr>
          <p:cNvSpPr/>
          <p:nvPr/>
        </p:nvSpPr>
        <p:spPr>
          <a:xfrm>
            <a:off x="1589088" y="1989138"/>
            <a:ext cx="228600" cy="3556000"/>
          </a:xfrm>
          <a:prstGeom prst="leftBrace">
            <a:avLst>
              <a:gd name="adj1" fmla="val 8333"/>
              <a:gd name="adj2" fmla="val 1205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357269C6-905B-EC32-0F45-08C27178539C}"/>
              </a:ext>
            </a:extLst>
          </p:cNvPr>
          <p:cNvSpPr txBox="1"/>
          <p:nvPr/>
        </p:nvSpPr>
        <p:spPr>
          <a:xfrm>
            <a:off x="139700" y="1989138"/>
            <a:ext cx="1554163" cy="7969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of these could be double-spends!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>
            <a:extLst>
              <a:ext uri="{FF2B5EF4-FFF2-40B4-BE49-F238E27FC236}">
                <a16:creationId xmlns:a16="http://schemas.microsoft.com/office/drawing/2014/main" id="{4F62072A-6D4F-4CF0-9F07-F3AB6D9C04B0}"/>
              </a:ext>
            </a:extLst>
          </p:cNvPr>
          <p:cNvSpPr/>
          <p:nvPr/>
        </p:nvSpPr>
        <p:spPr>
          <a:xfrm>
            <a:off x="1817688" y="5938838"/>
            <a:ext cx="5003800" cy="655637"/>
          </a:xfrm>
          <a:prstGeom prst="rect">
            <a:avLst/>
          </a:prstGeom>
          <a:solidFill>
            <a:srgbClr val="00FF00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y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100 to Bob/Alice (MULTISIG)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34">
            <a:extLst>
              <a:ext uri="{FF2B5EF4-FFF2-40B4-BE49-F238E27FC236}">
                <a16:creationId xmlns:a16="http://schemas.microsoft.com/office/drawing/2014/main" id="{5008B202-9DC1-3D20-79F3-64252A910E28}"/>
              </a:ext>
            </a:extLst>
          </p:cNvPr>
          <p:cNvSpPr/>
          <p:nvPr/>
        </p:nvSpPr>
        <p:spPr>
          <a:xfrm>
            <a:off x="1817688" y="1873250"/>
            <a:ext cx="5003800" cy="655638"/>
          </a:xfrm>
          <a:prstGeom prst="rect">
            <a:avLst/>
          </a:prstGeom>
          <a:solidFill>
            <a:srgbClr val="00FF00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42 to Bob, 58 to Alice</a:t>
            </a:r>
            <a:endParaRPr sz="1800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 SIGNED(BOB)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62" name="Google Shape;362;p34">
            <a:extLst>
              <a:ext uri="{FF2B5EF4-FFF2-40B4-BE49-F238E27FC236}">
                <a16:creationId xmlns:a16="http://schemas.microsoft.com/office/drawing/2014/main" id="{5ED4709C-A012-1358-78F6-2B5308120AB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00338" y="5367338"/>
            <a:ext cx="61912" cy="855662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3" name="Google Shape;363;p34">
            <a:extLst>
              <a:ext uri="{FF2B5EF4-FFF2-40B4-BE49-F238E27FC236}">
                <a16:creationId xmlns:a16="http://schemas.microsoft.com/office/drawing/2014/main" id="{DADFE1D9-F4CE-7461-1CB7-9DE5045590D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36838" y="4652963"/>
            <a:ext cx="87312" cy="1500187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4" name="Google Shape;364;p34">
            <a:extLst>
              <a:ext uri="{FF2B5EF4-FFF2-40B4-BE49-F238E27FC236}">
                <a16:creationId xmlns:a16="http://schemas.microsoft.com/office/drawing/2014/main" id="{854D9796-E1C3-CDAD-95FE-395B8F79C9F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00325" y="3962400"/>
            <a:ext cx="100013" cy="2246313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5" name="Google Shape;365;p34">
            <a:extLst>
              <a:ext uri="{FF2B5EF4-FFF2-40B4-BE49-F238E27FC236}">
                <a16:creationId xmlns:a16="http://schemas.microsoft.com/office/drawing/2014/main" id="{15C8EF34-3BD3-8936-47E9-0E95371D1C1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00325" y="3403600"/>
            <a:ext cx="66675" cy="2779713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6" name="Google Shape;366;p34">
            <a:extLst>
              <a:ext uri="{FF2B5EF4-FFF2-40B4-BE49-F238E27FC236}">
                <a16:creationId xmlns:a16="http://schemas.microsoft.com/office/drawing/2014/main" id="{7C409239-4131-C21A-1E15-AED7F2461F3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90800" y="2293938"/>
            <a:ext cx="9525" cy="3927475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7" name="Google Shape;367;p34">
            <a:extLst>
              <a:ext uri="{FF2B5EF4-FFF2-40B4-BE49-F238E27FC236}">
                <a16:creationId xmlns:a16="http://schemas.microsoft.com/office/drawing/2014/main" id="{5B772B31-498D-D8EE-37F6-6A5B3937E82D}"/>
              </a:ext>
            </a:extLst>
          </p:cNvPr>
          <p:cNvSpPr txBox="1"/>
          <p:nvPr/>
        </p:nvSpPr>
        <p:spPr>
          <a:xfrm>
            <a:off x="1908175" y="1408113"/>
            <a:ext cx="4705350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Bob never signs??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4">
            <a:extLst>
              <a:ext uri="{FF2B5EF4-FFF2-40B4-BE49-F238E27FC236}">
                <a16:creationId xmlns:a16="http://schemas.microsoft.com/office/drawing/2014/main" id="{6CF961B9-539E-D5BC-E011-A9D60A0CC840}"/>
              </a:ext>
            </a:extLst>
          </p:cNvPr>
          <p:cNvSpPr/>
          <p:nvPr/>
        </p:nvSpPr>
        <p:spPr>
          <a:xfrm>
            <a:off x="1817688" y="3167063"/>
            <a:ext cx="5003800" cy="655637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Input: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" sz="18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; Pay 100 to Alice, LOCK until time </a:t>
            </a:r>
            <a:r>
              <a:rPr lang="en" sz="1800" i="1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endParaRPr sz="1800" i="1" kern="0" baseline="-250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SIGNED(ALICE) SIGNED(BOB)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6E76B8F0-F718-7B3F-31F6-D118C4DFBF8C}"/>
              </a:ext>
            </a:extLst>
          </p:cNvPr>
          <p:cNvSpPr txBox="1"/>
          <p:nvPr/>
        </p:nvSpPr>
        <p:spPr>
          <a:xfrm>
            <a:off x="1865313" y="2751138"/>
            <a:ext cx="4916487" cy="43021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demands a timed refund transaction before starting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Google Shape;374;p35">
            <a:extLst>
              <a:ext uri="{FF2B5EF4-FFF2-40B4-BE49-F238E27FC236}">
                <a16:creationId xmlns:a16="http://schemas.microsoft.com/office/drawing/2014/main" id="{E7662F24-C749-FCC3-9243-EDB2C30E0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lock_time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77826" name="Google Shape;375;p35">
            <a:extLst>
              <a:ext uri="{FF2B5EF4-FFF2-40B4-BE49-F238E27FC236}">
                <a16:creationId xmlns:a16="http://schemas.microsoft.com/office/drawing/2014/main" id="{53AA26CB-728C-5DCA-19BD-286C266979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85975" y="1133475"/>
            <a:ext cx="8229600" cy="5527675"/>
          </a:xfrm>
        </p:spPr>
        <p:txBody>
          <a:bodyPr/>
          <a:lstStyle/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 sz="2400"/>
              <a:t>{</a:t>
            </a:r>
            <a:br>
              <a:rPr lang="fr-FR" altLang="en-US" sz="2400"/>
            </a:br>
            <a:r>
              <a:rPr lang="fr-FR" altLang="en-US" sz="2400"/>
              <a:t>    "hash":"5a42590...b8b6b",</a:t>
            </a:r>
            <a:br>
              <a:rPr lang="fr-FR" altLang="en-US" sz="2400"/>
            </a:br>
            <a:r>
              <a:rPr lang="fr-FR" altLang="en-US" sz="2400"/>
              <a:t>      "ver":1,</a:t>
            </a:r>
            <a:br>
              <a:rPr lang="fr-FR" altLang="en-US" sz="2400"/>
            </a:br>
            <a:r>
              <a:rPr lang="fr-FR" altLang="en-US" sz="2400"/>
              <a:t>      "vin_sz":2,</a:t>
            </a:r>
            <a:br>
              <a:rPr lang="fr-FR" altLang="en-US" sz="2400"/>
            </a:br>
            <a:r>
              <a:rPr lang="fr-FR" altLang="en-US" sz="2400"/>
              <a:t>      "vout_sz":1,</a:t>
            </a:r>
            <a:br>
              <a:rPr lang="fr-FR" altLang="en-US" sz="2400"/>
            </a:br>
            <a:r>
              <a:rPr lang="fr-FR" altLang="en-US" sz="2400"/>
              <a:t>      "lock_time":315415,</a:t>
            </a:r>
            <a:br>
              <a:rPr lang="fr-FR" altLang="en-US" sz="2400"/>
            </a:br>
            <a:r>
              <a:rPr lang="fr-FR" altLang="en-US" sz="2400"/>
              <a:t>      "size":404,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 sz="2400"/>
              <a:t>...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 sz="2400"/>
              <a:t>}</a:t>
            </a:r>
          </a:p>
        </p:txBody>
      </p:sp>
      <p:sp>
        <p:nvSpPr>
          <p:cNvPr id="376" name="Google Shape;376;p35">
            <a:extLst>
              <a:ext uri="{FF2B5EF4-FFF2-40B4-BE49-F238E27FC236}">
                <a16:creationId xmlns:a16="http://schemas.microsoft.com/office/drawing/2014/main" id="{1486D358-DE4A-DA28-CCEE-0F70F9A5F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505200"/>
            <a:ext cx="3986213" cy="563563"/>
          </a:xfrm>
          <a:prstGeom prst="wedgeRectCallout">
            <a:avLst>
              <a:gd name="adj1" fmla="val -36190"/>
              <a:gd name="adj2" fmla="val -81463"/>
            </a:avLst>
          </a:prstGeom>
          <a:solidFill>
            <a:srgbClr val="C9DAF8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/>
              <a:t>Block index or real-world timestamp before which this transaction can</a:t>
            </a:r>
            <a:r>
              <a:rPr lang="fr-FR" altLang="fr-FR" sz="1400"/>
              <a:t>’</a:t>
            </a:r>
            <a:r>
              <a:rPr lang="fr-FR" altLang="en-US" sz="1400"/>
              <a:t>t be published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Google Shape;381;p36">
            <a:extLst>
              <a:ext uri="{FF2B5EF4-FFF2-40B4-BE49-F238E27FC236}">
                <a16:creationId xmlns:a16="http://schemas.microsoft.com/office/drawing/2014/main" id="{13BA784B-EFD7-A7E8-6502-8DDEB1FE5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Smart Contracts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79874" name="Google Shape;382;p36">
            <a:extLst>
              <a:ext uri="{FF2B5EF4-FFF2-40B4-BE49-F238E27FC236}">
                <a16:creationId xmlns:a16="http://schemas.microsoft.com/office/drawing/2014/main" id="{8509E367-783D-6DF2-6393-2EE542752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0">
              <a:buFontTx/>
              <a:buNone/>
            </a:pPr>
            <a:r>
              <a:rPr lang="fr-FR" altLang="en-US" sz="2000"/>
              <a:t>T​he general term for contracts like the ones we saw in this section is​ s​mart contracts. </a:t>
            </a:r>
          </a:p>
          <a:p>
            <a:pPr marL="571500" indent="0">
              <a:buFontTx/>
              <a:buNone/>
            </a:pPr>
            <a:endParaRPr lang="fr-FR" altLang="en-US" sz="2000"/>
          </a:p>
          <a:p>
            <a:pPr marL="571500" indent="0">
              <a:buFontTx/>
              <a:buNone/>
            </a:pPr>
            <a:r>
              <a:rPr lang="fr-FR" altLang="en-US" sz="2000"/>
              <a:t>These are contracts for which we have some degree of technical enforcement in Bitcoin, whereas traditionally they are enforced through laws or courts of arbitration. </a:t>
            </a:r>
          </a:p>
          <a:p>
            <a:pPr marL="571500" indent="0">
              <a:buFontTx/>
              <a:buNone/>
            </a:pPr>
            <a:endParaRPr lang="fr-FR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91FDF-4522-CBF8-7CE3-A02DFF97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Google Shape;388;p37">
            <a:extLst>
              <a:ext uri="{FF2B5EF4-FFF2-40B4-BE49-F238E27FC236}">
                <a16:creationId xmlns:a16="http://schemas.microsoft.com/office/drawing/2014/main" id="{1134EDDE-1F71-FFDF-546E-BC73F2623F2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2254250"/>
            <a:ext cx="7772400" cy="2297113"/>
          </a:xfrm>
        </p:spPr>
        <p:txBody>
          <a:bodyPr lIns="91425" tIns="91425" rIns="91425" bIns="91425"/>
          <a:lstStyle/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r>
              <a:rPr lang="en-US" altLang="en-US"/>
              <a:t>Bitcoin blocks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51CABB-2E07-3BCD-04A5-6CBFECBF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Google Shape;393;p38">
            <a:extLst>
              <a:ext uri="{FF2B5EF4-FFF2-40B4-BE49-F238E27FC236}">
                <a16:creationId xmlns:a16="http://schemas.microsoft.com/office/drawing/2014/main" id="{37BCCFE3-2EE9-B82A-A915-C88F9DB47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blocks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83970" name="Google Shape;394;p38">
            <a:extLst>
              <a:ext uri="{FF2B5EF4-FFF2-40B4-BE49-F238E27FC236}">
                <a16:creationId xmlns:a16="http://schemas.microsoft.com/office/drawing/2014/main" id="{66359359-ADDF-6651-CA3E-47303D0B6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fr-FR" altLang="en-US" sz="2800"/>
              <a:t>Why bundle transactions together?</a:t>
            </a:r>
          </a:p>
          <a:p>
            <a:pPr marL="0" indent="0">
              <a:buFontTx/>
              <a:buNone/>
            </a:pPr>
            <a:endParaRPr lang="fr-FR" altLang="en-US" sz="2800"/>
          </a:p>
          <a:p>
            <a:pPr marL="0" indent="0"/>
            <a:r>
              <a:rPr lang="fr-FR" altLang="en-US" sz="2800"/>
              <a:t>Single unit of work for miners</a:t>
            </a:r>
          </a:p>
          <a:p>
            <a:pPr marL="0" indent="0">
              <a:spcBef>
                <a:spcPct val="0"/>
              </a:spcBef>
            </a:pPr>
            <a:r>
              <a:rPr lang="fr-FR" altLang="en-US" sz="2800"/>
              <a:t>Limit length of hash-chain of blocks</a:t>
            </a:r>
          </a:p>
          <a:p>
            <a:pPr marL="400050" lvl="1" indent="0">
              <a:spcBef>
                <a:spcPct val="0"/>
              </a:spcBef>
            </a:pPr>
            <a:r>
              <a:rPr lang="fr-FR" altLang="en-US" sz="2000"/>
              <a:t>Faster to verify history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AF6461-6743-CBE8-E7ED-F1FB67EF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7" name="Google Shape;399;p39">
            <a:extLst>
              <a:ext uri="{FF2B5EF4-FFF2-40B4-BE49-F238E27FC236}">
                <a16:creationId xmlns:a16="http://schemas.microsoft.com/office/drawing/2014/main" id="{C38437BD-CCF2-DCC6-E7FF-F720B511535A}"/>
              </a:ext>
            </a:extLst>
          </p:cNvPr>
          <p:cNvGrpSpPr>
            <a:grpSpLocks/>
          </p:cNvGrpSpPr>
          <p:nvPr/>
        </p:nvGrpSpPr>
        <p:grpSpPr bwMode="auto">
          <a:xfrm>
            <a:off x="3890963" y="2228850"/>
            <a:ext cx="1344612" cy="936625"/>
            <a:chOff x="5333050" y="2139900"/>
            <a:chExt cx="1344300" cy="702000"/>
          </a:xfrm>
        </p:grpSpPr>
        <p:sp>
          <p:nvSpPr>
            <p:cNvPr id="86046" name="Google Shape;400;p39">
              <a:extLst>
                <a:ext uri="{FF2B5EF4-FFF2-40B4-BE49-F238E27FC236}">
                  <a16:creationId xmlns:a16="http://schemas.microsoft.com/office/drawing/2014/main" id="{5110BC9D-CC5C-8C4C-591E-33F9614C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462100"/>
              <a:ext cx="1344300" cy="379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trans: H(  )</a:t>
              </a:r>
              <a:endParaRPr lang="fr-FR" altLang="en-US" sz="1800" baseline="-25000">
                <a:latin typeface="Trebuchet MS" panose="020B0603020202020204" pitchFamily="34" charset="0"/>
                <a:sym typeface="Trebuchet MS" panose="020B0603020202020204" pitchFamily="34" charset="0"/>
              </a:endParaRPr>
            </a:p>
          </p:txBody>
        </p:sp>
        <p:sp>
          <p:nvSpPr>
            <p:cNvPr id="86047" name="Google Shape;401;p39">
              <a:extLst>
                <a:ext uri="{FF2B5EF4-FFF2-40B4-BE49-F238E27FC236}">
                  <a16:creationId xmlns:a16="http://schemas.microsoft.com/office/drawing/2014/main" id="{CFA70D74-C267-FDD5-EFAE-35D071824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prev: H(  )</a:t>
              </a:r>
            </a:p>
          </p:txBody>
        </p:sp>
      </p:grpSp>
      <p:sp>
        <p:nvSpPr>
          <p:cNvPr id="86018" name="Google Shape;402;p39">
            <a:extLst>
              <a:ext uri="{FF2B5EF4-FFF2-40B4-BE49-F238E27FC236}">
                <a16:creationId xmlns:a16="http://schemas.microsoft.com/office/drawing/2014/main" id="{7A16CD20-8315-CA57-3C23-75F053F92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Bitcoin block structure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86019" name="Google Shape;403;p39">
            <a:extLst>
              <a:ext uri="{FF2B5EF4-FFF2-40B4-BE49-F238E27FC236}">
                <a16:creationId xmlns:a16="http://schemas.microsoft.com/office/drawing/2014/main" id="{3B6E6AB5-E8DE-6B94-1BE0-86105D11127C}"/>
              </a:ext>
            </a:extLst>
          </p:cNvPr>
          <p:cNvSpPr>
            <a:spLocks/>
          </p:cNvSpPr>
          <p:nvPr/>
        </p:nvSpPr>
        <p:spPr bwMode="auto">
          <a:xfrm>
            <a:off x="2901950" y="2028825"/>
            <a:ext cx="2066925" cy="723900"/>
          </a:xfrm>
          <a:custGeom>
            <a:avLst/>
            <a:gdLst>
              <a:gd name="T0" fmla="*/ 2147483646 w 82662"/>
              <a:gd name="T1" fmla="*/ 2147483646 h 55553"/>
              <a:gd name="T2" fmla="*/ 2147483646 w 82662"/>
              <a:gd name="T3" fmla="*/ 2147483646 h 55553"/>
              <a:gd name="T4" fmla="*/ 2147483646 w 82662"/>
              <a:gd name="T5" fmla="*/ 0 h 55553"/>
              <a:gd name="T6" fmla="*/ 2147483646 w 82662"/>
              <a:gd name="T7" fmla="*/ 2147483646 h 55553"/>
              <a:gd name="T8" fmla="*/ 0 w 82662"/>
              <a:gd name="T9" fmla="*/ 2147483646 h 555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86020" name="Google Shape;404;p39">
            <a:extLst>
              <a:ext uri="{FF2B5EF4-FFF2-40B4-BE49-F238E27FC236}">
                <a16:creationId xmlns:a16="http://schemas.microsoft.com/office/drawing/2014/main" id="{12805EAF-84C8-A844-932C-9581359A2435}"/>
              </a:ext>
            </a:extLst>
          </p:cNvPr>
          <p:cNvGrpSpPr>
            <a:grpSpLocks/>
          </p:cNvGrpSpPr>
          <p:nvPr/>
        </p:nvGrpSpPr>
        <p:grpSpPr bwMode="auto">
          <a:xfrm>
            <a:off x="1558925" y="2293938"/>
            <a:ext cx="1343025" cy="936625"/>
            <a:chOff x="5333050" y="2139900"/>
            <a:chExt cx="1344300" cy="702000"/>
          </a:xfrm>
        </p:grpSpPr>
        <p:sp>
          <p:nvSpPr>
            <p:cNvPr id="86044" name="Google Shape;405;p39">
              <a:extLst>
                <a:ext uri="{FF2B5EF4-FFF2-40B4-BE49-F238E27FC236}">
                  <a16:creationId xmlns:a16="http://schemas.microsoft.com/office/drawing/2014/main" id="{0A67989C-F601-B3C5-F4E1-C6915ED8A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462100"/>
              <a:ext cx="1344300" cy="379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trans: H(  )</a:t>
              </a:r>
              <a:endParaRPr lang="fr-FR" altLang="en-US" sz="1800" baseline="-25000">
                <a:latin typeface="Trebuchet MS" panose="020B0603020202020204" pitchFamily="34" charset="0"/>
                <a:sym typeface="Trebuchet MS" panose="020B0603020202020204" pitchFamily="34" charset="0"/>
              </a:endParaRPr>
            </a:p>
          </p:txBody>
        </p:sp>
        <p:sp>
          <p:nvSpPr>
            <p:cNvPr id="86045" name="Google Shape;406;p39">
              <a:extLst>
                <a:ext uri="{FF2B5EF4-FFF2-40B4-BE49-F238E27FC236}">
                  <a16:creationId xmlns:a16="http://schemas.microsoft.com/office/drawing/2014/main" id="{154EC32C-32BE-82BC-276F-50C5BBD4F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prev: H(  )</a:t>
              </a:r>
            </a:p>
          </p:txBody>
        </p:sp>
      </p:grpSp>
      <p:sp>
        <p:nvSpPr>
          <p:cNvPr id="86021" name="Google Shape;407;p39">
            <a:extLst>
              <a:ext uri="{FF2B5EF4-FFF2-40B4-BE49-F238E27FC236}">
                <a16:creationId xmlns:a16="http://schemas.microsoft.com/office/drawing/2014/main" id="{E76818AC-A9C8-D9E2-40D7-7ED73DBCE1C0}"/>
              </a:ext>
            </a:extLst>
          </p:cNvPr>
          <p:cNvSpPr>
            <a:spLocks/>
          </p:cNvSpPr>
          <p:nvPr/>
        </p:nvSpPr>
        <p:spPr bwMode="auto">
          <a:xfrm>
            <a:off x="550863" y="2078038"/>
            <a:ext cx="2066925" cy="723900"/>
          </a:xfrm>
          <a:custGeom>
            <a:avLst/>
            <a:gdLst>
              <a:gd name="T0" fmla="*/ 2147483646 w 82662"/>
              <a:gd name="T1" fmla="*/ 2147483646 h 55553"/>
              <a:gd name="T2" fmla="*/ 2147483646 w 82662"/>
              <a:gd name="T3" fmla="*/ 2147483646 h 55553"/>
              <a:gd name="T4" fmla="*/ 2147483646 w 82662"/>
              <a:gd name="T5" fmla="*/ 0 h 55553"/>
              <a:gd name="T6" fmla="*/ 2147483646 w 82662"/>
              <a:gd name="T7" fmla="*/ 2147483646 h 55553"/>
              <a:gd name="T8" fmla="*/ 0 w 82662"/>
              <a:gd name="T9" fmla="*/ 2147483646 h 555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86022" name="Google Shape;408;p39">
            <a:extLst>
              <a:ext uri="{FF2B5EF4-FFF2-40B4-BE49-F238E27FC236}">
                <a16:creationId xmlns:a16="http://schemas.microsoft.com/office/drawing/2014/main" id="{6E454F78-FCA6-3F28-67F2-AD5551607552}"/>
              </a:ext>
            </a:extLst>
          </p:cNvPr>
          <p:cNvGrpSpPr>
            <a:grpSpLocks/>
          </p:cNvGrpSpPr>
          <p:nvPr/>
        </p:nvGrpSpPr>
        <p:grpSpPr bwMode="auto">
          <a:xfrm>
            <a:off x="6243638" y="2228850"/>
            <a:ext cx="1344612" cy="936625"/>
            <a:chOff x="5333050" y="2139900"/>
            <a:chExt cx="1344300" cy="702000"/>
          </a:xfrm>
        </p:grpSpPr>
        <p:sp>
          <p:nvSpPr>
            <p:cNvPr id="86042" name="Google Shape;409;p39">
              <a:extLst>
                <a:ext uri="{FF2B5EF4-FFF2-40B4-BE49-F238E27FC236}">
                  <a16:creationId xmlns:a16="http://schemas.microsoft.com/office/drawing/2014/main" id="{A78A78B8-3906-B5D7-9908-4A7E940EB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462100"/>
              <a:ext cx="1344300" cy="3798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trans: H(  )</a:t>
              </a:r>
              <a:endParaRPr lang="fr-FR" altLang="en-US" sz="1800" baseline="-25000">
                <a:latin typeface="Trebuchet MS" panose="020B0603020202020204" pitchFamily="34" charset="0"/>
                <a:sym typeface="Trebuchet MS" panose="020B0603020202020204" pitchFamily="34" charset="0"/>
              </a:endParaRPr>
            </a:p>
          </p:txBody>
        </p:sp>
        <p:sp>
          <p:nvSpPr>
            <p:cNvPr id="86043" name="Google Shape;410;p39">
              <a:extLst>
                <a:ext uri="{FF2B5EF4-FFF2-40B4-BE49-F238E27FC236}">
                  <a16:creationId xmlns:a16="http://schemas.microsoft.com/office/drawing/2014/main" id="{CD548EBE-D1AF-5DC7-273F-9010BBF37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050" y="2139900"/>
              <a:ext cx="1344300" cy="322200"/>
            </a:xfrm>
            <a:prstGeom prst="rect">
              <a:avLst/>
            </a:prstGeom>
            <a:solidFill>
              <a:srgbClr val="CCCCCC"/>
            </a:solidFill>
            <a:ln w="19050">
              <a:solidFill>
                <a:srgbClr val="666666"/>
              </a:solidFill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1800">
                  <a:latin typeface="Trebuchet MS" panose="020B0603020202020204" pitchFamily="34" charset="0"/>
                  <a:sym typeface="Trebuchet MS" panose="020B0603020202020204" pitchFamily="34" charset="0"/>
                </a:rPr>
                <a:t>prev: H(  )</a:t>
              </a:r>
            </a:p>
          </p:txBody>
        </p:sp>
      </p:grpSp>
      <p:sp>
        <p:nvSpPr>
          <p:cNvPr id="86023" name="Google Shape;411;p39">
            <a:extLst>
              <a:ext uri="{FF2B5EF4-FFF2-40B4-BE49-F238E27FC236}">
                <a16:creationId xmlns:a16="http://schemas.microsoft.com/office/drawing/2014/main" id="{F86AF98C-6819-08F3-4E1C-10771386E7DA}"/>
              </a:ext>
            </a:extLst>
          </p:cNvPr>
          <p:cNvSpPr>
            <a:spLocks/>
          </p:cNvSpPr>
          <p:nvPr/>
        </p:nvSpPr>
        <p:spPr bwMode="auto">
          <a:xfrm>
            <a:off x="5254625" y="2028825"/>
            <a:ext cx="2066925" cy="723900"/>
          </a:xfrm>
          <a:custGeom>
            <a:avLst/>
            <a:gdLst>
              <a:gd name="T0" fmla="*/ 2147483646 w 82662"/>
              <a:gd name="T1" fmla="*/ 2147483646 h 55553"/>
              <a:gd name="T2" fmla="*/ 2147483646 w 82662"/>
              <a:gd name="T3" fmla="*/ 2147483646 h 55553"/>
              <a:gd name="T4" fmla="*/ 2147483646 w 82662"/>
              <a:gd name="T5" fmla="*/ 0 h 55553"/>
              <a:gd name="T6" fmla="*/ 2147483646 w 82662"/>
              <a:gd name="T7" fmla="*/ 2147483646 h 55553"/>
              <a:gd name="T8" fmla="*/ 0 w 82662"/>
              <a:gd name="T9" fmla="*/ 2147483646 h 555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2662" h="55553" extrusionOk="0">
                <a:moveTo>
                  <a:pt x="82662" y="16888"/>
                </a:moveTo>
                <a:lnTo>
                  <a:pt x="82662" y="445"/>
                </a:lnTo>
                <a:lnTo>
                  <a:pt x="19554" y="0"/>
                </a:lnTo>
                <a:lnTo>
                  <a:pt x="19999" y="55553"/>
                </a:lnTo>
                <a:lnTo>
                  <a:pt x="0" y="55109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24" name="Google Shape;412;p39">
            <a:extLst>
              <a:ext uri="{FF2B5EF4-FFF2-40B4-BE49-F238E27FC236}">
                <a16:creationId xmlns:a16="http://schemas.microsoft.com/office/drawing/2014/main" id="{478CCADD-B9D5-13FC-C65D-1144B78DD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288" y="3811588"/>
            <a:ext cx="1344612" cy="609600"/>
          </a:xfrm>
          <a:prstGeom prst="rect">
            <a:avLst/>
          </a:prstGeom>
          <a:solidFill>
            <a:srgbClr val="D9D9D9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H(  )   H(  )</a:t>
            </a:r>
          </a:p>
        </p:txBody>
      </p:sp>
      <p:sp>
        <p:nvSpPr>
          <p:cNvPr id="86025" name="Google Shape;413;p39">
            <a:extLst>
              <a:ext uri="{FF2B5EF4-FFF2-40B4-BE49-F238E27FC236}">
                <a16:creationId xmlns:a16="http://schemas.microsoft.com/office/drawing/2014/main" id="{2A46BACA-2F1E-80E2-0403-E2E713EFD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4954588"/>
            <a:ext cx="1344613" cy="609600"/>
          </a:xfrm>
          <a:prstGeom prst="rect">
            <a:avLst/>
          </a:prstGeom>
          <a:solidFill>
            <a:srgbClr val="D9D9D9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H(  )   H(  )</a:t>
            </a:r>
          </a:p>
        </p:txBody>
      </p:sp>
      <p:sp>
        <p:nvSpPr>
          <p:cNvPr id="86026" name="Google Shape;414;p39">
            <a:extLst>
              <a:ext uri="{FF2B5EF4-FFF2-40B4-BE49-F238E27FC236}">
                <a16:creationId xmlns:a16="http://schemas.microsoft.com/office/drawing/2014/main" id="{5987FCE2-0DA0-79D2-EDFC-80EF0A195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954588"/>
            <a:ext cx="1344613" cy="609600"/>
          </a:xfrm>
          <a:prstGeom prst="rect">
            <a:avLst/>
          </a:prstGeom>
          <a:solidFill>
            <a:srgbClr val="D9D9D9"/>
          </a:solidFill>
          <a:ln w="9525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H(  )   H(  )</a:t>
            </a:r>
          </a:p>
        </p:txBody>
      </p:sp>
      <p:sp>
        <p:nvSpPr>
          <p:cNvPr id="86027" name="Google Shape;415;p39">
            <a:extLst>
              <a:ext uri="{FF2B5EF4-FFF2-40B4-BE49-F238E27FC236}">
                <a16:creationId xmlns:a16="http://schemas.microsoft.com/office/drawing/2014/main" id="{2AFC2C69-DA5C-B8B4-B4D7-F51531F07F34}"/>
              </a:ext>
            </a:extLst>
          </p:cNvPr>
          <p:cNvSpPr>
            <a:spLocks/>
          </p:cNvSpPr>
          <p:nvPr/>
        </p:nvSpPr>
        <p:spPr bwMode="auto">
          <a:xfrm>
            <a:off x="4111625" y="4124325"/>
            <a:ext cx="638175" cy="830263"/>
          </a:xfrm>
          <a:custGeom>
            <a:avLst/>
            <a:gdLst>
              <a:gd name="T0" fmla="*/ 2147483646 w 62219"/>
              <a:gd name="T1" fmla="*/ 0 h 24888"/>
              <a:gd name="T2" fmla="*/ 2147483646 w 62219"/>
              <a:gd name="T3" fmla="*/ 2147483646 h 24888"/>
              <a:gd name="T4" fmla="*/ 0 w 62219"/>
              <a:gd name="T5" fmla="*/ 2147483646 h 24888"/>
              <a:gd name="T6" fmla="*/ 0 w 62219"/>
              <a:gd name="T7" fmla="*/ 2147483646 h 248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219" h="24888" extrusionOk="0">
                <a:moveTo>
                  <a:pt x="62219" y="0"/>
                </a:moveTo>
                <a:lnTo>
                  <a:pt x="62219" y="17333"/>
                </a:lnTo>
                <a:lnTo>
                  <a:pt x="0" y="17333"/>
                </a:lnTo>
                <a:lnTo>
                  <a:pt x="0" y="24888"/>
                </a:lnTo>
              </a:path>
            </a:pathLst>
          </a:cu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28" name="Google Shape;416;p39">
            <a:extLst>
              <a:ext uri="{FF2B5EF4-FFF2-40B4-BE49-F238E27FC236}">
                <a16:creationId xmlns:a16="http://schemas.microsoft.com/office/drawing/2014/main" id="{0C82459A-CCDC-9EBD-8E19-20131989DBA7}"/>
              </a:ext>
            </a:extLst>
          </p:cNvPr>
          <p:cNvSpPr>
            <a:spLocks/>
          </p:cNvSpPr>
          <p:nvPr/>
        </p:nvSpPr>
        <p:spPr bwMode="auto">
          <a:xfrm flipH="1">
            <a:off x="5364163" y="4124325"/>
            <a:ext cx="765175" cy="830263"/>
          </a:xfrm>
          <a:custGeom>
            <a:avLst/>
            <a:gdLst>
              <a:gd name="T0" fmla="*/ 2147483646 w 62219"/>
              <a:gd name="T1" fmla="*/ 0 h 24888"/>
              <a:gd name="T2" fmla="*/ 2147483646 w 62219"/>
              <a:gd name="T3" fmla="*/ 2147483646 h 24888"/>
              <a:gd name="T4" fmla="*/ 0 w 62219"/>
              <a:gd name="T5" fmla="*/ 2147483646 h 24888"/>
              <a:gd name="T6" fmla="*/ 0 w 62219"/>
              <a:gd name="T7" fmla="*/ 2147483646 h 248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219" h="24888" extrusionOk="0">
                <a:moveTo>
                  <a:pt x="62219" y="0"/>
                </a:moveTo>
                <a:lnTo>
                  <a:pt x="62219" y="17333"/>
                </a:lnTo>
                <a:lnTo>
                  <a:pt x="0" y="17333"/>
                </a:lnTo>
                <a:lnTo>
                  <a:pt x="0" y="24888"/>
                </a:lnTo>
              </a:path>
            </a:pathLst>
          </a:cu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86029" name="Google Shape;417;p39">
            <a:extLst>
              <a:ext uri="{FF2B5EF4-FFF2-40B4-BE49-F238E27FC236}">
                <a16:creationId xmlns:a16="http://schemas.microsoft.com/office/drawing/2014/main" id="{F1BED179-653D-8451-B6BB-FB89C141FDD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79988" y="3030538"/>
            <a:ext cx="44450" cy="781050"/>
          </a:xfrm>
          <a:prstGeom prst="straightConnector1">
            <a:avLst/>
          </a:prstGeom>
          <a:noFill/>
          <a:ln w="190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0" name="Google Shape;418;p39">
            <a:extLst>
              <a:ext uri="{FF2B5EF4-FFF2-40B4-BE49-F238E27FC236}">
                <a16:creationId xmlns:a16="http://schemas.microsoft.com/office/drawing/2014/main" id="{8EC37185-E466-4FAE-68B6-B888145651ED}"/>
              </a:ext>
            </a:extLst>
          </p:cNvPr>
          <p:cNvCxnSpPr>
            <a:cxnSpLocks noChangeShapeType="1"/>
            <a:endCxn id="86032" idx="0"/>
          </p:cNvCxnSpPr>
          <p:nvPr/>
        </p:nvCxnSpPr>
        <p:spPr bwMode="auto">
          <a:xfrm flipH="1">
            <a:off x="3236913" y="5343525"/>
            <a:ext cx="669925" cy="912813"/>
          </a:xfrm>
          <a:prstGeom prst="straightConnector1">
            <a:avLst/>
          </a:prstGeom>
          <a:noFill/>
          <a:ln w="190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1" name="Google Shape;420;p39">
            <a:extLst>
              <a:ext uri="{FF2B5EF4-FFF2-40B4-BE49-F238E27FC236}">
                <a16:creationId xmlns:a16="http://schemas.microsoft.com/office/drawing/2014/main" id="{10AF5902-C52F-F163-AC41-8A9C75FD34C9}"/>
              </a:ext>
            </a:extLst>
          </p:cNvPr>
          <p:cNvCxnSpPr>
            <a:cxnSpLocks noChangeShapeType="1"/>
            <a:endCxn id="86033" idx="0"/>
          </p:cNvCxnSpPr>
          <p:nvPr/>
        </p:nvCxnSpPr>
        <p:spPr bwMode="auto">
          <a:xfrm>
            <a:off x="4546600" y="5297488"/>
            <a:ext cx="17463" cy="958850"/>
          </a:xfrm>
          <a:prstGeom prst="straightConnector1">
            <a:avLst/>
          </a:prstGeom>
          <a:noFill/>
          <a:ln w="190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32" name="Google Shape;419;p39">
            <a:extLst>
              <a:ext uri="{FF2B5EF4-FFF2-40B4-BE49-F238E27FC236}">
                <a16:creationId xmlns:a16="http://schemas.microsoft.com/office/drawing/2014/main" id="{A0E50CE7-AE0E-890C-48FB-207D1F1B5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275" y="6256338"/>
            <a:ext cx="1057275" cy="401637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transaction</a:t>
            </a:r>
          </a:p>
        </p:txBody>
      </p:sp>
      <p:sp>
        <p:nvSpPr>
          <p:cNvPr id="86033" name="Google Shape;421;p39">
            <a:extLst>
              <a:ext uri="{FF2B5EF4-FFF2-40B4-BE49-F238E27FC236}">
                <a16:creationId xmlns:a16="http://schemas.microsoft.com/office/drawing/2014/main" id="{B6A57767-25F2-B83D-A990-CDE3991EA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6256338"/>
            <a:ext cx="1055688" cy="401637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transaction</a:t>
            </a:r>
          </a:p>
        </p:txBody>
      </p:sp>
      <p:cxnSp>
        <p:nvCxnSpPr>
          <p:cNvPr id="86034" name="Google Shape;422;p39">
            <a:extLst>
              <a:ext uri="{FF2B5EF4-FFF2-40B4-BE49-F238E27FC236}">
                <a16:creationId xmlns:a16="http://schemas.microsoft.com/office/drawing/2014/main" id="{4FC35DA9-EA42-9711-E731-0389AF2CDB52}"/>
              </a:ext>
            </a:extLst>
          </p:cNvPr>
          <p:cNvCxnSpPr>
            <a:cxnSpLocks noChangeShapeType="1"/>
            <a:endCxn id="86036" idx="0"/>
          </p:cNvCxnSpPr>
          <p:nvPr/>
        </p:nvCxnSpPr>
        <p:spPr bwMode="auto">
          <a:xfrm flipH="1">
            <a:off x="5889625" y="5280025"/>
            <a:ext cx="14288" cy="976313"/>
          </a:xfrm>
          <a:prstGeom prst="straightConnector1">
            <a:avLst/>
          </a:prstGeom>
          <a:noFill/>
          <a:ln w="190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35" name="Google Shape;424;p39">
            <a:extLst>
              <a:ext uri="{FF2B5EF4-FFF2-40B4-BE49-F238E27FC236}">
                <a16:creationId xmlns:a16="http://schemas.microsoft.com/office/drawing/2014/main" id="{F3EF1E26-2FF2-4C84-7C2E-8E7BB1FDA5C3}"/>
              </a:ext>
            </a:extLst>
          </p:cNvPr>
          <p:cNvCxnSpPr>
            <a:cxnSpLocks noChangeShapeType="1"/>
            <a:endCxn id="86037" idx="0"/>
          </p:cNvCxnSpPr>
          <p:nvPr/>
        </p:nvCxnSpPr>
        <p:spPr bwMode="auto">
          <a:xfrm>
            <a:off x="6524625" y="5314950"/>
            <a:ext cx="793750" cy="941388"/>
          </a:xfrm>
          <a:prstGeom prst="straightConnector1">
            <a:avLst/>
          </a:prstGeom>
          <a:noFill/>
          <a:ln w="190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36" name="Google Shape;423;p39">
            <a:extLst>
              <a:ext uri="{FF2B5EF4-FFF2-40B4-BE49-F238E27FC236}">
                <a16:creationId xmlns:a16="http://schemas.microsoft.com/office/drawing/2014/main" id="{BA238FEE-1CC6-8062-CD7E-36DA57478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6256338"/>
            <a:ext cx="1055688" cy="401637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transaction</a:t>
            </a:r>
          </a:p>
        </p:txBody>
      </p:sp>
      <p:sp>
        <p:nvSpPr>
          <p:cNvPr id="86037" name="Google Shape;425;p39">
            <a:extLst>
              <a:ext uri="{FF2B5EF4-FFF2-40B4-BE49-F238E27FC236}">
                <a16:creationId xmlns:a16="http://schemas.microsoft.com/office/drawing/2014/main" id="{3C9A7893-46CB-9C8F-1A66-6A9B1F5A3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738" y="6256338"/>
            <a:ext cx="1057275" cy="401637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200"/>
              <a:t>transaction</a:t>
            </a:r>
          </a:p>
        </p:txBody>
      </p:sp>
      <p:sp>
        <p:nvSpPr>
          <p:cNvPr id="426" name="Google Shape;426;p39">
            <a:extLst>
              <a:ext uri="{FF2B5EF4-FFF2-40B4-BE49-F238E27FC236}">
                <a16:creationId xmlns:a16="http://schemas.microsoft.com/office/drawing/2014/main" id="{F562C4B9-9E94-0481-9EFE-547A892C1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1681163"/>
            <a:ext cx="7785100" cy="175101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71EE846F-12D9-5F68-0B90-034814507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0" y="3681413"/>
            <a:ext cx="5548313" cy="3100387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428" name="Google Shape;428;p39">
            <a:extLst>
              <a:ext uri="{FF2B5EF4-FFF2-40B4-BE49-F238E27FC236}">
                <a16:creationId xmlns:a16="http://schemas.microsoft.com/office/drawing/2014/main" id="{D28D6DB1-87F5-F002-F5BF-FE40782A2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1112838"/>
            <a:ext cx="22542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Hash chain of blocks</a:t>
            </a:r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8007D201-0610-218B-D648-26C145508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4618038"/>
            <a:ext cx="23526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Hash tree (Merkle tree) of transactions in each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Google Shape;434;p40">
            <a:extLst>
              <a:ext uri="{FF2B5EF4-FFF2-40B4-BE49-F238E27FC236}">
                <a16:creationId xmlns:a16="http://schemas.microsoft.com/office/drawing/2014/main" id="{8C6B67F6-D350-73FA-6CF6-D6E4E11DF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The real deal: a Bitcoin block</a:t>
            </a:r>
          </a:p>
        </p:txBody>
      </p:sp>
      <p:sp>
        <p:nvSpPr>
          <p:cNvPr id="88066" name="Google Shape;435;p40">
            <a:extLst>
              <a:ext uri="{FF2B5EF4-FFF2-40B4-BE49-F238E27FC236}">
                <a16:creationId xmlns:a16="http://schemas.microsoft.com/office/drawing/2014/main" id="{590B6750-89E2-91B3-A36C-807F8C898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7575" y="969963"/>
            <a:ext cx="8229600" cy="5495925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{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"hash":"00000000000000001aad2...",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"ver":2,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"prev_block":"00000000000000003043...",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"time":1391279636,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"bits":419558700,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"nonce":459459841,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"mrkl_root":"89776...",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"n_tx":354,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"size":181520,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"tx":[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...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],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"mrkl_tree":[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"6bd5eb25...",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...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"89776cdb..."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]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1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}</a:t>
            </a:r>
          </a:p>
        </p:txBody>
      </p:sp>
      <p:sp>
        <p:nvSpPr>
          <p:cNvPr id="436" name="Google Shape;436;p40">
            <a:extLst>
              <a:ext uri="{FF2B5EF4-FFF2-40B4-BE49-F238E27FC236}">
                <a16:creationId xmlns:a16="http://schemas.microsoft.com/office/drawing/2014/main" id="{F46A53E0-EBB4-5C0F-259A-31088ADDD88C}"/>
              </a:ext>
            </a:extLst>
          </p:cNvPr>
          <p:cNvSpPr/>
          <p:nvPr/>
        </p:nvSpPr>
        <p:spPr>
          <a:xfrm>
            <a:off x="1763713" y="1546225"/>
            <a:ext cx="276225" cy="1673225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0">
            <a:extLst>
              <a:ext uri="{FF2B5EF4-FFF2-40B4-BE49-F238E27FC236}">
                <a16:creationId xmlns:a16="http://schemas.microsoft.com/office/drawing/2014/main" id="{07834BD6-5419-EF54-093C-A9C187CAA5CA}"/>
              </a:ext>
            </a:extLst>
          </p:cNvPr>
          <p:cNvSpPr/>
          <p:nvPr/>
        </p:nvSpPr>
        <p:spPr>
          <a:xfrm>
            <a:off x="1763713" y="3348038"/>
            <a:ext cx="276225" cy="3200400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0">
            <a:extLst>
              <a:ext uri="{FF2B5EF4-FFF2-40B4-BE49-F238E27FC236}">
                <a16:creationId xmlns:a16="http://schemas.microsoft.com/office/drawing/2014/main" id="{6704DBF7-A910-82C5-6BAE-D2727A2B82C3}"/>
              </a:ext>
            </a:extLst>
          </p:cNvPr>
          <p:cNvSpPr txBox="1"/>
          <p:nvPr/>
        </p:nvSpPr>
        <p:spPr>
          <a:xfrm>
            <a:off x="280988" y="4692650"/>
            <a:ext cx="1335087" cy="70485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data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0">
            <a:extLst>
              <a:ext uri="{FF2B5EF4-FFF2-40B4-BE49-F238E27FC236}">
                <a16:creationId xmlns:a16="http://schemas.microsoft.com/office/drawing/2014/main" id="{EE7A61D7-5C36-8357-AECD-7E33CDE3D658}"/>
              </a:ext>
            </a:extLst>
          </p:cNvPr>
          <p:cNvSpPr txBox="1"/>
          <p:nvPr/>
        </p:nvSpPr>
        <p:spPr>
          <a:xfrm>
            <a:off x="333375" y="2151063"/>
            <a:ext cx="1282700" cy="8985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header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Google Shape;444;p41">
            <a:extLst>
              <a:ext uri="{FF2B5EF4-FFF2-40B4-BE49-F238E27FC236}">
                <a16:creationId xmlns:a16="http://schemas.microsoft.com/office/drawing/2014/main" id="{0E507312-1439-4490-4E6C-680DC9C7A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The real deal: a Bitcoin block header</a:t>
            </a:r>
          </a:p>
        </p:txBody>
      </p:sp>
      <p:sp>
        <p:nvSpPr>
          <p:cNvPr id="90114" name="Google Shape;445;p41">
            <a:extLst>
              <a:ext uri="{FF2B5EF4-FFF2-40B4-BE49-F238E27FC236}">
                <a16:creationId xmlns:a16="http://schemas.microsoft.com/office/drawing/2014/main" id="{74D1CF60-8341-6537-334C-19EE0895D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7575" y="1362075"/>
            <a:ext cx="8229600" cy="5495925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{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"hash":"00000000000000001aad2...",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"ver":2,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"prev_block":"00000000000000003043...",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"time":1391279636,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"bits":419558700,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"nonce":459459841, 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"mrkl_root":"89776...",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...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4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}</a:t>
            </a:r>
          </a:p>
        </p:txBody>
      </p:sp>
      <p:sp>
        <p:nvSpPr>
          <p:cNvPr id="446" name="Google Shape;446;p41">
            <a:extLst>
              <a:ext uri="{FF2B5EF4-FFF2-40B4-BE49-F238E27FC236}">
                <a16:creationId xmlns:a16="http://schemas.microsoft.com/office/drawing/2014/main" id="{CB22D8D3-3812-7E5D-EF60-7627E405DE32}"/>
              </a:ext>
            </a:extLst>
          </p:cNvPr>
          <p:cNvSpPr txBox="1"/>
          <p:nvPr/>
        </p:nvSpPr>
        <p:spPr>
          <a:xfrm>
            <a:off x="298450" y="2857500"/>
            <a:ext cx="12811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mining puzzle information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41">
            <a:extLst>
              <a:ext uri="{FF2B5EF4-FFF2-40B4-BE49-F238E27FC236}">
                <a16:creationId xmlns:a16="http://schemas.microsoft.com/office/drawing/2014/main" id="{324E4D7E-9F8C-91D6-09F2-B7C6204F299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1208088" y="2414588"/>
            <a:ext cx="1055687" cy="674687"/>
          </a:xfrm>
          <a:prstGeom prst="straightConnector1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8" name="Google Shape;448;p41">
            <a:extLst>
              <a:ext uri="{FF2B5EF4-FFF2-40B4-BE49-F238E27FC236}">
                <a16:creationId xmlns:a16="http://schemas.microsoft.com/office/drawing/2014/main" id="{B9B83784-B175-9742-6398-8208430E1DD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22388" y="3409950"/>
            <a:ext cx="865187" cy="700088"/>
          </a:xfrm>
          <a:prstGeom prst="straightConnector1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" name="Google Shape;449;p41">
            <a:extLst>
              <a:ext uri="{FF2B5EF4-FFF2-40B4-BE49-F238E27FC236}">
                <a16:creationId xmlns:a16="http://schemas.microsoft.com/office/drawing/2014/main" id="{B62F24D9-55AE-FD1A-C455-833B001F13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22388" y="3776663"/>
            <a:ext cx="985837" cy="744537"/>
          </a:xfrm>
          <a:prstGeom prst="straightConnector1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Google Shape;458;p42">
            <a:extLst>
              <a:ext uri="{FF2B5EF4-FFF2-40B4-BE49-F238E27FC236}">
                <a16:creationId xmlns:a16="http://schemas.microsoft.com/office/drawing/2014/main" id="{F1797D9B-37E7-1288-E916-D461E00D5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The real deal: coinbase transaction</a:t>
            </a:r>
          </a:p>
        </p:txBody>
      </p:sp>
      <p:sp>
        <p:nvSpPr>
          <p:cNvPr id="92162" name="Google Shape;459;p42">
            <a:extLst>
              <a:ext uri="{FF2B5EF4-FFF2-40B4-BE49-F238E27FC236}">
                <a16:creationId xmlns:a16="http://schemas.microsoft.com/office/drawing/2014/main" id="{CE088BF3-3BCF-D064-CC09-7137BF9E0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6438" y="1395413"/>
            <a:ext cx="6480175" cy="5995987"/>
          </a:xfrm>
        </p:spPr>
        <p:txBody>
          <a:bodyPr/>
          <a:lstStyle/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"in":[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{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  "prev_out":{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    "hash":"000000.....0000000",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    "n":4294967295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  }, </a:t>
            </a: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"coinbase":"..."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 },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 "out":[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{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endParaRPr lang="fr-FR" altLang="en-US" sz="2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endParaRPr lang="fr-FR" altLang="en-US" sz="2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endParaRPr lang="fr-FR" altLang="en-US" sz="2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"value":"25.03371419",</a:t>
            </a:r>
            <a:b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</a:b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      "scriptPubKey":"OPDUP OPHASH160 ... </a:t>
            </a:r>
            <a:r>
              <a:rPr lang="fr-FR" altLang="fr-FR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”</a:t>
            </a:r>
            <a:endParaRPr lang="fr-FR" altLang="ja-JP" sz="2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 marL="0" indent="0" eaLnBrk="1" hangingPunct="1"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 sz="2000">
                <a:solidFill>
                  <a:srgbClr val="000000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}</a:t>
            </a:r>
          </a:p>
        </p:txBody>
      </p:sp>
      <p:sp>
        <p:nvSpPr>
          <p:cNvPr id="460" name="Google Shape;460;p42">
            <a:extLst>
              <a:ext uri="{FF2B5EF4-FFF2-40B4-BE49-F238E27FC236}">
                <a16:creationId xmlns:a16="http://schemas.microsoft.com/office/drawing/2014/main" id="{3EB1C259-03B8-8949-E019-5BF773292A50}"/>
              </a:ext>
            </a:extLst>
          </p:cNvPr>
          <p:cNvSpPr/>
          <p:nvPr/>
        </p:nvSpPr>
        <p:spPr>
          <a:xfrm>
            <a:off x="1866900" y="2416175"/>
            <a:ext cx="234950" cy="341313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2">
            <a:extLst>
              <a:ext uri="{FF2B5EF4-FFF2-40B4-BE49-F238E27FC236}">
                <a16:creationId xmlns:a16="http://schemas.microsoft.com/office/drawing/2014/main" id="{5F70C8E9-E5CB-0352-F4E7-D12D340C4131}"/>
              </a:ext>
            </a:extLst>
          </p:cNvPr>
          <p:cNvSpPr/>
          <p:nvPr/>
        </p:nvSpPr>
        <p:spPr>
          <a:xfrm>
            <a:off x="1866900" y="2844800"/>
            <a:ext cx="234950" cy="1693863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2">
            <a:extLst>
              <a:ext uri="{FF2B5EF4-FFF2-40B4-BE49-F238E27FC236}">
                <a16:creationId xmlns:a16="http://schemas.microsoft.com/office/drawing/2014/main" id="{75BE17FC-9162-DB2F-A916-3209785C95DD}"/>
              </a:ext>
            </a:extLst>
          </p:cNvPr>
          <p:cNvSpPr txBox="1"/>
          <p:nvPr/>
        </p:nvSpPr>
        <p:spPr>
          <a:xfrm>
            <a:off x="280988" y="3409950"/>
            <a:ext cx="1173162" cy="563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arbitrary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2">
            <a:extLst>
              <a:ext uri="{FF2B5EF4-FFF2-40B4-BE49-F238E27FC236}">
                <a16:creationId xmlns:a16="http://schemas.microsoft.com/office/drawing/2014/main" id="{E1C3B3B2-E4C2-7B81-D0BE-42ADDCF0B8CA}"/>
              </a:ext>
            </a:extLst>
          </p:cNvPr>
          <p:cNvSpPr txBox="1"/>
          <p:nvPr/>
        </p:nvSpPr>
        <p:spPr>
          <a:xfrm>
            <a:off x="280988" y="2286000"/>
            <a:ext cx="1328737" cy="7667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redeeming nothing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2">
            <a:extLst>
              <a:ext uri="{FF2B5EF4-FFF2-40B4-BE49-F238E27FC236}">
                <a16:creationId xmlns:a16="http://schemas.microsoft.com/office/drawing/2014/main" id="{8FC2681D-0692-13FD-A64D-CF58A1BC17AD}"/>
              </a:ext>
            </a:extLst>
          </p:cNvPr>
          <p:cNvSpPr/>
          <p:nvPr/>
        </p:nvSpPr>
        <p:spPr>
          <a:xfrm>
            <a:off x="4962525" y="2249488"/>
            <a:ext cx="1647825" cy="48895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6D9EE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 hash pointer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2">
            <a:extLst>
              <a:ext uri="{FF2B5EF4-FFF2-40B4-BE49-F238E27FC236}">
                <a16:creationId xmlns:a16="http://schemas.microsoft.com/office/drawing/2014/main" id="{18D48CD5-8A99-29D2-663D-D56963002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970213"/>
            <a:ext cx="4013200" cy="1373187"/>
          </a:xfrm>
          <a:prstGeom prst="wedgeRectCallout">
            <a:avLst>
              <a:gd name="adj1" fmla="val -55213"/>
              <a:gd name="adj2" fmla="val -2704"/>
            </a:avLst>
          </a:prstGeom>
          <a:solidFill>
            <a:srgbClr val="EAD1DC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First ever coinbase parameter:</a:t>
            </a:r>
            <a:endParaRPr lang="fr-FR" altLang="en-US" sz="18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en-US" altLang="fr-FR" sz="180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  <a:sym typeface="Trebuchet MS" panose="020B0603020202020204" pitchFamily="34" charset="0"/>
              </a:rPr>
              <a:t>The Times 03/Jan/2009 Chancellor on brink of second bailout for banks</a:t>
            </a:r>
            <a:r>
              <a:rPr lang="en-US" altLang="fr-FR" sz="180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  <a:sym typeface="Trebuchet MS" panose="020B0603020202020204" pitchFamily="34" charset="0"/>
              </a:rPr>
              <a:t>”</a:t>
            </a:r>
            <a:endParaRPr lang="fr-FR" altLang="en-US" sz="18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6" name="Google Shape;466;p42">
            <a:extLst>
              <a:ext uri="{FF2B5EF4-FFF2-40B4-BE49-F238E27FC236}">
                <a16:creationId xmlns:a16="http://schemas.microsoft.com/office/drawing/2014/main" id="{5B52EEE3-5AF6-46ED-E1E4-EABBCF912262}"/>
              </a:ext>
            </a:extLst>
          </p:cNvPr>
          <p:cNvSpPr/>
          <p:nvPr/>
        </p:nvSpPr>
        <p:spPr>
          <a:xfrm rot="5400000">
            <a:off x="3206750" y="5308601"/>
            <a:ext cx="788987" cy="220662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2">
            <a:extLst>
              <a:ext uri="{FF2B5EF4-FFF2-40B4-BE49-F238E27FC236}">
                <a16:creationId xmlns:a16="http://schemas.microsoft.com/office/drawing/2014/main" id="{CFC05BE8-3A67-F8B1-2332-5C02BC053B2D}"/>
              </a:ext>
            </a:extLst>
          </p:cNvPr>
          <p:cNvSpPr/>
          <p:nvPr/>
        </p:nvSpPr>
        <p:spPr>
          <a:xfrm rot="5400000">
            <a:off x="4226719" y="5122069"/>
            <a:ext cx="312737" cy="1069975"/>
          </a:xfrm>
          <a:prstGeom prst="leftBrace">
            <a:avLst>
              <a:gd name="adj1" fmla="val 8333"/>
              <a:gd name="adj2" fmla="val 4860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2">
            <a:extLst>
              <a:ext uri="{FF2B5EF4-FFF2-40B4-BE49-F238E27FC236}">
                <a16:creationId xmlns:a16="http://schemas.microsoft.com/office/drawing/2014/main" id="{85E09214-9B8F-35A0-194D-534376B0F060}"/>
              </a:ext>
            </a:extLst>
          </p:cNvPr>
          <p:cNvSpPr txBox="1"/>
          <p:nvPr/>
        </p:nvSpPr>
        <p:spPr>
          <a:xfrm>
            <a:off x="3344863" y="4567238"/>
            <a:ext cx="1330325" cy="5746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reward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2">
            <a:extLst>
              <a:ext uri="{FF2B5EF4-FFF2-40B4-BE49-F238E27FC236}">
                <a16:creationId xmlns:a16="http://schemas.microsoft.com/office/drawing/2014/main" id="{1F9751C6-DDEE-8CF8-0D50-A42C2540D3E5}"/>
              </a:ext>
            </a:extLst>
          </p:cNvPr>
          <p:cNvSpPr txBox="1"/>
          <p:nvPr/>
        </p:nvSpPr>
        <p:spPr>
          <a:xfrm>
            <a:off x="3776663" y="5141913"/>
            <a:ext cx="2065337" cy="766762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fees</a:t>
            </a: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Google Shape;474;p43">
            <a:extLst>
              <a:ext uri="{FF2B5EF4-FFF2-40B4-BE49-F238E27FC236}">
                <a16:creationId xmlns:a16="http://schemas.microsoft.com/office/drawing/2014/main" id="{C26602A0-6722-5148-DCC2-608CF10F4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Trebuchet MS" panose="020B0603020202020204" pitchFamily="34" charset="0"/>
              <a:buNone/>
            </a:pPr>
            <a:r>
              <a:rPr lang="fr-FR" altLang="en-US">
                <a:sym typeface="Trebuchet MS" panose="020B0603020202020204" pitchFamily="34" charset="0"/>
              </a:rPr>
              <a:t>See for yourself!</a:t>
            </a:r>
          </a:p>
        </p:txBody>
      </p:sp>
      <p:pic>
        <p:nvPicPr>
          <p:cNvPr id="94210" name="Google Shape;475;p43">
            <a:extLst>
              <a:ext uri="{FF2B5EF4-FFF2-40B4-BE49-F238E27FC236}">
                <a16:creationId xmlns:a16="http://schemas.microsoft.com/office/drawing/2014/main" id="{62584C68-132A-B374-56FC-3F85F46289B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417638"/>
            <a:ext cx="8658225" cy="457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6" name="Google Shape;476;p43">
            <a:extLst>
              <a:ext uri="{FF2B5EF4-FFF2-40B4-BE49-F238E27FC236}">
                <a16:creationId xmlns:a16="http://schemas.microsoft.com/office/drawing/2014/main" id="{D2ABE833-B93B-604D-A14D-65D0FC001D10}"/>
              </a:ext>
            </a:extLst>
          </p:cNvPr>
          <p:cNvSpPr txBox="1"/>
          <p:nvPr/>
        </p:nvSpPr>
        <p:spPr>
          <a:xfrm>
            <a:off x="892175" y="6170613"/>
            <a:ext cx="7186613" cy="4794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" sz="30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blockchain.info (and many other sites)</a:t>
            </a:r>
            <a:endParaRPr sz="30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Google Shape;481;p44">
            <a:extLst>
              <a:ext uri="{FF2B5EF4-FFF2-40B4-BE49-F238E27FC236}">
                <a16:creationId xmlns:a16="http://schemas.microsoft.com/office/drawing/2014/main" id="{2E92CECE-F11E-C974-756A-8462671C53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2254250"/>
            <a:ext cx="7772400" cy="2297113"/>
          </a:xfrm>
        </p:spPr>
        <p:txBody>
          <a:bodyPr lIns="91425" tIns="91425" rIns="91425" bIns="91425"/>
          <a:lstStyle/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r>
              <a:rPr lang="en-US" altLang="en-US"/>
              <a:t>The Bitcoin network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6BAE6-8554-36E6-1145-62444FB1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Google Shape;486;p45">
            <a:extLst>
              <a:ext uri="{FF2B5EF4-FFF2-40B4-BE49-F238E27FC236}">
                <a16:creationId xmlns:a16="http://schemas.microsoft.com/office/drawing/2014/main" id="{A103AE55-C776-8D97-AB1B-B27FD3232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Bitcoin P2P network</a:t>
            </a:r>
            <a:endParaRPr lang="fr-FR" altLang="en-US" i="1"/>
          </a:p>
        </p:txBody>
      </p:sp>
      <p:sp>
        <p:nvSpPr>
          <p:cNvPr id="98306" name="Google Shape;487;p45">
            <a:extLst>
              <a:ext uri="{FF2B5EF4-FFF2-40B4-BE49-F238E27FC236}">
                <a16:creationId xmlns:a16="http://schemas.microsoft.com/office/drawing/2014/main" id="{26A0FE2A-E1CF-49FB-BC6A-08BF44EA25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14400"/>
            <a:r>
              <a:rPr lang="fr-FR" altLang="en-US" sz="2400"/>
              <a:t>Ad-hoc protocol (runs on TCP port 8333)</a:t>
            </a:r>
          </a:p>
          <a:p>
            <a:pPr marL="914400">
              <a:spcBef>
                <a:spcPct val="0"/>
              </a:spcBef>
            </a:pPr>
            <a:r>
              <a:rPr lang="fr-FR" altLang="en-US" sz="2400"/>
              <a:t>Ad-hoc network with random topology</a:t>
            </a:r>
          </a:p>
          <a:p>
            <a:pPr marL="914400">
              <a:spcBef>
                <a:spcPct val="0"/>
              </a:spcBef>
            </a:pPr>
            <a:r>
              <a:rPr lang="fr-FR" altLang="en-US" sz="2400"/>
              <a:t>All nodes are equal</a:t>
            </a:r>
          </a:p>
          <a:p>
            <a:pPr marL="914400">
              <a:spcBef>
                <a:spcPct val="0"/>
              </a:spcBef>
            </a:pPr>
            <a:r>
              <a:rPr lang="fr-FR" altLang="en-US" sz="2400"/>
              <a:t>New nodes can join at any time</a:t>
            </a:r>
          </a:p>
          <a:p>
            <a:pPr marL="914400">
              <a:spcBef>
                <a:spcPct val="0"/>
              </a:spcBef>
            </a:pPr>
            <a:r>
              <a:rPr lang="fr-FR" altLang="en-US" sz="2400"/>
              <a:t>Forget non-responding nodes after 3 hr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3F2B2-C216-2214-281A-74CDDC07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Google Shape;492;p46">
            <a:extLst>
              <a:ext uri="{FF2B5EF4-FFF2-40B4-BE49-F238E27FC236}">
                <a16:creationId xmlns:a16="http://schemas.microsoft.com/office/drawing/2014/main" id="{7469C01B-D8A5-8AC9-1B9F-BB366AC00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Joining the Bitcoin P2P network</a:t>
            </a:r>
            <a:endParaRPr lang="fr-FR" altLang="en-US" i="1"/>
          </a:p>
        </p:txBody>
      </p:sp>
      <p:sp>
        <p:nvSpPr>
          <p:cNvPr id="100354" name="Google Shape;493;p46">
            <a:extLst>
              <a:ext uri="{FF2B5EF4-FFF2-40B4-BE49-F238E27FC236}">
                <a16:creationId xmlns:a16="http://schemas.microsoft.com/office/drawing/2014/main" id="{F29A1D75-01DA-26D8-3CC6-C96BA980D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754188"/>
            <a:ext cx="725487" cy="1019175"/>
          </a:xfrm>
          <a:prstGeom prst="can">
            <a:avLst>
              <a:gd name="adj" fmla="val 25066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1</a:t>
            </a:r>
          </a:p>
        </p:txBody>
      </p:sp>
      <p:sp>
        <p:nvSpPr>
          <p:cNvPr id="100355" name="Google Shape;494;p46">
            <a:extLst>
              <a:ext uri="{FF2B5EF4-FFF2-40B4-BE49-F238E27FC236}">
                <a16:creationId xmlns:a16="http://schemas.microsoft.com/office/drawing/2014/main" id="{290B3077-2247-EB38-ACEC-CEC4D06F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70375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6</a:t>
            </a:r>
          </a:p>
        </p:txBody>
      </p:sp>
      <p:sp>
        <p:nvSpPr>
          <p:cNvPr id="100356" name="Google Shape;495;p46">
            <a:extLst>
              <a:ext uri="{FF2B5EF4-FFF2-40B4-BE49-F238E27FC236}">
                <a16:creationId xmlns:a16="http://schemas.microsoft.com/office/drawing/2014/main" id="{1EA94658-F39F-B376-EA02-B1D2812E0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55324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4</a:t>
            </a:r>
          </a:p>
        </p:txBody>
      </p:sp>
      <p:sp>
        <p:nvSpPr>
          <p:cNvPr id="100357" name="Google Shape;496;p46">
            <a:extLst>
              <a:ext uri="{FF2B5EF4-FFF2-40B4-BE49-F238E27FC236}">
                <a16:creationId xmlns:a16="http://schemas.microsoft.com/office/drawing/2014/main" id="{37917581-F6B4-014C-CF21-859B75081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082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7</a:t>
            </a:r>
          </a:p>
        </p:txBody>
      </p:sp>
      <p:sp>
        <p:nvSpPr>
          <p:cNvPr id="100358" name="Google Shape;497;p46">
            <a:extLst>
              <a:ext uri="{FF2B5EF4-FFF2-40B4-BE49-F238E27FC236}">
                <a16:creationId xmlns:a16="http://schemas.microsoft.com/office/drawing/2014/main" id="{9D811CB9-6934-EC1D-2AF3-100C47390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4075113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3</a:t>
            </a:r>
          </a:p>
        </p:txBody>
      </p:sp>
      <p:sp>
        <p:nvSpPr>
          <p:cNvPr id="100359" name="Google Shape;498;p46">
            <a:extLst>
              <a:ext uri="{FF2B5EF4-FFF2-40B4-BE49-F238E27FC236}">
                <a16:creationId xmlns:a16="http://schemas.microsoft.com/office/drawing/2014/main" id="{D6A4F459-4113-C74D-8959-134C43D1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1562100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5</a:t>
            </a:r>
          </a:p>
        </p:txBody>
      </p:sp>
      <p:sp>
        <p:nvSpPr>
          <p:cNvPr id="100360" name="Google Shape;499;p46">
            <a:extLst>
              <a:ext uri="{FF2B5EF4-FFF2-40B4-BE49-F238E27FC236}">
                <a16:creationId xmlns:a16="http://schemas.microsoft.com/office/drawing/2014/main" id="{A51B9510-1EC9-53F9-FFFB-9E527FFD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513263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2</a:t>
            </a:r>
          </a:p>
        </p:txBody>
      </p:sp>
      <p:cxnSp>
        <p:nvCxnSpPr>
          <p:cNvPr id="100361" name="Google Shape;500;p46">
            <a:extLst>
              <a:ext uri="{FF2B5EF4-FFF2-40B4-BE49-F238E27FC236}">
                <a16:creationId xmlns:a16="http://schemas.microsoft.com/office/drawing/2014/main" id="{425B88EF-5B6C-16FD-D22D-5B21B4853DE2}"/>
              </a:ext>
            </a:extLst>
          </p:cNvPr>
          <p:cNvCxnSpPr>
            <a:cxnSpLocks noChangeShapeType="1"/>
            <a:stCxn id="100354" idx="3"/>
            <a:endCxn id="100355" idx="1"/>
          </p:cNvCxnSpPr>
          <p:nvPr/>
        </p:nvCxnSpPr>
        <p:spPr bwMode="auto">
          <a:xfrm flipH="1">
            <a:off x="1220788" y="2773363"/>
            <a:ext cx="650875" cy="149701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2" name="Google Shape;501;p46">
            <a:extLst>
              <a:ext uri="{FF2B5EF4-FFF2-40B4-BE49-F238E27FC236}">
                <a16:creationId xmlns:a16="http://schemas.microsoft.com/office/drawing/2014/main" id="{F454A0E7-43C9-57C6-3A39-C902FF53BF9A}"/>
              </a:ext>
            </a:extLst>
          </p:cNvPr>
          <p:cNvCxnSpPr>
            <a:cxnSpLocks noChangeShapeType="1"/>
            <a:stCxn id="100359" idx="2"/>
            <a:endCxn id="100354" idx="4"/>
          </p:cNvCxnSpPr>
          <p:nvPr/>
        </p:nvCxnSpPr>
        <p:spPr bwMode="auto">
          <a:xfrm flipH="1">
            <a:off x="2235200" y="2071688"/>
            <a:ext cx="2574925" cy="1920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3" name="Google Shape;502;p46">
            <a:extLst>
              <a:ext uri="{FF2B5EF4-FFF2-40B4-BE49-F238E27FC236}">
                <a16:creationId xmlns:a16="http://schemas.microsoft.com/office/drawing/2014/main" id="{A625D18B-A8D5-0EAB-0E39-AE695FCCF96B}"/>
              </a:ext>
            </a:extLst>
          </p:cNvPr>
          <p:cNvCxnSpPr>
            <a:cxnSpLocks noChangeShapeType="1"/>
            <a:stCxn id="100358" idx="2"/>
          </p:cNvCxnSpPr>
          <p:nvPr/>
        </p:nvCxnSpPr>
        <p:spPr bwMode="auto">
          <a:xfrm flipH="1">
            <a:off x="1584325" y="4583113"/>
            <a:ext cx="2908300" cy="1349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4" name="Google Shape;503;p46">
            <a:extLst>
              <a:ext uri="{FF2B5EF4-FFF2-40B4-BE49-F238E27FC236}">
                <a16:creationId xmlns:a16="http://schemas.microsoft.com/office/drawing/2014/main" id="{BE97C2AF-EE9F-8253-6941-AF11251DBAF6}"/>
              </a:ext>
            </a:extLst>
          </p:cNvPr>
          <p:cNvCxnSpPr>
            <a:cxnSpLocks noChangeShapeType="1"/>
            <a:stCxn id="100357" idx="2"/>
            <a:endCxn id="100358" idx="4"/>
          </p:cNvCxnSpPr>
          <p:nvPr/>
        </p:nvCxnSpPr>
        <p:spPr bwMode="auto">
          <a:xfrm flipH="1">
            <a:off x="5219700" y="2916238"/>
            <a:ext cx="1333500" cy="16668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5" name="Google Shape;504;p46">
            <a:extLst>
              <a:ext uri="{FF2B5EF4-FFF2-40B4-BE49-F238E27FC236}">
                <a16:creationId xmlns:a16="http://schemas.microsoft.com/office/drawing/2014/main" id="{CEBD943D-C892-B789-611E-8F5FE91E5E06}"/>
              </a:ext>
            </a:extLst>
          </p:cNvPr>
          <p:cNvCxnSpPr>
            <a:cxnSpLocks noChangeShapeType="1"/>
            <a:stCxn id="100357" idx="2"/>
            <a:endCxn id="100359" idx="4"/>
          </p:cNvCxnSpPr>
          <p:nvPr/>
        </p:nvCxnSpPr>
        <p:spPr bwMode="auto">
          <a:xfrm rot="10800000">
            <a:off x="5537200" y="2071688"/>
            <a:ext cx="1016000" cy="84455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6" name="Google Shape;505;p46">
            <a:extLst>
              <a:ext uri="{FF2B5EF4-FFF2-40B4-BE49-F238E27FC236}">
                <a16:creationId xmlns:a16="http://schemas.microsoft.com/office/drawing/2014/main" id="{21B17CE5-C88C-DB88-6081-E684541E9AED}"/>
              </a:ext>
            </a:extLst>
          </p:cNvPr>
          <p:cNvCxnSpPr>
            <a:cxnSpLocks noChangeShapeType="1"/>
            <a:stCxn id="100358" idx="3"/>
          </p:cNvCxnSpPr>
          <p:nvPr/>
        </p:nvCxnSpPr>
        <p:spPr bwMode="auto">
          <a:xfrm flipH="1">
            <a:off x="3514725" y="5092700"/>
            <a:ext cx="1341438" cy="5635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7" name="Google Shape;506;p46">
            <a:extLst>
              <a:ext uri="{FF2B5EF4-FFF2-40B4-BE49-F238E27FC236}">
                <a16:creationId xmlns:a16="http://schemas.microsoft.com/office/drawing/2014/main" id="{1B652D0E-2376-DF20-2D13-603C89CBCBA5}"/>
              </a:ext>
            </a:extLst>
          </p:cNvPr>
          <p:cNvCxnSpPr>
            <a:cxnSpLocks noChangeShapeType="1"/>
            <a:stCxn id="100360" idx="1"/>
          </p:cNvCxnSpPr>
          <p:nvPr/>
        </p:nvCxnSpPr>
        <p:spPr bwMode="auto">
          <a:xfrm rot="10800000">
            <a:off x="6956425" y="3425825"/>
            <a:ext cx="252413" cy="108743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368" name="Google Shape;507;p46">
            <a:extLst>
              <a:ext uri="{FF2B5EF4-FFF2-40B4-BE49-F238E27FC236}">
                <a16:creationId xmlns:a16="http://schemas.microsoft.com/office/drawing/2014/main" id="{2D7C1CAF-8B49-7843-2046-709A272F61F4}"/>
              </a:ext>
            </a:extLst>
          </p:cNvPr>
          <p:cNvCxnSpPr>
            <a:cxnSpLocks noChangeShapeType="1"/>
            <a:stCxn id="100360" idx="2"/>
            <a:endCxn id="100356" idx="4"/>
          </p:cNvCxnSpPr>
          <p:nvPr/>
        </p:nvCxnSpPr>
        <p:spPr bwMode="auto">
          <a:xfrm flipH="1">
            <a:off x="3598863" y="5022850"/>
            <a:ext cx="3246437" cy="10191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8" name="Google Shape;508;p46">
            <a:extLst>
              <a:ext uri="{FF2B5EF4-FFF2-40B4-BE49-F238E27FC236}">
                <a16:creationId xmlns:a16="http://schemas.microsoft.com/office/drawing/2014/main" id="{A568DA8E-D173-8FE2-41E7-1B785C48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2914650"/>
            <a:ext cx="727075" cy="1017588"/>
          </a:xfrm>
          <a:prstGeom prst="can">
            <a:avLst>
              <a:gd name="adj" fmla="val 24972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8</a:t>
            </a:r>
          </a:p>
        </p:txBody>
      </p:sp>
      <p:sp>
        <p:nvSpPr>
          <p:cNvPr id="509" name="Google Shape;509;p46">
            <a:extLst>
              <a:ext uri="{FF2B5EF4-FFF2-40B4-BE49-F238E27FC236}">
                <a16:creationId xmlns:a16="http://schemas.microsoft.com/office/drawing/2014/main" id="{C2C5B1B7-9066-4357-C5E4-07789C898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1900238"/>
            <a:ext cx="2220913" cy="873125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FF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600"/>
              <a:t>Hello World! I</a:t>
            </a:r>
            <a:r>
              <a:rPr lang="fr-FR" altLang="fr-FR" sz="1600"/>
              <a:t>’</a:t>
            </a:r>
            <a:r>
              <a:rPr lang="fr-FR" altLang="en-US" sz="1600"/>
              <a:t>m ready to Bitcoin!</a:t>
            </a:r>
          </a:p>
        </p:txBody>
      </p:sp>
      <p:cxnSp>
        <p:nvCxnSpPr>
          <p:cNvPr id="510" name="Google Shape;510;p46">
            <a:extLst>
              <a:ext uri="{FF2B5EF4-FFF2-40B4-BE49-F238E27FC236}">
                <a16:creationId xmlns:a16="http://schemas.microsoft.com/office/drawing/2014/main" id="{B6C39F0C-F2B4-E109-8148-B382CD5C9CF6}"/>
              </a:ext>
            </a:extLst>
          </p:cNvPr>
          <p:cNvCxnSpPr>
            <a:cxnSpLocks noChangeShapeType="1"/>
            <a:stCxn id="508" idx="4"/>
            <a:endCxn id="509" idx="4"/>
          </p:cNvCxnSpPr>
          <p:nvPr/>
        </p:nvCxnSpPr>
        <p:spPr bwMode="auto">
          <a:xfrm rot="10800000" flipH="1">
            <a:off x="3514725" y="2644775"/>
            <a:ext cx="1314450" cy="779463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1" name="Google Shape;511;p46">
            <a:extLst>
              <a:ext uri="{FF2B5EF4-FFF2-40B4-BE49-F238E27FC236}">
                <a16:creationId xmlns:a16="http://schemas.microsoft.com/office/drawing/2014/main" id="{5A9B6E35-861A-A9BF-BC3C-AC3F20A31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2955925"/>
            <a:ext cx="11811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b="1">
                <a:latin typeface="Courier New" panose="02070309020205020404" pitchFamily="49" charset="0"/>
                <a:sym typeface="Courier New" panose="02070309020205020404" pitchFamily="49" charset="0"/>
              </a:rPr>
              <a:t>getaddr()</a:t>
            </a:r>
          </a:p>
        </p:txBody>
      </p:sp>
      <p:cxnSp>
        <p:nvCxnSpPr>
          <p:cNvPr id="512" name="Google Shape;512;p46">
            <a:extLst>
              <a:ext uri="{FF2B5EF4-FFF2-40B4-BE49-F238E27FC236}">
                <a16:creationId xmlns:a16="http://schemas.microsoft.com/office/drawing/2014/main" id="{EA6CF1BB-64BD-0462-B29B-3B94CA596397}"/>
              </a:ext>
            </a:extLst>
          </p:cNvPr>
          <p:cNvCxnSpPr>
            <a:cxnSpLocks noChangeShapeType="1"/>
            <a:stCxn id="100359" idx="3"/>
          </p:cNvCxnSpPr>
          <p:nvPr/>
        </p:nvCxnSpPr>
        <p:spPr bwMode="auto">
          <a:xfrm flipH="1">
            <a:off x="3459163" y="2581275"/>
            <a:ext cx="1714500" cy="113665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3" name="Google Shape;513;p46">
            <a:extLst>
              <a:ext uri="{FF2B5EF4-FFF2-40B4-BE49-F238E27FC236}">
                <a16:creationId xmlns:a16="http://schemas.microsoft.com/office/drawing/2014/main" id="{F88354CD-CBE9-5FDF-719D-2BAE4F479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613" y="2955925"/>
            <a:ext cx="11795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>
                <a:latin typeface="Courier New" panose="02070309020205020404" pitchFamily="49" charset="0"/>
                <a:sym typeface="Courier New" panose="02070309020205020404" pitchFamily="49" charset="0"/>
              </a:rPr>
              <a:t>1, 7</a:t>
            </a:r>
          </a:p>
        </p:txBody>
      </p:sp>
      <p:cxnSp>
        <p:nvCxnSpPr>
          <p:cNvPr id="514" name="Google Shape;514;p46">
            <a:extLst>
              <a:ext uri="{FF2B5EF4-FFF2-40B4-BE49-F238E27FC236}">
                <a16:creationId xmlns:a16="http://schemas.microsoft.com/office/drawing/2014/main" id="{DD952F64-B70B-0CC3-AF2E-47EDB5BED287}"/>
              </a:ext>
            </a:extLst>
          </p:cNvPr>
          <p:cNvCxnSpPr>
            <a:cxnSpLocks noChangeShapeType="1"/>
            <a:stCxn id="508" idx="2"/>
          </p:cNvCxnSpPr>
          <p:nvPr/>
        </p:nvCxnSpPr>
        <p:spPr bwMode="auto">
          <a:xfrm rot="10800000">
            <a:off x="2235200" y="2711450"/>
            <a:ext cx="552450" cy="712788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" name="Google Shape;515;p46">
            <a:extLst>
              <a:ext uri="{FF2B5EF4-FFF2-40B4-BE49-F238E27FC236}">
                <a16:creationId xmlns:a16="http://schemas.microsoft.com/office/drawing/2014/main" id="{C98B3C61-3607-0749-35BC-508C27E58E4F}"/>
              </a:ext>
            </a:extLst>
          </p:cNvPr>
          <p:cNvCxnSpPr>
            <a:cxnSpLocks noChangeShapeType="1"/>
            <a:stCxn id="508" idx="4"/>
          </p:cNvCxnSpPr>
          <p:nvPr/>
        </p:nvCxnSpPr>
        <p:spPr bwMode="auto">
          <a:xfrm rot="10800000" flipH="1">
            <a:off x="3514725" y="2955925"/>
            <a:ext cx="2870200" cy="468313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6" name="Google Shape;516;p46">
            <a:extLst>
              <a:ext uri="{FF2B5EF4-FFF2-40B4-BE49-F238E27FC236}">
                <a16:creationId xmlns:a16="http://schemas.microsoft.com/office/drawing/2014/main" id="{C60462D4-15A4-1D2C-D543-D1E2E3A5D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038" y="3006725"/>
            <a:ext cx="11795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b="1">
                <a:latin typeface="Courier New" panose="02070309020205020404" pitchFamily="49" charset="0"/>
                <a:sym typeface="Courier New" panose="02070309020205020404" pitchFamily="49" charset="0"/>
              </a:rPr>
              <a:t>getaddr()</a:t>
            </a:r>
          </a:p>
        </p:txBody>
      </p:sp>
      <p:sp>
        <p:nvSpPr>
          <p:cNvPr id="517" name="Google Shape;517;p46">
            <a:extLst>
              <a:ext uri="{FF2B5EF4-FFF2-40B4-BE49-F238E27FC236}">
                <a16:creationId xmlns:a16="http://schemas.microsoft.com/office/drawing/2014/main" id="{F030C0BD-2694-CB57-2A15-135741109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2976563"/>
            <a:ext cx="11795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400" b="1">
                <a:latin typeface="Courier New" panose="02070309020205020404" pitchFamily="49" charset="0"/>
                <a:sym typeface="Courier New" panose="02070309020205020404" pitchFamily="49" charset="0"/>
              </a:rPr>
              <a:t>getaddr()</a:t>
            </a:r>
          </a:p>
        </p:txBody>
      </p:sp>
      <p:cxnSp>
        <p:nvCxnSpPr>
          <p:cNvPr id="518" name="Google Shape;518;p46">
            <a:extLst>
              <a:ext uri="{FF2B5EF4-FFF2-40B4-BE49-F238E27FC236}">
                <a16:creationId xmlns:a16="http://schemas.microsoft.com/office/drawing/2014/main" id="{2BD814F5-2C83-AC17-1906-C012EDAC3D17}"/>
              </a:ext>
            </a:extLst>
          </p:cNvPr>
          <p:cNvCxnSpPr>
            <a:cxnSpLocks noChangeShapeType="1"/>
            <a:stCxn id="100359" idx="3"/>
            <a:endCxn id="508" idx="4"/>
          </p:cNvCxnSpPr>
          <p:nvPr/>
        </p:nvCxnSpPr>
        <p:spPr bwMode="auto">
          <a:xfrm flipH="1">
            <a:off x="3514725" y="2581275"/>
            <a:ext cx="1658938" cy="8429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9" name="Google Shape;519;p46">
            <a:extLst>
              <a:ext uri="{FF2B5EF4-FFF2-40B4-BE49-F238E27FC236}">
                <a16:creationId xmlns:a16="http://schemas.microsoft.com/office/drawing/2014/main" id="{8F9293CE-A7BB-6D43-F0F4-8B703468DD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71700" y="2773363"/>
            <a:ext cx="644525" cy="6492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0" name="Google Shape;520;p46">
            <a:extLst>
              <a:ext uri="{FF2B5EF4-FFF2-40B4-BE49-F238E27FC236}">
                <a16:creationId xmlns:a16="http://schemas.microsoft.com/office/drawing/2014/main" id="{D06A5ADB-CDD9-2CF9-5ACC-61D93AA23C32}"/>
              </a:ext>
            </a:extLst>
          </p:cNvPr>
          <p:cNvCxnSpPr>
            <a:cxnSpLocks noChangeShapeType="1"/>
            <a:stCxn id="508" idx="3"/>
          </p:cNvCxnSpPr>
          <p:nvPr/>
        </p:nvCxnSpPr>
        <p:spPr bwMode="auto">
          <a:xfrm flipH="1">
            <a:off x="1573213" y="3932238"/>
            <a:ext cx="1577975" cy="52070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4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7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Google Shape;525;p47">
            <a:extLst>
              <a:ext uri="{FF2B5EF4-FFF2-40B4-BE49-F238E27FC236}">
                <a16:creationId xmlns:a16="http://schemas.microsoft.com/office/drawing/2014/main" id="{3AE82A2D-B8DB-94B0-4FEE-980E7DA33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Transaction propagation (flooding)</a:t>
            </a:r>
            <a:endParaRPr lang="fr-FR" altLang="en-US" i="1"/>
          </a:p>
        </p:txBody>
      </p:sp>
      <p:sp>
        <p:nvSpPr>
          <p:cNvPr id="102402" name="Google Shape;526;p47">
            <a:extLst>
              <a:ext uri="{FF2B5EF4-FFF2-40B4-BE49-F238E27FC236}">
                <a16:creationId xmlns:a16="http://schemas.microsoft.com/office/drawing/2014/main" id="{29C90001-C88F-9FAD-CCF9-71D7E031C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754188"/>
            <a:ext cx="725487" cy="1019175"/>
          </a:xfrm>
          <a:prstGeom prst="can">
            <a:avLst>
              <a:gd name="adj" fmla="val 25066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1</a:t>
            </a:r>
          </a:p>
        </p:txBody>
      </p:sp>
      <p:sp>
        <p:nvSpPr>
          <p:cNvPr id="102403" name="Google Shape;527;p47">
            <a:extLst>
              <a:ext uri="{FF2B5EF4-FFF2-40B4-BE49-F238E27FC236}">
                <a16:creationId xmlns:a16="http://schemas.microsoft.com/office/drawing/2014/main" id="{9834DAB9-1021-5E22-036F-F56A427A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70375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6</a:t>
            </a:r>
          </a:p>
        </p:txBody>
      </p:sp>
      <p:sp>
        <p:nvSpPr>
          <p:cNvPr id="102404" name="Google Shape;528;p47">
            <a:extLst>
              <a:ext uri="{FF2B5EF4-FFF2-40B4-BE49-F238E27FC236}">
                <a16:creationId xmlns:a16="http://schemas.microsoft.com/office/drawing/2014/main" id="{70C1F14E-A1DB-ACAC-2C51-ADE2BA8CB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55324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4</a:t>
            </a:r>
          </a:p>
        </p:txBody>
      </p:sp>
      <p:sp>
        <p:nvSpPr>
          <p:cNvPr id="102405" name="Google Shape;529;p47">
            <a:extLst>
              <a:ext uri="{FF2B5EF4-FFF2-40B4-BE49-F238E27FC236}">
                <a16:creationId xmlns:a16="http://schemas.microsoft.com/office/drawing/2014/main" id="{D564C1CC-5AA0-A24B-BC94-29BE46E79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082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7</a:t>
            </a:r>
          </a:p>
        </p:txBody>
      </p:sp>
      <p:sp>
        <p:nvSpPr>
          <p:cNvPr id="102406" name="Google Shape;530;p47">
            <a:extLst>
              <a:ext uri="{FF2B5EF4-FFF2-40B4-BE49-F238E27FC236}">
                <a16:creationId xmlns:a16="http://schemas.microsoft.com/office/drawing/2014/main" id="{D17AC016-BE99-81E6-C0F0-5F7C7236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4075113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3</a:t>
            </a:r>
          </a:p>
        </p:txBody>
      </p:sp>
      <p:sp>
        <p:nvSpPr>
          <p:cNvPr id="102407" name="Google Shape;531;p47">
            <a:extLst>
              <a:ext uri="{FF2B5EF4-FFF2-40B4-BE49-F238E27FC236}">
                <a16:creationId xmlns:a16="http://schemas.microsoft.com/office/drawing/2014/main" id="{18A06D28-2334-D369-E008-8B293E3D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1562100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5</a:t>
            </a:r>
          </a:p>
        </p:txBody>
      </p:sp>
      <p:sp>
        <p:nvSpPr>
          <p:cNvPr id="102408" name="Google Shape;532;p47">
            <a:extLst>
              <a:ext uri="{FF2B5EF4-FFF2-40B4-BE49-F238E27FC236}">
                <a16:creationId xmlns:a16="http://schemas.microsoft.com/office/drawing/2014/main" id="{DA414792-B5BA-3B1B-327C-13BEBA6D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513263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2</a:t>
            </a:r>
          </a:p>
        </p:txBody>
      </p:sp>
      <p:cxnSp>
        <p:nvCxnSpPr>
          <p:cNvPr id="102409" name="Google Shape;533;p47">
            <a:extLst>
              <a:ext uri="{FF2B5EF4-FFF2-40B4-BE49-F238E27FC236}">
                <a16:creationId xmlns:a16="http://schemas.microsoft.com/office/drawing/2014/main" id="{80999642-A7FE-A6DE-4F89-38023AEDA4F9}"/>
              </a:ext>
            </a:extLst>
          </p:cNvPr>
          <p:cNvCxnSpPr>
            <a:cxnSpLocks noChangeShapeType="1"/>
            <a:stCxn id="102402" idx="3"/>
            <a:endCxn id="102403" idx="1"/>
          </p:cNvCxnSpPr>
          <p:nvPr/>
        </p:nvCxnSpPr>
        <p:spPr bwMode="auto">
          <a:xfrm flipH="1">
            <a:off x="1220788" y="2773363"/>
            <a:ext cx="650875" cy="149701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0" name="Google Shape;534;p47">
            <a:extLst>
              <a:ext uri="{FF2B5EF4-FFF2-40B4-BE49-F238E27FC236}">
                <a16:creationId xmlns:a16="http://schemas.microsoft.com/office/drawing/2014/main" id="{6C3A51EC-BD35-977C-6C52-02EE991AE6FA}"/>
              </a:ext>
            </a:extLst>
          </p:cNvPr>
          <p:cNvCxnSpPr>
            <a:cxnSpLocks noChangeShapeType="1"/>
            <a:stCxn id="102407" idx="2"/>
            <a:endCxn id="102402" idx="4"/>
          </p:cNvCxnSpPr>
          <p:nvPr/>
        </p:nvCxnSpPr>
        <p:spPr bwMode="auto">
          <a:xfrm flipH="1">
            <a:off x="2235200" y="2071688"/>
            <a:ext cx="2574925" cy="1920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1" name="Google Shape;535;p47">
            <a:extLst>
              <a:ext uri="{FF2B5EF4-FFF2-40B4-BE49-F238E27FC236}">
                <a16:creationId xmlns:a16="http://schemas.microsoft.com/office/drawing/2014/main" id="{64D8C56C-580B-7B5B-0BC2-E9CED2E458E2}"/>
              </a:ext>
            </a:extLst>
          </p:cNvPr>
          <p:cNvCxnSpPr>
            <a:cxnSpLocks noChangeShapeType="1"/>
            <a:stCxn id="102406" idx="2"/>
          </p:cNvCxnSpPr>
          <p:nvPr/>
        </p:nvCxnSpPr>
        <p:spPr bwMode="auto">
          <a:xfrm flipH="1">
            <a:off x="1584325" y="4583113"/>
            <a:ext cx="2908300" cy="1349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2" name="Google Shape;536;p47">
            <a:extLst>
              <a:ext uri="{FF2B5EF4-FFF2-40B4-BE49-F238E27FC236}">
                <a16:creationId xmlns:a16="http://schemas.microsoft.com/office/drawing/2014/main" id="{B1DF803D-DDEE-57D3-7703-20CEBA36431E}"/>
              </a:ext>
            </a:extLst>
          </p:cNvPr>
          <p:cNvCxnSpPr>
            <a:cxnSpLocks noChangeShapeType="1"/>
            <a:stCxn id="102405" idx="2"/>
            <a:endCxn id="102406" idx="4"/>
          </p:cNvCxnSpPr>
          <p:nvPr/>
        </p:nvCxnSpPr>
        <p:spPr bwMode="auto">
          <a:xfrm flipH="1">
            <a:off x="5219700" y="2916238"/>
            <a:ext cx="1333500" cy="16668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3" name="Google Shape;537;p47">
            <a:extLst>
              <a:ext uri="{FF2B5EF4-FFF2-40B4-BE49-F238E27FC236}">
                <a16:creationId xmlns:a16="http://schemas.microsoft.com/office/drawing/2014/main" id="{996A9600-80AA-BB86-CC48-B9413D4140E3}"/>
              </a:ext>
            </a:extLst>
          </p:cNvPr>
          <p:cNvCxnSpPr>
            <a:cxnSpLocks noChangeShapeType="1"/>
            <a:stCxn id="102405" idx="2"/>
            <a:endCxn id="102407" idx="4"/>
          </p:cNvCxnSpPr>
          <p:nvPr/>
        </p:nvCxnSpPr>
        <p:spPr bwMode="auto">
          <a:xfrm rot="10800000">
            <a:off x="5537200" y="2071688"/>
            <a:ext cx="1016000" cy="84455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4" name="Google Shape;538;p47">
            <a:extLst>
              <a:ext uri="{FF2B5EF4-FFF2-40B4-BE49-F238E27FC236}">
                <a16:creationId xmlns:a16="http://schemas.microsoft.com/office/drawing/2014/main" id="{B69B2DCE-3CF6-7F53-D286-F06E3FCB4761}"/>
              </a:ext>
            </a:extLst>
          </p:cNvPr>
          <p:cNvCxnSpPr>
            <a:cxnSpLocks noChangeShapeType="1"/>
            <a:stCxn id="102406" idx="3"/>
          </p:cNvCxnSpPr>
          <p:nvPr/>
        </p:nvCxnSpPr>
        <p:spPr bwMode="auto">
          <a:xfrm flipH="1">
            <a:off x="3514725" y="5092700"/>
            <a:ext cx="1341438" cy="5635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5" name="Google Shape;539;p47">
            <a:extLst>
              <a:ext uri="{FF2B5EF4-FFF2-40B4-BE49-F238E27FC236}">
                <a16:creationId xmlns:a16="http://schemas.microsoft.com/office/drawing/2014/main" id="{A0D288BE-85A4-9135-515D-1C943CD1A545}"/>
              </a:ext>
            </a:extLst>
          </p:cNvPr>
          <p:cNvCxnSpPr>
            <a:cxnSpLocks noChangeShapeType="1"/>
            <a:stCxn id="102408" idx="1"/>
          </p:cNvCxnSpPr>
          <p:nvPr/>
        </p:nvCxnSpPr>
        <p:spPr bwMode="auto">
          <a:xfrm rot="10800000">
            <a:off x="6956425" y="3425825"/>
            <a:ext cx="252413" cy="108743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6" name="Google Shape;540;p47">
            <a:extLst>
              <a:ext uri="{FF2B5EF4-FFF2-40B4-BE49-F238E27FC236}">
                <a16:creationId xmlns:a16="http://schemas.microsoft.com/office/drawing/2014/main" id="{9D916E68-1156-9B51-8CFC-63528C922F0E}"/>
              </a:ext>
            </a:extLst>
          </p:cNvPr>
          <p:cNvCxnSpPr>
            <a:cxnSpLocks noChangeShapeType="1"/>
            <a:stCxn id="102408" idx="2"/>
            <a:endCxn id="102404" idx="4"/>
          </p:cNvCxnSpPr>
          <p:nvPr/>
        </p:nvCxnSpPr>
        <p:spPr bwMode="auto">
          <a:xfrm flipH="1">
            <a:off x="3598863" y="5022850"/>
            <a:ext cx="3246437" cy="10191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17" name="Google Shape;541;p47">
            <a:extLst>
              <a:ext uri="{FF2B5EF4-FFF2-40B4-BE49-F238E27FC236}">
                <a16:creationId xmlns:a16="http://schemas.microsoft.com/office/drawing/2014/main" id="{89DEB339-A018-F4F7-1FDE-D403AEEE5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2914650"/>
            <a:ext cx="727075" cy="1017588"/>
          </a:xfrm>
          <a:prstGeom prst="can">
            <a:avLst>
              <a:gd name="adj" fmla="val 24972"/>
            </a:avLst>
          </a:prstGeom>
          <a:solidFill>
            <a:srgbClr val="CCCCCC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8</a:t>
            </a:r>
          </a:p>
        </p:txBody>
      </p:sp>
      <p:cxnSp>
        <p:nvCxnSpPr>
          <p:cNvPr id="102418" name="Google Shape;542;p47">
            <a:extLst>
              <a:ext uri="{FF2B5EF4-FFF2-40B4-BE49-F238E27FC236}">
                <a16:creationId xmlns:a16="http://schemas.microsoft.com/office/drawing/2014/main" id="{B2329D29-AB60-7D1B-5019-F2B3DC06D9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71700" y="2773363"/>
            <a:ext cx="644525" cy="6492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19" name="Google Shape;543;p47">
            <a:extLst>
              <a:ext uri="{FF2B5EF4-FFF2-40B4-BE49-F238E27FC236}">
                <a16:creationId xmlns:a16="http://schemas.microsoft.com/office/drawing/2014/main" id="{81AF9B83-4221-A651-393F-B762F1BFEB92}"/>
              </a:ext>
            </a:extLst>
          </p:cNvPr>
          <p:cNvCxnSpPr>
            <a:cxnSpLocks noChangeShapeType="1"/>
            <a:stCxn id="102417" idx="3"/>
          </p:cNvCxnSpPr>
          <p:nvPr/>
        </p:nvCxnSpPr>
        <p:spPr bwMode="auto">
          <a:xfrm flipH="1">
            <a:off x="1573213" y="3932238"/>
            <a:ext cx="1577975" cy="52070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20" name="Google Shape;544;p47">
            <a:extLst>
              <a:ext uri="{FF2B5EF4-FFF2-40B4-BE49-F238E27FC236}">
                <a16:creationId xmlns:a16="http://schemas.microsoft.com/office/drawing/2014/main" id="{F58168B1-4CD8-B983-2640-50B8163F635E}"/>
              </a:ext>
            </a:extLst>
          </p:cNvPr>
          <p:cNvCxnSpPr>
            <a:cxnSpLocks noChangeShapeType="1"/>
            <a:stCxn id="102407" idx="3"/>
            <a:endCxn id="102417" idx="4"/>
          </p:cNvCxnSpPr>
          <p:nvPr/>
        </p:nvCxnSpPr>
        <p:spPr bwMode="auto">
          <a:xfrm flipH="1">
            <a:off x="3514725" y="2581275"/>
            <a:ext cx="1658938" cy="8429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5" name="Google Shape;545;p47">
            <a:extLst>
              <a:ext uri="{FF2B5EF4-FFF2-40B4-BE49-F238E27FC236}">
                <a16:creationId xmlns:a16="http://schemas.microsoft.com/office/drawing/2014/main" id="{809BE0F1-AB26-9392-2F82-394BE9535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188" y="4205288"/>
            <a:ext cx="1255712" cy="11430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New tx!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A→B</a:t>
            </a:r>
          </a:p>
        </p:txBody>
      </p:sp>
      <p:sp>
        <p:nvSpPr>
          <p:cNvPr id="546" name="Google Shape;546;p47">
            <a:extLst>
              <a:ext uri="{FF2B5EF4-FFF2-40B4-BE49-F238E27FC236}">
                <a16:creationId xmlns:a16="http://schemas.microsoft.com/office/drawing/2014/main" id="{C4D395B6-057D-8AB8-5050-537B8DC9B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6286500"/>
            <a:ext cx="547687" cy="192088"/>
          </a:xfrm>
          <a:prstGeom prst="rect">
            <a:avLst/>
          </a:prstGeom>
          <a:solidFill>
            <a:srgbClr val="A4C2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47" name="Google Shape;547;p47">
            <a:extLst>
              <a:ext uri="{FF2B5EF4-FFF2-40B4-BE49-F238E27FC236}">
                <a16:creationId xmlns:a16="http://schemas.microsoft.com/office/drawing/2014/main" id="{E5D5BBF9-BE10-57BA-76F5-31665CF4F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4832350"/>
            <a:ext cx="546100" cy="190500"/>
          </a:xfrm>
          <a:prstGeom prst="rect">
            <a:avLst/>
          </a:prstGeom>
          <a:solidFill>
            <a:srgbClr val="A4C2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B06EF6DA-6786-0ECD-C253-9DBB4FB87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5278438"/>
            <a:ext cx="546100" cy="192087"/>
          </a:xfrm>
          <a:prstGeom prst="rect">
            <a:avLst/>
          </a:prstGeom>
          <a:solidFill>
            <a:srgbClr val="A4C2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49" name="Google Shape;549;p47">
            <a:extLst>
              <a:ext uri="{FF2B5EF4-FFF2-40B4-BE49-F238E27FC236}">
                <a16:creationId xmlns:a16="http://schemas.microsoft.com/office/drawing/2014/main" id="{71ED7326-83C8-66A0-91E5-8BEAB9938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5022850"/>
            <a:ext cx="546100" cy="192088"/>
          </a:xfrm>
          <a:prstGeom prst="rect">
            <a:avLst/>
          </a:prstGeom>
          <a:solidFill>
            <a:srgbClr val="A4C2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0" name="Google Shape;550;p47">
            <a:extLst>
              <a:ext uri="{FF2B5EF4-FFF2-40B4-BE49-F238E27FC236}">
                <a16:creationId xmlns:a16="http://schemas.microsoft.com/office/drawing/2014/main" id="{0AC081E8-178B-5FB9-8DCC-AC42EC02B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488" y="5532438"/>
            <a:ext cx="64293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1" name="Google Shape;551;p47">
            <a:extLst>
              <a:ext uri="{FF2B5EF4-FFF2-40B4-BE49-F238E27FC236}">
                <a16:creationId xmlns:a16="http://schemas.microsoft.com/office/drawing/2014/main" id="{03DCCFC1-8BD3-C52E-757A-065F56C42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3783013"/>
            <a:ext cx="6429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2" name="Google Shape;552;p47">
            <a:extLst>
              <a:ext uri="{FF2B5EF4-FFF2-40B4-BE49-F238E27FC236}">
                <a16:creationId xmlns:a16="http://schemas.microsoft.com/office/drawing/2014/main" id="{5FC54712-BF74-ABA0-91E7-2A2F52D0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988" y="5481638"/>
            <a:ext cx="6445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3" name="Google Shape;553;p47">
            <a:extLst>
              <a:ext uri="{FF2B5EF4-FFF2-40B4-BE49-F238E27FC236}">
                <a16:creationId xmlns:a16="http://schemas.microsoft.com/office/drawing/2014/main" id="{1CC1BC25-1D9E-2DC5-F0AF-6A07FEEB9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900" y="4332288"/>
            <a:ext cx="6445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4" name="Google Shape;554;p47">
            <a:extLst>
              <a:ext uri="{FF2B5EF4-FFF2-40B4-BE49-F238E27FC236}">
                <a16:creationId xmlns:a16="http://schemas.microsoft.com/office/drawing/2014/main" id="{4142B508-E537-FBCA-A69A-F75D837FC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3" y="3716338"/>
            <a:ext cx="6445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5" name="Google Shape;555;p47">
            <a:extLst>
              <a:ext uri="{FF2B5EF4-FFF2-40B4-BE49-F238E27FC236}">
                <a16:creationId xmlns:a16="http://schemas.microsoft.com/office/drawing/2014/main" id="{DCD08383-D951-8585-6E5D-1113A5997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3152775"/>
            <a:ext cx="546100" cy="192088"/>
          </a:xfrm>
          <a:prstGeom prst="rect">
            <a:avLst/>
          </a:prstGeom>
          <a:solidFill>
            <a:srgbClr val="A4C2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56" name="Google Shape;556;p47">
            <a:extLst>
              <a:ext uri="{FF2B5EF4-FFF2-40B4-BE49-F238E27FC236}">
                <a16:creationId xmlns:a16="http://schemas.microsoft.com/office/drawing/2014/main" id="{8D9B8155-0FB2-04AE-D92A-A327BB481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1317625"/>
            <a:ext cx="1577975" cy="11430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Already heard that!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Google Shape;561;p48">
            <a:extLst>
              <a:ext uri="{FF2B5EF4-FFF2-40B4-BE49-F238E27FC236}">
                <a16:creationId xmlns:a16="http://schemas.microsoft.com/office/drawing/2014/main" id="{75F7CCFC-D963-817D-8648-5C266BBAE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3200"/>
              <a:t>Should I relay a proposed transaction?</a:t>
            </a:r>
            <a:endParaRPr lang="fr-FR" altLang="en-US" sz="3200" i="1"/>
          </a:p>
        </p:txBody>
      </p:sp>
      <p:sp>
        <p:nvSpPr>
          <p:cNvPr id="104450" name="Google Shape;562;p48">
            <a:extLst>
              <a:ext uri="{FF2B5EF4-FFF2-40B4-BE49-F238E27FC236}">
                <a16:creationId xmlns:a16="http://schemas.microsoft.com/office/drawing/2014/main" id="{2F98C681-B158-CDFE-16FC-3695E52A9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400"/>
              <a:t>Transaction valid with current block chain</a:t>
            </a:r>
          </a:p>
          <a:p>
            <a:endParaRPr lang="fr-FR" altLang="en-US" sz="2400"/>
          </a:p>
          <a:p>
            <a:pPr>
              <a:spcBef>
                <a:spcPct val="0"/>
              </a:spcBef>
            </a:pPr>
            <a:r>
              <a:rPr lang="fr-FR" altLang="en-US" sz="2400"/>
              <a:t>(default) script matches a whitelist</a:t>
            </a:r>
          </a:p>
          <a:p>
            <a:pPr lvl="1">
              <a:spcBef>
                <a:spcPct val="0"/>
              </a:spcBef>
            </a:pPr>
            <a:r>
              <a:rPr lang="fr-FR" altLang="en-US" sz="2000"/>
              <a:t>Avoid unusual scripts</a:t>
            </a:r>
          </a:p>
          <a:p>
            <a:pPr>
              <a:spcBef>
                <a:spcPct val="0"/>
              </a:spcBef>
            </a:pPr>
            <a:r>
              <a:rPr lang="fr-FR" altLang="en-US" sz="2400"/>
              <a:t>Haven</a:t>
            </a:r>
            <a:r>
              <a:rPr lang="fr-FR" altLang="fr-FR" sz="2400"/>
              <a:t>’</a:t>
            </a:r>
            <a:r>
              <a:rPr lang="fr-FR" altLang="en-US" sz="2400"/>
              <a:t>t seen before</a:t>
            </a:r>
          </a:p>
          <a:p>
            <a:pPr lvl="1">
              <a:spcBef>
                <a:spcPct val="0"/>
              </a:spcBef>
            </a:pPr>
            <a:r>
              <a:rPr lang="fr-FR" altLang="en-US" sz="2000"/>
              <a:t>Avoid infinite loops</a:t>
            </a:r>
          </a:p>
          <a:p>
            <a:pPr>
              <a:spcBef>
                <a:spcPct val="0"/>
              </a:spcBef>
            </a:pPr>
            <a:r>
              <a:rPr lang="fr-FR" altLang="en-US" sz="2400"/>
              <a:t>Doesn</a:t>
            </a:r>
            <a:r>
              <a:rPr lang="fr-FR" altLang="fr-FR" sz="2400"/>
              <a:t>’</a:t>
            </a:r>
            <a:r>
              <a:rPr lang="fr-FR" altLang="en-US" sz="2400"/>
              <a:t>t conflict with others I</a:t>
            </a:r>
            <a:r>
              <a:rPr lang="fr-FR" altLang="fr-FR" sz="2400"/>
              <a:t>’</a:t>
            </a:r>
            <a:r>
              <a:rPr lang="fr-FR" altLang="en-US" sz="2400"/>
              <a:t>ve relayed</a:t>
            </a:r>
          </a:p>
          <a:p>
            <a:pPr lvl="1">
              <a:spcBef>
                <a:spcPct val="0"/>
              </a:spcBef>
            </a:pPr>
            <a:r>
              <a:rPr lang="fr-FR" altLang="en-US" sz="2000"/>
              <a:t>Avoid double-spends</a:t>
            </a:r>
          </a:p>
          <a:p>
            <a:pPr>
              <a:buClr>
                <a:srgbClr val="000000"/>
              </a:buClr>
              <a:buFontTx/>
              <a:buNone/>
            </a:pPr>
            <a:endParaRPr lang="fr-FR" altLang="en-US" sz="2400"/>
          </a:p>
        </p:txBody>
      </p:sp>
      <p:cxnSp>
        <p:nvCxnSpPr>
          <p:cNvPr id="563" name="Google Shape;563;p48">
            <a:extLst>
              <a:ext uri="{FF2B5EF4-FFF2-40B4-BE49-F238E27FC236}">
                <a16:creationId xmlns:a16="http://schemas.microsoft.com/office/drawing/2014/main" id="{B1F5A0BE-9A9A-C4CA-170F-B6219FABC5F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86200" y="3048000"/>
            <a:ext cx="1676400" cy="1524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" name="Google Shape;564;p48">
            <a:extLst>
              <a:ext uri="{FF2B5EF4-FFF2-40B4-BE49-F238E27FC236}">
                <a16:creationId xmlns:a16="http://schemas.microsoft.com/office/drawing/2014/main" id="{BE4ABAEF-96D9-A492-13E7-63B681D4846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81400" y="3552825"/>
            <a:ext cx="1987550" cy="2571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5" name="Google Shape;565;p48">
            <a:extLst>
              <a:ext uri="{FF2B5EF4-FFF2-40B4-BE49-F238E27FC236}">
                <a16:creationId xmlns:a16="http://schemas.microsoft.com/office/drawing/2014/main" id="{CD9B146C-EA77-09BB-028C-EB1483E0EBA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10000" y="3810000"/>
            <a:ext cx="1752600" cy="6858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6" name="Google Shape;566;p48">
            <a:extLst>
              <a:ext uri="{FF2B5EF4-FFF2-40B4-BE49-F238E27FC236}">
                <a16:creationId xmlns:a16="http://schemas.microsoft.com/office/drawing/2014/main" id="{75F874F5-73C2-CF1C-CBE3-D3C440CF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54350"/>
            <a:ext cx="3322638" cy="90805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Sanity checks only...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Some nodes may ignore them!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C7ABEC-E428-9D4C-E923-411C949B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Google Shape;571;p49">
            <a:extLst>
              <a:ext uri="{FF2B5EF4-FFF2-40B4-BE49-F238E27FC236}">
                <a16:creationId xmlns:a16="http://schemas.microsoft.com/office/drawing/2014/main" id="{24E633C1-261D-A76C-1909-5F74D827C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Nodes may differ on transaction pool </a:t>
            </a:r>
            <a:endParaRPr lang="fr-FR" altLang="en-US" i="1"/>
          </a:p>
        </p:txBody>
      </p:sp>
      <p:sp>
        <p:nvSpPr>
          <p:cNvPr id="106498" name="Google Shape;572;p49">
            <a:extLst>
              <a:ext uri="{FF2B5EF4-FFF2-40B4-BE49-F238E27FC236}">
                <a16:creationId xmlns:a16="http://schemas.microsoft.com/office/drawing/2014/main" id="{FBB151C4-73FD-07FD-B272-BD66F2A14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754188"/>
            <a:ext cx="725487" cy="1019175"/>
          </a:xfrm>
          <a:prstGeom prst="can">
            <a:avLst>
              <a:gd name="adj" fmla="val 25066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1</a:t>
            </a:r>
          </a:p>
        </p:txBody>
      </p:sp>
      <p:sp>
        <p:nvSpPr>
          <p:cNvPr id="106499" name="Google Shape;573;p49">
            <a:extLst>
              <a:ext uri="{FF2B5EF4-FFF2-40B4-BE49-F238E27FC236}">
                <a16:creationId xmlns:a16="http://schemas.microsoft.com/office/drawing/2014/main" id="{0586BA8E-2FA2-1B54-64AE-E3264A7C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70375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6</a:t>
            </a:r>
          </a:p>
        </p:txBody>
      </p:sp>
      <p:sp>
        <p:nvSpPr>
          <p:cNvPr id="106500" name="Google Shape;574;p49">
            <a:extLst>
              <a:ext uri="{FF2B5EF4-FFF2-40B4-BE49-F238E27FC236}">
                <a16:creationId xmlns:a16="http://schemas.microsoft.com/office/drawing/2014/main" id="{170C7374-F329-249B-EE85-6DA13FF67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55324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4</a:t>
            </a:r>
          </a:p>
        </p:txBody>
      </p:sp>
      <p:sp>
        <p:nvSpPr>
          <p:cNvPr id="106501" name="Google Shape;575;p49">
            <a:extLst>
              <a:ext uri="{FF2B5EF4-FFF2-40B4-BE49-F238E27FC236}">
                <a16:creationId xmlns:a16="http://schemas.microsoft.com/office/drawing/2014/main" id="{2188BD12-DF66-F89D-2B62-C447232FD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08238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7</a:t>
            </a:r>
          </a:p>
        </p:txBody>
      </p:sp>
      <p:sp>
        <p:nvSpPr>
          <p:cNvPr id="106502" name="Google Shape;576;p49">
            <a:extLst>
              <a:ext uri="{FF2B5EF4-FFF2-40B4-BE49-F238E27FC236}">
                <a16:creationId xmlns:a16="http://schemas.microsoft.com/office/drawing/2014/main" id="{A0C24896-5BB5-4027-413B-9FCAF4EE7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4075113"/>
            <a:ext cx="727075" cy="1017587"/>
          </a:xfrm>
          <a:prstGeom prst="can">
            <a:avLst>
              <a:gd name="adj" fmla="val 24972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3</a:t>
            </a:r>
          </a:p>
        </p:txBody>
      </p:sp>
      <p:sp>
        <p:nvSpPr>
          <p:cNvPr id="106503" name="Google Shape;577;p49">
            <a:extLst>
              <a:ext uri="{FF2B5EF4-FFF2-40B4-BE49-F238E27FC236}">
                <a16:creationId xmlns:a16="http://schemas.microsoft.com/office/drawing/2014/main" id="{FBBA6248-C095-E843-20EC-0E7141AD7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1562100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5</a:t>
            </a:r>
          </a:p>
        </p:txBody>
      </p:sp>
      <p:sp>
        <p:nvSpPr>
          <p:cNvPr id="106504" name="Google Shape;578;p49">
            <a:extLst>
              <a:ext uri="{FF2B5EF4-FFF2-40B4-BE49-F238E27FC236}">
                <a16:creationId xmlns:a16="http://schemas.microsoft.com/office/drawing/2014/main" id="{E688ADDA-21D5-B85E-5E28-51955EE6A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513263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2</a:t>
            </a:r>
          </a:p>
        </p:txBody>
      </p:sp>
      <p:cxnSp>
        <p:nvCxnSpPr>
          <p:cNvPr id="106505" name="Google Shape;579;p49">
            <a:extLst>
              <a:ext uri="{FF2B5EF4-FFF2-40B4-BE49-F238E27FC236}">
                <a16:creationId xmlns:a16="http://schemas.microsoft.com/office/drawing/2014/main" id="{41641988-E87B-0482-2C1B-869E889EB454}"/>
              </a:ext>
            </a:extLst>
          </p:cNvPr>
          <p:cNvCxnSpPr>
            <a:cxnSpLocks noChangeShapeType="1"/>
            <a:stCxn id="106498" idx="3"/>
            <a:endCxn id="106499" idx="1"/>
          </p:cNvCxnSpPr>
          <p:nvPr/>
        </p:nvCxnSpPr>
        <p:spPr bwMode="auto">
          <a:xfrm flipH="1">
            <a:off x="1220788" y="2773363"/>
            <a:ext cx="650875" cy="149701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6" name="Google Shape;580;p49">
            <a:extLst>
              <a:ext uri="{FF2B5EF4-FFF2-40B4-BE49-F238E27FC236}">
                <a16:creationId xmlns:a16="http://schemas.microsoft.com/office/drawing/2014/main" id="{09E01C11-BF60-D376-B479-8A664768EFEF}"/>
              </a:ext>
            </a:extLst>
          </p:cNvPr>
          <p:cNvCxnSpPr>
            <a:cxnSpLocks noChangeShapeType="1"/>
            <a:stCxn id="106503" idx="2"/>
            <a:endCxn id="106498" idx="4"/>
          </p:cNvCxnSpPr>
          <p:nvPr/>
        </p:nvCxnSpPr>
        <p:spPr bwMode="auto">
          <a:xfrm flipH="1">
            <a:off x="2235200" y="2071688"/>
            <a:ext cx="2574925" cy="1920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7" name="Google Shape;581;p49">
            <a:extLst>
              <a:ext uri="{FF2B5EF4-FFF2-40B4-BE49-F238E27FC236}">
                <a16:creationId xmlns:a16="http://schemas.microsoft.com/office/drawing/2014/main" id="{FAC42D32-2D5D-CFCA-B56F-C741D029178A}"/>
              </a:ext>
            </a:extLst>
          </p:cNvPr>
          <p:cNvCxnSpPr>
            <a:cxnSpLocks noChangeShapeType="1"/>
            <a:stCxn id="106502" idx="2"/>
          </p:cNvCxnSpPr>
          <p:nvPr/>
        </p:nvCxnSpPr>
        <p:spPr bwMode="auto">
          <a:xfrm flipH="1">
            <a:off x="1584325" y="4583113"/>
            <a:ext cx="2908300" cy="1349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8" name="Google Shape;582;p49">
            <a:extLst>
              <a:ext uri="{FF2B5EF4-FFF2-40B4-BE49-F238E27FC236}">
                <a16:creationId xmlns:a16="http://schemas.microsoft.com/office/drawing/2014/main" id="{54A5C47C-FB4C-AA14-B9CD-FBEC5BD52403}"/>
              </a:ext>
            </a:extLst>
          </p:cNvPr>
          <p:cNvCxnSpPr>
            <a:cxnSpLocks noChangeShapeType="1"/>
            <a:stCxn id="106501" idx="2"/>
            <a:endCxn id="106502" idx="4"/>
          </p:cNvCxnSpPr>
          <p:nvPr/>
        </p:nvCxnSpPr>
        <p:spPr bwMode="auto">
          <a:xfrm flipH="1">
            <a:off x="5219700" y="2916238"/>
            <a:ext cx="1333500" cy="16668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9" name="Google Shape;583;p49">
            <a:extLst>
              <a:ext uri="{FF2B5EF4-FFF2-40B4-BE49-F238E27FC236}">
                <a16:creationId xmlns:a16="http://schemas.microsoft.com/office/drawing/2014/main" id="{4119253C-5A3B-F987-C846-5BF675B743B4}"/>
              </a:ext>
            </a:extLst>
          </p:cNvPr>
          <p:cNvCxnSpPr>
            <a:cxnSpLocks noChangeShapeType="1"/>
            <a:stCxn id="106501" idx="2"/>
            <a:endCxn id="106503" idx="4"/>
          </p:cNvCxnSpPr>
          <p:nvPr/>
        </p:nvCxnSpPr>
        <p:spPr bwMode="auto">
          <a:xfrm rot="10800000">
            <a:off x="5537200" y="2071688"/>
            <a:ext cx="1016000" cy="84455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0" name="Google Shape;584;p49">
            <a:extLst>
              <a:ext uri="{FF2B5EF4-FFF2-40B4-BE49-F238E27FC236}">
                <a16:creationId xmlns:a16="http://schemas.microsoft.com/office/drawing/2014/main" id="{B361564E-EFA4-4AA6-80F4-919062624239}"/>
              </a:ext>
            </a:extLst>
          </p:cNvPr>
          <p:cNvCxnSpPr>
            <a:cxnSpLocks noChangeShapeType="1"/>
            <a:stCxn id="106502" idx="3"/>
          </p:cNvCxnSpPr>
          <p:nvPr/>
        </p:nvCxnSpPr>
        <p:spPr bwMode="auto">
          <a:xfrm flipH="1">
            <a:off x="3514725" y="5092700"/>
            <a:ext cx="1341438" cy="5635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1" name="Google Shape;585;p49">
            <a:extLst>
              <a:ext uri="{FF2B5EF4-FFF2-40B4-BE49-F238E27FC236}">
                <a16:creationId xmlns:a16="http://schemas.microsoft.com/office/drawing/2014/main" id="{776828CA-D380-75FC-E493-28D3E392BBA5}"/>
              </a:ext>
            </a:extLst>
          </p:cNvPr>
          <p:cNvCxnSpPr>
            <a:cxnSpLocks noChangeShapeType="1"/>
            <a:stCxn id="106504" idx="1"/>
          </p:cNvCxnSpPr>
          <p:nvPr/>
        </p:nvCxnSpPr>
        <p:spPr bwMode="auto">
          <a:xfrm rot="10800000">
            <a:off x="6956425" y="3425825"/>
            <a:ext cx="252413" cy="108743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2" name="Google Shape;586;p49">
            <a:extLst>
              <a:ext uri="{FF2B5EF4-FFF2-40B4-BE49-F238E27FC236}">
                <a16:creationId xmlns:a16="http://schemas.microsoft.com/office/drawing/2014/main" id="{CBDEC08B-FDD6-8F55-AC3B-44FBCC09E3E8}"/>
              </a:ext>
            </a:extLst>
          </p:cNvPr>
          <p:cNvCxnSpPr>
            <a:cxnSpLocks noChangeShapeType="1"/>
            <a:stCxn id="106504" idx="2"/>
            <a:endCxn id="106500" idx="4"/>
          </p:cNvCxnSpPr>
          <p:nvPr/>
        </p:nvCxnSpPr>
        <p:spPr bwMode="auto">
          <a:xfrm flipH="1">
            <a:off x="3598863" y="5022850"/>
            <a:ext cx="3246437" cy="10191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13" name="Google Shape;587;p49">
            <a:extLst>
              <a:ext uri="{FF2B5EF4-FFF2-40B4-BE49-F238E27FC236}">
                <a16:creationId xmlns:a16="http://schemas.microsoft.com/office/drawing/2014/main" id="{1B8B08DC-79D6-D832-6A93-2D1BD9DFB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2914650"/>
            <a:ext cx="727075" cy="1017588"/>
          </a:xfrm>
          <a:prstGeom prst="can">
            <a:avLst>
              <a:gd name="adj" fmla="val 24972"/>
            </a:avLst>
          </a:prstGeom>
          <a:solidFill>
            <a:srgbClr val="CCCCCC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8</a:t>
            </a:r>
          </a:p>
        </p:txBody>
      </p:sp>
      <p:cxnSp>
        <p:nvCxnSpPr>
          <p:cNvPr id="106514" name="Google Shape;588;p49">
            <a:extLst>
              <a:ext uri="{FF2B5EF4-FFF2-40B4-BE49-F238E27FC236}">
                <a16:creationId xmlns:a16="http://schemas.microsoft.com/office/drawing/2014/main" id="{F9088080-8E8F-9EF9-88E5-D68EB8078B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71700" y="2773363"/>
            <a:ext cx="644525" cy="6492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5" name="Google Shape;589;p49">
            <a:extLst>
              <a:ext uri="{FF2B5EF4-FFF2-40B4-BE49-F238E27FC236}">
                <a16:creationId xmlns:a16="http://schemas.microsoft.com/office/drawing/2014/main" id="{F22C6B82-B406-29E9-83DD-04BFAF87A168}"/>
              </a:ext>
            </a:extLst>
          </p:cNvPr>
          <p:cNvCxnSpPr>
            <a:cxnSpLocks noChangeShapeType="1"/>
            <a:stCxn id="106513" idx="3"/>
          </p:cNvCxnSpPr>
          <p:nvPr/>
        </p:nvCxnSpPr>
        <p:spPr bwMode="auto">
          <a:xfrm flipH="1">
            <a:off x="1573213" y="3932238"/>
            <a:ext cx="1577975" cy="52070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6" name="Google Shape;590;p49">
            <a:extLst>
              <a:ext uri="{FF2B5EF4-FFF2-40B4-BE49-F238E27FC236}">
                <a16:creationId xmlns:a16="http://schemas.microsoft.com/office/drawing/2014/main" id="{6694BCAA-0E69-375B-E009-764A58BA51C9}"/>
              </a:ext>
            </a:extLst>
          </p:cNvPr>
          <p:cNvCxnSpPr>
            <a:cxnSpLocks noChangeShapeType="1"/>
            <a:stCxn id="106503" idx="3"/>
            <a:endCxn id="106513" idx="4"/>
          </p:cNvCxnSpPr>
          <p:nvPr/>
        </p:nvCxnSpPr>
        <p:spPr bwMode="auto">
          <a:xfrm flipH="1">
            <a:off x="3514725" y="2581275"/>
            <a:ext cx="1658938" cy="8429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17" name="Google Shape;591;p49">
            <a:extLst>
              <a:ext uri="{FF2B5EF4-FFF2-40B4-BE49-F238E27FC236}">
                <a16:creationId xmlns:a16="http://schemas.microsoft.com/office/drawing/2014/main" id="{36B65F66-6E75-1C77-BAE7-DB2E53394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6286500"/>
            <a:ext cx="547687" cy="192088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106518" name="Google Shape;592;p49">
            <a:extLst>
              <a:ext uri="{FF2B5EF4-FFF2-40B4-BE49-F238E27FC236}">
                <a16:creationId xmlns:a16="http://schemas.microsoft.com/office/drawing/2014/main" id="{DAF7D63A-7A94-711C-6F28-BC817878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4832350"/>
            <a:ext cx="546100" cy="190500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106519" name="Google Shape;593;p49">
            <a:extLst>
              <a:ext uri="{FF2B5EF4-FFF2-40B4-BE49-F238E27FC236}">
                <a16:creationId xmlns:a16="http://schemas.microsoft.com/office/drawing/2014/main" id="{E78CB3F8-2490-6770-C513-C05B91101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5278438"/>
            <a:ext cx="546100" cy="192087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106520" name="Google Shape;594;p49">
            <a:extLst>
              <a:ext uri="{FF2B5EF4-FFF2-40B4-BE49-F238E27FC236}">
                <a16:creationId xmlns:a16="http://schemas.microsoft.com/office/drawing/2014/main" id="{098168FF-898E-8234-F52D-FBB9A625F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5022850"/>
            <a:ext cx="546100" cy="192088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106521" name="Google Shape;595;p49">
            <a:extLst>
              <a:ext uri="{FF2B5EF4-FFF2-40B4-BE49-F238E27FC236}">
                <a16:creationId xmlns:a16="http://schemas.microsoft.com/office/drawing/2014/main" id="{62ED7E14-3FAA-4121-926F-BD6213BE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3152775"/>
            <a:ext cx="546100" cy="192088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96" name="Google Shape;596;p49">
            <a:extLst>
              <a:ext uri="{FF2B5EF4-FFF2-40B4-BE49-F238E27FC236}">
                <a16:creationId xmlns:a16="http://schemas.microsoft.com/office/drawing/2014/main" id="{63D59746-CB90-891C-2907-F3DD4927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3" y="3857625"/>
            <a:ext cx="6445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97" name="Google Shape;597;p49">
            <a:extLst>
              <a:ext uri="{FF2B5EF4-FFF2-40B4-BE49-F238E27FC236}">
                <a16:creationId xmlns:a16="http://schemas.microsoft.com/office/drawing/2014/main" id="{997C5200-9142-38A5-61F0-BF8FF60A5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677863"/>
            <a:ext cx="1255712" cy="11430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New` tx!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A→C</a:t>
            </a:r>
          </a:p>
        </p:txBody>
      </p:sp>
      <p:sp>
        <p:nvSpPr>
          <p:cNvPr id="598" name="Google Shape;598;p49">
            <a:extLst>
              <a:ext uri="{FF2B5EF4-FFF2-40B4-BE49-F238E27FC236}">
                <a16:creationId xmlns:a16="http://schemas.microsoft.com/office/drawing/2014/main" id="{C62216A5-7689-7B79-DD69-7BAB175B7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3" y="1854200"/>
            <a:ext cx="6445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A→C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599" name="Google Shape;599;p49">
            <a:extLst>
              <a:ext uri="{FF2B5EF4-FFF2-40B4-BE49-F238E27FC236}">
                <a16:creationId xmlns:a16="http://schemas.microsoft.com/office/drawing/2014/main" id="{8DFED656-6A7E-6575-EC87-687DF181C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0" y="2732088"/>
            <a:ext cx="64293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A→C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600" name="Google Shape;600;p49">
            <a:extLst>
              <a:ext uri="{FF2B5EF4-FFF2-40B4-BE49-F238E27FC236}">
                <a16:creationId xmlns:a16="http://schemas.microsoft.com/office/drawing/2014/main" id="{9AB01EE4-82C8-2798-8B66-C86E1FEE4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0" y="2117725"/>
            <a:ext cx="64293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601" name="Google Shape;601;p49">
            <a:extLst>
              <a:ext uri="{FF2B5EF4-FFF2-40B4-BE49-F238E27FC236}">
                <a16:creationId xmlns:a16="http://schemas.microsoft.com/office/drawing/2014/main" id="{B26AE63F-5463-AD64-E209-BE4095680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088" y="2478088"/>
            <a:ext cx="546100" cy="190500"/>
          </a:xfrm>
          <a:prstGeom prst="rect">
            <a:avLst/>
          </a:prstGeom>
          <a:solidFill>
            <a:srgbClr val="DD7E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A→C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602" name="Google Shape;602;p49">
            <a:extLst>
              <a:ext uri="{FF2B5EF4-FFF2-40B4-BE49-F238E27FC236}">
                <a16:creationId xmlns:a16="http://schemas.microsoft.com/office/drawing/2014/main" id="{2973E7A9-6B63-9E79-C2E8-52504E601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2286000"/>
            <a:ext cx="546100" cy="192088"/>
          </a:xfrm>
          <a:prstGeom prst="rect">
            <a:avLst/>
          </a:prstGeom>
          <a:solidFill>
            <a:srgbClr val="DD7E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A→C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603" name="Google Shape;603;p49">
            <a:extLst>
              <a:ext uri="{FF2B5EF4-FFF2-40B4-BE49-F238E27FC236}">
                <a16:creationId xmlns:a16="http://schemas.microsoft.com/office/drawing/2014/main" id="{9BA95FDD-EB5F-5C3D-C6A3-7C2CA745C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138" y="3611563"/>
            <a:ext cx="546100" cy="190500"/>
          </a:xfrm>
          <a:prstGeom prst="rect">
            <a:avLst/>
          </a:prstGeom>
          <a:solidFill>
            <a:srgbClr val="9FC5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2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A→B</a:t>
            </a:r>
            <a:endParaRPr lang="fr-FR" altLang="en-US" sz="12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  <p:sp>
        <p:nvSpPr>
          <p:cNvPr id="604" name="Google Shape;604;p49">
            <a:extLst>
              <a:ext uri="{FF2B5EF4-FFF2-40B4-BE49-F238E27FC236}">
                <a16:creationId xmlns:a16="http://schemas.microsoft.com/office/drawing/2014/main" id="{FEFD90A8-DC8A-F098-D81F-E7F8A81EB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170238"/>
            <a:ext cx="6445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solidFill>
                  <a:srgbClr val="00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A→C</a:t>
            </a:r>
            <a:endParaRPr lang="fr-FR" altLang="en-US" sz="1800">
              <a:latin typeface="Courier New" panose="02070309020205020404" pitchFamily="49" charset="0"/>
              <a:sym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8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Google Shape;609;p50">
            <a:extLst>
              <a:ext uri="{FF2B5EF4-FFF2-40B4-BE49-F238E27FC236}">
                <a16:creationId xmlns:a16="http://schemas.microsoft.com/office/drawing/2014/main" id="{9F443FF0-D6D4-138C-338E-5B0B65074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/>
              <a:t>Race conditions</a:t>
            </a:r>
            <a:endParaRPr lang="fr-FR" altLang="en-US" i="1"/>
          </a:p>
        </p:txBody>
      </p:sp>
      <p:sp>
        <p:nvSpPr>
          <p:cNvPr id="108546" name="Google Shape;610;p50">
            <a:extLst>
              <a:ext uri="{FF2B5EF4-FFF2-40B4-BE49-F238E27FC236}">
                <a16:creationId xmlns:a16="http://schemas.microsoft.com/office/drawing/2014/main" id="{C140C74C-C09C-A509-8FCB-EA6E14D5A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fr-FR" altLang="en-US"/>
              <a:t>Transactions or blocks may </a:t>
            </a:r>
            <a:r>
              <a:rPr lang="fr-FR" altLang="en-US" i="1"/>
              <a:t>conflict</a:t>
            </a:r>
          </a:p>
          <a:p>
            <a:pPr marL="0" indent="0"/>
            <a:r>
              <a:rPr lang="fr-FR" altLang="en-US"/>
              <a:t>Default behavior: accept what you hear first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Network position matters</a:t>
            </a:r>
          </a:p>
          <a:p>
            <a:pPr marL="0" indent="0">
              <a:spcBef>
                <a:spcPct val="0"/>
              </a:spcBef>
            </a:pPr>
            <a:r>
              <a:rPr lang="fr-FR" altLang="en-US"/>
              <a:t>Miners may implement other logic!</a:t>
            </a:r>
          </a:p>
          <a:p>
            <a:pPr marL="0" indent="0">
              <a:buFontTx/>
              <a:buNone/>
            </a:pPr>
            <a:endParaRPr lang="fr-FR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E2D52-28C0-9D97-0C4F-695E2EA3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Google Shape;616;p51">
            <a:extLst>
              <a:ext uri="{FF2B5EF4-FFF2-40B4-BE49-F238E27FC236}">
                <a16:creationId xmlns:a16="http://schemas.microsoft.com/office/drawing/2014/main" id="{17C8C1AB-8CE6-1577-4C83-BBF0E464A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1213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Block propagation nearly identical</a:t>
            </a:r>
            <a:endParaRPr lang="fr-FR" altLang="en-US" i="1"/>
          </a:p>
        </p:txBody>
      </p:sp>
      <p:sp>
        <p:nvSpPr>
          <p:cNvPr id="110594" name="Google Shape;617;p51">
            <a:extLst>
              <a:ext uri="{FF2B5EF4-FFF2-40B4-BE49-F238E27FC236}">
                <a16:creationId xmlns:a16="http://schemas.microsoft.com/office/drawing/2014/main" id="{9F8B0760-06A3-5EEE-D10B-1D38B97A1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656138"/>
          </a:xfrm>
        </p:spPr>
        <p:txBody>
          <a:bodyPr/>
          <a:lstStyle/>
          <a:p>
            <a:pPr marL="0" indent="0">
              <a:spcAft>
                <a:spcPct val="0"/>
              </a:spcAft>
              <a:buSzTx/>
              <a:buFontTx/>
              <a:buNone/>
              <a:defRPr/>
            </a:pPr>
            <a:r>
              <a:rPr lang="fr-FR" altLang="en-US" dirty="0"/>
              <a:t>Relay a new block </a:t>
            </a:r>
            <a:r>
              <a:rPr lang="fr-FR" altLang="en-US" dirty="0" err="1"/>
              <a:t>when</a:t>
            </a:r>
            <a:r>
              <a:rPr lang="fr-FR" altLang="en-US" dirty="0"/>
              <a:t> </a:t>
            </a:r>
            <a:r>
              <a:rPr lang="fr-FR" altLang="en-US" dirty="0" err="1"/>
              <a:t>you</a:t>
            </a:r>
            <a:r>
              <a:rPr lang="fr-FR" altLang="en-US" dirty="0"/>
              <a:t> </a:t>
            </a:r>
            <a:r>
              <a:rPr lang="fr-FR" altLang="en-US" dirty="0" err="1"/>
              <a:t>hear</a:t>
            </a:r>
            <a:r>
              <a:rPr lang="fr-FR" altLang="en-US" dirty="0"/>
              <a:t> </a:t>
            </a:r>
            <a:r>
              <a:rPr lang="fr-FR" altLang="en-US" dirty="0" err="1"/>
              <a:t>it</a:t>
            </a:r>
            <a:r>
              <a:rPr lang="fr-FR" altLang="en-US" dirty="0"/>
              <a:t> if:</a:t>
            </a:r>
          </a:p>
          <a:p>
            <a:pPr indent="-457200"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dirty="0"/>
              <a:t>Block </a:t>
            </a:r>
            <a:r>
              <a:rPr lang="fr-FR" altLang="en-US" dirty="0" err="1"/>
              <a:t>meets</a:t>
            </a:r>
            <a:r>
              <a:rPr lang="fr-FR" altLang="en-US" dirty="0"/>
              <a:t> the hash </a:t>
            </a:r>
            <a:r>
              <a:rPr lang="fr-FR" altLang="en-US" dirty="0" err="1"/>
              <a:t>target</a:t>
            </a:r>
            <a:endParaRPr lang="fr-FR" altLang="en-US" dirty="0"/>
          </a:p>
          <a:p>
            <a:pPr indent="-45720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dirty="0"/>
              <a:t>Block has all </a:t>
            </a:r>
            <a:r>
              <a:rPr lang="fr-FR" altLang="en-US" dirty="0" err="1"/>
              <a:t>valid</a:t>
            </a:r>
            <a:r>
              <a:rPr lang="fr-FR" altLang="en-US" dirty="0"/>
              <a:t> transactions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dirty="0" err="1"/>
              <a:t>Run</a:t>
            </a:r>
            <a:r>
              <a:rPr lang="fr-FR" altLang="en-US" dirty="0"/>
              <a:t> </a:t>
            </a:r>
            <a:r>
              <a:rPr lang="fr-FR" altLang="en-US" i="1" dirty="0"/>
              <a:t>all</a:t>
            </a:r>
            <a:r>
              <a:rPr lang="fr-FR" altLang="en-US" dirty="0"/>
              <a:t> scripts, </a:t>
            </a:r>
            <a:r>
              <a:rPr lang="fr-FR" altLang="en-US" dirty="0" err="1"/>
              <a:t>even</a:t>
            </a:r>
            <a:r>
              <a:rPr lang="fr-FR" altLang="en-US" dirty="0"/>
              <a:t> if </a:t>
            </a:r>
            <a:r>
              <a:rPr lang="fr-FR" altLang="en-US" dirty="0" err="1"/>
              <a:t>you</a:t>
            </a:r>
            <a:r>
              <a:rPr lang="fr-FR" altLang="en-US" dirty="0"/>
              <a:t> </a:t>
            </a:r>
            <a:r>
              <a:rPr lang="fr-FR" altLang="en-US" dirty="0" err="1"/>
              <a:t>wouldn</a:t>
            </a:r>
            <a:r>
              <a:rPr lang="fr-FR" altLang="fr-FR" dirty="0" err="1"/>
              <a:t>’</a:t>
            </a:r>
            <a:r>
              <a:rPr lang="fr-FR" altLang="en-US" dirty="0" err="1"/>
              <a:t>t</a:t>
            </a:r>
            <a:r>
              <a:rPr lang="fr-FR" altLang="en-US" dirty="0"/>
              <a:t> </a:t>
            </a:r>
            <a:r>
              <a:rPr lang="fr-FR" altLang="en-US" dirty="0" err="1"/>
              <a:t>relay</a:t>
            </a:r>
            <a:endParaRPr lang="fr-FR" altLang="en-US" dirty="0"/>
          </a:p>
          <a:p>
            <a:pPr indent="-45720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dirty="0"/>
              <a:t>Block </a:t>
            </a:r>
            <a:r>
              <a:rPr lang="fr-FR" altLang="en-US" dirty="0" err="1"/>
              <a:t>builds</a:t>
            </a:r>
            <a:r>
              <a:rPr lang="fr-FR" altLang="en-US" dirty="0"/>
              <a:t> on </a:t>
            </a:r>
            <a:r>
              <a:rPr lang="fr-FR" altLang="en-US" dirty="0" err="1"/>
              <a:t>current</a:t>
            </a:r>
            <a:r>
              <a:rPr lang="fr-FR" altLang="en-US" dirty="0"/>
              <a:t> </a:t>
            </a:r>
            <a:r>
              <a:rPr lang="fr-FR" altLang="en-US" dirty="0" err="1"/>
              <a:t>longest</a:t>
            </a:r>
            <a:r>
              <a:rPr lang="fr-FR" altLang="en-US" dirty="0"/>
              <a:t> </a:t>
            </a:r>
            <a:r>
              <a:rPr lang="fr-FR" altLang="en-US" dirty="0" err="1"/>
              <a:t>chain</a:t>
            </a:r>
            <a:endParaRPr lang="fr-FR" altLang="en-US" dirty="0"/>
          </a:p>
          <a:p>
            <a:pPr lvl="1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dirty="0" err="1"/>
              <a:t>Avoid</a:t>
            </a:r>
            <a:r>
              <a:rPr lang="fr-FR" altLang="en-US" dirty="0"/>
              <a:t> forks</a:t>
            </a:r>
          </a:p>
          <a:p>
            <a:pPr marL="0" indent="0">
              <a:spcAft>
                <a:spcPct val="0"/>
              </a:spcAft>
              <a:buSzTx/>
              <a:buFontTx/>
              <a:buNone/>
              <a:defRPr/>
            </a:pPr>
            <a:endParaRPr lang="fr-FR" altLang="en-US" dirty="0"/>
          </a:p>
        </p:txBody>
      </p:sp>
      <p:sp>
        <p:nvSpPr>
          <p:cNvPr id="618" name="Google Shape;618;p51">
            <a:extLst>
              <a:ext uri="{FF2B5EF4-FFF2-40B4-BE49-F238E27FC236}">
                <a16:creationId xmlns:a16="http://schemas.microsoft.com/office/drawing/2014/main" id="{E5AF2ECF-8604-C437-D044-D85779AC4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5091113"/>
            <a:ext cx="3321050" cy="90805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Sanity check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/>
              <a:t>Also may be ignored...</a:t>
            </a:r>
          </a:p>
        </p:txBody>
      </p:sp>
      <p:cxnSp>
        <p:nvCxnSpPr>
          <p:cNvPr id="619" name="Google Shape;619;p51">
            <a:extLst>
              <a:ext uri="{FF2B5EF4-FFF2-40B4-BE49-F238E27FC236}">
                <a16:creationId xmlns:a16="http://schemas.microsoft.com/office/drawing/2014/main" id="{CD955914-7B7B-0A2C-CECC-3AFC524E7DD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146425" y="5176838"/>
            <a:ext cx="1095375" cy="4540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Google Shape;630;p53">
            <a:extLst>
              <a:ext uri="{FF2B5EF4-FFF2-40B4-BE49-F238E27FC236}">
                <a16:creationId xmlns:a16="http://schemas.microsoft.com/office/drawing/2014/main" id="{348B4075-F8B2-FEF9-7DC9-CE3DD0BDA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How big is the network?</a:t>
            </a:r>
            <a:endParaRPr lang="fr-FR" altLang="en-US" i="1"/>
          </a:p>
        </p:txBody>
      </p:sp>
      <p:pic>
        <p:nvPicPr>
          <p:cNvPr id="112642" name="Image 2" descr="Screenshot 2019-09-25 at 11.20.05 AM.pdf">
            <a:extLst>
              <a:ext uri="{FF2B5EF4-FFF2-40B4-BE49-F238E27FC236}">
                <a16:creationId xmlns:a16="http://schemas.microsoft.com/office/drawing/2014/main" id="{7C6142E2-1B09-A43F-13B2-07E78AB6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676400"/>
            <a:ext cx="9144001" cy="502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Google Shape;636;p54">
            <a:extLst>
              <a:ext uri="{FF2B5EF4-FFF2-40B4-BE49-F238E27FC236}">
                <a16:creationId xmlns:a16="http://schemas.microsoft.com/office/drawing/2014/main" id="{817C11FF-733E-FC2B-AB6F-6BB212B43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Fully-validating nodes</a:t>
            </a:r>
            <a:endParaRPr lang="fr-FR" altLang="en-US" i="1"/>
          </a:p>
        </p:txBody>
      </p:sp>
      <p:sp>
        <p:nvSpPr>
          <p:cNvPr id="114690" name="Google Shape;637;p54">
            <a:extLst>
              <a:ext uri="{FF2B5EF4-FFF2-40B4-BE49-F238E27FC236}">
                <a16:creationId xmlns:a16="http://schemas.microsoft.com/office/drawing/2014/main" id="{8AF2F2BD-E28E-2A7C-EF47-65A6154F7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2792413"/>
          </a:xfrm>
        </p:spPr>
        <p:txBody>
          <a:bodyPr/>
          <a:lstStyle/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Permanently connected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Store entire block chain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Hear and forward every node/transaction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Google Shape;643;p55">
            <a:extLst>
              <a:ext uri="{FF2B5EF4-FFF2-40B4-BE49-F238E27FC236}">
                <a16:creationId xmlns:a16="http://schemas.microsoft.com/office/drawing/2014/main" id="{7125550F-5E14-00BE-33B7-0F86E6128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Storage costs</a:t>
            </a:r>
            <a:endParaRPr lang="fr-FR" altLang="en-US" i="1"/>
          </a:p>
        </p:txBody>
      </p:sp>
      <p:pic>
        <p:nvPicPr>
          <p:cNvPr id="116738" name="Picture 3">
            <a:extLst>
              <a:ext uri="{FF2B5EF4-FFF2-40B4-BE49-F238E27FC236}">
                <a16:creationId xmlns:a16="http://schemas.microsoft.com/office/drawing/2014/main" id="{BA19A115-7CB3-1251-E4C2-18CA004E9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846138"/>
            <a:ext cx="9144000" cy="579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Google Shape;656;p57">
            <a:extLst>
              <a:ext uri="{FF2B5EF4-FFF2-40B4-BE49-F238E27FC236}">
                <a16:creationId xmlns:a16="http://schemas.microsoft.com/office/drawing/2014/main" id="{422036AE-ADF7-00B4-A2D4-9F81C6A01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Thin/SPV clients (not fully-validating)</a:t>
            </a:r>
            <a:endParaRPr lang="fr-FR" altLang="en-US">
              <a:sym typeface="Trebuchet MS" panose="020B0603020202020204" pitchFamily="34" charset="0"/>
            </a:endParaRPr>
          </a:p>
        </p:txBody>
      </p:sp>
      <p:sp>
        <p:nvSpPr>
          <p:cNvPr id="118786" name="Google Shape;657;p57">
            <a:extLst>
              <a:ext uri="{FF2B5EF4-FFF2-40B4-BE49-F238E27FC236}">
                <a16:creationId xmlns:a16="http://schemas.microsoft.com/office/drawing/2014/main" id="{1C2E6E48-3158-D99D-002E-AB20A9F200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656138"/>
          </a:xfrm>
        </p:spPr>
        <p:txBody>
          <a:bodyPr/>
          <a:lstStyle/>
          <a:p>
            <a:pPr indent="-457200"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Idea: don</a:t>
            </a:r>
            <a:r>
              <a:rPr lang="fr-FR" altLang="fr-FR"/>
              <a:t>’</a:t>
            </a:r>
            <a:r>
              <a:rPr lang="fr-FR" altLang="en-US"/>
              <a:t>t store everything</a:t>
            </a:r>
          </a:p>
          <a:p>
            <a:pPr indent="-457200"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Store block headers only</a:t>
            </a:r>
          </a:p>
          <a:p>
            <a:pPr indent="-4572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</a:pPr>
            <a:r>
              <a:rPr lang="fr-FR" altLang="en-US"/>
              <a:t>Request transactions as needed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fr-FR" altLang="en-US"/>
              <a:t>To verify incoming payment</a:t>
            </a:r>
          </a:p>
          <a:p>
            <a:pPr indent="-457200"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Trust fully-validating nodes</a:t>
            </a:r>
          </a:p>
          <a:p>
            <a:pPr indent="-457200">
              <a:spcAft>
                <a:spcPct val="0"/>
              </a:spcAft>
              <a:buSzTx/>
              <a:buFontTx/>
              <a:buChar char="•"/>
            </a:pPr>
            <a:endParaRPr lang="fr-FR" altLang="en-US"/>
          </a:p>
          <a:p>
            <a:pPr indent="-457200"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1000x cost savings! (20 GB-23MB)</a:t>
            </a:r>
          </a:p>
          <a:p>
            <a:pPr indent="-457200">
              <a:spcAft>
                <a:spcPct val="0"/>
              </a:spcAft>
              <a:buSzTx/>
              <a:buFontTx/>
              <a:buChar char="•"/>
            </a:pPr>
            <a:endParaRPr lang="fr-FR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Google Shape;668;p59">
            <a:extLst>
              <a:ext uri="{FF2B5EF4-FFF2-40B4-BE49-F238E27FC236}">
                <a16:creationId xmlns:a16="http://schemas.microsoft.com/office/drawing/2014/main" id="{B9D4FFDF-E5FC-C327-DA72-1ED86DEB1B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2254250"/>
            <a:ext cx="7772400" cy="2297113"/>
          </a:xfrm>
        </p:spPr>
        <p:txBody>
          <a:bodyPr lIns="91425" tIns="91425" rIns="91425" bIns="91425"/>
          <a:lstStyle/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endParaRPr lang="en-US" altLang="en-US" sz="3000">
              <a:solidFill>
                <a:srgbClr val="000000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  <a:p>
            <a:pPr>
              <a:spcBef>
                <a:spcPct val="0"/>
              </a:spcBef>
              <a:buClr>
                <a:srgbClr val="000000"/>
              </a:buClr>
              <a:buFont typeface="Trebuchet MS" panose="020B0603020202020204" pitchFamily="34" charset="0"/>
              <a:buNone/>
            </a:pPr>
            <a:r>
              <a:rPr lang="en-US" altLang="en-US"/>
              <a:t>Limitations &amp; improvements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6254C4-05A6-74BE-1876-0E94843C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2B93-1387-4733-8CF6-DE1FAF62C4E4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Google Shape;673;p60">
            <a:extLst>
              <a:ext uri="{FF2B5EF4-FFF2-40B4-BE49-F238E27FC236}">
                <a16:creationId xmlns:a16="http://schemas.microsoft.com/office/drawing/2014/main" id="{91E43826-EFF6-7822-6AA2-87FA29D7B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Hard-coded limits in Bitcoin</a:t>
            </a:r>
            <a:endParaRPr lang="fr-FR" altLang="en-US" i="1"/>
          </a:p>
        </p:txBody>
      </p:sp>
      <p:sp>
        <p:nvSpPr>
          <p:cNvPr id="122882" name="Google Shape;674;p60">
            <a:extLst>
              <a:ext uri="{FF2B5EF4-FFF2-40B4-BE49-F238E27FC236}">
                <a16:creationId xmlns:a16="http://schemas.microsoft.com/office/drawing/2014/main" id="{D0A2538A-DECE-923A-EBD3-DE9F6FA3D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656138"/>
          </a:xfrm>
        </p:spPr>
        <p:txBody>
          <a:bodyPr/>
          <a:lstStyle/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10 min. </a:t>
            </a:r>
            <a:r>
              <a:rPr lang="fr-FR" altLang="en-US" dirty="0" err="1"/>
              <a:t>average</a:t>
            </a:r>
            <a:r>
              <a:rPr lang="fr-FR" altLang="en-US" dirty="0"/>
              <a:t> </a:t>
            </a:r>
            <a:r>
              <a:rPr lang="fr-FR" altLang="en-US" dirty="0" err="1"/>
              <a:t>creation</a:t>
            </a:r>
            <a:r>
              <a:rPr lang="fr-FR" altLang="en-US" dirty="0"/>
              <a:t> time per block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1 M bytes in a block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20,000 signature </a:t>
            </a:r>
            <a:r>
              <a:rPr lang="fr-FR" altLang="en-US" dirty="0" err="1"/>
              <a:t>operations</a:t>
            </a:r>
            <a:r>
              <a:rPr lang="fr-FR" altLang="en-US" dirty="0"/>
              <a:t> per block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100 M </a:t>
            </a:r>
            <a:r>
              <a:rPr lang="fr-FR" altLang="en-US" i="1" dirty="0" err="1"/>
              <a:t>satoshis</a:t>
            </a:r>
            <a:r>
              <a:rPr lang="fr-FR" altLang="en-US" dirty="0"/>
              <a:t> per bitcoin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21M total bitcoins maximum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 dirty="0"/>
              <a:t>50,25,12.5... bitcoin </a:t>
            </a:r>
            <a:r>
              <a:rPr lang="fr-FR" altLang="en-US" dirty="0" err="1"/>
              <a:t>mining</a:t>
            </a:r>
            <a:r>
              <a:rPr lang="fr-FR" altLang="en-US" dirty="0"/>
              <a:t> </a:t>
            </a:r>
            <a:r>
              <a:rPr lang="fr-FR" altLang="en-US" dirty="0" err="1"/>
              <a:t>reward</a:t>
            </a:r>
            <a:endParaRPr lang="fr-FR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Google Shape;681;p61">
            <a:extLst>
              <a:ext uri="{FF2B5EF4-FFF2-40B4-BE49-F238E27FC236}">
                <a16:creationId xmlns:a16="http://schemas.microsoft.com/office/drawing/2014/main" id="{F48B5908-6423-6E3E-8D42-5B964DB83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Throughput limits in Bitcoin</a:t>
            </a:r>
            <a:endParaRPr lang="fr-FR" altLang="en-US" i="1"/>
          </a:p>
        </p:txBody>
      </p:sp>
      <p:sp>
        <p:nvSpPr>
          <p:cNvPr id="124930" name="Google Shape;682;p61">
            <a:extLst>
              <a:ext uri="{FF2B5EF4-FFF2-40B4-BE49-F238E27FC236}">
                <a16:creationId xmlns:a16="http://schemas.microsoft.com/office/drawing/2014/main" id="{0E4F7580-B82C-2DD1-1E8A-BCF2B4793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856163"/>
          </a:xfrm>
        </p:spPr>
        <p:txBody>
          <a:bodyPr/>
          <a:lstStyle/>
          <a:p>
            <a:pPr>
              <a:spcAft>
                <a:spcPct val="0"/>
              </a:spcAft>
              <a:buSzTx/>
            </a:pPr>
            <a:r>
              <a:rPr lang="fr-FR" altLang="en-US" dirty="0"/>
              <a:t>1 M bytes/block (10 min)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 dirty="0"/>
              <a:t>&gt;250 bytes/transaction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 dirty="0"/>
              <a:t>7 transactions/sec ☹</a:t>
            </a:r>
          </a:p>
          <a:p>
            <a:pPr>
              <a:spcAft>
                <a:spcPct val="0"/>
              </a:spcAft>
              <a:buSzTx/>
              <a:buFontTx/>
              <a:buNone/>
            </a:pPr>
            <a:endParaRPr lang="fr-FR" altLang="en-US" dirty="0"/>
          </a:p>
          <a:p>
            <a:pPr>
              <a:spcAft>
                <a:spcPct val="0"/>
              </a:spcAft>
              <a:buSzTx/>
              <a:buFontTx/>
              <a:buNone/>
            </a:pPr>
            <a:r>
              <a:rPr lang="fr-FR" altLang="en-US" dirty="0"/>
              <a:t>Compare to:</a:t>
            </a:r>
          </a:p>
          <a:p>
            <a:pPr>
              <a:spcAft>
                <a:spcPct val="0"/>
              </a:spcAft>
              <a:buSzTx/>
            </a:pPr>
            <a:r>
              <a:rPr lang="fr-FR" altLang="en-US" dirty="0"/>
              <a:t>VISA: 2,000-10,000 transactions/sec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 dirty="0"/>
              <a:t>PayPal: 50-100 transaction/sec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Google Shape;687;p62">
            <a:extLst>
              <a:ext uri="{FF2B5EF4-FFF2-40B4-BE49-F238E27FC236}">
                <a16:creationId xmlns:a16="http://schemas.microsoft.com/office/drawing/2014/main" id="{71D1F3DC-7A21-3B61-6C2E-822984A44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Cryptographic limits in Bitcoin</a:t>
            </a:r>
            <a:endParaRPr lang="fr-FR" altLang="en-US" i="1"/>
          </a:p>
        </p:txBody>
      </p:sp>
      <p:sp>
        <p:nvSpPr>
          <p:cNvPr id="126978" name="Google Shape;688;p62">
            <a:extLst>
              <a:ext uri="{FF2B5EF4-FFF2-40B4-BE49-F238E27FC236}">
                <a16:creationId xmlns:a16="http://schemas.microsoft.com/office/drawing/2014/main" id="{BEA52A34-D43A-CFE3-6E69-112578141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856163"/>
          </a:xfrm>
        </p:spPr>
        <p:txBody>
          <a:bodyPr/>
          <a:lstStyle/>
          <a:p>
            <a:pPr>
              <a:spcAft>
                <a:spcPct val="0"/>
              </a:spcAft>
              <a:buSzTx/>
            </a:pPr>
            <a:r>
              <a:rPr lang="fr-FR" altLang="en-US" dirty="0" err="1"/>
              <a:t>Only</a:t>
            </a:r>
            <a:r>
              <a:rPr lang="fr-FR" altLang="en-US" dirty="0"/>
              <a:t> 1 signature </a:t>
            </a:r>
            <a:r>
              <a:rPr lang="fr-FR" altLang="en-US" dirty="0" err="1"/>
              <a:t>algorithm</a:t>
            </a:r>
            <a:r>
              <a:rPr lang="fr-FR" altLang="en-US" dirty="0"/>
              <a:t> (ECDSA/P256)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 dirty="0"/>
              <a:t>Hard-</a:t>
            </a:r>
            <a:r>
              <a:rPr lang="fr-FR" altLang="en-US" dirty="0" err="1"/>
              <a:t>coded</a:t>
            </a:r>
            <a:r>
              <a:rPr lang="fr-FR" altLang="en-US" dirty="0"/>
              <a:t> hash </a:t>
            </a:r>
            <a:r>
              <a:rPr lang="fr-FR" altLang="en-US" dirty="0" err="1"/>
              <a:t>functions</a:t>
            </a:r>
            <a:endParaRPr lang="fr-FR" altLang="en-US" dirty="0"/>
          </a:p>
          <a:p>
            <a:pPr>
              <a:spcAft>
                <a:spcPct val="0"/>
              </a:spcAft>
              <a:buSzTx/>
              <a:buFontTx/>
              <a:buNone/>
            </a:pPr>
            <a:endParaRPr lang="fr-FR" altLang="en-US" dirty="0"/>
          </a:p>
          <a:p>
            <a:pPr>
              <a:spcAft>
                <a:spcPct val="0"/>
              </a:spcAft>
              <a:buSzTx/>
              <a:buFontTx/>
              <a:buNone/>
            </a:pPr>
            <a:r>
              <a:rPr lang="fr-FR" altLang="en-US" dirty="0"/>
              <a:t>Crypto primitives </a:t>
            </a:r>
            <a:r>
              <a:rPr lang="fr-FR" altLang="en-US" dirty="0" err="1"/>
              <a:t>might</a:t>
            </a:r>
            <a:r>
              <a:rPr lang="fr-FR" altLang="en-US" dirty="0"/>
              <a:t> break by 2040...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Google Shape;693;p63">
            <a:extLst>
              <a:ext uri="{FF2B5EF4-FFF2-40B4-BE49-F238E27FC236}">
                <a16:creationId xmlns:a16="http://schemas.microsoft.com/office/drawing/2014/main" id="{4DE9EE1C-4C03-851A-B6D5-03C3EE3F8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fr-FR"/>
              <a:t>“</a:t>
            </a:r>
            <a:r>
              <a:rPr lang="fr-FR" altLang="en-US"/>
              <a:t>Hard-forking</a:t>
            </a:r>
            <a:r>
              <a:rPr lang="fr-FR" altLang="fr-FR"/>
              <a:t>”</a:t>
            </a:r>
            <a:r>
              <a:rPr lang="fr-FR" altLang="en-US"/>
              <a:t> changes to Bitcoin</a:t>
            </a:r>
            <a:endParaRPr lang="fr-FR" altLang="en-US" i="1"/>
          </a:p>
        </p:txBody>
      </p:sp>
      <p:sp>
        <p:nvSpPr>
          <p:cNvPr id="129026" name="Google Shape;694;p63">
            <a:extLst>
              <a:ext uri="{FF2B5EF4-FFF2-40B4-BE49-F238E27FC236}">
                <a16:creationId xmlns:a16="http://schemas.microsoft.com/office/drawing/2014/main" id="{C0C4F731-E5B9-EB26-0984-FD616CF9E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754188"/>
            <a:ext cx="725487" cy="1019175"/>
          </a:xfrm>
          <a:prstGeom prst="can">
            <a:avLst>
              <a:gd name="adj" fmla="val 25066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1</a:t>
            </a:r>
          </a:p>
        </p:txBody>
      </p:sp>
      <p:sp>
        <p:nvSpPr>
          <p:cNvPr id="129027" name="Google Shape;695;p63">
            <a:extLst>
              <a:ext uri="{FF2B5EF4-FFF2-40B4-BE49-F238E27FC236}">
                <a16:creationId xmlns:a16="http://schemas.microsoft.com/office/drawing/2014/main" id="{6A7AA3BA-CE9F-8632-14FE-F80D1BC9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70375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6</a:t>
            </a:r>
          </a:p>
        </p:txBody>
      </p:sp>
      <p:sp>
        <p:nvSpPr>
          <p:cNvPr id="129028" name="Google Shape;696;p63">
            <a:extLst>
              <a:ext uri="{FF2B5EF4-FFF2-40B4-BE49-F238E27FC236}">
                <a16:creationId xmlns:a16="http://schemas.microsoft.com/office/drawing/2014/main" id="{EC78CD26-49DE-03AA-C5FB-AC40217CB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5532438"/>
            <a:ext cx="727075" cy="1017587"/>
          </a:xfrm>
          <a:prstGeom prst="can">
            <a:avLst>
              <a:gd name="adj" fmla="val 24972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4</a:t>
            </a:r>
          </a:p>
        </p:txBody>
      </p:sp>
      <p:sp>
        <p:nvSpPr>
          <p:cNvPr id="129029" name="Google Shape;697;p63">
            <a:extLst>
              <a:ext uri="{FF2B5EF4-FFF2-40B4-BE49-F238E27FC236}">
                <a16:creationId xmlns:a16="http://schemas.microsoft.com/office/drawing/2014/main" id="{C0812A25-9C47-BD9B-995C-74017BE1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408238"/>
            <a:ext cx="727075" cy="1017587"/>
          </a:xfrm>
          <a:prstGeom prst="can">
            <a:avLst>
              <a:gd name="adj" fmla="val 24972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7</a:t>
            </a:r>
          </a:p>
        </p:txBody>
      </p:sp>
      <p:sp>
        <p:nvSpPr>
          <p:cNvPr id="129030" name="Google Shape;698;p63">
            <a:extLst>
              <a:ext uri="{FF2B5EF4-FFF2-40B4-BE49-F238E27FC236}">
                <a16:creationId xmlns:a16="http://schemas.microsoft.com/office/drawing/2014/main" id="{EBEE44EC-D777-3B3F-CE7E-DE393B100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4075113"/>
            <a:ext cx="727075" cy="1017587"/>
          </a:xfrm>
          <a:prstGeom prst="can">
            <a:avLst>
              <a:gd name="adj" fmla="val 24972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3</a:t>
            </a:r>
          </a:p>
        </p:txBody>
      </p:sp>
      <p:sp>
        <p:nvSpPr>
          <p:cNvPr id="129031" name="Google Shape;699;p63">
            <a:extLst>
              <a:ext uri="{FF2B5EF4-FFF2-40B4-BE49-F238E27FC236}">
                <a16:creationId xmlns:a16="http://schemas.microsoft.com/office/drawing/2014/main" id="{66775464-23EF-1652-687D-76B9FA157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1562100"/>
            <a:ext cx="727075" cy="1019175"/>
          </a:xfrm>
          <a:prstGeom prst="can">
            <a:avLst>
              <a:gd name="adj" fmla="val 25011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5</a:t>
            </a:r>
          </a:p>
        </p:txBody>
      </p:sp>
      <p:sp>
        <p:nvSpPr>
          <p:cNvPr id="129032" name="Google Shape;700;p63">
            <a:extLst>
              <a:ext uri="{FF2B5EF4-FFF2-40B4-BE49-F238E27FC236}">
                <a16:creationId xmlns:a16="http://schemas.microsoft.com/office/drawing/2014/main" id="{E8625D7B-BEC9-5A98-E388-59884382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513263"/>
            <a:ext cx="727075" cy="1019175"/>
          </a:xfrm>
          <a:prstGeom prst="can">
            <a:avLst>
              <a:gd name="adj" fmla="val 25011"/>
            </a:avLst>
          </a:prstGeom>
          <a:solidFill>
            <a:schemeClr val="bg2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2</a:t>
            </a:r>
          </a:p>
        </p:txBody>
      </p:sp>
      <p:cxnSp>
        <p:nvCxnSpPr>
          <p:cNvPr id="129033" name="Google Shape;701;p63">
            <a:extLst>
              <a:ext uri="{FF2B5EF4-FFF2-40B4-BE49-F238E27FC236}">
                <a16:creationId xmlns:a16="http://schemas.microsoft.com/office/drawing/2014/main" id="{FE3434A6-0B2A-0E72-CFE7-ABDC9FB4D233}"/>
              </a:ext>
            </a:extLst>
          </p:cNvPr>
          <p:cNvCxnSpPr>
            <a:cxnSpLocks noChangeShapeType="1"/>
            <a:stCxn id="129026" idx="3"/>
            <a:endCxn id="129027" idx="1"/>
          </p:cNvCxnSpPr>
          <p:nvPr/>
        </p:nvCxnSpPr>
        <p:spPr bwMode="auto">
          <a:xfrm flipH="1">
            <a:off x="1220788" y="2773363"/>
            <a:ext cx="650875" cy="149701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4" name="Google Shape;702;p63">
            <a:extLst>
              <a:ext uri="{FF2B5EF4-FFF2-40B4-BE49-F238E27FC236}">
                <a16:creationId xmlns:a16="http://schemas.microsoft.com/office/drawing/2014/main" id="{94EF7DAD-C914-77D1-1E1D-59ACD7A6BBD9}"/>
              </a:ext>
            </a:extLst>
          </p:cNvPr>
          <p:cNvCxnSpPr>
            <a:cxnSpLocks noChangeShapeType="1"/>
            <a:stCxn id="129031" idx="2"/>
            <a:endCxn id="129026" idx="4"/>
          </p:cNvCxnSpPr>
          <p:nvPr/>
        </p:nvCxnSpPr>
        <p:spPr bwMode="auto">
          <a:xfrm flipH="1">
            <a:off x="2235200" y="2071688"/>
            <a:ext cx="2574925" cy="1920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5" name="Google Shape;703;p63">
            <a:extLst>
              <a:ext uri="{FF2B5EF4-FFF2-40B4-BE49-F238E27FC236}">
                <a16:creationId xmlns:a16="http://schemas.microsoft.com/office/drawing/2014/main" id="{08108B57-2286-FBBE-1EFD-D0BB71BA72FF}"/>
              </a:ext>
            </a:extLst>
          </p:cNvPr>
          <p:cNvCxnSpPr>
            <a:cxnSpLocks noChangeShapeType="1"/>
            <a:stCxn id="129030" idx="2"/>
          </p:cNvCxnSpPr>
          <p:nvPr/>
        </p:nvCxnSpPr>
        <p:spPr bwMode="auto">
          <a:xfrm flipH="1">
            <a:off x="1584325" y="4583113"/>
            <a:ext cx="2908300" cy="1349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6" name="Google Shape;704;p63">
            <a:extLst>
              <a:ext uri="{FF2B5EF4-FFF2-40B4-BE49-F238E27FC236}">
                <a16:creationId xmlns:a16="http://schemas.microsoft.com/office/drawing/2014/main" id="{AE80002F-B12F-E51A-573B-157829FF368A}"/>
              </a:ext>
            </a:extLst>
          </p:cNvPr>
          <p:cNvCxnSpPr>
            <a:cxnSpLocks noChangeShapeType="1"/>
            <a:stCxn id="129029" idx="2"/>
            <a:endCxn id="129030" idx="4"/>
          </p:cNvCxnSpPr>
          <p:nvPr/>
        </p:nvCxnSpPr>
        <p:spPr bwMode="auto">
          <a:xfrm flipH="1">
            <a:off x="5219700" y="2916238"/>
            <a:ext cx="1333500" cy="16668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7" name="Google Shape;705;p63">
            <a:extLst>
              <a:ext uri="{FF2B5EF4-FFF2-40B4-BE49-F238E27FC236}">
                <a16:creationId xmlns:a16="http://schemas.microsoft.com/office/drawing/2014/main" id="{7C274087-3A7F-465D-C4E5-648ECB960E52}"/>
              </a:ext>
            </a:extLst>
          </p:cNvPr>
          <p:cNvCxnSpPr>
            <a:cxnSpLocks noChangeShapeType="1"/>
            <a:stCxn id="129029" idx="2"/>
            <a:endCxn id="129031" idx="4"/>
          </p:cNvCxnSpPr>
          <p:nvPr/>
        </p:nvCxnSpPr>
        <p:spPr bwMode="auto">
          <a:xfrm rot="10800000">
            <a:off x="5537200" y="2071688"/>
            <a:ext cx="1016000" cy="84455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8" name="Google Shape;706;p63">
            <a:extLst>
              <a:ext uri="{FF2B5EF4-FFF2-40B4-BE49-F238E27FC236}">
                <a16:creationId xmlns:a16="http://schemas.microsoft.com/office/drawing/2014/main" id="{179D3D4B-80E7-5310-CA11-CCC3C6C1D31A}"/>
              </a:ext>
            </a:extLst>
          </p:cNvPr>
          <p:cNvCxnSpPr>
            <a:cxnSpLocks noChangeShapeType="1"/>
            <a:stCxn id="129030" idx="3"/>
          </p:cNvCxnSpPr>
          <p:nvPr/>
        </p:nvCxnSpPr>
        <p:spPr bwMode="auto">
          <a:xfrm flipH="1">
            <a:off x="3514725" y="5092700"/>
            <a:ext cx="1341438" cy="5635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9" name="Google Shape;707;p63">
            <a:extLst>
              <a:ext uri="{FF2B5EF4-FFF2-40B4-BE49-F238E27FC236}">
                <a16:creationId xmlns:a16="http://schemas.microsoft.com/office/drawing/2014/main" id="{69DB7652-0C37-0558-2CDA-BCD99B595703}"/>
              </a:ext>
            </a:extLst>
          </p:cNvPr>
          <p:cNvCxnSpPr>
            <a:cxnSpLocks noChangeShapeType="1"/>
            <a:stCxn id="129032" idx="1"/>
          </p:cNvCxnSpPr>
          <p:nvPr/>
        </p:nvCxnSpPr>
        <p:spPr bwMode="auto">
          <a:xfrm rot="10800000">
            <a:off x="6956425" y="3425825"/>
            <a:ext cx="252413" cy="108743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40" name="Google Shape;708;p63">
            <a:extLst>
              <a:ext uri="{FF2B5EF4-FFF2-40B4-BE49-F238E27FC236}">
                <a16:creationId xmlns:a16="http://schemas.microsoft.com/office/drawing/2014/main" id="{317307D3-49DF-8BEC-589D-24B4E68B0F37}"/>
              </a:ext>
            </a:extLst>
          </p:cNvPr>
          <p:cNvCxnSpPr>
            <a:cxnSpLocks noChangeShapeType="1"/>
            <a:stCxn id="129032" idx="2"/>
            <a:endCxn id="129028" idx="4"/>
          </p:cNvCxnSpPr>
          <p:nvPr/>
        </p:nvCxnSpPr>
        <p:spPr bwMode="auto">
          <a:xfrm flipH="1">
            <a:off x="3598863" y="5022850"/>
            <a:ext cx="3246437" cy="10191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041" name="Google Shape;709;p63">
            <a:extLst>
              <a:ext uri="{FF2B5EF4-FFF2-40B4-BE49-F238E27FC236}">
                <a16:creationId xmlns:a16="http://schemas.microsoft.com/office/drawing/2014/main" id="{0D17A2C3-5605-4E23-3663-788C3E7AF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2914650"/>
            <a:ext cx="727075" cy="1017588"/>
          </a:xfrm>
          <a:prstGeom prst="can">
            <a:avLst>
              <a:gd name="adj" fmla="val 24972"/>
            </a:avLst>
          </a:prstGeom>
          <a:solidFill>
            <a:srgbClr val="00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800"/>
              <a:t>8</a:t>
            </a:r>
          </a:p>
        </p:txBody>
      </p:sp>
      <p:cxnSp>
        <p:nvCxnSpPr>
          <p:cNvPr id="129042" name="Google Shape;710;p63">
            <a:extLst>
              <a:ext uri="{FF2B5EF4-FFF2-40B4-BE49-F238E27FC236}">
                <a16:creationId xmlns:a16="http://schemas.microsoft.com/office/drawing/2014/main" id="{546253AD-7E5F-D6C9-F37B-837D2BB0BD8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71700" y="2773363"/>
            <a:ext cx="644525" cy="64928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43" name="Google Shape;711;p63">
            <a:extLst>
              <a:ext uri="{FF2B5EF4-FFF2-40B4-BE49-F238E27FC236}">
                <a16:creationId xmlns:a16="http://schemas.microsoft.com/office/drawing/2014/main" id="{EA5C12FB-51E1-1FDB-4663-D749B1F85AA4}"/>
              </a:ext>
            </a:extLst>
          </p:cNvPr>
          <p:cNvCxnSpPr>
            <a:cxnSpLocks noChangeShapeType="1"/>
            <a:stCxn id="129041" idx="3"/>
          </p:cNvCxnSpPr>
          <p:nvPr/>
        </p:nvCxnSpPr>
        <p:spPr bwMode="auto">
          <a:xfrm flipH="1">
            <a:off x="1573213" y="3932238"/>
            <a:ext cx="1577975" cy="52070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44" name="Google Shape;712;p63">
            <a:extLst>
              <a:ext uri="{FF2B5EF4-FFF2-40B4-BE49-F238E27FC236}">
                <a16:creationId xmlns:a16="http://schemas.microsoft.com/office/drawing/2014/main" id="{E6D48864-FDB2-DDB4-E7F5-4A0D46312DB2}"/>
              </a:ext>
            </a:extLst>
          </p:cNvPr>
          <p:cNvCxnSpPr>
            <a:cxnSpLocks noChangeShapeType="1"/>
            <a:stCxn id="129031" idx="3"/>
            <a:endCxn id="129041" idx="4"/>
          </p:cNvCxnSpPr>
          <p:nvPr/>
        </p:nvCxnSpPr>
        <p:spPr bwMode="auto">
          <a:xfrm flipH="1">
            <a:off x="3514725" y="2581275"/>
            <a:ext cx="1658938" cy="84296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3" name="Google Shape;713;p63">
            <a:extLst>
              <a:ext uri="{FF2B5EF4-FFF2-40B4-BE49-F238E27FC236}">
                <a16:creationId xmlns:a16="http://schemas.microsoft.com/office/drawing/2014/main" id="{89471914-C348-D179-A886-033A53A2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4205288"/>
            <a:ext cx="2151063" cy="11430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I found a nifty new block!</a:t>
            </a:r>
          </a:p>
        </p:txBody>
      </p:sp>
      <p:sp>
        <p:nvSpPr>
          <p:cNvPr id="714" name="Google Shape;714;p63">
            <a:extLst>
              <a:ext uri="{FF2B5EF4-FFF2-40B4-BE49-F238E27FC236}">
                <a16:creationId xmlns:a16="http://schemas.microsoft.com/office/drawing/2014/main" id="{AC7794EF-A773-DA4B-AF38-1370411A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6130925"/>
            <a:ext cx="10906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24</a:t>
            </a:r>
          </a:p>
        </p:txBody>
      </p:sp>
      <p:sp>
        <p:nvSpPr>
          <p:cNvPr id="715" name="Google Shape;715;p63">
            <a:extLst>
              <a:ext uri="{FF2B5EF4-FFF2-40B4-BE49-F238E27FC236}">
                <a16:creationId xmlns:a16="http://schemas.microsoft.com/office/drawing/2014/main" id="{597B6994-4CB5-19DF-8C80-47587D1E0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4670425"/>
            <a:ext cx="109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24</a:t>
            </a:r>
          </a:p>
        </p:txBody>
      </p:sp>
      <p:sp>
        <p:nvSpPr>
          <p:cNvPr id="716" name="Google Shape;716;p63">
            <a:extLst>
              <a:ext uri="{FF2B5EF4-FFF2-40B4-BE49-F238E27FC236}">
                <a16:creationId xmlns:a16="http://schemas.microsoft.com/office/drawing/2014/main" id="{BA011B72-4A97-C691-C09E-6E573131A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3514725"/>
            <a:ext cx="109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24</a:t>
            </a:r>
          </a:p>
        </p:txBody>
      </p:sp>
      <p:sp>
        <p:nvSpPr>
          <p:cNvPr id="717" name="Google Shape;717;p63">
            <a:extLst>
              <a:ext uri="{FF2B5EF4-FFF2-40B4-BE49-F238E27FC236}">
                <a16:creationId xmlns:a16="http://schemas.microsoft.com/office/drawing/2014/main" id="{9DA1F6D5-0A9C-43A8-4C84-5E91BFB18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2132013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24</a:t>
            </a:r>
          </a:p>
        </p:txBody>
      </p:sp>
      <p:sp>
        <p:nvSpPr>
          <p:cNvPr id="718" name="Google Shape;718;p63">
            <a:extLst>
              <a:ext uri="{FF2B5EF4-FFF2-40B4-BE49-F238E27FC236}">
                <a16:creationId xmlns:a16="http://schemas.microsoft.com/office/drawing/2014/main" id="{3A78026C-1876-359C-F3F4-386E5E37F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296068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24</a:t>
            </a:r>
          </a:p>
        </p:txBody>
      </p:sp>
      <p:sp>
        <p:nvSpPr>
          <p:cNvPr id="129051" name="Google Shape;719;p63">
            <a:extLst>
              <a:ext uri="{FF2B5EF4-FFF2-40B4-BE49-F238E27FC236}">
                <a16:creationId xmlns:a16="http://schemas.microsoft.com/office/drawing/2014/main" id="{979C7F6A-83BF-CC2E-DC1D-83EA3802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5114925"/>
            <a:ext cx="109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129052" name="Google Shape;720;p63">
            <a:extLst>
              <a:ext uri="{FF2B5EF4-FFF2-40B4-BE49-F238E27FC236}">
                <a16:creationId xmlns:a16="http://schemas.microsoft.com/office/drawing/2014/main" id="{0C55721D-F2D0-56B1-80A6-50DE2404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4848225"/>
            <a:ext cx="10906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129053" name="Google Shape;721;p63">
            <a:extLst>
              <a:ext uri="{FF2B5EF4-FFF2-40B4-BE49-F238E27FC236}">
                <a16:creationId xmlns:a16="http://schemas.microsoft.com/office/drawing/2014/main" id="{DF31FD83-95DB-4A97-C1FB-7CA6D8B25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2346325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2" name="Google Shape;722;p63">
            <a:extLst>
              <a:ext uri="{FF2B5EF4-FFF2-40B4-BE49-F238E27FC236}">
                <a16:creationId xmlns:a16="http://schemas.microsoft.com/office/drawing/2014/main" id="{5C71BE7B-A443-6D4F-2C6B-2BF1AB50C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3554413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3" name="Google Shape;723;p63">
            <a:extLst>
              <a:ext uri="{FF2B5EF4-FFF2-40B4-BE49-F238E27FC236}">
                <a16:creationId xmlns:a16="http://schemas.microsoft.com/office/drawing/2014/main" id="{5FAD150A-1636-1FF3-C37F-4B3AC339E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2132013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4" name="Google Shape;724;p63">
            <a:extLst>
              <a:ext uri="{FF2B5EF4-FFF2-40B4-BE49-F238E27FC236}">
                <a16:creationId xmlns:a16="http://schemas.microsoft.com/office/drawing/2014/main" id="{4352EACC-44B5-0C3E-2D6E-600F7635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296068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5" name="Google Shape;725;p63">
            <a:extLst>
              <a:ext uri="{FF2B5EF4-FFF2-40B4-BE49-F238E27FC236}">
                <a16:creationId xmlns:a16="http://schemas.microsoft.com/office/drawing/2014/main" id="{C25C9562-AA9C-8C29-205A-490745D5D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4667250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6" name="Google Shape;726;p63">
            <a:extLst>
              <a:ext uri="{FF2B5EF4-FFF2-40B4-BE49-F238E27FC236}">
                <a16:creationId xmlns:a16="http://schemas.microsoft.com/office/drawing/2014/main" id="{336AF2F7-F25B-2CF2-681C-A75B49ECE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6130925"/>
            <a:ext cx="10906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100">
                <a:latin typeface="Courier New" panose="02070309020205020404" pitchFamily="49" charset="0"/>
                <a:sym typeface="Courier New" panose="02070309020205020404" pitchFamily="49" charset="0"/>
              </a:rPr>
              <a:t>Block 23</a:t>
            </a:r>
          </a:p>
        </p:txBody>
      </p:sp>
      <p:sp>
        <p:nvSpPr>
          <p:cNvPr id="727" name="Google Shape;727;p63">
            <a:extLst>
              <a:ext uri="{FF2B5EF4-FFF2-40B4-BE49-F238E27FC236}">
                <a16:creationId xmlns:a16="http://schemas.microsoft.com/office/drawing/2014/main" id="{98C6DAE2-C3B4-3B0A-EB3E-8AA777266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553243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>
                <a:latin typeface="Courier New" panose="02070309020205020404" pitchFamily="49" charset="0"/>
                <a:sym typeface="Courier New" panose="02070309020205020404" pitchFamily="49" charset="0"/>
              </a:rPr>
              <a:t>24</a:t>
            </a:r>
          </a:p>
        </p:txBody>
      </p:sp>
      <p:sp>
        <p:nvSpPr>
          <p:cNvPr id="728" name="Google Shape;728;p63">
            <a:extLst>
              <a:ext uri="{FF2B5EF4-FFF2-40B4-BE49-F238E27FC236}">
                <a16:creationId xmlns:a16="http://schemas.microsoft.com/office/drawing/2014/main" id="{8C7305FD-67F7-4CBC-0A9C-FEB007F6F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27208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>
                <a:latin typeface="Courier New" panose="02070309020205020404" pitchFamily="49" charset="0"/>
                <a:sym typeface="Courier New" panose="02070309020205020404" pitchFamily="49" charset="0"/>
              </a:rPr>
              <a:t>24</a:t>
            </a:r>
          </a:p>
        </p:txBody>
      </p:sp>
      <p:sp>
        <p:nvSpPr>
          <p:cNvPr id="729" name="Google Shape;729;p63">
            <a:extLst>
              <a:ext uri="{FF2B5EF4-FFF2-40B4-BE49-F238E27FC236}">
                <a16:creationId xmlns:a16="http://schemas.microsoft.com/office/drawing/2014/main" id="{1EB58A2A-E497-B140-8895-0D86891AD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9763" y="370998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>
                <a:latin typeface="Courier New" panose="02070309020205020404" pitchFamily="49" charset="0"/>
                <a:sym typeface="Courier New" panose="02070309020205020404" pitchFamily="49" charset="0"/>
              </a:rPr>
              <a:t>24</a:t>
            </a:r>
          </a:p>
        </p:txBody>
      </p:sp>
      <p:sp>
        <p:nvSpPr>
          <p:cNvPr id="730" name="Google Shape;730;p63">
            <a:extLst>
              <a:ext uri="{FF2B5EF4-FFF2-40B4-BE49-F238E27FC236}">
                <a16:creationId xmlns:a16="http://schemas.microsoft.com/office/drawing/2014/main" id="{C851CDBC-6A31-9C48-A5DD-903E92A58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4592638"/>
            <a:ext cx="1092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800">
                <a:latin typeface="Courier New" panose="02070309020205020404" pitchFamily="49" charset="0"/>
                <a:sym typeface="Courier New" panose="02070309020205020404" pitchFamily="49" charset="0"/>
              </a:rPr>
              <a:t>24</a:t>
            </a:r>
          </a:p>
        </p:txBody>
      </p:sp>
      <p:sp>
        <p:nvSpPr>
          <p:cNvPr id="731" name="Google Shape;731;p63">
            <a:extLst>
              <a:ext uri="{FF2B5EF4-FFF2-40B4-BE49-F238E27FC236}">
                <a16:creationId xmlns:a16="http://schemas.microsoft.com/office/drawing/2014/main" id="{701A7A21-8254-FA27-F85C-603BDE4E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38" y="3265488"/>
            <a:ext cx="1577975" cy="1017587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That</a:t>
            </a:r>
            <a:r>
              <a:rPr lang="fr-FR" altLang="fr-FR" sz="2000"/>
              <a:t>’</a:t>
            </a:r>
            <a:r>
              <a:rPr lang="fr-FR" altLang="en-US" sz="2000"/>
              <a:t>s crazy talk!!</a:t>
            </a:r>
          </a:p>
        </p:txBody>
      </p:sp>
      <p:sp>
        <p:nvSpPr>
          <p:cNvPr id="732" name="Google Shape;732;p63">
            <a:extLst>
              <a:ext uri="{FF2B5EF4-FFF2-40B4-BE49-F238E27FC236}">
                <a16:creationId xmlns:a16="http://schemas.microsoft.com/office/drawing/2014/main" id="{5A75DBF0-6237-1799-D23A-023C07B6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8" y="3059113"/>
            <a:ext cx="1577975" cy="1019175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FF00"/>
          </a:solidFill>
          <a:ln w="1905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/>
              <a:t>That</a:t>
            </a:r>
            <a:r>
              <a:rPr lang="fr-FR" altLang="fr-FR" sz="2000"/>
              <a:t>’</a:t>
            </a:r>
            <a:r>
              <a:rPr lang="fr-FR" altLang="en-US" sz="2000"/>
              <a:t>s crazy talk!!</a:t>
            </a:r>
          </a:p>
        </p:txBody>
      </p:sp>
      <p:sp>
        <p:nvSpPr>
          <p:cNvPr id="733" name="Google Shape;733;p63">
            <a:extLst>
              <a:ext uri="{FF2B5EF4-FFF2-40B4-BE49-F238E27FC236}">
                <a16:creationId xmlns:a16="http://schemas.microsoft.com/office/drawing/2014/main" id="{AE7C5C49-9F34-457A-AC92-13E4BE9C9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6030913"/>
            <a:ext cx="4489450" cy="70485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Trebuchet MS" panose="020B0603020202020204" pitchFamily="34" charset="0"/>
                <a:sym typeface="Trebuchet MS" panose="020B0603020202020204" pitchFamily="34" charset="0"/>
              </a:rPr>
              <a:t>PROBLEM:</a:t>
            </a: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 Old nodes will never catch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Google Shape;738;p64">
            <a:extLst>
              <a:ext uri="{FF2B5EF4-FFF2-40B4-BE49-F238E27FC236}">
                <a16:creationId xmlns:a16="http://schemas.microsoft.com/office/drawing/2014/main" id="{BC299105-C784-D0AD-B867-14122CBD8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Soft forks</a:t>
            </a:r>
            <a:endParaRPr lang="fr-FR" altLang="en-US" i="1"/>
          </a:p>
        </p:txBody>
      </p:sp>
      <p:sp>
        <p:nvSpPr>
          <p:cNvPr id="131074" name="Google Shape;739;p64">
            <a:extLst>
              <a:ext uri="{FF2B5EF4-FFF2-40B4-BE49-F238E27FC236}">
                <a16:creationId xmlns:a16="http://schemas.microsoft.com/office/drawing/2014/main" id="{537CC5D8-5A91-EC37-6ADB-B795422B2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6163"/>
          </a:xfrm>
        </p:spPr>
        <p:txBody>
          <a:bodyPr/>
          <a:lstStyle/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/>
              <a:t>Observation: we can add new features which only </a:t>
            </a:r>
            <a:r>
              <a:rPr lang="fr-FR" altLang="en-US" i="1"/>
              <a:t>limit</a:t>
            </a:r>
            <a:r>
              <a:rPr lang="fr-FR" altLang="en-US"/>
              <a:t> the set of valid transactions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endParaRPr lang="fr-FR" altLang="en-US"/>
          </a:p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/>
              <a:t>Need majority of nodes to enforce new rules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endParaRPr lang="fr-FR" altLang="en-US"/>
          </a:p>
          <a:p>
            <a:pPr marL="0" indent="0">
              <a:spcAft>
                <a:spcPct val="0"/>
              </a:spcAft>
              <a:buSzTx/>
              <a:buFontTx/>
              <a:buNone/>
            </a:pPr>
            <a:r>
              <a:rPr lang="fr-FR" altLang="en-US"/>
              <a:t>Old nodes will approve</a:t>
            </a:r>
          </a:p>
          <a:p>
            <a:pPr marL="0" indent="0">
              <a:spcAft>
                <a:spcPct val="0"/>
              </a:spcAft>
              <a:buSzTx/>
              <a:buFontTx/>
              <a:buNone/>
            </a:pPr>
            <a:endParaRPr lang="fr-FR" altLang="en-US"/>
          </a:p>
        </p:txBody>
      </p:sp>
      <p:sp>
        <p:nvSpPr>
          <p:cNvPr id="740" name="Google Shape;740;p64">
            <a:extLst>
              <a:ext uri="{FF2B5EF4-FFF2-40B4-BE49-F238E27FC236}">
                <a16:creationId xmlns:a16="http://schemas.microsoft.com/office/drawing/2014/main" id="{EA3D0B39-7865-4E3D-AADC-621FA50A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788" y="5995988"/>
            <a:ext cx="5961062" cy="70485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1800" b="1">
                <a:latin typeface="Trebuchet MS" panose="020B0603020202020204" pitchFamily="34" charset="0"/>
                <a:sym typeface="Trebuchet MS" panose="020B0603020202020204" pitchFamily="34" charset="0"/>
              </a:rPr>
              <a:t>RISK:</a:t>
            </a:r>
            <a:r>
              <a:rPr lang="fr-FR" altLang="en-US" sz="1800">
                <a:latin typeface="Trebuchet MS" panose="020B0603020202020204" pitchFamily="34" charset="0"/>
                <a:sym typeface="Trebuchet MS" panose="020B0603020202020204" pitchFamily="34" charset="0"/>
              </a:rPr>
              <a:t> Old nodes might mine now-invalid blocks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Google Shape;759;p67">
            <a:extLst>
              <a:ext uri="{FF2B5EF4-FFF2-40B4-BE49-F238E27FC236}">
                <a16:creationId xmlns:a16="http://schemas.microsoft.com/office/drawing/2014/main" id="{ECCC01CA-9BA7-E565-E1B4-439871D5B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SzTx/>
            </a:pPr>
            <a:r>
              <a:rPr lang="fr-FR" altLang="en-US"/>
              <a:t>Hard forks</a:t>
            </a:r>
            <a:endParaRPr lang="fr-FR" altLang="en-US" i="1"/>
          </a:p>
        </p:txBody>
      </p:sp>
      <p:sp>
        <p:nvSpPr>
          <p:cNvPr id="133122" name="Google Shape;760;p67">
            <a:extLst>
              <a:ext uri="{FF2B5EF4-FFF2-40B4-BE49-F238E27FC236}">
                <a16:creationId xmlns:a16="http://schemas.microsoft.com/office/drawing/2014/main" id="{846C9679-4C02-D6DE-065A-8F183A726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48663" cy="4656138"/>
          </a:xfrm>
        </p:spPr>
        <p:txBody>
          <a:bodyPr/>
          <a:lstStyle/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New op codes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•"/>
            </a:pPr>
            <a:r>
              <a:rPr lang="fr-FR" altLang="en-US"/>
              <a:t>Changes to size limits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Changes to mining rate</a:t>
            </a:r>
          </a:p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fr-FR" altLang="en-US"/>
              <a:t>Many small bug fixes</a:t>
            </a:r>
          </a:p>
          <a:p>
            <a:pPr>
              <a:spcAft>
                <a:spcPct val="0"/>
              </a:spcAft>
              <a:buSzTx/>
              <a:buFontTx/>
              <a:buChar char="•"/>
            </a:pPr>
            <a:endParaRPr lang="fr-FR" altLang="en-US"/>
          </a:p>
        </p:txBody>
      </p:sp>
      <p:sp>
        <p:nvSpPr>
          <p:cNvPr id="762" name="Google Shape;762;p67">
            <a:extLst>
              <a:ext uri="{FF2B5EF4-FFF2-40B4-BE49-F238E27FC236}">
                <a16:creationId xmlns:a16="http://schemas.microsoft.com/office/drawing/2014/main" id="{BF4392C9-8A79-298B-0C1A-97ED0F72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4354513"/>
            <a:ext cx="8474075" cy="957262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>
            <a:solidFill>
              <a:srgbClr val="666666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3600">
                <a:latin typeface="Trebuchet MS" panose="020B0603020202020204" pitchFamily="34" charset="0"/>
                <a:sym typeface="Trebuchet MS" panose="020B0603020202020204" pitchFamily="34" charset="0"/>
              </a:rPr>
              <a:t>Currently seem very unlikely to happen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re 5">
            <a:extLst>
              <a:ext uri="{FF2B5EF4-FFF2-40B4-BE49-F238E27FC236}">
                <a16:creationId xmlns:a16="http://schemas.microsoft.com/office/drawing/2014/main" id="{FE4B5492-BD95-C105-C4EF-9FDD01508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 not distribute ...</a:t>
            </a:r>
            <a:endParaRPr lang="fr-FR" altLang="en-US"/>
          </a:p>
        </p:txBody>
      </p:sp>
      <p:sp>
        <p:nvSpPr>
          <p:cNvPr id="135170" name="Espace réservé du contenu 6">
            <a:extLst>
              <a:ext uri="{FF2B5EF4-FFF2-40B4-BE49-F238E27FC236}">
                <a16:creationId xmlns:a16="http://schemas.microsoft.com/office/drawing/2014/main" id="{AA37BFE3-2DA7-8EB5-9B6E-5DF54F3BE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000"/>
              <a:t>These slides are not always prepared by me.</a:t>
            </a:r>
          </a:p>
          <a:p>
            <a:r>
              <a:rPr lang="fr-FR" altLang="en-US" sz="2000"/>
              <a:t>Most of the content comes from the reference book</a:t>
            </a:r>
          </a:p>
          <a:p>
            <a:pPr lvl="1"/>
            <a:r>
              <a:rPr lang="fr-FR" altLang="en-US" sz="1800"/>
              <a:t>Bitcoin and Cryptocurrency Technologies: A Comprehensive Introduction </a:t>
            </a:r>
          </a:p>
          <a:p>
            <a:pPr lvl="1"/>
            <a:r>
              <a:rPr lang="fr-FR" altLang="en-US" sz="1400">
                <a:solidFill>
                  <a:srgbClr val="008000"/>
                </a:solidFill>
                <a:latin typeface="Gill Sans MT" panose="020B0502020104020203" pitchFamily="34" charset="0"/>
              </a:rPr>
              <a:t>	Arvind Narayanan, Joseph Bonneau, </a:t>
            </a:r>
          </a:p>
          <a:p>
            <a:pPr lvl="1"/>
            <a:r>
              <a:rPr lang="fr-FR" altLang="en-US" sz="1400">
                <a:solidFill>
                  <a:srgbClr val="008000"/>
                </a:solidFill>
                <a:latin typeface="Gill Sans MT" panose="020B0502020104020203" pitchFamily="34" charset="0"/>
              </a:rPr>
              <a:t>	Edward Felten, Andrew Miller, Steven Goldfeder</a:t>
            </a:r>
          </a:p>
          <a:p>
            <a:endParaRPr lang="fr-FR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44AB45-4C63-01B9-01D5-CD1AEF1A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845B-4CA5-45CA-AEDD-9CEBCF48ECCC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29829</TotalTime>
  <Words>2888</Words>
  <Application>Microsoft Office PowerPoint</Application>
  <PresentationFormat>On-screen Show (4:3)</PresentationFormat>
  <Paragraphs>578</Paragraphs>
  <Slides>62</Slides>
  <Notes>55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ＭＳ Ｐゴシック</vt:lpstr>
      <vt:lpstr>Arial</vt:lpstr>
      <vt:lpstr>Courier New</vt:lpstr>
      <vt:lpstr>Gill Sans MT</vt:lpstr>
      <vt:lpstr>Trebuchet MS</vt:lpstr>
      <vt:lpstr>Lecture6 (Number System)</vt:lpstr>
      <vt:lpstr>Simple Light</vt:lpstr>
      <vt:lpstr>Lecture 08  Mechanics of Bitcoin</vt:lpstr>
      <vt:lpstr>Recap: Bitcoin consensus</vt:lpstr>
      <vt:lpstr>An account-based ledger</vt:lpstr>
      <vt:lpstr>An account-based ledger</vt:lpstr>
      <vt:lpstr>An account-based ledger (not Bitcoin)</vt:lpstr>
      <vt:lpstr>The bitcoin ledger</vt:lpstr>
      <vt:lpstr>A transaction-based ledger (Bitcoin)</vt:lpstr>
      <vt:lpstr>How does it improve verification?</vt:lpstr>
      <vt:lpstr>Merging value</vt:lpstr>
      <vt:lpstr>Joint payments</vt:lpstr>
      <vt:lpstr>The real deal: a Bitcoin transaction</vt:lpstr>
      <vt:lpstr>The real deal: transaction metadata</vt:lpstr>
      <vt:lpstr>The real deal: transaction inputs</vt:lpstr>
      <vt:lpstr>The real deal: transaction outputs</vt:lpstr>
      <vt:lpstr>PowerPoint Presentation</vt:lpstr>
      <vt:lpstr>Output “addresses” are really scripts</vt:lpstr>
      <vt:lpstr>Output “addresses” are really scripts</vt:lpstr>
      <vt:lpstr>Bitcoin Scripts</vt:lpstr>
      <vt:lpstr>Bitcoin scripting logic</vt:lpstr>
      <vt:lpstr>Input “addresses” are also scripts</vt:lpstr>
      <vt:lpstr>Bitcoin Scipts</vt:lpstr>
      <vt:lpstr>Common Script Instructions</vt:lpstr>
      <vt:lpstr>Bitcoin script execution example</vt:lpstr>
      <vt:lpstr>Bitcoin scripting language (“Script”)</vt:lpstr>
      <vt:lpstr>Bitcoin script instructions</vt:lpstr>
      <vt:lpstr>Bitcoin scripts in practice</vt:lpstr>
      <vt:lpstr>Proof-of-burn</vt:lpstr>
      <vt:lpstr>Should senders specify scripts?</vt:lpstr>
      <vt:lpstr>Pay to script hash</vt:lpstr>
      <vt:lpstr>PowerPoint Presentation</vt:lpstr>
      <vt:lpstr>Example 1: Escrow transactions</vt:lpstr>
      <vt:lpstr>Example 2: Green addresses</vt:lpstr>
      <vt:lpstr>Example 3: Efficient micro-payments</vt:lpstr>
      <vt:lpstr>lock_time</vt:lpstr>
      <vt:lpstr>Smart Contracts</vt:lpstr>
      <vt:lpstr>PowerPoint Presentation</vt:lpstr>
      <vt:lpstr>Bitcoin blocks</vt:lpstr>
      <vt:lpstr>Bitcoin block structure</vt:lpstr>
      <vt:lpstr>The real deal: a Bitcoin block</vt:lpstr>
      <vt:lpstr>The real deal: a Bitcoin block header</vt:lpstr>
      <vt:lpstr>The real deal: coinbase transaction</vt:lpstr>
      <vt:lpstr>See for yourself!</vt:lpstr>
      <vt:lpstr>PowerPoint Presentation</vt:lpstr>
      <vt:lpstr>Bitcoin P2P network</vt:lpstr>
      <vt:lpstr>Joining the Bitcoin P2P network</vt:lpstr>
      <vt:lpstr>Transaction propagation (flooding)</vt:lpstr>
      <vt:lpstr>Should I relay a proposed transaction?</vt:lpstr>
      <vt:lpstr>Nodes may differ on transaction pool </vt:lpstr>
      <vt:lpstr>Race conditions</vt:lpstr>
      <vt:lpstr>Block propagation nearly identical</vt:lpstr>
      <vt:lpstr>How big is the network?</vt:lpstr>
      <vt:lpstr>Fully-validating nodes</vt:lpstr>
      <vt:lpstr>Storage costs</vt:lpstr>
      <vt:lpstr>Thin/SPV clients (not fully-validating)</vt:lpstr>
      <vt:lpstr>PowerPoint Presentation</vt:lpstr>
      <vt:lpstr>Hard-coded limits in Bitcoin</vt:lpstr>
      <vt:lpstr>Throughput limits in Bitcoin</vt:lpstr>
      <vt:lpstr>Cryptographic limits in Bitcoin</vt:lpstr>
      <vt:lpstr>“Hard-forking” changes to Bitcoin</vt:lpstr>
      <vt:lpstr>Soft forks</vt:lpstr>
      <vt:lpstr>Hard forks</vt:lpstr>
      <vt:lpstr>Do not distribute ...</vt:lpstr>
    </vt:vector>
  </TitlesOfParts>
  <Manager/>
  <Company> 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Ehtesham Zahoor</dc:creator>
  <cp:keywords/>
  <dc:description/>
  <cp:lastModifiedBy>Ahmad</cp:lastModifiedBy>
  <cp:revision>705</cp:revision>
  <dcterms:created xsi:type="dcterms:W3CDTF">2006-05-16T22:38:36Z</dcterms:created>
  <dcterms:modified xsi:type="dcterms:W3CDTF">2024-11-23T06:26:45Z</dcterms:modified>
  <cp:category/>
</cp:coreProperties>
</file>