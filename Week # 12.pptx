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50"/>
  </p:notesMasterIdLst>
  <p:sldIdLst>
    <p:sldId id="256" r:id="rId3"/>
    <p:sldId id="258" r:id="rId4"/>
    <p:sldId id="297" r:id="rId5"/>
    <p:sldId id="298" r:id="rId6"/>
    <p:sldId id="263" r:id="rId7"/>
    <p:sldId id="299" r:id="rId8"/>
    <p:sldId id="302" r:id="rId9"/>
    <p:sldId id="300" r:id="rId10"/>
    <p:sldId id="301" r:id="rId11"/>
    <p:sldId id="303" r:id="rId12"/>
    <p:sldId id="312" r:id="rId13"/>
    <p:sldId id="313" r:id="rId14"/>
    <p:sldId id="315" r:id="rId15"/>
    <p:sldId id="314" r:id="rId16"/>
    <p:sldId id="305" r:id="rId17"/>
    <p:sldId id="316" r:id="rId18"/>
    <p:sldId id="317" r:id="rId19"/>
    <p:sldId id="318" r:id="rId20"/>
    <p:sldId id="319" r:id="rId21"/>
    <p:sldId id="306" r:id="rId22"/>
    <p:sldId id="320" r:id="rId23"/>
    <p:sldId id="321" r:id="rId24"/>
    <p:sldId id="322" r:id="rId25"/>
    <p:sldId id="307" r:id="rId26"/>
    <p:sldId id="323" r:id="rId27"/>
    <p:sldId id="324" r:id="rId28"/>
    <p:sldId id="325" r:id="rId29"/>
    <p:sldId id="326" r:id="rId30"/>
    <p:sldId id="308" r:id="rId31"/>
    <p:sldId id="327" r:id="rId32"/>
    <p:sldId id="328" r:id="rId33"/>
    <p:sldId id="329" r:id="rId34"/>
    <p:sldId id="330" r:id="rId35"/>
    <p:sldId id="309" r:id="rId36"/>
    <p:sldId id="331" r:id="rId37"/>
    <p:sldId id="332" r:id="rId38"/>
    <p:sldId id="333" r:id="rId39"/>
    <p:sldId id="310" r:id="rId40"/>
    <p:sldId id="334" r:id="rId41"/>
    <p:sldId id="336" r:id="rId42"/>
    <p:sldId id="335" r:id="rId43"/>
    <p:sldId id="311" r:id="rId44"/>
    <p:sldId id="337" r:id="rId45"/>
    <p:sldId id="339" r:id="rId46"/>
    <p:sldId id="338" r:id="rId47"/>
    <p:sldId id="341" r:id="rId48"/>
    <p:sldId id="278" r:id="rId49"/>
  </p:sldIdLst>
  <p:sldSz cx="9144000" cy="5143500" type="screen16x9"/>
  <p:notesSz cx="6858000" cy="9144000"/>
  <p:embeddedFontLst>
    <p:embeddedFont>
      <p:font typeface="Advent Pro SemiBold" panose="020B0604020202020204" charset="0"/>
      <p:regular r:id="rId51"/>
      <p:bold r:id="rId52"/>
      <p:italic r:id="rId53"/>
      <p:boldItalic r:id="rId54"/>
    </p:embeddedFont>
    <p:embeddedFont>
      <p:font typeface="Fira Sans Extra Condensed Medium" panose="020B0604020202020204" charset="0"/>
      <p:regular r:id="rId55"/>
      <p:bold r:id="rId56"/>
      <p:italic r:id="rId57"/>
      <p:boldItalic r:id="rId58"/>
    </p:embeddedFont>
    <p:embeddedFont>
      <p:font typeface="Livvic Light" pitchFamily="2" charset="0"/>
      <p:regular r:id="rId59"/>
    </p:embeddedFont>
    <p:embeddedFont>
      <p:font typeface="Maven Pro" panose="020B0604020202020204" charset="0"/>
      <p:regular r:id="rId60"/>
      <p:bold r:id="rId61"/>
    </p:embeddedFont>
    <p:embeddedFont>
      <p:font typeface="Proxima Nova" panose="020B0604020202020204" charset="0"/>
      <p:regular r:id="rId62"/>
      <p:bold r:id="rId63"/>
      <p:italic r:id="rId64"/>
      <p:boldItalic r:id="rId65"/>
    </p:embeddedFont>
    <p:embeddedFont>
      <p:font typeface="Proxima Nova Semibold" panose="020B0604020202020204" charset="0"/>
      <p:regular r:id="rId66"/>
      <p:bold r:id="rId67"/>
      <p:boldItalic r:id="rId68"/>
    </p:embeddedFont>
    <p:embeddedFont>
      <p:font typeface="Share Tech" panose="020B0604020202020204" charset="0"/>
      <p:regular r:id="rId6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D3CA5-D421-4A02-A9EA-13A9E2624C71}">
  <a:tblStyle styleId="{316D3CA5-D421-4A02-A9EA-13A9E2624C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0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font" Target="fonts/font13.fntdata"/><Relationship Id="rId68" Type="http://schemas.openxmlformats.org/officeDocument/2006/relationships/font" Target="fonts/font1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font" Target="fonts/font3.fntdata"/><Relationship Id="rId58" Type="http://schemas.openxmlformats.org/officeDocument/2006/relationships/font" Target="fonts/font8.fntdata"/><Relationship Id="rId66" Type="http://schemas.openxmlformats.org/officeDocument/2006/relationships/font" Target="fonts/font16.fntdata"/><Relationship Id="rId5" Type="http://schemas.openxmlformats.org/officeDocument/2006/relationships/slide" Target="slides/slide3.xml"/><Relationship Id="rId61" Type="http://schemas.openxmlformats.org/officeDocument/2006/relationships/font" Target="fonts/font11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font" Target="fonts/font6.fntdata"/><Relationship Id="rId64" Type="http://schemas.openxmlformats.org/officeDocument/2006/relationships/font" Target="fonts/font14.fntdata"/><Relationship Id="rId69" Type="http://schemas.openxmlformats.org/officeDocument/2006/relationships/font" Target="fonts/font19.fntdata"/><Relationship Id="rId8" Type="http://schemas.openxmlformats.org/officeDocument/2006/relationships/slide" Target="slides/slide6.xml"/><Relationship Id="rId51" Type="http://schemas.openxmlformats.org/officeDocument/2006/relationships/font" Target="fonts/font1.fntdata"/><Relationship Id="rId72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9.fntdata"/><Relationship Id="rId67" Type="http://schemas.openxmlformats.org/officeDocument/2006/relationships/font" Target="fonts/font17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4.fntdata"/><Relationship Id="rId62" Type="http://schemas.openxmlformats.org/officeDocument/2006/relationships/font" Target="fonts/font12.fntdata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font" Target="fonts/font7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font" Target="fonts/font2.fntdata"/><Relationship Id="rId60" Type="http://schemas.openxmlformats.org/officeDocument/2006/relationships/font" Target="fonts/font10.fntdata"/><Relationship Id="rId65" Type="http://schemas.openxmlformats.org/officeDocument/2006/relationships/font" Target="fonts/font15.fntdata"/><Relationship Id="rId73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5.fntdata"/><Relationship Id="rId7" Type="http://schemas.openxmlformats.org/officeDocument/2006/relationships/slide" Target="slides/slide5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6c52a2e8d8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6c52a2e8d8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6c4305b0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6c4305b01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6c4305b0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6c4305b01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4549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6c4305b0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6c4305b01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3299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6c60e245bf_1_31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6c60e245bf_1_31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6c60e245bf_1_31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6c60e245bf_1_31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10012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6c60e245bf_1_31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6c60e245bf_1_31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71005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6c60e245bf_1_31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6c60e245bf_1_31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13719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6c60e245bf_1_31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6c60e245bf_1_31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83132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5862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6c60e245bf_1_31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6c60e245bf_1_31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41403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7958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6c60e245bf_1_31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6c60e245bf_1_31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65714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5815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6c60e245bf_1_31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6c60e245bf_1_31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36105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6038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6c60e245bf_1_31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6c60e245bf_1_31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295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7386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0557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6c52a2e8d8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g6c52a2e8d8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561650" y="751888"/>
            <a:ext cx="60207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924250" y="2804488"/>
            <a:ext cx="3295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060456" y="1158638"/>
            <a:ext cx="121198" cy="121434"/>
          </a:xfrm>
          <a:custGeom>
            <a:avLst/>
            <a:gdLst/>
            <a:ahLst/>
            <a:cxnLst/>
            <a:rect l="l" t="t" r="r" b="b"/>
            <a:pathLst>
              <a:path w="4625" h="4634" extrusionOk="0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799740" y="916059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5257933" y="2452405"/>
            <a:ext cx="57599" cy="57599"/>
          </a:xfrm>
          <a:custGeom>
            <a:avLst/>
            <a:gdLst/>
            <a:ahLst/>
            <a:cxnLst/>
            <a:rect l="l" t="t" r="r" b="b"/>
            <a:pathLst>
              <a:path w="2198" h="2198" fill="none" extrusionOk="0">
                <a:moveTo>
                  <a:pt x="1" y="1"/>
                </a:moveTo>
                <a:lnTo>
                  <a:pt x="2198" y="1"/>
                </a:lnTo>
                <a:lnTo>
                  <a:pt x="2198" y="2198"/>
                </a:lnTo>
                <a:lnTo>
                  <a:pt x="1" y="2198"/>
                </a:lnTo>
                <a:close/>
              </a:path>
            </a:pathLst>
          </a:custGeom>
          <a:noFill/>
          <a:ln w="13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8710023" y="4821495"/>
            <a:ext cx="98059" cy="98295"/>
          </a:xfrm>
          <a:custGeom>
            <a:avLst/>
            <a:gdLst/>
            <a:ahLst/>
            <a:cxnLst/>
            <a:rect l="l" t="t" r="r" b="b"/>
            <a:pathLst>
              <a:path w="3742" h="3751" fill="none" extrusionOk="0">
                <a:moveTo>
                  <a:pt x="1" y="0"/>
                </a:moveTo>
                <a:lnTo>
                  <a:pt x="3742" y="0"/>
                </a:lnTo>
                <a:lnTo>
                  <a:pt x="3742" y="3750"/>
                </a:lnTo>
                <a:lnTo>
                  <a:pt x="1" y="3750"/>
                </a:lnTo>
                <a:close/>
              </a:path>
            </a:pathLst>
          </a:custGeom>
          <a:noFill/>
          <a:ln w="29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75669" y="1557059"/>
            <a:ext cx="57834" cy="57599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8263673" y="2953681"/>
            <a:ext cx="104086" cy="104322"/>
          </a:xfrm>
          <a:custGeom>
            <a:avLst/>
            <a:gdLst/>
            <a:ahLst/>
            <a:cxnLst/>
            <a:rect l="l" t="t" r="r" b="b"/>
            <a:pathLst>
              <a:path w="3972" h="3981" extrusionOk="0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" name="Google Shape;17;p2"/>
          <p:cNvGrpSpPr/>
          <p:nvPr/>
        </p:nvGrpSpPr>
        <p:grpSpPr>
          <a:xfrm>
            <a:off x="8263682" y="-434366"/>
            <a:ext cx="188886" cy="1181531"/>
            <a:chOff x="2877432" y="975334"/>
            <a:chExt cx="188886" cy="1181531"/>
          </a:xfrm>
        </p:grpSpPr>
        <p:sp>
          <p:nvSpPr>
            <p:cNvPr id="18" name="Google Shape;18;p2"/>
            <p:cNvSpPr/>
            <p:nvPr/>
          </p:nvSpPr>
          <p:spPr>
            <a:xfrm>
              <a:off x="2877432" y="1968242"/>
              <a:ext cx="188886" cy="188624"/>
            </a:xfrm>
            <a:custGeom>
              <a:avLst/>
              <a:gdLst/>
              <a:ahLst/>
              <a:cxnLst/>
              <a:rect l="l" t="t" r="r" b="b"/>
              <a:pathLst>
                <a:path w="7208" h="7198" fill="none" extrusionOk="0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w="5750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905393" y="1452501"/>
              <a:ext cx="133226" cy="133252"/>
            </a:xfrm>
            <a:custGeom>
              <a:avLst/>
              <a:gdLst/>
              <a:ahLst/>
              <a:cxnLst/>
              <a:rect l="l" t="t" r="r" b="b"/>
              <a:pathLst>
                <a:path w="5084" h="5085" fill="none" extrusionOk="0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931651" y="975334"/>
              <a:ext cx="80476" cy="80711"/>
            </a:xfrm>
            <a:custGeom>
              <a:avLst/>
              <a:gdLst/>
              <a:ahLst/>
              <a:cxnLst/>
              <a:rect l="l" t="t" r="r" b="b"/>
              <a:pathLst>
                <a:path w="3071" h="3080" fill="none" extrusionOk="0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w="25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2"/>
          <p:cNvSpPr/>
          <p:nvPr/>
        </p:nvSpPr>
        <p:spPr>
          <a:xfrm>
            <a:off x="8485996" y="1614632"/>
            <a:ext cx="80502" cy="80476"/>
          </a:xfrm>
          <a:custGeom>
            <a:avLst/>
            <a:gdLst/>
            <a:ahLst/>
            <a:cxnLst/>
            <a:rect l="l" t="t" r="r" b="b"/>
            <a:pathLst>
              <a:path w="3072" h="3071" extrusionOk="0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" name="Google Shape;22;p2"/>
          <p:cNvGrpSpPr/>
          <p:nvPr/>
        </p:nvGrpSpPr>
        <p:grpSpPr>
          <a:xfrm>
            <a:off x="3090746" y="-533657"/>
            <a:ext cx="98059" cy="1147596"/>
            <a:chOff x="3347921" y="16006"/>
            <a:chExt cx="98059" cy="1147596"/>
          </a:xfrm>
        </p:grpSpPr>
        <p:sp>
          <p:nvSpPr>
            <p:cNvPr id="23" name="Google Shape;23;p2"/>
            <p:cNvSpPr/>
            <p:nvPr/>
          </p:nvSpPr>
          <p:spPr>
            <a:xfrm>
              <a:off x="3347921" y="1065280"/>
              <a:ext cx="98059" cy="98321"/>
            </a:xfrm>
            <a:custGeom>
              <a:avLst/>
              <a:gdLst/>
              <a:ahLst/>
              <a:cxnLst/>
              <a:rect l="l" t="t" r="r" b="b"/>
              <a:pathLst>
                <a:path w="3742" h="3752" fill="none" extrusionOk="0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w="2975" cap="flat" cmpd="sng">
              <a:solidFill>
                <a:schemeClr val="accent1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392705" y="16006"/>
              <a:ext cx="8464" cy="894665"/>
            </a:xfrm>
            <a:custGeom>
              <a:avLst/>
              <a:gdLst/>
              <a:ahLst/>
              <a:cxnLst/>
              <a:rect l="l" t="t" r="r" b="b"/>
              <a:pathLst>
                <a:path w="323" h="34141" extrusionOk="0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" name="Google Shape;25;p2"/>
          <p:cNvGrpSpPr/>
          <p:nvPr/>
        </p:nvGrpSpPr>
        <p:grpSpPr>
          <a:xfrm>
            <a:off x="4892771" y="-340112"/>
            <a:ext cx="121172" cy="760495"/>
            <a:chOff x="5245196" y="3136513"/>
            <a:chExt cx="121172" cy="760495"/>
          </a:xfrm>
        </p:grpSpPr>
        <p:sp>
          <p:nvSpPr>
            <p:cNvPr id="26" name="Google Shape;26;p2"/>
            <p:cNvSpPr/>
            <p:nvPr/>
          </p:nvSpPr>
          <p:spPr>
            <a:xfrm>
              <a:off x="5245196" y="3775810"/>
              <a:ext cx="121172" cy="121198"/>
            </a:xfrm>
            <a:custGeom>
              <a:avLst/>
              <a:gdLst/>
              <a:ahLst/>
              <a:cxnLst/>
              <a:rect l="l" t="t" r="r" b="b"/>
              <a:pathLst>
                <a:path w="462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309007" y="3136513"/>
              <a:ext cx="8464" cy="554288"/>
            </a:xfrm>
            <a:custGeom>
              <a:avLst/>
              <a:gdLst/>
              <a:ahLst/>
              <a:cxnLst/>
              <a:rect l="l" t="t" r="r" b="b"/>
              <a:pathLst>
                <a:path w="323" h="21152" extrusionOk="0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28;p2"/>
          <p:cNvGrpSpPr/>
          <p:nvPr/>
        </p:nvGrpSpPr>
        <p:grpSpPr>
          <a:xfrm>
            <a:off x="250617" y="2402301"/>
            <a:ext cx="188650" cy="2468354"/>
            <a:chOff x="250617" y="2402301"/>
            <a:chExt cx="188650" cy="2468354"/>
          </a:xfrm>
        </p:grpSpPr>
        <p:sp>
          <p:nvSpPr>
            <p:cNvPr id="29" name="Google Shape;29;p2"/>
            <p:cNvSpPr/>
            <p:nvPr/>
          </p:nvSpPr>
          <p:spPr>
            <a:xfrm>
              <a:off x="250617" y="4681770"/>
              <a:ext cx="188650" cy="188886"/>
            </a:xfrm>
            <a:custGeom>
              <a:avLst/>
              <a:gdLst/>
              <a:ahLst/>
              <a:cxnLst/>
              <a:rect l="l" t="t" r="r" b="b"/>
              <a:pathLst>
                <a:path w="7199" h="7208" fill="none" extrusionOk="0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w="5750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78316" y="4166291"/>
              <a:ext cx="133226" cy="133226"/>
            </a:xfrm>
            <a:custGeom>
              <a:avLst/>
              <a:gdLst/>
              <a:ahLst/>
              <a:cxnLst/>
              <a:rect l="l" t="t" r="r" b="b"/>
              <a:pathLst>
                <a:path w="5084" h="5084" fill="none" extrusionOk="0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04573" y="3689098"/>
              <a:ext cx="80476" cy="80476"/>
            </a:xfrm>
            <a:custGeom>
              <a:avLst/>
              <a:gdLst/>
              <a:ahLst/>
              <a:cxnLst/>
              <a:rect l="l" t="t" r="r" b="b"/>
              <a:pathLst>
                <a:path w="3071" h="3071" fill="none" extrusionOk="0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w="25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40710" y="2402301"/>
              <a:ext cx="8464" cy="1011487"/>
            </a:xfrm>
            <a:custGeom>
              <a:avLst/>
              <a:gdLst/>
              <a:ahLst/>
              <a:cxnLst/>
              <a:rect l="l" t="t" r="r" b="b"/>
              <a:pathLst>
                <a:path w="323" h="38599" extrusionOk="0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" name="Google Shape;33;p2"/>
          <p:cNvSpPr/>
          <p:nvPr/>
        </p:nvSpPr>
        <p:spPr>
          <a:xfrm>
            <a:off x="8935726" y="10"/>
            <a:ext cx="8464" cy="2519637"/>
          </a:xfrm>
          <a:custGeom>
            <a:avLst/>
            <a:gdLst/>
            <a:ahLst/>
            <a:cxnLst/>
            <a:rect l="l" t="t" r="r" b="b"/>
            <a:pathLst>
              <a:path w="323" h="96151" extrusionOk="0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646863" y="21446"/>
            <a:ext cx="8464" cy="1689069"/>
          </a:xfrm>
          <a:custGeom>
            <a:avLst/>
            <a:gdLst/>
            <a:ahLst/>
            <a:cxnLst/>
            <a:rect l="l" t="t" r="r" b="b"/>
            <a:pathLst>
              <a:path w="323" h="64456" extrusionOk="0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" name="Google Shape;35;p2"/>
          <p:cNvGrpSpPr/>
          <p:nvPr/>
        </p:nvGrpSpPr>
        <p:grpSpPr>
          <a:xfrm>
            <a:off x="2038689" y="173907"/>
            <a:ext cx="57599" cy="831799"/>
            <a:chOff x="2038689" y="173907"/>
            <a:chExt cx="57599" cy="831799"/>
          </a:xfrm>
        </p:grpSpPr>
        <p:sp>
          <p:nvSpPr>
            <p:cNvPr id="36" name="Google Shape;36;p2"/>
            <p:cNvSpPr/>
            <p:nvPr/>
          </p:nvSpPr>
          <p:spPr>
            <a:xfrm>
              <a:off x="2038689" y="947872"/>
              <a:ext cx="57599" cy="57834"/>
            </a:xfrm>
            <a:custGeom>
              <a:avLst/>
              <a:gdLst/>
              <a:ahLst/>
              <a:cxnLst/>
              <a:rect l="l" t="t" r="r" b="b"/>
              <a:pathLst>
                <a:path w="2198" h="2207" fill="none" extrusionOk="0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w="2975" cap="flat" cmpd="sng">
              <a:solidFill>
                <a:schemeClr val="accent2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063269" y="173907"/>
              <a:ext cx="8438" cy="692074"/>
            </a:xfrm>
            <a:custGeom>
              <a:avLst/>
              <a:gdLst/>
              <a:ahLst/>
              <a:cxnLst/>
              <a:rect l="l" t="t" r="r" b="b"/>
              <a:pathLst>
                <a:path w="322" h="26410" extrusionOk="0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/>
          <p:nvPr/>
        </p:nvSpPr>
        <p:spPr>
          <a:xfrm>
            <a:off x="7202390" y="916059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8263673" y="2953681"/>
            <a:ext cx="104086" cy="104322"/>
          </a:xfrm>
          <a:custGeom>
            <a:avLst/>
            <a:gdLst/>
            <a:ahLst/>
            <a:cxnLst/>
            <a:rect l="l" t="t" r="r" b="b"/>
            <a:pathLst>
              <a:path w="3972" h="3981" extrusionOk="0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" name="Google Shape;41;p3"/>
          <p:cNvGrpSpPr/>
          <p:nvPr/>
        </p:nvGrpSpPr>
        <p:grpSpPr>
          <a:xfrm>
            <a:off x="8263682" y="-434366"/>
            <a:ext cx="188886" cy="1181531"/>
            <a:chOff x="2877432" y="975334"/>
            <a:chExt cx="188886" cy="1181531"/>
          </a:xfrm>
        </p:grpSpPr>
        <p:sp>
          <p:nvSpPr>
            <p:cNvPr id="42" name="Google Shape;42;p3"/>
            <p:cNvSpPr/>
            <p:nvPr/>
          </p:nvSpPr>
          <p:spPr>
            <a:xfrm>
              <a:off x="2877432" y="1968242"/>
              <a:ext cx="188886" cy="188624"/>
            </a:xfrm>
            <a:custGeom>
              <a:avLst/>
              <a:gdLst/>
              <a:ahLst/>
              <a:cxnLst/>
              <a:rect l="l" t="t" r="r" b="b"/>
              <a:pathLst>
                <a:path w="7208" h="7198" fill="none" extrusionOk="0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w="5750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2905393" y="1452501"/>
              <a:ext cx="133226" cy="133252"/>
            </a:xfrm>
            <a:custGeom>
              <a:avLst/>
              <a:gdLst/>
              <a:ahLst/>
              <a:cxnLst/>
              <a:rect l="l" t="t" r="r" b="b"/>
              <a:pathLst>
                <a:path w="5084" h="5085" fill="none" extrusionOk="0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2931651" y="975334"/>
              <a:ext cx="80476" cy="80711"/>
            </a:xfrm>
            <a:custGeom>
              <a:avLst/>
              <a:gdLst/>
              <a:ahLst/>
              <a:cxnLst/>
              <a:rect l="l" t="t" r="r" b="b"/>
              <a:pathLst>
                <a:path w="3071" h="3080" fill="none" extrusionOk="0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w="25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3"/>
          <p:cNvSpPr/>
          <p:nvPr/>
        </p:nvSpPr>
        <p:spPr>
          <a:xfrm>
            <a:off x="8485996" y="1614632"/>
            <a:ext cx="80502" cy="80476"/>
          </a:xfrm>
          <a:custGeom>
            <a:avLst/>
            <a:gdLst/>
            <a:ahLst/>
            <a:cxnLst/>
            <a:rect l="l" t="t" r="r" b="b"/>
            <a:pathLst>
              <a:path w="3072" h="3071" extrusionOk="0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" name="Google Shape;46;p3"/>
          <p:cNvGrpSpPr/>
          <p:nvPr/>
        </p:nvGrpSpPr>
        <p:grpSpPr>
          <a:xfrm>
            <a:off x="3643898" y="-436198"/>
            <a:ext cx="133252" cy="1952377"/>
            <a:chOff x="6780548" y="337714"/>
            <a:chExt cx="133252" cy="1952377"/>
          </a:xfrm>
        </p:grpSpPr>
        <p:sp>
          <p:nvSpPr>
            <p:cNvPr id="47" name="Google Shape;47;p3"/>
            <p:cNvSpPr/>
            <p:nvPr/>
          </p:nvSpPr>
          <p:spPr>
            <a:xfrm>
              <a:off x="6780548" y="2156839"/>
              <a:ext cx="133252" cy="133252"/>
            </a:xfrm>
            <a:custGeom>
              <a:avLst/>
              <a:gdLst/>
              <a:ahLst/>
              <a:cxnLst/>
              <a:rect l="l" t="t" r="r" b="b"/>
              <a:pathLst>
                <a:path w="5085" h="5085" fill="none" extrusionOk="0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6842943" y="337714"/>
              <a:ext cx="8464" cy="1695359"/>
            </a:xfrm>
            <a:custGeom>
              <a:avLst/>
              <a:gdLst/>
              <a:ahLst/>
              <a:cxnLst/>
              <a:rect l="l" t="t" r="r" b="b"/>
              <a:pathLst>
                <a:path w="323" h="64696" extrusionOk="0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" name="Google Shape;49;p3"/>
          <p:cNvSpPr/>
          <p:nvPr/>
        </p:nvSpPr>
        <p:spPr>
          <a:xfrm>
            <a:off x="8935726" y="10"/>
            <a:ext cx="8464" cy="2519637"/>
          </a:xfrm>
          <a:custGeom>
            <a:avLst/>
            <a:gdLst/>
            <a:ahLst/>
            <a:cxnLst/>
            <a:rect l="l" t="t" r="r" b="b"/>
            <a:pathLst>
              <a:path w="323" h="96151" extrusionOk="0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" name="Google Shape;50;p3"/>
          <p:cNvGrpSpPr/>
          <p:nvPr/>
        </p:nvGrpSpPr>
        <p:grpSpPr>
          <a:xfrm>
            <a:off x="8008096" y="2108910"/>
            <a:ext cx="199001" cy="2139769"/>
            <a:chOff x="8008096" y="2108910"/>
            <a:chExt cx="199001" cy="2139769"/>
          </a:xfrm>
        </p:grpSpPr>
        <p:sp>
          <p:nvSpPr>
            <p:cNvPr id="51" name="Google Shape;51;p3"/>
            <p:cNvSpPr/>
            <p:nvPr/>
          </p:nvSpPr>
          <p:spPr>
            <a:xfrm>
              <a:off x="8008096" y="4049705"/>
              <a:ext cx="199001" cy="198975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8103246" y="2108910"/>
              <a:ext cx="8464" cy="1793863"/>
            </a:xfrm>
            <a:custGeom>
              <a:avLst/>
              <a:gdLst/>
              <a:ahLst/>
              <a:cxnLst/>
              <a:rect l="l" t="t" r="r" b="b"/>
              <a:pathLst>
                <a:path w="323" h="68455" extrusionOk="0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" name="Google Shape;53;p3"/>
          <p:cNvGrpSpPr/>
          <p:nvPr/>
        </p:nvGrpSpPr>
        <p:grpSpPr>
          <a:xfrm>
            <a:off x="520996" y="1091548"/>
            <a:ext cx="199001" cy="2139769"/>
            <a:chOff x="8008096" y="2108910"/>
            <a:chExt cx="199001" cy="2139769"/>
          </a:xfrm>
        </p:grpSpPr>
        <p:sp>
          <p:nvSpPr>
            <p:cNvPr id="54" name="Google Shape;54;p3"/>
            <p:cNvSpPr/>
            <p:nvPr/>
          </p:nvSpPr>
          <p:spPr>
            <a:xfrm>
              <a:off x="8008096" y="4049705"/>
              <a:ext cx="199001" cy="198975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8103246" y="2108910"/>
              <a:ext cx="8464" cy="1793863"/>
            </a:xfrm>
            <a:custGeom>
              <a:avLst/>
              <a:gdLst/>
              <a:ahLst/>
              <a:cxnLst/>
              <a:rect l="l" t="t" r="r" b="b"/>
              <a:pathLst>
                <a:path w="323" h="68455" extrusionOk="0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" name="Google Shape;56;p3"/>
          <p:cNvSpPr txBox="1">
            <a:spLocks noGrp="1"/>
          </p:cNvSpPr>
          <p:nvPr>
            <p:ph type="ctrTitle"/>
          </p:nvPr>
        </p:nvSpPr>
        <p:spPr>
          <a:xfrm>
            <a:off x="2031287" y="1742775"/>
            <a:ext cx="2622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3"/>
          <p:cNvSpPr txBox="1">
            <a:spLocks noGrp="1"/>
          </p:cNvSpPr>
          <p:nvPr>
            <p:ph type="subTitle" idx="1"/>
          </p:nvPr>
        </p:nvSpPr>
        <p:spPr>
          <a:xfrm>
            <a:off x="1791587" y="2417450"/>
            <a:ext cx="3101400" cy="10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3"/>
          <p:cNvSpPr txBox="1">
            <a:spLocks noGrp="1"/>
          </p:cNvSpPr>
          <p:nvPr>
            <p:ph type="title" idx="2" hasCustomPrompt="1"/>
          </p:nvPr>
        </p:nvSpPr>
        <p:spPr>
          <a:xfrm>
            <a:off x="5834900" y="2122225"/>
            <a:ext cx="9810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1" name="Google Shape;171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2" name="Google Shape;172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"/>
          <p:cNvSpPr txBox="1">
            <a:spLocks noGrp="1"/>
          </p:cNvSpPr>
          <p:nvPr>
            <p:ph type="subTitle" idx="1"/>
          </p:nvPr>
        </p:nvSpPr>
        <p:spPr>
          <a:xfrm>
            <a:off x="6429027" y="3829680"/>
            <a:ext cx="24282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59" name="Google Shape;259;p13"/>
          <p:cNvSpPr/>
          <p:nvPr/>
        </p:nvSpPr>
        <p:spPr>
          <a:xfrm>
            <a:off x="7647375" y="949600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3"/>
          <p:cNvSpPr/>
          <p:nvPr/>
        </p:nvSpPr>
        <p:spPr>
          <a:xfrm>
            <a:off x="8985850" y="411675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3"/>
          <p:cNvSpPr/>
          <p:nvPr/>
        </p:nvSpPr>
        <p:spPr>
          <a:xfrm>
            <a:off x="8359450" y="555875"/>
            <a:ext cx="52475" cy="52450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3"/>
          <p:cNvSpPr/>
          <p:nvPr/>
        </p:nvSpPr>
        <p:spPr>
          <a:xfrm>
            <a:off x="9122100" y="734250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3"/>
          <p:cNvSpPr/>
          <p:nvPr/>
        </p:nvSpPr>
        <p:spPr>
          <a:xfrm>
            <a:off x="8798600" y="1088650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3"/>
          <p:cNvSpPr/>
          <p:nvPr/>
        </p:nvSpPr>
        <p:spPr>
          <a:xfrm>
            <a:off x="6099342" y="-150600"/>
            <a:ext cx="96045" cy="95462"/>
          </a:xfrm>
          <a:custGeom>
            <a:avLst/>
            <a:gdLst/>
            <a:ahLst/>
            <a:cxnLst/>
            <a:rect l="l" t="t" r="r" b="b"/>
            <a:pathLst>
              <a:path w="3128" h="3109" extrusionOk="0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3"/>
          <p:cNvSpPr/>
          <p:nvPr/>
        </p:nvSpPr>
        <p:spPr>
          <a:xfrm>
            <a:off x="6702523" y="444536"/>
            <a:ext cx="95493" cy="95462"/>
          </a:xfrm>
          <a:custGeom>
            <a:avLst/>
            <a:gdLst/>
            <a:ahLst/>
            <a:cxnLst/>
            <a:rect l="l" t="t" r="r" b="b"/>
            <a:pathLst>
              <a:path w="3110" h="3109" extrusionOk="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3"/>
          <p:cNvSpPr/>
          <p:nvPr/>
        </p:nvSpPr>
        <p:spPr>
          <a:xfrm>
            <a:off x="5904975" y="143222"/>
            <a:ext cx="82259" cy="82259"/>
          </a:xfrm>
          <a:custGeom>
            <a:avLst/>
            <a:gdLst/>
            <a:ahLst/>
            <a:cxnLst/>
            <a:rect l="l" t="t" r="r" b="b"/>
            <a:pathLst>
              <a:path w="2679" h="2679" extrusionOk="0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3"/>
          <p:cNvSpPr/>
          <p:nvPr/>
        </p:nvSpPr>
        <p:spPr>
          <a:xfrm>
            <a:off x="285750" y="4542650"/>
            <a:ext cx="52475" cy="52450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439150" y="4803400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3"/>
          <p:cNvSpPr txBox="1">
            <a:spLocks noGrp="1"/>
          </p:cNvSpPr>
          <p:nvPr>
            <p:ph type="ctrTitle"/>
          </p:nvPr>
        </p:nvSpPr>
        <p:spPr>
          <a:xfrm>
            <a:off x="970814" y="3396800"/>
            <a:ext cx="21525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>
            <a:endParaRPr/>
          </a:p>
        </p:txBody>
      </p:sp>
      <p:sp>
        <p:nvSpPr>
          <p:cNvPr id="270" name="Google Shape;270;p13"/>
          <p:cNvSpPr txBox="1">
            <a:spLocks noGrp="1"/>
          </p:cNvSpPr>
          <p:nvPr>
            <p:ph type="subTitle" idx="2"/>
          </p:nvPr>
        </p:nvSpPr>
        <p:spPr>
          <a:xfrm>
            <a:off x="970814" y="3829680"/>
            <a:ext cx="24282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71" name="Google Shape;271;p13"/>
          <p:cNvSpPr txBox="1">
            <a:spLocks noGrp="1"/>
          </p:cNvSpPr>
          <p:nvPr>
            <p:ph type="title" idx="3" hasCustomPrompt="1"/>
          </p:nvPr>
        </p:nvSpPr>
        <p:spPr>
          <a:xfrm>
            <a:off x="970814" y="2645887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72" name="Google Shape;272;p13"/>
          <p:cNvSpPr txBox="1">
            <a:spLocks noGrp="1"/>
          </p:cNvSpPr>
          <p:nvPr>
            <p:ph type="ctrTitle" idx="4"/>
          </p:nvPr>
        </p:nvSpPr>
        <p:spPr>
          <a:xfrm>
            <a:off x="3690348" y="3396800"/>
            <a:ext cx="1386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>
            <a:endParaRPr/>
          </a:p>
        </p:txBody>
      </p:sp>
      <p:sp>
        <p:nvSpPr>
          <p:cNvPr id="273" name="Google Shape;273;p13"/>
          <p:cNvSpPr txBox="1">
            <a:spLocks noGrp="1"/>
          </p:cNvSpPr>
          <p:nvPr>
            <p:ph type="subTitle" idx="5"/>
          </p:nvPr>
        </p:nvSpPr>
        <p:spPr>
          <a:xfrm>
            <a:off x="3690341" y="3829680"/>
            <a:ext cx="24282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74" name="Google Shape;274;p13"/>
          <p:cNvSpPr txBox="1">
            <a:spLocks noGrp="1"/>
          </p:cNvSpPr>
          <p:nvPr>
            <p:ph type="title" idx="6" hasCustomPrompt="1"/>
          </p:nvPr>
        </p:nvSpPr>
        <p:spPr>
          <a:xfrm>
            <a:off x="3690341" y="2645887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75" name="Google Shape;275;p13"/>
          <p:cNvSpPr txBox="1">
            <a:spLocks noGrp="1"/>
          </p:cNvSpPr>
          <p:nvPr>
            <p:ph type="ctrTitle" idx="7"/>
          </p:nvPr>
        </p:nvSpPr>
        <p:spPr>
          <a:xfrm>
            <a:off x="618825" y="411675"/>
            <a:ext cx="4576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276" name="Google Shape;276;p13"/>
          <p:cNvSpPr txBox="1">
            <a:spLocks noGrp="1"/>
          </p:cNvSpPr>
          <p:nvPr>
            <p:ph type="ctrTitle" idx="8"/>
          </p:nvPr>
        </p:nvSpPr>
        <p:spPr>
          <a:xfrm>
            <a:off x="6428436" y="3377738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>
            <a:endParaRPr/>
          </a:p>
        </p:txBody>
      </p:sp>
      <p:sp>
        <p:nvSpPr>
          <p:cNvPr id="277" name="Google Shape;277;p13"/>
          <p:cNvSpPr txBox="1">
            <a:spLocks noGrp="1"/>
          </p:cNvSpPr>
          <p:nvPr>
            <p:ph type="title" idx="9" hasCustomPrompt="1"/>
          </p:nvPr>
        </p:nvSpPr>
        <p:spPr>
          <a:xfrm>
            <a:off x="6428436" y="2645887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78" name="Google Shape;278;p13"/>
          <p:cNvSpPr txBox="1">
            <a:spLocks noGrp="1"/>
          </p:cNvSpPr>
          <p:nvPr>
            <p:ph type="ctrTitle" idx="13"/>
          </p:nvPr>
        </p:nvSpPr>
        <p:spPr>
          <a:xfrm>
            <a:off x="6429027" y="3396800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9"/>
          <p:cNvSpPr txBox="1">
            <a:spLocks noGrp="1"/>
          </p:cNvSpPr>
          <p:nvPr>
            <p:ph type="title"/>
          </p:nvPr>
        </p:nvSpPr>
        <p:spPr>
          <a:xfrm>
            <a:off x="2471150" y="1830075"/>
            <a:ext cx="3823200" cy="112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72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76" name="Google Shape;376;p19"/>
          <p:cNvSpPr txBox="1">
            <a:spLocks noGrp="1"/>
          </p:cNvSpPr>
          <p:nvPr>
            <p:ph type="subTitle" idx="1"/>
          </p:nvPr>
        </p:nvSpPr>
        <p:spPr>
          <a:xfrm>
            <a:off x="2902550" y="540000"/>
            <a:ext cx="2960400" cy="135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77" name="Google Shape;377;p19"/>
          <p:cNvSpPr txBox="1"/>
          <p:nvPr/>
        </p:nvSpPr>
        <p:spPr>
          <a:xfrm>
            <a:off x="2289500" y="3592806"/>
            <a:ext cx="4186500" cy="9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CREDITS: This presentation template was created by </a:t>
            </a:r>
            <a:r>
              <a:rPr lang="en" sz="1000">
                <a:solidFill>
                  <a:schemeClr val="accent1"/>
                </a:solidFill>
                <a:uFill>
                  <a:noFill/>
                </a:uFill>
                <a:latin typeface="Maven Pro"/>
                <a:ea typeface="Maven Pro"/>
                <a:cs typeface="Maven Pro"/>
                <a:sym typeface="Maven Pr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, including icons by </a:t>
            </a:r>
            <a:r>
              <a:rPr lang="en" sz="1000">
                <a:solidFill>
                  <a:schemeClr val="accent2"/>
                </a:solidFill>
                <a:uFill>
                  <a:noFill/>
                </a:uFill>
                <a:latin typeface="Maven Pro"/>
                <a:ea typeface="Maven Pro"/>
                <a:cs typeface="Maven Pro"/>
                <a:sym typeface="Maven Pr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, and infographics &amp; images by </a:t>
            </a:r>
            <a:r>
              <a:rPr lang="en" sz="1000">
                <a:solidFill>
                  <a:schemeClr val="accent3"/>
                </a:solidFill>
                <a:uFill>
                  <a:noFill/>
                </a:uFill>
                <a:latin typeface="Maven Pro"/>
                <a:ea typeface="Maven Pro"/>
                <a:cs typeface="Maven Pro"/>
                <a:sym typeface="Maven Pr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>
              <a:solidFill>
                <a:schemeClr val="accent3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78" name="Google Shape;378;p19"/>
          <p:cNvSpPr/>
          <p:nvPr/>
        </p:nvSpPr>
        <p:spPr>
          <a:xfrm>
            <a:off x="858247" y="1380669"/>
            <a:ext cx="130760" cy="131015"/>
          </a:xfrm>
          <a:custGeom>
            <a:avLst/>
            <a:gdLst/>
            <a:ahLst/>
            <a:cxnLst/>
            <a:rect l="l" t="t" r="r" b="b"/>
            <a:pathLst>
              <a:path w="4625" h="4634" extrusionOk="0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9"/>
          <p:cNvSpPr/>
          <p:nvPr/>
        </p:nvSpPr>
        <p:spPr>
          <a:xfrm>
            <a:off x="1802448" y="4340187"/>
            <a:ext cx="131015" cy="131015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9"/>
          <p:cNvSpPr/>
          <p:nvPr/>
        </p:nvSpPr>
        <p:spPr>
          <a:xfrm>
            <a:off x="7196621" y="809541"/>
            <a:ext cx="131015" cy="131015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9"/>
          <p:cNvSpPr/>
          <p:nvPr/>
        </p:nvSpPr>
        <p:spPr>
          <a:xfrm>
            <a:off x="7826485" y="4005523"/>
            <a:ext cx="105796" cy="106050"/>
          </a:xfrm>
          <a:custGeom>
            <a:avLst/>
            <a:gdLst/>
            <a:ahLst/>
            <a:cxnLst/>
            <a:rect l="l" t="t" r="r" b="b"/>
            <a:pathLst>
              <a:path w="3742" h="3751" fill="none" extrusionOk="0">
                <a:moveTo>
                  <a:pt x="1" y="0"/>
                </a:moveTo>
                <a:lnTo>
                  <a:pt x="3742" y="0"/>
                </a:lnTo>
                <a:lnTo>
                  <a:pt x="3742" y="3750"/>
                </a:lnTo>
                <a:lnTo>
                  <a:pt x="1" y="3750"/>
                </a:lnTo>
                <a:close/>
              </a:path>
            </a:pathLst>
          </a:custGeom>
          <a:noFill/>
          <a:ln w="29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9"/>
          <p:cNvSpPr/>
          <p:nvPr/>
        </p:nvSpPr>
        <p:spPr>
          <a:xfrm>
            <a:off x="6669747" y="3108456"/>
            <a:ext cx="62397" cy="62397"/>
          </a:xfrm>
          <a:custGeom>
            <a:avLst/>
            <a:gdLst/>
            <a:ahLst/>
            <a:cxnLst/>
            <a:rect l="l" t="t" r="r" b="b"/>
            <a:pathLst>
              <a:path w="2207" h="2207" fill="none" extrusionOk="0">
                <a:moveTo>
                  <a:pt x="0" y="1"/>
                </a:moveTo>
                <a:lnTo>
                  <a:pt x="2206" y="1"/>
                </a:lnTo>
                <a:lnTo>
                  <a:pt x="2206" y="2207"/>
                </a:lnTo>
                <a:lnTo>
                  <a:pt x="0" y="2207"/>
                </a:lnTo>
                <a:close/>
              </a:path>
            </a:pathLst>
          </a:custGeom>
          <a:noFill/>
          <a:ln w="13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9"/>
          <p:cNvSpPr/>
          <p:nvPr/>
        </p:nvSpPr>
        <p:spPr>
          <a:xfrm>
            <a:off x="2127273" y="2530788"/>
            <a:ext cx="112298" cy="112553"/>
          </a:xfrm>
          <a:custGeom>
            <a:avLst/>
            <a:gdLst/>
            <a:ahLst/>
            <a:cxnLst/>
            <a:rect l="l" t="t" r="r" b="b"/>
            <a:pathLst>
              <a:path w="3972" h="3981" fill="none" extrusionOk="0">
                <a:moveTo>
                  <a:pt x="1" y="1"/>
                </a:moveTo>
                <a:lnTo>
                  <a:pt x="3972" y="1"/>
                </a:lnTo>
                <a:lnTo>
                  <a:pt x="3972" y="3981"/>
                </a:lnTo>
                <a:lnTo>
                  <a:pt x="1" y="3981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9"/>
          <p:cNvSpPr/>
          <p:nvPr/>
        </p:nvSpPr>
        <p:spPr>
          <a:xfrm>
            <a:off x="7418926" y="3240515"/>
            <a:ext cx="112298" cy="112553"/>
          </a:xfrm>
          <a:custGeom>
            <a:avLst/>
            <a:gdLst/>
            <a:ahLst/>
            <a:cxnLst/>
            <a:rect l="l" t="t" r="r" b="b"/>
            <a:pathLst>
              <a:path w="3972" h="3981" extrusionOk="0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9"/>
          <p:cNvSpPr/>
          <p:nvPr/>
        </p:nvSpPr>
        <p:spPr>
          <a:xfrm>
            <a:off x="7751274" y="1218584"/>
            <a:ext cx="86853" cy="86825"/>
          </a:xfrm>
          <a:custGeom>
            <a:avLst/>
            <a:gdLst/>
            <a:ahLst/>
            <a:cxnLst/>
            <a:rect l="l" t="t" r="r" b="b"/>
            <a:pathLst>
              <a:path w="3072" h="3071" extrusionOk="0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6" name="Google Shape;386;p19"/>
          <p:cNvGrpSpPr/>
          <p:nvPr/>
        </p:nvGrpSpPr>
        <p:grpSpPr>
          <a:xfrm>
            <a:off x="6669747" y="-389684"/>
            <a:ext cx="143766" cy="2106420"/>
            <a:chOff x="6780548" y="337714"/>
            <a:chExt cx="133252" cy="1952377"/>
          </a:xfrm>
        </p:grpSpPr>
        <p:sp>
          <p:nvSpPr>
            <p:cNvPr id="387" name="Google Shape;387;p19"/>
            <p:cNvSpPr/>
            <p:nvPr/>
          </p:nvSpPr>
          <p:spPr>
            <a:xfrm>
              <a:off x="6780548" y="2156839"/>
              <a:ext cx="133252" cy="133252"/>
            </a:xfrm>
            <a:custGeom>
              <a:avLst/>
              <a:gdLst/>
              <a:ahLst/>
              <a:cxnLst/>
              <a:rect l="l" t="t" r="r" b="b"/>
              <a:pathLst>
                <a:path w="5085" h="5085" fill="none" extrusionOk="0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9"/>
            <p:cNvSpPr/>
            <p:nvPr/>
          </p:nvSpPr>
          <p:spPr>
            <a:xfrm>
              <a:off x="6842943" y="337714"/>
              <a:ext cx="8464" cy="1695359"/>
            </a:xfrm>
            <a:custGeom>
              <a:avLst/>
              <a:gdLst/>
              <a:ahLst/>
              <a:cxnLst/>
              <a:rect l="l" t="t" r="r" b="b"/>
              <a:pathLst>
                <a:path w="323" h="64696" extrusionOk="0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9" name="Google Shape;389;p19"/>
          <p:cNvGrpSpPr/>
          <p:nvPr/>
        </p:nvGrpSpPr>
        <p:grpSpPr>
          <a:xfrm>
            <a:off x="1510029" y="507749"/>
            <a:ext cx="203534" cy="2663107"/>
            <a:chOff x="250617" y="2402301"/>
            <a:chExt cx="188650" cy="2468354"/>
          </a:xfrm>
        </p:grpSpPr>
        <p:sp>
          <p:nvSpPr>
            <p:cNvPr id="390" name="Google Shape;390;p19"/>
            <p:cNvSpPr/>
            <p:nvPr/>
          </p:nvSpPr>
          <p:spPr>
            <a:xfrm>
              <a:off x="250617" y="4681770"/>
              <a:ext cx="188650" cy="188886"/>
            </a:xfrm>
            <a:custGeom>
              <a:avLst/>
              <a:gdLst/>
              <a:ahLst/>
              <a:cxnLst/>
              <a:rect l="l" t="t" r="r" b="b"/>
              <a:pathLst>
                <a:path w="7199" h="7208" fill="none" extrusionOk="0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w="5750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9"/>
            <p:cNvSpPr/>
            <p:nvPr/>
          </p:nvSpPr>
          <p:spPr>
            <a:xfrm>
              <a:off x="278316" y="4166291"/>
              <a:ext cx="133226" cy="133226"/>
            </a:xfrm>
            <a:custGeom>
              <a:avLst/>
              <a:gdLst/>
              <a:ahLst/>
              <a:cxnLst/>
              <a:rect l="l" t="t" r="r" b="b"/>
              <a:pathLst>
                <a:path w="5084" h="5084" fill="none" extrusionOk="0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9"/>
            <p:cNvSpPr/>
            <p:nvPr/>
          </p:nvSpPr>
          <p:spPr>
            <a:xfrm>
              <a:off x="304573" y="3689098"/>
              <a:ext cx="80476" cy="80476"/>
            </a:xfrm>
            <a:custGeom>
              <a:avLst/>
              <a:gdLst/>
              <a:ahLst/>
              <a:cxnLst/>
              <a:rect l="l" t="t" r="r" b="b"/>
              <a:pathLst>
                <a:path w="3071" h="3071" fill="none" extrusionOk="0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w="25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9"/>
            <p:cNvSpPr/>
            <p:nvPr/>
          </p:nvSpPr>
          <p:spPr>
            <a:xfrm>
              <a:off x="340710" y="2402301"/>
              <a:ext cx="8464" cy="1011487"/>
            </a:xfrm>
            <a:custGeom>
              <a:avLst/>
              <a:gdLst/>
              <a:ahLst/>
              <a:cxnLst/>
              <a:rect l="l" t="t" r="r" b="b"/>
              <a:pathLst>
                <a:path w="323" h="38599" extrusionOk="0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4" name="Google Shape;394;p19"/>
          <p:cNvGrpSpPr/>
          <p:nvPr/>
        </p:nvGrpSpPr>
        <p:grpSpPr>
          <a:xfrm>
            <a:off x="385355" y="1380671"/>
            <a:ext cx="199237" cy="2828935"/>
            <a:chOff x="1608717" y="1280046"/>
            <a:chExt cx="199237" cy="2828935"/>
          </a:xfrm>
        </p:grpSpPr>
        <p:sp>
          <p:nvSpPr>
            <p:cNvPr id="395" name="Google Shape;395;p19"/>
            <p:cNvSpPr/>
            <p:nvPr/>
          </p:nvSpPr>
          <p:spPr>
            <a:xfrm>
              <a:off x="1608717" y="3909744"/>
              <a:ext cx="199237" cy="199237"/>
            </a:xfrm>
            <a:custGeom>
              <a:avLst/>
              <a:gdLst/>
              <a:ahLst/>
              <a:cxnLst/>
              <a:rect l="l" t="t" r="r" b="b"/>
              <a:pathLst>
                <a:path w="7603" h="7603" extrusionOk="0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9"/>
            <p:cNvSpPr/>
            <p:nvPr/>
          </p:nvSpPr>
          <p:spPr>
            <a:xfrm>
              <a:off x="1656175" y="3269477"/>
              <a:ext cx="104086" cy="104086"/>
            </a:xfrm>
            <a:custGeom>
              <a:avLst/>
              <a:gdLst/>
              <a:ahLst/>
              <a:cxnLst/>
              <a:rect l="l" t="t" r="r" b="b"/>
              <a:pathLst>
                <a:path w="3972" h="3972" extrusionOk="0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9"/>
            <p:cNvSpPr/>
            <p:nvPr/>
          </p:nvSpPr>
          <p:spPr>
            <a:xfrm>
              <a:off x="1704104" y="1280046"/>
              <a:ext cx="8464" cy="1794099"/>
            </a:xfrm>
            <a:custGeom>
              <a:avLst/>
              <a:gdLst/>
              <a:ahLst/>
              <a:cxnLst/>
              <a:rect l="l" t="t" r="r" b="b"/>
              <a:pathLst>
                <a:path w="323" h="68464" extrusionOk="0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8" name="Google Shape;398;p19"/>
          <p:cNvSpPr/>
          <p:nvPr/>
        </p:nvSpPr>
        <p:spPr>
          <a:xfrm>
            <a:off x="1050592" y="3209646"/>
            <a:ext cx="9132" cy="2718457"/>
          </a:xfrm>
          <a:custGeom>
            <a:avLst/>
            <a:gdLst/>
            <a:ahLst/>
            <a:cxnLst/>
            <a:rect l="l" t="t" r="r" b="b"/>
            <a:pathLst>
              <a:path w="323" h="96152" extrusionOk="0">
                <a:moveTo>
                  <a:pt x="166" y="1"/>
                </a:moveTo>
                <a:lnTo>
                  <a:pt x="1" y="96151"/>
                </a:lnTo>
                <a:lnTo>
                  <a:pt x="322" y="96151"/>
                </a:lnTo>
                <a:lnTo>
                  <a:pt x="16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9"/>
          <p:cNvSpPr/>
          <p:nvPr/>
        </p:nvSpPr>
        <p:spPr>
          <a:xfrm>
            <a:off x="7090326" y="2590809"/>
            <a:ext cx="9132" cy="1822361"/>
          </a:xfrm>
          <a:custGeom>
            <a:avLst/>
            <a:gdLst/>
            <a:ahLst/>
            <a:cxnLst/>
            <a:rect l="l" t="t" r="r" b="b"/>
            <a:pathLst>
              <a:path w="323" h="64457" extrusionOk="0">
                <a:moveTo>
                  <a:pt x="157" y="1"/>
                </a:moveTo>
                <a:lnTo>
                  <a:pt x="0" y="64456"/>
                </a:lnTo>
                <a:lnTo>
                  <a:pt x="322" y="64456"/>
                </a:lnTo>
                <a:lnTo>
                  <a:pt x="15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0" name="Google Shape;400;p19"/>
          <p:cNvGrpSpPr/>
          <p:nvPr/>
        </p:nvGrpSpPr>
        <p:grpSpPr>
          <a:xfrm>
            <a:off x="989005" y="-389666"/>
            <a:ext cx="62143" cy="897428"/>
            <a:chOff x="2038689" y="173907"/>
            <a:chExt cx="57599" cy="831799"/>
          </a:xfrm>
        </p:grpSpPr>
        <p:sp>
          <p:nvSpPr>
            <p:cNvPr id="401" name="Google Shape;401;p19"/>
            <p:cNvSpPr/>
            <p:nvPr/>
          </p:nvSpPr>
          <p:spPr>
            <a:xfrm>
              <a:off x="2038689" y="947872"/>
              <a:ext cx="57599" cy="57834"/>
            </a:xfrm>
            <a:custGeom>
              <a:avLst/>
              <a:gdLst/>
              <a:ahLst/>
              <a:cxnLst/>
              <a:rect l="l" t="t" r="r" b="b"/>
              <a:pathLst>
                <a:path w="2198" h="2207" fill="none" extrusionOk="0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w="2975" cap="flat" cmpd="sng">
              <a:solidFill>
                <a:schemeClr val="accent2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9"/>
            <p:cNvSpPr/>
            <p:nvPr/>
          </p:nvSpPr>
          <p:spPr>
            <a:xfrm>
              <a:off x="2063269" y="173907"/>
              <a:ext cx="8438" cy="692074"/>
            </a:xfrm>
            <a:custGeom>
              <a:avLst/>
              <a:gdLst/>
              <a:ahLst/>
              <a:cxnLst/>
              <a:rect l="l" t="t" r="r" b="b"/>
              <a:pathLst>
                <a:path w="322" h="26410" extrusionOk="0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3" name="Google Shape;403;p19"/>
          <p:cNvGrpSpPr/>
          <p:nvPr/>
        </p:nvGrpSpPr>
        <p:grpSpPr>
          <a:xfrm>
            <a:off x="8568723" y="2184809"/>
            <a:ext cx="214702" cy="2308597"/>
            <a:chOff x="8008096" y="2108910"/>
            <a:chExt cx="199001" cy="2139769"/>
          </a:xfrm>
        </p:grpSpPr>
        <p:sp>
          <p:nvSpPr>
            <p:cNvPr id="404" name="Google Shape;404;p19"/>
            <p:cNvSpPr/>
            <p:nvPr/>
          </p:nvSpPr>
          <p:spPr>
            <a:xfrm>
              <a:off x="8008096" y="4049705"/>
              <a:ext cx="199001" cy="198975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9"/>
            <p:cNvSpPr/>
            <p:nvPr/>
          </p:nvSpPr>
          <p:spPr>
            <a:xfrm>
              <a:off x="8103246" y="2108910"/>
              <a:ext cx="8464" cy="1793863"/>
            </a:xfrm>
            <a:custGeom>
              <a:avLst/>
              <a:gdLst/>
              <a:ahLst/>
              <a:cxnLst/>
              <a:rect l="l" t="t" r="r" b="b"/>
              <a:pathLst>
                <a:path w="323" h="68455" extrusionOk="0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6" name="Google Shape;406;p19"/>
          <p:cNvSpPr/>
          <p:nvPr/>
        </p:nvSpPr>
        <p:spPr>
          <a:xfrm>
            <a:off x="6423211" y="3192659"/>
            <a:ext cx="86853" cy="86825"/>
          </a:xfrm>
          <a:custGeom>
            <a:avLst/>
            <a:gdLst/>
            <a:ahLst/>
            <a:cxnLst/>
            <a:rect l="l" t="t" r="r" b="b"/>
            <a:pathLst>
              <a:path w="3072" h="3071" extrusionOk="0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7" name="Google Shape;407;p19"/>
          <p:cNvGrpSpPr/>
          <p:nvPr/>
        </p:nvGrpSpPr>
        <p:grpSpPr>
          <a:xfrm>
            <a:off x="8221223" y="9"/>
            <a:ext cx="214702" cy="2308597"/>
            <a:chOff x="8008096" y="2108910"/>
            <a:chExt cx="199001" cy="2139769"/>
          </a:xfrm>
        </p:grpSpPr>
        <p:sp>
          <p:nvSpPr>
            <p:cNvPr id="408" name="Google Shape;408;p19"/>
            <p:cNvSpPr/>
            <p:nvPr/>
          </p:nvSpPr>
          <p:spPr>
            <a:xfrm>
              <a:off x="8008096" y="4049705"/>
              <a:ext cx="199001" cy="198975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9"/>
            <p:cNvSpPr/>
            <p:nvPr/>
          </p:nvSpPr>
          <p:spPr>
            <a:xfrm>
              <a:off x="8103246" y="2108910"/>
              <a:ext cx="8464" cy="1793863"/>
            </a:xfrm>
            <a:custGeom>
              <a:avLst/>
              <a:gdLst/>
              <a:ahLst/>
              <a:cxnLst/>
              <a:rect l="l" t="t" r="r" b="b"/>
              <a:pathLst>
                <a:path w="323" h="68455" extrusionOk="0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ist">
  <p:cSld name="CUSTOM_4"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0"/>
          <p:cNvSpPr txBox="1">
            <a:spLocks noGrp="1"/>
          </p:cNvSpPr>
          <p:nvPr>
            <p:ph type="body" idx="1"/>
          </p:nvPr>
        </p:nvSpPr>
        <p:spPr>
          <a:xfrm>
            <a:off x="597375" y="1063525"/>
            <a:ext cx="3908700" cy="37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ivvic Light"/>
              <a:buChar char="●"/>
              <a:defRPr sz="1200"/>
            </a:lvl1pPr>
            <a:lvl2pPr marL="914400" lvl="1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2pPr>
            <a:lvl3pPr marL="1371600" lvl="2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■"/>
              <a:defRPr/>
            </a:lvl3pPr>
            <a:lvl4pPr marL="1828800" lvl="3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●"/>
              <a:defRPr/>
            </a:lvl4pPr>
            <a:lvl5pPr marL="2286000" lvl="4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5pPr>
            <a:lvl6pPr marL="2743200" lvl="5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■"/>
              <a:defRPr/>
            </a:lvl6pPr>
            <a:lvl7pPr marL="3200400" lvl="6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●"/>
              <a:defRPr/>
            </a:lvl7pPr>
            <a:lvl8pPr marL="3657600" lvl="7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8pPr>
            <a:lvl9pPr marL="4114800" lvl="8" indent="-292100" rtl="0">
              <a:spcBef>
                <a:spcPts val="1600"/>
              </a:spcBef>
              <a:spcAft>
                <a:spcPts val="1600"/>
              </a:spcAft>
              <a:buSzPts val="10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12" name="Google Shape;412;p20"/>
          <p:cNvSpPr txBox="1">
            <a:spLocks noGrp="1"/>
          </p:cNvSpPr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413" name="Google Shape;413;p20"/>
          <p:cNvSpPr txBox="1">
            <a:spLocks noGrp="1"/>
          </p:cNvSpPr>
          <p:nvPr>
            <p:ph type="body" idx="2"/>
          </p:nvPr>
        </p:nvSpPr>
        <p:spPr>
          <a:xfrm>
            <a:off x="4690125" y="1063525"/>
            <a:ext cx="3908700" cy="37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5D37"/>
              </a:buClr>
              <a:buSzPts val="1000"/>
              <a:buFont typeface="Livvic Light"/>
              <a:buChar char="●"/>
              <a:defRPr sz="1200"/>
            </a:lvl1pPr>
            <a:lvl2pPr marL="914400" lvl="1" indent="-292100" rtl="0"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○"/>
              <a:defRPr/>
            </a:lvl2pPr>
            <a:lvl3pPr marL="1371600" lvl="2" indent="-292100" rtl="0"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■"/>
              <a:defRPr/>
            </a:lvl3pPr>
            <a:lvl4pPr marL="1828800" lvl="3" indent="-292100" rtl="0"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●"/>
              <a:defRPr/>
            </a:lvl4pPr>
            <a:lvl5pPr marL="2286000" lvl="4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○"/>
              <a:defRPr/>
            </a:lvl5pPr>
            <a:lvl6pPr marL="2743200" lvl="5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■"/>
              <a:defRPr/>
            </a:lvl6pPr>
            <a:lvl7pPr marL="3200400" lvl="6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●"/>
              <a:defRPr/>
            </a:lvl7pPr>
            <a:lvl8pPr marL="3657600" lvl="7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○"/>
              <a:defRPr/>
            </a:lvl8pPr>
            <a:lvl9pPr marL="4114800" lvl="8" indent="-292100" rtl="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0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14" name="Google Shape;414;p20"/>
          <p:cNvSpPr/>
          <p:nvPr/>
        </p:nvSpPr>
        <p:spPr>
          <a:xfrm>
            <a:off x="8829925" y="1123700"/>
            <a:ext cx="108650" cy="108625"/>
          </a:xfrm>
          <a:custGeom>
            <a:avLst/>
            <a:gdLst/>
            <a:ahLst/>
            <a:cxnLst/>
            <a:rect l="l" t="t" r="r" b="b"/>
            <a:pathLst>
              <a:path w="4346" h="4345" extrusionOk="0">
                <a:moveTo>
                  <a:pt x="4027" y="337"/>
                </a:moveTo>
                <a:lnTo>
                  <a:pt x="4027" y="4008"/>
                </a:lnTo>
                <a:lnTo>
                  <a:pt x="338" y="4008"/>
                </a:lnTo>
                <a:lnTo>
                  <a:pt x="338" y="337"/>
                </a:lnTo>
                <a:close/>
                <a:moveTo>
                  <a:pt x="1" y="0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0"/>
          <p:cNvSpPr/>
          <p:nvPr/>
        </p:nvSpPr>
        <p:spPr>
          <a:xfrm>
            <a:off x="9156250" y="1340450"/>
            <a:ext cx="111450" cy="110975"/>
          </a:xfrm>
          <a:custGeom>
            <a:avLst/>
            <a:gdLst/>
            <a:ahLst/>
            <a:cxnLst/>
            <a:rect l="l" t="t" r="r" b="b"/>
            <a:pathLst>
              <a:path w="4458" h="4439" extrusionOk="0">
                <a:moveTo>
                  <a:pt x="4008" y="431"/>
                </a:moveTo>
                <a:lnTo>
                  <a:pt x="4008" y="4008"/>
                </a:lnTo>
                <a:lnTo>
                  <a:pt x="431" y="4008"/>
                </a:lnTo>
                <a:lnTo>
                  <a:pt x="431" y="431"/>
                </a:lnTo>
                <a:close/>
                <a:moveTo>
                  <a:pt x="0" y="1"/>
                </a:moveTo>
                <a:lnTo>
                  <a:pt x="0" y="4439"/>
                </a:lnTo>
                <a:lnTo>
                  <a:pt x="4457" y="4439"/>
                </a:lnTo>
                <a:lnTo>
                  <a:pt x="4457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0"/>
          <p:cNvSpPr/>
          <p:nvPr/>
        </p:nvSpPr>
        <p:spPr>
          <a:xfrm>
            <a:off x="5809850" y="214400"/>
            <a:ext cx="108625" cy="108625"/>
          </a:xfrm>
          <a:custGeom>
            <a:avLst/>
            <a:gdLst/>
            <a:ahLst/>
            <a:cxnLst/>
            <a:rect l="l" t="t" r="r" b="b"/>
            <a:pathLst>
              <a:path w="4345" h="4345" extrusionOk="0">
                <a:moveTo>
                  <a:pt x="4008" y="337"/>
                </a:moveTo>
                <a:lnTo>
                  <a:pt x="4008" y="4008"/>
                </a:lnTo>
                <a:lnTo>
                  <a:pt x="337" y="4008"/>
                </a:lnTo>
                <a:lnTo>
                  <a:pt x="337" y="337"/>
                </a:lnTo>
                <a:close/>
                <a:moveTo>
                  <a:pt x="0" y="0"/>
                </a:moveTo>
                <a:lnTo>
                  <a:pt x="0" y="4345"/>
                </a:lnTo>
                <a:lnTo>
                  <a:pt x="4345" y="4345"/>
                </a:lnTo>
                <a:lnTo>
                  <a:pt x="434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0"/>
          <p:cNvSpPr/>
          <p:nvPr/>
        </p:nvSpPr>
        <p:spPr>
          <a:xfrm>
            <a:off x="7079800" y="420088"/>
            <a:ext cx="164825" cy="164375"/>
          </a:xfrm>
          <a:custGeom>
            <a:avLst/>
            <a:gdLst/>
            <a:ahLst/>
            <a:cxnLst/>
            <a:rect l="l" t="t" r="r" b="b"/>
            <a:pathLst>
              <a:path w="6593" h="6575" extrusionOk="0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0"/>
          <p:cNvSpPr/>
          <p:nvPr/>
        </p:nvSpPr>
        <p:spPr>
          <a:xfrm>
            <a:off x="7952700" y="278513"/>
            <a:ext cx="44975" cy="44500"/>
          </a:xfrm>
          <a:custGeom>
            <a:avLst/>
            <a:gdLst/>
            <a:ahLst/>
            <a:cxnLst/>
            <a:rect l="l" t="t" r="r" b="b"/>
            <a:pathLst>
              <a:path w="1799" h="1780" extrusionOk="0">
                <a:moveTo>
                  <a:pt x="1" y="1"/>
                </a:moveTo>
                <a:lnTo>
                  <a:pt x="1" y="1780"/>
                </a:lnTo>
                <a:lnTo>
                  <a:pt x="1798" y="1780"/>
                </a:lnTo>
                <a:lnTo>
                  <a:pt x="179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0"/>
          <p:cNvSpPr/>
          <p:nvPr/>
        </p:nvSpPr>
        <p:spPr>
          <a:xfrm>
            <a:off x="7372450" y="-69325"/>
            <a:ext cx="155925" cy="155925"/>
          </a:xfrm>
          <a:custGeom>
            <a:avLst/>
            <a:gdLst/>
            <a:ahLst/>
            <a:cxnLst/>
            <a:rect l="l" t="t" r="r" b="b"/>
            <a:pathLst>
              <a:path w="6237" h="6237" extrusionOk="0">
                <a:moveTo>
                  <a:pt x="0" y="0"/>
                </a:moveTo>
                <a:lnTo>
                  <a:pt x="0" y="6236"/>
                </a:lnTo>
                <a:lnTo>
                  <a:pt x="6236" y="6236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20"/>
          <p:cNvSpPr/>
          <p:nvPr/>
        </p:nvSpPr>
        <p:spPr>
          <a:xfrm>
            <a:off x="8464275" y="355050"/>
            <a:ext cx="155925" cy="156400"/>
          </a:xfrm>
          <a:custGeom>
            <a:avLst/>
            <a:gdLst/>
            <a:ahLst/>
            <a:cxnLst/>
            <a:rect l="l" t="t" r="r" b="b"/>
            <a:pathLst>
              <a:path w="6237" h="6256" extrusionOk="0">
                <a:moveTo>
                  <a:pt x="1" y="1"/>
                </a:moveTo>
                <a:lnTo>
                  <a:pt x="1" y="6256"/>
                </a:lnTo>
                <a:lnTo>
                  <a:pt x="6237" y="6256"/>
                </a:lnTo>
                <a:lnTo>
                  <a:pt x="623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0"/>
          <p:cNvSpPr/>
          <p:nvPr/>
        </p:nvSpPr>
        <p:spPr>
          <a:xfrm>
            <a:off x="7264275" y="607363"/>
            <a:ext cx="122675" cy="122675"/>
          </a:xfrm>
          <a:custGeom>
            <a:avLst/>
            <a:gdLst/>
            <a:ahLst/>
            <a:cxnLst/>
            <a:rect l="l" t="t" r="r" b="b"/>
            <a:pathLst>
              <a:path w="4907" h="4907" extrusionOk="0">
                <a:moveTo>
                  <a:pt x="0" y="1"/>
                </a:moveTo>
                <a:lnTo>
                  <a:pt x="0" y="4907"/>
                </a:lnTo>
                <a:lnTo>
                  <a:pt x="4907" y="4907"/>
                </a:lnTo>
                <a:lnTo>
                  <a:pt x="490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0"/>
          <p:cNvSpPr/>
          <p:nvPr/>
        </p:nvSpPr>
        <p:spPr>
          <a:xfrm>
            <a:off x="6298850" y="907625"/>
            <a:ext cx="155925" cy="155900"/>
          </a:xfrm>
          <a:custGeom>
            <a:avLst/>
            <a:gdLst/>
            <a:ahLst/>
            <a:cxnLst/>
            <a:rect l="l" t="t" r="r" b="b"/>
            <a:pathLst>
              <a:path w="6237" h="6236" extrusionOk="0">
                <a:moveTo>
                  <a:pt x="1" y="0"/>
                </a:moveTo>
                <a:lnTo>
                  <a:pt x="1" y="6236"/>
                </a:lnTo>
                <a:lnTo>
                  <a:pt x="6237" y="6236"/>
                </a:lnTo>
                <a:lnTo>
                  <a:pt x="623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0"/>
          <p:cNvSpPr/>
          <p:nvPr/>
        </p:nvSpPr>
        <p:spPr>
          <a:xfrm>
            <a:off x="-83000" y="4540463"/>
            <a:ext cx="164825" cy="164375"/>
          </a:xfrm>
          <a:custGeom>
            <a:avLst/>
            <a:gdLst/>
            <a:ahLst/>
            <a:cxnLst/>
            <a:rect l="l" t="t" r="r" b="b"/>
            <a:pathLst>
              <a:path w="6593" h="6575" extrusionOk="0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0"/>
          <p:cNvSpPr/>
          <p:nvPr/>
        </p:nvSpPr>
        <p:spPr>
          <a:xfrm>
            <a:off x="101475" y="4727738"/>
            <a:ext cx="122675" cy="122675"/>
          </a:xfrm>
          <a:custGeom>
            <a:avLst/>
            <a:gdLst/>
            <a:ahLst/>
            <a:cxnLst/>
            <a:rect l="l" t="t" r="r" b="b"/>
            <a:pathLst>
              <a:path w="4907" h="4907" extrusionOk="0">
                <a:moveTo>
                  <a:pt x="0" y="1"/>
                </a:moveTo>
                <a:lnTo>
                  <a:pt x="0" y="4907"/>
                </a:lnTo>
                <a:lnTo>
                  <a:pt x="4907" y="4907"/>
                </a:lnTo>
                <a:lnTo>
                  <a:pt x="490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5"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ist">
  <p:cSld name="Title and list"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0"/>
          <p:cNvSpPr txBox="1">
            <a:spLocks noGrp="1"/>
          </p:cNvSpPr>
          <p:nvPr>
            <p:ph type="body" idx="1"/>
          </p:nvPr>
        </p:nvSpPr>
        <p:spPr>
          <a:xfrm>
            <a:off x="597375" y="1063525"/>
            <a:ext cx="3908700" cy="37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ivvic Light"/>
              <a:buChar char="●"/>
              <a:defRPr sz="1200"/>
            </a:lvl1pPr>
            <a:lvl2pPr marL="914400" lvl="1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2pPr>
            <a:lvl3pPr marL="1371600" lvl="2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■"/>
              <a:defRPr/>
            </a:lvl3pPr>
            <a:lvl4pPr marL="1828800" lvl="3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●"/>
              <a:defRPr/>
            </a:lvl4pPr>
            <a:lvl5pPr marL="2286000" lvl="4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5pPr>
            <a:lvl6pPr marL="2743200" lvl="5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■"/>
              <a:defRPr/>
            </a:lvl6pPr>
            <a:lvl7pPr marL="3200400" lvl="6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●"/>
              <a:defRPr/>
            </a:lvl7pPr>
            <a:lvl8pPr marL="3657600" lvl="7" indent="-2921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8pPr>
            <a:lvl9pPr marL="4114800" lvl="8" indent="-292100" rtl="0">
              <a:spcBef>
                <a:spcPts val="1600"/>
              </a:spcBef>
              <a:spcAft>
                <a:spcPts val="1600"/>
              </a:spcAft>
              <a:buSzPts val="10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12" name="Google Shape;412;p20"/>
          <p:cNvSpPr txBox="1">
            <a:spLocks noGrp="1"/>
          </p:cNvSpPr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413" name="Google Shape;413;p20"/>
          <p:cNvSpPr txBox="1">
            <a:spLocks noGrp="1"/>
          </p:cNvSpPr>
          <p:nvPr>
            <p:ph type="body" idx="2"/>
          </p:nvPr>
        </p:nvSpPr>
        <p:spPr>
          <a:xfrm>
            <a:off x="4690125" y="1063525"/>
            <a:ext cx="3908700" cy="37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5D37"/>
              </a:buClr>
              <a:buSzPts val="1000"/>
              <a:buFont typeface="Livvic Light"/>
              <a:buChar char="●"/>
              <a:defRPr sz="1200"/>
            </a:lvl1pPr>
            <a:lvl2pPr marL="914400" lvl="1" indent="-292100" rtl="0"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○"/>
              <a:defRPr/>
            </a:lvl2pPr>
            <a:lvl3pPr marL="1371600" lvl="2" indent="-292100" rtl="0"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■"/>
              <a:defRPr/>
            </a:lvl3pPr>
            <a:lvl4pPr marL="1828800" lvl="3" indent="-292100" rtl="0"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●"/>
              <a:defRPr/>
            </a:lvl4pPr>
            <a:lvl5pPr marL="2286000" lvl="4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○"/>
              <a:defRPr/>
            </a:lvl5pPr>
            <a:lvl6pPr marL="2743200" lvl="5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■"/>
              <a:defRPr/>
            </a:lvl6pPr>
            <a:lvl7pPr marL="3200400" lvl="6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●"/>
              <a:defRPr/>
            </a:lvl7pPr>
            <a:lvl8pPr marL="3657600" lvl="7" indent="-2921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○"/>
              <a:defRPr/>
            </a:lvl8pPr>
            <a:lvl9pPr marL="4114800" lvl="8" indent="-292100" rtl="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0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14" name="Google Shape;414;p20"/>
          <p:cNvSpPr/>
          <p:nvPr/>
        </p:nvSpPr>
        <p:spPr>
          <a:xfrm>
            <a:off x="8829925" y="1123700"/>
            <a:ext cx="108650" cy="108625"/>
          </a:xfrm>
          <a:custGeom>
            <a:avLst/>
            <a:gdLst/>
            <a:ahLst/>
            <a:cxnLst/>
            <a:rect l="l" t="t" r="r" b="b"/>
            <a:pathLst>
              <a:path w="4346" h="4345" extrusionOk="0">
                <a:moveTo>
                  <a:pt x="4027" y="337"/>
                </a:moveTo>
                <a:lnTo>
                  <a:pt x="4027" y="4008"/>
                </a:lnTo>
                <a:lnTo>
                  <a:pt x="338" y="4008"/>
                </a:lnTo>
                <a:lnTo>
                  <a:pt x="338" y="337"/>
                </a:lnTo>
                <a:close/>
                <a:moveTo>
                  <a:pt x="1" y="0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0"/>
          <p:cNvSpPr/>
          <p:nvPr/>
        </p:nvSpPr>
        <p:spPr>
          <a:xfrm>
            <a:off x="9156250" y="1340450"/>
            <a:ext cx="111450" cy="110975"/>
          </a:xfrm>
          <a:custGeom>
            <a:avLst/>
            <a:gdLst/>
            <a:ahLst/>
            <a:cxnLst/>
            <a:rect l="l" t="t" r="r" b="b"/>
            <a:pathLst>
              <a:path w="4458" h="4439" extrusionOk="0">
                <a:moveTo>
                  <a:pt x="4008" y="431"/>
                </a:moveTo>
                <a:lnTo>
                  <a:pt x="4008" y="4008"/>
                </a:lnTo>
                <a:lnTo>
                  <a:pt x="431" y="4008"/>
                </a:lnTo>
                <a:lnTo>
                  <a:pt x="431" y="431"/>
                </a:lnTo>
                <a:close/>
                <a:moveTo>
                  <a:pt x="0" y="1"/>
                </a:moveTo>
                <a:lnTo>
                  <a:pt x="0" y="4439"/>
                </a:lnTo>
                <a:lnTo>
                  <a:pt x="4457" y="4439"/>
                </a:lnTo>
                <a:lnTo>
                  <a:pt x="4457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0"/>
          <p:cNvSpPr/>
          <p:nvPr/>
        </p:nvSpPr>
        <p:spPr>
          <a:xfrm>
            <a:off x="5809850" y="214400"/>
            <a:ext cx="108625" cy="108625"/>
          </a:xfrm>
          <a:custGeom>
            <a:avLst/>
            <a:gdLst/>
            <a:ahLst/>
            <a:cxnLst/>
            <a:rect l="l" t="t" r="r" b="b"/>
            <a:pathLst>
              <a:path w="4345" h="4345" extrusionOk="0">
                <a:moveTo>
                  <a:pt x="4008" y="337"/>
                </a:moveTo>
                <a:lnTo>
                  <a:pt x="4008" y="4008"/>
                </a:lnTo>
                <a:lnTo>
                  <a:pt x="337" y="4008"/>
                </a:lnTo>
                <a:lnTo>
                  <a:pt x="337" y="337"/>
                </a:lnTo>
                <a:close/>
                <a:moveTo>
                  <a:pt x="0" y="0"/>
                </a:moveTo>
                <a:lnTo>
                  <a:pt x="0" y="4345"/>
                </a:lnTo>
                <a:lnTo>
                  <a:pt x="4345" y="4345"/>
                </a:lnTo>
                <a:lnTo>
                  <a:pt x="434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0"/>
          <p:cNvSpPr/>
          <p:nvPr/>
        </p:nvSpPr>
        <p:spPr>
          <a:xfrm>
            <a:off x="7079800" y="420088"/>
            <a:ext cx="164825" cy="164375"/>
          </a:xfrm>
          <a:custGeom>
            <a:avLst/>
            <a:gdLst/>
            <a:ahLst/>
            <a:cxnLst/>
            <a:rect l="l" t="t" r="r" b="b"/>
            <a:pathLst>
              <a:path w="6593" h="6575" extrusionOk="0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0"/>
          <p:cNvSpPr/>
          <p:nvPr/>
        </p:nvSpPr>
        <p:spPr>
          <a:xfrm>
            <a:off x="7952700" y="278513"/>
            <a:ext cx="44975" cy="44500"/>
          </a:xfrm>
          <a:custGeom>
            <a:avLst/>
            <a:gdLst/>
            <a:ahLst/>
            <a:cxnLst/>
            <a:rect l="l" t="t" r="r" b="b"/>
            <a:pathLst>
              <a:path w="1799" h="1780" extrusionOk="0">
                <a:moveTo>
                  <a:pt x="1" y="1"/>
                </a:moveTo>
                <a:lnTo>
                  <a:pt x="1" y="1780"/>
                </a:lnTo>
                <a:lnTo>
                  <a:pt x="1798" y="1780"/>
                </a:lnTo>
                <a:lnTo>
                  <a:pt x="179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0"/>
          <p:cNvSpPr/>
          <p:nvPr/>
        </p:nvSpPr>
        <p:spPr>
          <a:xfrm>
            <a:off x="7372450" y="-69325"/>
            <a:ext cx="155925" cy="155925"/>
          </a:xfrm>
          <a:custGeom>
            <a:avLst/>
            <a:gdLst/>
            <a:ahLst/>
            <a:cxnLst/>
            <a:rect l="l" t="t" r="r" b="b"/>
            <a:pathLst>
              <a:path w="6237" h="6237" extrusionOk="0">
                <a:moveTo>
                  <a:pt x="0" y="0"/>
                </a:moveTo>
                <a:lnTo>
                  <a:pt x="0" y="6236"/>
                </a:lnTo>
                <a:lnTo>
                  <a:pt x="6236" y="6236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20"/>
          <p:cNvSpPr/>
          <p:nvPr/>
        </p:nvSpPr>
        <p:spPr>
          <a:xfrm>
            <a:off x="8464275" y="355050"/>
            <a:ext cx="155925" cy="156400"/>
          </a:xfrm>
          <a:custGeom>
            <a:avLst/>
            <a:gdLst/>
            <a:ahLst/>
            <a:cxnLst/>
            <a:rect l="l" t="t" r="r" b="b"/>
            <a:pathLst>
              <a:path w="6237" h="6256" extrusionOk="0">
                <a:moveTo>
                  <a:pt x="1" y="1"/>
                </a:moveTo>
                <a:lnTo>
                  <a:pt x="1" y="6256"/>
                </a:lnTo>
                <a:lnTo>
                  <a:pt x="6237" y="6256"/>
                </a:lnTo>
                <a:lnTo>
                  <a:pt x="623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0"/>
          <p:cNvSpPr/>
          <p:nvPr/>
        </p:nvSpPr>
        <p:spPr>
          <a:xfrm>
            <a:off x="7264275" y="607363"/>
            <a:ext cx="122675" cy="122675"/>
          </a:xfrm>
          <a:custGeom>
            <a:avLst/>
            <a:gdLst/>
            <a:ahLst/>
            <a:cxnLst/>
            <a:rect l="l" t="t" r="r" b="b"/>
            <a:pathLst>
              <a:path w="4907" h="4907" extrusionOk="0">
                <a:moveTo>
                  <a:pt x="0" y="1"/>
                </a:moveTo>
                <a:lnTo>
                  <a:pt x="0" y="4907"/>
                </a:lnTo>
                <a:lnTo>
                  <a:pt x="4907" y="4907"/>
                </a:lnTo>
                <a:lnTo>
                  <a:pt x="490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0"/>
          <p:cNvSpPr/>
          <p:nvPr/>
        </p:nvSpPr>
        <p:spPr>
          <a:xfrm>
            <a:off x="6298850" y="907625"/>
            <a:ext cx="155925" cy="155900"/>
          </a:xfrm>
          <a:custGeom>
            <a:avLst/>
            <a:gdLst/>
            <a:ahLst/>
            <a:cxnLst/>
            <a:rect l="l" t="t" r="r" b="b"/>
            <a:pathLst>
              <a:path w="6237" h="6236" extrusionOk="0">
                <a:moveTo>
                  <a:pt x="1" y="0"/>
                </a:moveTo>
                <a:lnTo>
                  <a:pt x="1" y="6236"/>
                </a:lnTo>
                <a:lnTo>
                  <a:pt x="6237" y="6236"/>
                </a:lnTo>
                <a:lnTo>
                  <a:pt x="623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0"/>
          <p:cNvSpPr/>
          <p:nvPr/>
        </p:nvSpPr>
        <p:spPr>
          <a:xfrm>
            <a:off x="-83000" y="4540463"/>
            <a:ext cx="164825" cy="164375"/>
          </a:xfrm>
          <a:custGeom>
            <a:avLst/>
            <a:gdLst/>
            <a:ahLst/>
            <a:cxnLst/>
            <a:rect l="l" t="t" r="r" b="b"/>
            <a:pathLst>
              <a:path w="6593" h="6575" extrusionOk="0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0"/>
          <p:cNvSpPr/>
          <p:nvPr/>
        </p:nvSpPr>
        <p:spPr>
          <a:xfrm>
            <a:off x="101475" y="4727738"/>
            <a:ext cx="122675" cy="122675"/>
          </a:xfrm>
          <a:custGeom>
            <a:avLst/>
            <a:gdLst/>
            <a:ahLst/>
            <a:cxnLst/>
            <a:rect l="l" t="t" r="r" b="b"/>
            <a:pathLst>
              <a:path w="4907" h="4907" extrusionOk="0">
                <a:moveTo>
                  <a:pt x="0" y="1"/>
                </a:moveTo>
                <a:lnTo>
                  <a:pt x="0" y="4907"/>
                </a:lnTo>
                <a:lnTo>
                  <a:pt x="4907" y="4907"/>
                </a:lnTo>
                <a:lnTo>
                  <a:pt x="490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4951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ven Pro"/>
              <a:buChar char="●"/>
              <a:defRPr sz="18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5" r:id="rId3"/>
    <p:sldLayoutId id="2147483659" r:id="rId4"/>
    <p:sldLayoutId id="2147483665" r:id="rId5"/>
    <p:sldLayoutId id="2147483666" r:id="rId6"/>
    <p:sldLayoutId id="2147483667" r:id="rId7"/>
    <p:sldLayoutId id="214748366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3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29" name="Google Shape;429;p2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5"/>
          <p:cNvSpPr txBox="1">
            <a:spLocks noGrp="1"/>
          </p:cNvSpPr>
          <p:nvPr>
            <p:ph type="subTitle" idx="1"/>
          </p:nvPr>
        </p:nvSpPr>
        <p:spPr>
          <a:xfrm>
            <a:off x="2932864" y="3002386"/>
            <a:ext cx="3295500" cy="4649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Dr. Jawaid Iqbal</a:t>
            </a:r>
            <a:endParaRPr dirty="0"/>
          </a:p>
        </p:txBody>
      </p:sp>
      <p:sp>
        <p:nvSpPr>
          <p:cNvPr id="436" name="Google Shape;436;p25"/>
          <p:cNvSpPr txBox="1">
            <a:spLocks noGrp="1"/>
          </p:cNvSpPr>
          <p:nvPr>
            <p:ph type="ctrTitle"/>
          </p:nvPr>
        </p:nvSpPr>
        <p:spPr>
          <a:xfrm>
            <a:off x="1561650" y="751888"/>
            <a:ext cx="6993786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Application Areas of Blockchain Technology</a:t>
            </a:r>
            <a:endParaRPr dirty="0"/>
          </a:p>
        </p:txBody>
      </p:sp>
      <p:sp>
        <p:nvSpPr>
          <p:cNvPr id="437" name="Google Shape;437;p25"/>
          <p:cNvSpPr/>
          <p:nvPr/>
        </p:nvSpPr>
        <p:spPr>
          <a:xfrm>
            <a:off x="1917281" y="4715495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5"/>
          <p:cNvSpPr/>
          <p:nvPr/>
        </p:nvSpPr>
        <p:spPr>
          <a:xfrm>
            <a:off x="7047944" y="3537816"/>
            <a:ext cx="57834" cy="57834"/>
          </a:xfrm>
          <a:custGeom>
            <a:avLst/>
            <a:gdLst/>
            <a:ahLst/>
            <a:cxnLst/>
            <a:rect l="l" t="t" r="r" b="b"/>
            <a:pathLst>
              <a:path w="2207" h="2207" fill="none" extrusionOk="0">
                <a:moveTo>
                  <a:pt x="0" y="1"/>
                </a:moveTo>
                <a:lnTo>
                  <a:pt x="2206" y="1"/>
                </a:lnTo>
                <a:lnTo>
                  <a:pt x="2206" y="2207"/>
                </a:lnTo>
                <a:lnTo>
                  <a:pt x="0" y="2207"/>
                </a:lnTo>
                <a:close/>
              </a:path>
            </a:pathLst>
          </a:custGeom>
          <a:noFill/>
          <a:ln w="13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25"/>
          <p:cNvSpPr/>
          <p:nvPr/>
        </p:nvSpPr>
        <p:spPr>
          <a:xfrm>
            <a:off x="2307882" y="3002386"/>
            <a:ext cx="104086" cy="104322"/>
          </a:xfrm>
          <a:custGeom>
            <a:avLst/>
            <a:gdLst/>
            <a:ahLst/>
            <a:cxnLst/>
            <a:rect l="l" t="t" r="r" b="b"/>
            <a:pathLst>
              <a:path w="3972" h="3981" fill="none" extrusionOk="0">
                <a:moveTo>
                  <a:pt x="1" y="1"/>
                </a:moveTo>
                <a:lnTo>
                  <a:pt x="3972" y="1"/>
                </a:lnTo>
                <a:lnTo>
                  <a:pt x="3972" y="3981"/>
                </a:lnTo>
                <a:lnTo>
                  <a:pt x="1" y="3981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25"/>
          <p:cNvSpPr/>
          <p:nvPr/>
        </p:nvSpPr>
        <p:spPr>
          <a:xfrm>
            <a:off x="6293004" y="835609"/>
            <a:ext cx="80476" cy="80476"/>
          </a:xfrm>
          <a:custGeom>
            <a:avLst/>
            <a:gdLst/>
            <a:ahLst/>
            <a:cxnLst/>
            <a:rect l="l" t="t" r="r" b="b"/>
            <a:pathLst>
              <a:path w="3071" h="3071" extrusionOk="0">
                <a:moveTo>
                  <a:pt x="1" y="1"/>
                </a:moveTo>
                <a:lnTo>
                  <a:pt x="1" y="3071"/>
                </a:lnTo>
                <a:lnTo>
                  <a:pt x="3071" y="3071"/>
                </a:lnTo>
                <a:lnTo>
                  <a:pt x="307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25"/>
          <p:cNvSpPr/>
          <p:nvPr/>
        </p:nvSpPr>
        <p:spPr>
          <a:xfrm>
            <a:off x="5969504" y="3118803"/>
            <a:ext cx="119993" cy="119966"/>
          </a:xfrm>
          <a:custGeom>
            <a:avLst/>
            <a:gdLst/>
            <a:ahLst/>
            <a:cxnLst/>
            <a:rect l="l" t="t" r="r" b="b"/>
            <a:pathLst>
              <a:path w="4579" h="4578" extrusionOk="0">
                <a:moveTo>
                  <a:pt x="1" y="0"/>
                </a:moveTo>
                <a:lnTo>
                  <a:pt x="1" y="4578"/>
                </a:lnTo>
                <a:lnTo>
                  <a:pt x="4578" y="4578"/>
                </a:lnTo>
                <a:lnTo>
                  <a:pt x="457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25"/>
          <p:cNvSpPr/>
          <p:nvPr/>
        </p:nvSpPr>
        <p:spPr>
          <a:xfrm>
            <a:off x="2924242" y="4302208"/>
            <a:ext cx="119993" cy="119993"/>
          </a:xfrm>
          <a:custGeom>
            <a:avLst/>
            <a:gdLst/>
            <a:ahLst/>
            <a:cxnLst/>
            <a:rect l="l" t="t" r="r" b="b"/>
            <a:pathLst>
              <a:path w="4579" h="4579" extrusionOk="0">
                <a:moveTo>
                  <a:pt x="0" y="1"/>
                </a:moveTo>
                <a:lnTo>
                  <a:pt x="0" y="4578"/>
                </a:lnTo>
                <a:lnTo>
                  <a:pt x="4578" y="4578"/>
                </a:lnTo>
                <a:lnTo>
                  <a:pt x="457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3" name="Google Shape;443;p25"/>
          <p:cNvGrpSpPr/>
          <p:nvPr/>
        </p:nvGrpSpPr>
        <p:grpSpPr>
          <a:xfrm>
            <a:off x="6232314" y="3696331"/>
            <a:ext cx="121434" cy="1073147"/>
            <a:chOff x="6232314" y="3696331"/>
            <a:chExt cx="121434" cy="1073147"/>
          </a:xfrm>
        </p:grpSpPr>
        <p:sp>
          <p:nvSpPr>
            <p:cNvPr id="444" name="Google Shape;444;p25"/>
            <p:cNvSpPr/>
            <p:nvPr/>
          </p:nvSpPr>
          <p:spPr>
            <a:xfrm>
              <a:off x="6232314" y="4648280"/>
              <a:ext cx="121434" cy="121198"/>
            </a:xfrm>
            <a:custGeom>
              <a:avLst/>
              <a:gdLst/>
              <a:ahLst/>
              <a:cxnLst/>
              <a:rect l="l" t="t" r="r" b="b"/>
              <a:pathLst>
                <a:path w="463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33" y="4624"/>
                  </a:lnTo>
                  <a:lnTo>
                    <a:pt x="46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5"/>
            <p:cNvSpPr/>
            <p:nvPr/>
          </p:nvSpPr>
          <p:spPr>
            <a:xfrm>
              <a:off x="6288681" y="3696331"/>
              <a:ext cx="8700" cy="872731"/>
            </a:xfrm>
            <a:custGeom>
              <a:avLst/>
              <a:gdLst/>
              <a:ahLst/>
              <a:cxnLst/>
              <a:rect l="l" t="t" r="r" b="b"/>
              <a:pathLst>
                <a:path w="332" h="33304" extrusionOk="0">
                  <a:moveTo>
                    <a:pt x="166" y="0"/>
                  </a:moveTo>
                  <a:lnTo>
                    <a:pt x="0" y="33304"/>
                  </a:lnTo>
                  <a:lnTo>
                    <a:pt x="331" y="33304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6" name="Google Shape;446;p25"/>
          <p:cNvGrpSpPr/>
          <p:nvPr/>
        </p:nvGrpSpPr>
        <p:grpSpPr>
          <a:xfrm>
            <a:off x="6780548" y="337714"/>
            <a:ext cx="133252" cy="1952377"/>
            <a:chOff x="6780548" y="337714"/>
            <a:chExt cx="133252" cy="1952377"/>
          </a:xfrm>
        </p:grpSpPr>
        <p:sp>
          <p:nvSpPr>
            <p:cNvPr id="447" name="Google Shape;447;p25"/>
            <p:cNvSpPr/>
            <p:nvPr/>
          </p:nvSpPr>
          <p:spPr>
            <a:xfrm>
              <a:off x="6780548" y="2156839"/>
              <a:ext cx="133252" cy="133252"/>
            </a:xfrm>
            <a:custGeom>
              <a:avLst/>
              <a:gdLst/>
              <a:ahLst/>
              <a:cxnLst/>
              <a:rect l="l" t="t" r="r" b="b"/>
              <a:pathLst>
                <a:path w="5085" h="5085" fill="none" extrusionOk="0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5"/>
            <p:cNvSpPr/>
            <p:nvPr/>
          </p:nvSpPr>
          <p:spPr>
            <a:xfrm>
              <a:off x="6842943" y="337714"/>
              <a:ext cx="8464" cy="1695359"/>
            </a:xfrm>
            <a:custGeom>
              <a:avLst/>
              <a:gdLst/>
              <a:ahLst/>
              <a:cxnLst/>
              <a:rect l="l" t="t" r="r" b="b"/>
              <a:pathLst>
                <a:path w="323" h="64696" extrusionOk="0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9" name="Google Shape;449;p25"/>
          <p:cNvGrpSpPr/>
          <p:nvPr/>
        </p:nvGrpSpPr>
        <p:grpSpPr>
          <a:xfrm>
            <a:off x="1608717" y="1280046"/>
            <a:ext cx="199237" cy="2828935"/>
            <a:chOff x="1608717" y="1280046"/>
            <a:chExt cx="199237" cy="2828935"/>
          </a:xfrm>
        </p:grpSpPr>
        <p:sp>
          <p:nvSpPr>
            <p:cNvPr id="450" name="Google Shape;450;p25"/>
            <p:cNvSpPr/>
            <p:nvPr/>
          </p:nvSpPr>
          <p:spPr>
            <a:xfrm>
              <a:off x="1608717" y="3909744"/>
              <a:ext cx="199237" cy="199237"/>
            </a:xfrm>
            <a:custGeom>
              <a:avLst/>
              <a:gdLst/>
              <a:ahLst/>
              <a:cxnLst/>
              <a:rect l="l" t="t" r="r" b="b"/>
              <a:pathLst>
                <a:path w="7603" h="7603" extrusionOk="0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5"/>
            <p:cNvSpPr/>
            <p:nvPr/>
          </p:nvSpPr>
          <p:spPr>
            <a:xfrm>
              <a:off x="1656175" y="3269477"/>
              <a:ext cx="104086" cy="104086"/>
            </a:xfrm>
            <a:custGeom>
              <a:avLst/>
              <a:gdLst/>
              <a:ahLst/>
              <a:cxnLst/>
              <a:rect l="l" t="t" r="r" b="b"/>
              <a:pathLst>
                <a:path w="3972" h="3972" extrusionOk="0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5"/>
            <p:cNvSpPr/>
            <p:nvPr/>
          </p:nvSpPr>
          <p:spPr>
            <a:xfrm>
              <a:off x="1704104" y="1280046"/>
              <a:ext cx="8464" cy="1794099"/>
            </a:xfrm>
            <a:custGeom>
              <a:avLst/>
              <a:gdLst/>
              <a:ahLst/>
              <a:cxnLst/>
              <a:rect l="l" t="t" r="r" b="b"/>
              <a:pathLst>
                <a:path w="323" h="68464" extrusionOk="0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3" name="Google Shape;453;p25"/>
          <p:cNvSpPr/>
          <p:nvPr/>
        </p:nvSpPr>
        <p:spPr>
          <a:xfrm>
            <a:off x="2355692" y="3696328"/>
            <a:ext cx="8464" cy="2519663"/>
          </a:xfrm>
          <a:custGeom>
            <a:avLst/>
            <a:gdLst/>
            <a:ahLst/>
            <a:cxnLst/>
            <a:rect l="l" t="t" r="r" b="b"/>
            <a:pathLst>
              <a:path w="323" h="96152" extrusionOk="0">
                <a:moveTo>
                  <a:pt x="166" y="1"/>
                </a:moveTo>
                <a:lnTo>
                  <a:pt x="1" y="96151"/>
                </a:lnTo>
                <a:lnTo>
                  <a:pt x="322" y="96151"/>
                </a:lnTo>
                <a:lnTo>
                  <a:pt x="16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25"/>
          <p:cNvSpPr/>
          <p:nvPr/>
        </p:nvSpPr>
        <p:spPr>
          <a:xfrm>
            <a:off x="7446601" y="3454956"/>
            <a:ext cx="8464" cy="1689096"/>
          </a:xfrm>
          <a:custGeom>
            <a:avLst/>
            <a:gdLst/>
            <a:ahLst/>
            <a:cxnLst/>
            <a:rect l="l" t="t" r="r" b="b"/>
            <a:pathLst>
              <a:path w="323" h="64457" extrusionOk="0">
                <a:moveTo>
                  <a:pt x="157" y="1"/>
                </a:moveTo>
                <a:lnTo>
                  <a:pt x="0" y="64456"/>
                </a:lnTo>
                <a:lnTo>
                  <a:pt x="322" y="64456"/>
                </a:lnTo>
                <a:lnTo>
                  <a:pt x="15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5" name="Google Shape;455;p25"/>
          <p:cNvGrpSpPr/>
          <p:nvPr/>
        </p:nvGrpSpPr>
        <p:grpSpPr>
          <a:xfrm>
            <a:off x="8008096" y="2108910"/>
            <a:ext cx="199001" cy="2139769"/>
            <a:chOff x="8008096" y="2108910"/>
            <a:chExt cx="199001" cy="2139769"/>
          </a:xfrm>
        </p:grpSpPr>
        <p:sp>
          <p:nvSpPr>
            <p:cNvPr id="456" name="Google Shape;456;p25"/>
            <p:cNvSpPr/>
            <p:nvPr/>
          </p:nvSpPr>
          <p:spPr>
            <a:xfrm>
              <a:off x="8008096" y="4049705"/>
              <a:ext cx="199001" cy="198975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5"/>
            <p:cNvSpPr/>
            <p:nvPr/>
          </p:nvSpPr>
          <p:spPr>
            <a:xfrm>
              <a:off x="8103246" y="2108910"/>
              <a:ext cx="8464" cy="1793863"/>
            </a:xfrm>
            <a:custGeom>
              <a:avLst/>
              <a:gdLst/>
              <a:ahLst/>
              <a:cxnLst/>
              <a:rect l="l" t="t" r="r" b="b"/>
              <a:pathLst>
                <a:path w="323" h="68455" extrusionOk="0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8" name="Google Shape;458;p25"/>
          <p:cNvGrpSpPr/>
          <p:nvPr/>
        </p:nvGrpSpPr>
        <p:grpSpPr>
          <a:xfrm>
            <a:off x="4472500" y="3928605"/>
            <a:ext cx="199001" cy="867198"/>
            <a:chOff x="4475150" y="4052605"/>
            <a:chExt cx="199001" cy="867198"/>
          </a:xfrm>
        </p:grpSpPr>
        <p:sp>
          <p:nvSpPr>
            <p:cNvPr id="459" name="Google Shape;459;p25"/>
            <p:cNvSpPr/>
            <p:nvPr/>
          </p:nvSpPr>
          <p:spPr>
            <a:xfrm>
              <a:off x="4475150" y="4052605"/>
              <a:ext cx="199001" cy="220121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5"/>
            <p:cNvSpPr/>
            <p:nvPr/>
          </p:nvSpPr>
          <p:spPr>
            <a:xfrm>
              <a:off x="4522600" y="4494201"/>
              <a:ext cx="104095" cy="115148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5"/>
            <p:cNvSpPr/>
            <p:nvPr/>
          </p:nvSpPr>
          <p:spPr>
            <a:xfrm>
              <a:off x="4534403" y="4830814"/>
              <a:ext cx="80477" cy="88990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7"/>
          <p:cNvSpPr txBox="1">
            <a:spLocks noGrp="1"/>
          </p:cNvSpPr>
          <p:nvPr>
            <p:ph type="ctrTitle" idx="13"/>
          </p:nvPr>
        </p:nvSpPr>
        <p:spPr>
          <a:xfrm>
            <a:off x="5881610" y="3174055"/>
            <a:ext cx="2790392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Supply Chain Management</a:t>
            </a:r>
            <a:endParaRPr dirty="0"/>
          </a:p>
        </p:txBody>
      </p:sp>
      <p:sp>
        <p:nvSpPr>
          <p:cNvPr id="473" name="Google Shape;473;p27"/>
          <p:cNvSpPr txBox="1">
            <a:spLocks noGrp="1"/>
          </p:cNvSpPr>
          <p:nvPr>
            <p:ph type="subTitle" idx="1"/>
          </p:nvPr>
        </p:nvSpPr>
        <p:spPr>
          <a:xfrm>
            <a:off x="6666298" y="3829675"/>
            <a:ext cx="17538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474" name="Google Shape;474;p27"/>
          <p:cNvSpPr txBox="1">
            <a:spLocks noGrp="1"/>
          </p:cNvSpPr>
          <p:nvPr>
            <p:ph type="ctrTitle" idx="4"/>
          </p:nvPr>
        </p:nvSpPr>
        <p:spPr>
          <a:xfrm>
            <a:off x="4021960" y="3234764"/>
            <a:ext cx="1386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IoT</a:t>
            </a:r>
            <a:endParaRPr dirty="0"/>
          </a:p>
        </p:txBody>
      </p:sp>
      <p:sp>
        <p:nvSpPr>
          <p:cNvPr id="475" name="Google Shape;475;p27"/>
          <p:cNvSpPr txBox="1">
            <a:spLocks noGrp="1"/>
          </p:cNvSpPr>
          <p:nvPr>
            <p:ph type="ctrTitle"/>
          </p:nvPr>
        </p:nvSpPr>
        <p:spPr>
          <a:xfrm>
            <a:off x="918535" y="3174055"/>
            <a:ext cx="21525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Health Care</a:t>
            </a:r>
            <a:endParaRPr dirty="0"/>
          </a:p>
        </p:txBody>
      </p:sp>
      <p:sp>
        <p:nvSpPr>
          <p:cNvPr id="476" name="Google Shape;476;p27"/>
          <p:cNvSpPr txBox="1">
            <a:spLocks noGrp="1"/>
          </p:cNvSpPr>
          <p:nvPr>
            <p:ph type="subTitle" idx="2"/>
          </p:nvPr>
        </p:nvSpPr>
        <p:spPr>
          <a:xfrm>
            <a:off x="1223300" y="3829680"/>
            <a:ext cx="17556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477" name="Google Shape;477;p27"/>
          <p:cNvSpPr txBox="1">
            <a:spLocks noGrp="1"/>
          </p:cNvSpPr>
          <p:nvPr>
            <p:ph type="title" idx="3"/>
          </p:nvPr>
        </p:nvSpPr>
        <p:spPr>
          <a:xfrm>
            <a:off x="1223300" y="2645887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78" name="Google Shape;478;p27"/>
          <p:cNvSpPr txBox="1">
            <a:spLocks noGrp="1"/>
          </p:cNvSpPr>
          <p:nvPr>
            <p:ph type="subTitle" idx="5"/>
          </p:nvPr>
        </p:nvSpPr>
        <p:spPr>
          <a:xfrm>
            <a:off x="3942827" y="3829680"/>
            <a:ext cx="17556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479" name="Google Shape;479;p27"/>
          <p:cNvSpPr txBox="1">
            <a:spLocks noGrp="1"/>
          </p:cNvSpPr>
          <p:nvPr>
            <p:ph type="title" idx="6"/>
          </p:nvPr>
        </p:nvSpPr>
        <p:spPr>
          <a:xfrm>
            <a:off x="3942827" y="2645887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80" name="Google Shape;480;p27"/>
          <p:cNvSpPr txBox="1">
            <a:spLocks noGrp="1"/>
          </p:cNvSpPr>
          <p:nvPr>
            <p:ph type="ctrTitle" idx="7"/>
          </p:nvPr>
        </p:nvSpPr>
        <p:spPr>
          <a:xfrm>
            <a:off x="618825" y="411675"/>
            <a:ext cx="4576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481" name="Google Shape;481;p27"/>
          <p:cNvSpPr txBox="1">
            <a:spLocks noGrp="1"/>
          </p:cNvSpPr>
          <p:nvPr>
            <p:ph type="title" idx="9"/>
          </p:nvPr>
        </p:nvSpPr>
        <p:spPr>
          <a:xfrm>
            <a:off x="6665704" y="2645887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82" name="Google Shape;482;p27"/>
          <p:cNvSpPr/>
          <p:nvPr/>
        </p:nvSpPr>
        <p:spPr>
          <a:xfrm>
            <a:off x="1170685" y="1555711"/>
            <a:ext cx="824100" cy="8241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n>
                <a:solidFill>
                  <a:schemeClr val="tx1">
                    <a:lumMod val="40000"/>
                    <a:lumOff val="60000"/>
                  </a:schemeClr>
                </a:solidFill>
              </a:ln>
            </a:endParaRPr>
          </a:p>
        </p:txBody>
      </p:sp>
      <p:sp>
        <p:nvSpPr>
          <p:cNvPr id="483" name="Google Shape;483;p27"/>
          <p:cNvSpPr/>
          <p:nvPr/>
        </p:nvSpPr>
        <p:spPr>
          <a:xfrm>
            <a:off x="3942827" y="1562750"/>
            <a:ext cx="824100" cy="824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27"/>
          <p:cNvSpPr/>
          <p:nvPr/>
        </p:nvSpPr>
        <p:spPr>
          <a:xfrm>
            <a:off x="6665704" y="1562750"/>
            <a:ext cx="824100" cy="82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85" name="Google Shape;485;p27"/>
          <p:cNvCxnSpPr>
            <a:stCxn id="482" idx="1"/>
            <a:endCxn id="477" idx="1"/>
          </p:cNvCxnSpPr>
          <p:nvPr/>
        </p:nvCxnSpPr>
        <p:spPr>
          <a:xfrm rot="10800000" flipH="1" flipV="1">
            <a:off x="1170684" y="1967761"/>
            <a:ext cx="52615" cy="967026"/>
          </a:xfrm>
          <a:prstGeom prst="bentConnector3">
            <a:avLst>
              <a:gd name="adj1" fmla="val -43447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6" name="Google Shape;486;p27"/>
          <p:cNvCxnSpPr>
            <a:stCxn id="483" idx="1"/>
            <a:endCxn id="479" idx="1"/>
          </p:cNvCxnSpPr>
          <p:nvPr/>
        </p:nvCxnSpPr>
        <p:spPr>
          <a:xfrm>
            <a:off x="3942827" y="1974800"/>
            <a:ext cx="600" cy="9600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7" name="Google Shape;487;p27"/>
          <p:cNvCxnSpPr>
            <a:stCxn id="484" idx="1"/>
            <a:endCxn id="481" idx="1"/>
          </p:cNvCxnSpPr>
          <p:nvPr/>
        </p:nvCxnSpPr>
        <p:spPr>
          <a:xfrm>
            <a:off x="6665704" y="1974800"/>
            <a:ext cx="600" cy="9600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8" name="Google Shape;488;p27"/>
          <p:cNvSpPr/>
          <p:nvPr/>
        </p:nvSpPr>
        <p:spPr>
          <a:xfrm>
            <a:off x="2276000" y="1324712"/>
            <a:ext cx="238733" cy="238031"/>
          </a:xfrm>
          <a:custGeom>
            <a:avLst/>
            <a:gdLst/>
            <a:ahLst/>
            <a:cxnLst/>
            <a:rect l="l" t="t" r="r" b="b"/>
            <a:pathLst>
              <a:path w="6593" h="6575" extrusionOk="0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27"/>
          <p:cNvSpPr/>
          <p:nvPr/>
        </p:nvSpPr>
        <p:spPr>
          <a:xfrm>
            <a:off x="7489808" y="2386862"/>
            <a:ext cx="238733" cy="238031"/>
          </a:xfrm>
          <a:custGeom>
            <a:avLst/>
            <a:gdLst/>
            <a:ahLst/>
            <a:cxnLst/>
            <a:rect l="l" t="t" r="r" b="b"/>
            <a:pathLst>
              <a:path w="6593" h="6575" extrusionOk="0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8" name="Picture 8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969" y="1616439"/>
            <a:ext cx="770417" cy="770417"/>
          </a:xfrm>
          <a:prstGeom prst="rect">
            <a:avLst/>
          </a:prstGeom>
        </p:spPr>
      </p:pic>
      <p:pic>
        <p:nvPicPr>
          <p:cNvPr id="95" name="Picture 9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6954" y="1573427"/>
            <a:ext cx="786480" cy="786480"/>
          </a:xfrm>
          <a:prstGeom prst="rect">
            <a:avLst/>
          </a:prstGeom>
        </p:spPr>
      </p:pic>
      <p:pic>
        <p:nvPicPr>
          <p:cNvPr id="96" name="Picture 95"/>
          <p:cNvPicPr>
            <a:picLocks noChangeAspect="1"/>
          </p:cNvPicPr>
          <p:nvPr/>
        </p:nvPicPr>
        <p:blipFill rotWithShape="1">
          <a:blip r:embed="rId5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37"/>
          <a:stretch/>
        </p:blipFill>
        <p:spPr>
          <a:xfrm>
            <a:off x="1196991" y="1630114"/>
            <a:ext cx="775794" cy="67310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7"/>
          <p:cNvSpPr txBox="1">
            <a:spLocks noGrp="1"/>
          </p:cNvSpPr>
          <p:nvPr>
            <p:ph type="ctrTitle" idx="13"/>
          </p:nvPr>
        </p:nvSpPr>
        <p:spPr>
          <a:xfrm>
            <a:off x="6169750" y="3396800"/>
            <a:ext cx="1847199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Smart </a:t>
            </a:r>
            <a:r>
              <a:rPr lang="en-US" dirty="0"/>
              <a:t>Grid</a:t>
            </a:r>
            <a:endParaRPr dirty="0"/>
          </a:p>
        </p:txBody>
      </p:sp>
      <p:sp>
        <p:nvSpPr>
          <p:cNvPr id="473" name="Google Shape;473;p27"/>
          <p:cNvSpPr txBox="1">
            <a:spLocks noGrp="1"/>
          </p:cNvSpPr>
          <p:nvPr>
            <p:ph type="subTitle" idx="1"/>
          </p:nvPr>
        </p:nvSpPr>
        <p:spPr>
          <a:xfrm>
            <a:off x="6666298" y="3829675"/>
            <a:ext cx="17538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 </a:t>
            </a:r>
            <a:endParaRPr dirty="0"/>
          </a:p>
        </p:txBody>
      </p:sp>
      <p:sp>
        <p:nvSpPr>
          <p:cNvPr id="474" name="Google Shape;474;p27"/>
          <p:cNvSpPr txBox="1">
            <a:spLocks noGrp="1"/>
          </p:cNvSpPr>
          <p:nvPr>
            <p:ph type="ctrTitle" idx="4"/>
          </p:nvPr>
        </p:nvSpPr>
        <p:spPr>
          <a:xfrm>
            <a:off x="3116107" y="3313598"/>
            <a:ext cx="2213320" cy="6077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Identity</a:t>
            </a:r>
            <a:r>
              <a:rPr lang="en" sz="1800" dirty="0"/>
              <a:t> </a:t>
            </a:r>
            <a:r>
              <a:rPr lang="en" dirty="0"/>
              <a:t>Management</a:t>
            </a:r>
            <a:endParaRPr dirty="0"/>
          </a:p>
        </p:txBody>
      </p:sp>
      <p:sp>
        <p:nvSpPr>
          <p:cNvPr id="475" name="Google Shape;475;p27"/>
          <p:cNvSpPr txBox="1">
            <a:spLocks noGrp="1"/>
          </p:cNvSpPr>
          <p:nvPr>
            <p:ph type="ctrTitle"/>
          </p:nvPr>
        </p:nvSpPr>
        <p:spPr>
          <a:xfrm>
            <a:off x="618826" y="3482724"/>
            <a:ext cx="2295360" cy="4918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Electronic Voting</a:t>
            </a:r>
            <a:endParaRPr dirty="0"/>
          </a:p>
        </p:txBody>
      </p:sp>
      <p:sp>
        <p:nvSpPr>
          <p:cNvPr id="476" name="Google Shape;476;p27"/>
          <p:cNvSpPr txBox="1">
            <a:spLocks noGrp="1"/>
          </p:cNvSpPr>
          <p:nvPr>
            <p:ph type="subTitle" idx="2"/>
          </p:nvPr>
        </p:nvSpPr>
        <p:spPr>
          <a:xfrm>
            <a:off x="1223300" y="3829680"/>
            <a:ext cx="17556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 </a:t>
            </a:r>
            <a:endParaRPr dirty="0"/>
          </a:p>
        </p:txBody>
      </p:sp>
      <p:sp>
        <p:nvSpPr>
          <p:cNvPr id="477" name="Google Shape;477;p27"/>
          <p:cNvSpPr txBox="1">
            <a:spLocks noGrp="1"/>
          </p:cNvSpPr>
          <p:nvPr>
            <p:ph type="title" idx="3"/>
          </p:nvPr>
        </p:nvSpPr>
        <p:spPr>
          <a:xfrm>
            <a:off x="1223300" y="2645887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479" name="Google Shape;479;p27"/>
          <p:cNvSpPr txBox="1">
            <a:spLocks noGrp="1"/>
          </p:cNvSpPr>
          <p:nvPr>
            <p:ph type="title" idx="6"/>
          </p:nvPr>
        </p:nvSpPr>
        <p:spPr>
          <a:xfrm>
            <a:off x="3942827" y="2645887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480" name="Google Shape;480;p27"/>
          <p:cNvSpPr txBox="1">
            <a:spLocks noGrp="1"/>
          </p:cNvSpPr>
          <p:nvPr>
            <p:ph type="ctrTitle" idx="7"/>
          </p:nvPr>
        </p:nvSpPr>
        <p:spPr>
          <a:xfrm>
            <a:off x="618825" y="411675"/>
            <a:ext cx="4576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481" name="Google Shape;481;p27"/>
          <p:cNvSpPr txBox="1">
            <a:spLocks noGrp="1"/>
          </p:cNvSpPr>
          <p:nvPr>
            <p:ph type="title" idx="9"/>
          </p:nvPr>
        </p:nvSpPr>
        <p:spPr>
          <a:xfrm>
            <a:off x="6665704" y="2645887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482" name="Google Shape;482;p27"/>
          <p:cNvSpPr/>
          <p:nvPr/>
        </p:nvSpPr>
        <p:spPr>
          <a:xfrm>
            <a:off x="1223300" y="1562750"/>
            <a:ext cx="824100" cy="824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27"/>
          <p:cNvSpPr/>
          <p:nvPr/>
        </p:nvSpPr>
        <p:spPr>
          <a:xfrm>
            <a:off x="3942827" y="1562750"/>
            <a:ext cx="824100" cy="824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27"/>
          <p:cNvSpPr/>
          <p:nvPr/>
        </p:nvSpPr>
        <p:spPr>
          <a:xfrm>
            <a:off x="6665704" y="1562750"/>
            <a:ext cx="824100" cy="82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85" name="Google Shape;485;p27"/>
          <p:cNvCxnSpPr>
            <a:stCxn id="482" idx="1"/>
            <a:endCxn id="477" idx="1"/>
          </p:cNvCxnSpPr>
          <p:nvPr/>
        </p:nvCxnSpPr>
        <p:spPr>
          <a:xfrm>
            <a:off x="1223300" y="1974800"/>
            <a:ext cx="600" cy="9600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6" name="Google Shape;486;p27"/>
          <p:cNvCxnSpPr>
            <a:stCxn id="483" idx="1"/>
            <a:endCxn id="479" idx="1"/>
          </p:cNvCxnSpPr>
          <p:nvPr/>
        </p:nvCxnSpPr>
        <p:spPr>
          <a:xfrm>
            <a:off x="3942827" y="1974800"/>
            <a:ext cx="600" cy="9600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7" name="Google Shape;487;p27"/>
          <p:cNvCxnSpPr>
            <a:stCxn id="484" idx="1"/>
            <a:endCxn id="481" idx="1"/>
          </p:cNvCxnSpPr>
          <p:nvPr/>
        </p:nvCxnSpPr>
        <p:spPr>
          <a:xfrm>
            <a:off x="6665704" y="1974800"/>
            <a:ext cx="600" cy="9600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8" name="Google Shape;488;p27"/>
          <p:cNvSpPr/>
          <p:nvPr/>
        </p:nvSpPr>
        <p:spPr>
          <a:xfrm>
            <a:off x="2276000" y="1324712"/>
            <a:ext cx="238733" cy="238031"/>
          </a:xfrm>
          <a:custGeom>
            <a:avLst/>
            <a:gdLst/>
            <a:ahLst/>
            <a:cxnLst/>
            <a:rect l="l" t="t" r="r" b="b"/>
            <a:pathLst>
              <a:path w="6593" h="6575" extrusionOk="0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27"/>
          <p:cNvSpPr/>
          <p:nvPr/>
        </p:nvSpPr>
        <p:spPr>
          <a:xfrm>
            <a:off x="7489808" y="2386862"/>
            <a:ext cx="238733" cy="238031"/>
          </a:xfrm>
          <a:custGeom>
            <a:avLst/>
            <a:gdLst/>
            <a:ahLst/>
            <a:cxnLst/>
            <a:rect l="l" t="t" r="r" b="b"/>
            <a:pathLst>
              <a:path w="6593" h="6575" extrusionOk="0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104" y="1602327"/>
            <a:ext cx="744946" cy="74494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5761" y="1648066"/>
            <a:ext cx="658832" cy="65883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8558" y="1608464"/>
            <a:ext cx="778392" cy="77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019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7"/>
          <p:cNvSpPr txBox="1">
            <a:spLocks noGrp="1"/>
          </p:cNvSpPr>
          <p:nvPr>
            <p:ph type="ctrTitle" idx="13"/>
          </p:nvPr>
        </p:nvSpPr>
        <p:spPr>
          <a:xfrm>
            <a:off x="5933050" y="3346850"/>
            <a:ext cx="2824373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Digital Media Entertainment</a:t>
            </a:r>
            <a:endParaRPr dirty="0"/>
          </a:p>
        </p:txBody>
      </p:sp>
      <p:sp>
        <p:nvSpPr>
          <p:cNvPr id="474" name="Google Shape;474;p27"/>
          <p:cNvSpPr txBox="1">
            <a:spLocks noGrp="1"/>
          </p:cNvSpPr>
          <p:nvPr>
            <p:ph type="ctrTitle" idx="4"/>
          </p:nvPr>
        </p:nvSpPr>
        <p:spPr>
          <a:xfrm>
            <a:off x="3653354" y="3534303"/>
            <a:ext cx="1531088" cy="36049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1800" dirty="0"/>
              <a:t>Cryptocurrency</a:t>
            </a:r>
          </a:p>
        </p:txBody>
      </p:sp>
      <p:sp>
        <p:nvSpPr>
          <p:cNvPr id="475" name="Google Shape;475;p27"/>
          <p:cNvSpPr txBox="1">
            <a:spLocks noGrp="1"/>
          </p:cNvSpPr>
          <p:nvPr>
            <p:ph type="ctrTitle"/>
          </p:nvPr>
        </p:nvSpPr>
        <p:spPr>
          <a:xfrm>
            <a:off x="683200" y="3346850"/>
            <a:ext cx="21525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Finance &amp; Banking</a:t>
            </a:r>
            <a:endParaRPr dirty="0"/>
          </a:p>
        </p:txBody>
      </p:sp>
      <p:sp>
        <p:nvSpPr>
          <p:cNvPr id="477" name="Google Shape;477;p27"/>
          <p:cNvSpPr txBox="1">
            <a:spLocks noGrp="1"/>
          </p:cNvSpPr>
          <p:nvPr>
            <p:ph type="title" idx="3"/>
          </p:nvPr>
        </p:nvSpPr>
        <p:spPr>
          <a:xfrm>
            <a:off x="1223300" y="2645887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sp>
        <p:nvSpPr>
          <p:cNvPr id="478" name="Google Shape;478;p27"/>
          <p:cNvSpPr txBox="1">
            <a:spLocks noGrp="1"/>
          </p:cNvSpPr>
          <p:nvPr>
            <p:ph type="subTitle" idx="5"/>
          </p:nvPr>
        </p:nvSpPr>
        <p:spPr>
          <a:xfrm>
            <a:off x="3942827" y="3829680"/>
            <a:ext cx="17556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 </a:t>
            </a:r>
            <a:endParaRPr dirty="0"/>
          </a:p>
        </p:txBody>
      </p:sp>
      <p:sp>
        <p:nvSpPr>
          <p:cNvPr id="479" name="Google Shape;479;p27"/>
          <p:cNvSpPr txBox="1">
            <a:spLocks noGrp="1"/>
          </p:cNvSpPr>
          <p:nvPr>
            <p:ph type="title" idx="6"/>
          </p:nvPr>
        </p:nvSpPr>
        <p:spPr>
          <a:xfrm>
            <a:off x="3942827" y="2645887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  <p:sp>
        <p:nvSpPr>
          <p:cNvPr id="480" name="Google Shape;480;p27"/>
          <p:cNvSpPr txBox="1">
            <a:spLocks noGrp="1"/>
          </p:cNvSpPr>
          <p:nvPr>
            <p:ph type="ctrTitle" idx="7"/>
          </p:nvPr>
        </p:nvSpPr>
        <p:spPr>
          <a:xfrm>
            <a:off x="618825" y="411675"/>
            <a:ext cx="4576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481" name="Google Shape;481;p27"/>
          <p:cNvSpPr txBox="1">
            <a:spLocks noGrp="1"/>
          </p:cNvSpPr>
          <p:nvPr>
            <p:ph type="title" idx="9"/>
          </p:nvPr>
        </p:nvSpPr>
        <p:spPr>
          <a:xfrm>
            <a:off x="6665704" y="2645887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09</a:t>
            </a:r>
            <a:endParaRPr dirty="0"/>
          </a:p>
        </p:txBody>
      </p:sp>
      <p:sp>
        <p:nvSpPr>
          <p:cNvPr id="482" name="Google Shape;482;p27"/>
          <p:cNvSpPr/>
          <p:nvPr/>
        </p:nvSpPr>
        <p:spPr>
          <a:xfrm>
            <a:off x="1223300" y="1562750"/>
            <a:ext cx="824100" cy="824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27"/>
          <p:cNvSpPr/>
          <p:nvPr/>
        </p:nvSpPr>
        <p:spPr>
          <a:xfrm>
            <a:off x="3942827" y="1578158"/>
            <a:ext cx="824100" cy="824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27"/>
          <p:cNvSpPr/>
          <p:nvPr/>
        </p:nvSpPr>
        <p:spPr>
          <a:xfrm>
            <a:off x="6665704" y="1562750"/>
            <a:ext cx="824100" cy="82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85" name="Google Shape;485;p27"/>
          <p:cNvCxnSpPr>
            <a:stCxn id="482" idx="1"/>
            <a:endCxn id="477" idx="1"/>
          </p:cNvCxnSpPr>
          <p:nvPr/>
        </p:nvCxnSpPr>
        <p:spPr>
          <a:xfrm>
            <a:off x="1223300" y="1974800"/>
            <a:ext cx="600" cy="9600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6" name="Google Shape;486;p27"/>
          <p:cNvCxnSpPr>
            <a:stCxn id="483" idx="1"/>
            <a:endCxn id="479" idx="1"/>
          </p:cNvCxnSpPr>
          <p:nvPr/>
        </p:nvCxnSpPr>
        <p:spPr>
          <a:xfrm>
            <a:off x="3942827" y="1974800"/>
            <a:ext cx="600" cy="9600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7" name="Google Shape;487;p27"/>
          <p:cNvCxnSpPr>
            <a:stCxn id="484" idx="1"/>
            <a:endCxn id="481" idx="1"/>
          </p:cNvCxnSpPr>
          <p:nvPr/>
        </p:nvCxnSpPr>
        <p:spPr>
          <a:xfrm>
            <a:off x="6665704" y="1974800"/>
            <a:ext cx="600" cy="9600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8" name="Google Shape;488;p27"/>
          <p:cNvSpPr/>
          <p:nvPr/>
        </p:nvSpPr>
        <p:spPr>
          <a:xfrm>
            <a:off x="2276000" y="1324712"/>
            <a:ext cx="238733" cy="238031"/>
          </a:xfrm>
          <a:custGeom>
            <a:avLst/>
            <a:gdLst/>
            <a:ahLst/>
            <a:cxnLst/>
            <a:rect l="l" t="t" r="r" b="b"/>
            <a:pathLst>
              <a:path w="6593" h="6575" extrusionOk="0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27"/>
          <p:cNvSpPr/>
          <p:nvPr/>
        </p:nvSpPr>
        <p:spPr>
          <a:xfrm>
            <a:off x="7489808" y="2386862"/>
            <a:ext cx="238733" cy="238031"/>
          </a:xfrm>
          <a:custGeom>
            <a:avLst/>
            <a:gdLst/>
            <a:ahLst/>
            <a:cxnLst/>
            <a:rect l="l" t="t" r="r" b="b"/>
            <a:pathLst>
              <a:path w="6593" h="6575" extrusionOk="0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320" y="1642878"/>
            <a:ext cx="694660" cy="6946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959605" y="1595468"/>
            <a:ext cx="790544" cy="79054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4942" y="1562738"/>
            <a:ext cx="794262" cy="794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968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2"/>
          <p:cNvSpPr txBox="1">
            <a:spLocks noGrp="1"/>
          </p:cNvSpPr>
          <p:nvPr>
            <p:ph type="ctrTitle"/>
          </p:nvPr>
        </p:nvSpPr>
        <p:spPr>
          <a:xfrm>
            <a:off x="1823718" y="1808580"/>
            <a:ext cx="3037138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Health Care</a:t>
            </a:r>
            <a:endParaRPr dirty="0"/>
          </a:p>
        </p:txBody>
      </p:sp>
      <p:sp>
        <p:nvSpPr>
          <p:cNvPr id="690" name="Google Shape;690;p32"/>
          <p:cNvSpPr/>
          <p:nvPr/>
        </p:nvSpPr>
        <p:spPr>
          <a:xfrm>
            <a:off x="5782875" y="1868575"/>
            <a:ext cx="1085100" cy="1085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32"/>
          <p:cNvSpPr txBox="1">
            <a:spLocks noGrp="1"/>
          </p:cNvSpPr>
          <p:nvPr>
            <p:ph type="title" idx="2"/>
          </p:nvPr>
        </p:nvSpPr>
        <p:spPr>
          <a:xfrm>
            <a:off x="5834900" y="2122225"/>
            <a:ext cx="9810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92" name="Google Shape;692;p32"/>
          <p:cNvSpPr/>
          <p:nvPr/>
        </p:nvSpPr>
        <p:spPr>
          <a:xfrm>
            <a:off x="1370476" y="3869000"/>
            <a:ext cx="6279992" cy="104326"/>
          </a:xfrm>
          <a:custGeom>
            <a:avLst/>
            <a:gdLst/>
            <a:ahLst/>
            <a:cxnLst/>
            <a:rect l="l" t="t" r="r" b="b"/>
            <a:pathLst>
              <a:path w="143387" h="2382" extrusionOk="0">
                <a:moveTo>
                  <a:pt x="1185" y="0"/>
                </a:moveTo>
                <a:cubicBezTo>
                  <a:pt x="530" y="0"/>
                  <a:pt x="1" y="529"/>
                  <a:pt x="1" y="1184"/>
                </a:cubicBezTo>
                <a:cubicBezTo>
                  <a:pt x="1" y="1840"/>
                  <a:pt x="530" y="2382"/>
                  <a:pt x="1185" y="2382"/>
                </a:cubicBezTo>
                <a:lnTo>
                  <a:pt x="142189" y="2382"/>
                </a:lnTo>
                <a:cubicBezTo>
                  <a:pt x="142844" y="2382"/>
                  <a:pt x="143386" y="1840"/>
                  <a:pt x="143386" y="1184"/>
                </a:cubicBezTo>
                <a:cubicBezTo>
                  <a:pt x="143386" y="529"/>
                  <a:pt x="142844" y="0"/>
                  <a:pt x="14218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32"/>
          <p:cNvSpPr/>
          <p:nvPr/>
        </p:nvSpPr>
        <p:spPr>
          <a:xfrm>
            <a:off x="1369950" y="3869000"/>
            <a:ext cx="5074478" cy="104326"/>
          </a:xfrm>
          <a:custGeom>
            <a:avLst/>
            <a:gdLst/>
            <a:ahLst/>
            <a:cxnLst/>
            <a:rect l="l" t="t" r="r" b="b"/>
            <a:pathLst>
              <a:path w="87904" h="2382" extrusionOk="0">
                <a:moveTo>
                  <a:pt x="1197" y="0"/>
                </a:moveTo>
                <a:cubicBezTo>
                  <a:pt x="529" y="0"/>
                  <a:pt x="0" y="529"/>
                  <a:pt x="0" y="1184"/>
                </a:cubicBezTo>
                <a:cubicBezTo>
                  <a:pt x="0" y="1840"/>
                  <a:pt x="529" y="2382"/>
                  <a:pt x="1197" y="2382"/>
                </a:cubicBezTo>
                <a:lnTo>
                  <a:pt x="86719" y="2382"/>
                </a:lnTo>
                <a:cubicBezTo>
                  <a:pt x="87375" y="2382"/>
                  <a:pt x="87904" y="1840"/>
                  <a:pt x="87904" y="1184"/>
                </a:cubicBezTo>
                <a:cubicBezTo>
                  <a:pt x="87904" y="529"/>
                  <a:pt x="87375" y="0"/>
                  <a:pt x="8671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94" name="Google Shape;694;p32"/>
          <p:cNvCxnSpPr>
            <a:stCxn id="690" idx="2"/>
          </p:cNvCxnSpPr>
          <p:nvPr/>
        </p:nvCxnSpPr>
        <p:spPr>
          <a:xfrm>
            <a:off x="6325425" y="2953675"/>
            <a:ext cx="0" cy="978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idx="1"/>
          </p:nvPr>
        </p:nvSpPr>
        <p:spPr>
          <a:xfrm>
            <a:off x="618825" y="989475"/>
            <a:ext cx="5101491" cy="3625055"/>
          </a:xfrm>
        </p:spPr>
        <p:txBody>
          <a:bodyPr/>
          <a:lstStyle/>
          <a:p>
            <a:pPr algn="just"/>
            <a:r>
              <a:rPr lang="en-GB" sz="1600" b="1" dirty="0"/>
              <a:t>Data Security: </a:t>
            </a:r>
            <a:r>
              <a:rPr lang="en-GB" sz="1600" dirty="0"/>
              <a:t>Ensures secure and tamper-proof storage of patient records</a:t>
            </a:r>
          </a:p>
          <a:p>
            <a:pPr marL="165100" indent="0" algn="just">
              <a:buNone/>
            </a:pPr>
            <a:endParaRPr lang="en-GB" sz="1400" dirty="0"/>
          </a:p>
          <a:p>
            <a:pPr algn="just"/>
            <a:r>
              <a:rPr lang="en-GB" sz="1600" b="1" dirty="0"/>
              <a:t>Interoperability: </a:t>
            </a:r>
            <a:r>
              <a:rPr lang="en-GB" sz="1600" dirty="0"/>
              <a:t>Facilitates seamless sharing of medical data among healthcare providers</a:t>
            </a:r>
          </a:p>
          <a:p>
            <a:pPr marL="165100" indent="0" algn="just">
              <a:buNone/>
            </a:pPr>
            <a:endParaRPr lang="en-GB" sz="1400" dirty="0"/>
          </a:p>
          <a:p>
            <a:pPr algn="just"/>
            <a:r>
              <a:rPr lang="en-GB" sz="1600" b="1" dirty="0"/>
              <a:t>Patient Control: </a:t>
            </a:r>
            <a:r>
              <a:rPr lang="en-GB" sz="1600" dirty="0"/>
              <a:t>Empowers patients with ownership and control of their health information</a:t>
            </a:r>
          </a:p>
          <a:p>
            <a:pPr marL="165100" indent="0" algn="just">
              <a:buNone/>
            </a:pPr>
            <a:endParaRPr lang="en-GB" sz="1400" dirty="0"/>
          </a:p>
          <a:p>
            <a:pPr algn="just"/>
            <a:r>
              <a:rPr lang="en-GB" sz="1600" b="1" dirty="0"/>
              <a:t>Efficiency:</a:t>
            </a:r>
            <a:r>
              <a:rPr lang="en-GB" sz="1600" dirty="0"/>
              <a:t> Streamlines administrative processes and reduces paperwork</a:t>
            </a:r>
          </a:p>
          <a:p>
            <a:pPr marL="165100" indent="0" algn="just">
              <a:buNone/>
            </a:pPr>
            <a:endParaRPr lang="en-GB" sz="1400" dirty="0"/>
          </a:p>
          <a:p>
            <a:pPr algn="just"/>
            <a:r>
              <a:rPr lang="en-GB" sz="1600" b="1" dirty="0"/>
              <a:t>Drug Traceability:</a:t>
            </a:r>
            <a:r>
              <a:rPr lang="en-GB" sz="1600" dirty="0"/>
              <a:t> Enhances transparency and authenticity in pharmaceutical supply chains</a:t>
            </a:r>
          </a:p>
          <a:p>
            <a:pPr algn="just"/>
            <a:endParaRPr lang="en-GB" sz="1600" dirty="0"/>
          </a:p>
        </p:txBody>
      </p:sp>
      <p:sp>
        <p:nvSpPr>
          <p:cNvPr id="13" name="Title 12"/>
          <p:cNvSpPr>
            <a:spLocks noGrp="1"/>
          </p:cNvSpPr>
          <p:nvPr>
            <p:ph type="ctrTitle"/>
          </p:nvPr>
        </p:nvSpPr>
        <p:spPr>
          <a:xfrm>
            <a:off x="618825" y="411675"/>
            <a:ext cx="5158198" cy="577800"/>
          </a:xfrm>
        </p:spPr>
        <p:txBody>
          <a:bodyPr/>
          <a:lstStyle/>
          <a:p>
            <a:r>
              <a:rPr lang="en-US" dirty="0"/>
              <a:t> Blockchain in Healthcare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600"/>
                    </a14:imgEffect>
                    <a14:imgEffect>
                      <a14:saturation sat="37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3237"/>
          <a:stretch/>
        </p:blipFill>
        <p:spPr>
          <a:xfrm>
            <a:off x="6138530" y="1690456"/>
            <a:ext cx="2562244" cy="222309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6761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idx="4294967295"/>
          </p:nvPr>
        </p:nvSpPr>
        <p:spPr>
          <a:xfrm>
            <a:off x="0" y="989013"/>
            <a:ext cx="5100638" cy="3625850"/>
          </a:xfrm>
        </p:spPr>
        <p:txBody>
          <a:bodyPr/>
          <a:lstStyle/>
          <a:p>
            <a:pPr marL="158750" indent="0" algn="just">
              <a:buNone/>
            </a:pPr>
            <a:r>
              <a:rPr lang="en-GB" sz="1600" dirty="0"/>
              <a:t> </a:t>
            </a:r>
          </a:p>
        </p:txBody>
      </p:sp>
      <p:sp>
        <p:nvSpPr>
          <p:cNvPr id="13" name="Title 12"/>
          <p:cNvSpPr>
            <a:spLocks noGrp="1"/>
          </p:cNvSpPr>
          <p:nvPr>
            <p:ph type="ctrTitle" idx="4294967295"/>
          </p:nvPr>
        </p:nvSpPr>
        <p:spPr>
          <a:xfrm>
            <a:off x="0" y="411163"/>
            <a:ext cx="5157788" cy="57785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407" y="49311"/>
            <a:ext cx="5601185" cy="50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425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ctrTitle" idx="4294967295"/>
          </p:nvPr>
        </p:nvSpPr>
        <p:spPr>
          <a:xfrm>
            <a:off x="0" y="411163"/>
            <a:ext cx="5157788" cy="57785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1026" name="Picture 2" descr="Blockchain technology applications in healthcare: An overview -  ScienceDirec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36" y="645079"/>
            <a:ext cx="8778238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794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idx="1"/>
          </p:nvPr>
        </p:nvSpPr>
        <p:spPr>
          <a:xfrm>
            <a:off x="618824" y="989475"/>
            <a:ext cx="7908487" cy="3625055"/>
          </a:xfrm>
        </p:spPr>
        <p:txBody>
          <a:bodyPr/>
          <a:lstStyle/>
          <a:p>
            <a:pPr marL="165100" indent="0" algn="just">
              <a:buNone/>
            </a:pPr>
            <a:r>
              <a:rPr lang="en-GB" sz="1600" b="1" dirty="0"/>
              <a:t>Pros:</a:t>
            </a:r>
          </a:p>
          <a:p>
            <a:pPr algn="just"/>
            <a:r>
              <a:rPr lang="en-GB" sz="1600" dirty="0"/>
              <a:t>Improved patient outcomes with accurate &amp; accessible medical records</a:t>
            </a:r>
          </a:p>
          <a:p>
            <a:pPr algn="just"/>
            <a:r>
              <a:rPr lang="en-GB" sz="1600" dirty="0"/>
              <a:t>Enhanced data integrity &amp; privacy compliance</a:t>
            </a:r>
          </a:p>
          <a:p>
            <a:pPr algn="just"/>
            <a:r>
              <a:rPr lang="en-GB" sz="1600" dirty="0"/>
              <a:t>Streamlined administrative processes, reducing healthcare costs</a:t>
            </a:r>
          </a:p>
          <a:p>
            <a:pPr marL="165100" indent="0" algn="just">
              <a:buNone/>
            </a:pPr>
            <a:endParaRPr lang="en-GB" sz="1600" dirty="0"/>
          </a:p>
          <a:p>
            <a:pPr marL="165100" indent="0" algn="just">
              <a:buNone/>
            </a:pPr>
            <a:r>
              <a:rPr lang="en-GB" sz="1600" b="1" dirty="0"/>
              <a:t>Cons:</a:t>
            </a:r>
          </a:p>
          <a:p>
            <a:pPr algn="just"/>
            <a:r>
              <a:rPr lang="en-GB" sz="1600" dirty="0"/>
              <a:t>Regulatory compliance challenges, especially in patient data privacy</a:t>
            </a:r>
          </a:p>
          <a:p>
            <a:pPr algn="just"/>
            <a:r>
              <a:rPr lang="en-GB" sz="1600" dirty="0"/>
              <a:t>Integration complexities with existing healthcare IT systems</a:t>
            </a:r>
          </a:p>
          <a:p>
            <a:pPr algn="just"/>
            <a:r>
              <a:rPr lang="en-GB" sz="1600" dirty="0"/>
              <a:t>Concerns regarding scalability in large healthcare networks</a:t>
            </a:r>
          </a:p>
        </p:txBody>
      </p:sp>
      <p:sp>
        <p:nvSpPr>
          <p:cNvPr id="13" name="Title 12"/>
          <p:cNvSpPr>
            <a:spLocks noGrp="1"/>
          </p:cNvSpPr>
          <p:nvPr>
            <p:ph type="ctrTitle"/>
          </p:nvPr>
        </p:nvSpPr>
        <p:spPr>
          <a:xfrm>
            <a:off x="618824" y="411675"/>
            <a:ext cx="5158198" cy="577800"/>
          </a:xfrm>
        </p:spPr>
        <p:txBody>
          <a:bodyPr/>
          <a:lstStyle/>
          <a:p>
            <a:r>
              <a:rPr lang="en-US" dirty="0"/>
              <a:t> Blockchain in Healthcare</a:t>
            </a:r>
          </a:p>
        </p:txBody>
      </p:sp>
    </p:spTree>
    <p:extLst>
      <p:ext uri="{BB962C8B-B14F-4D97-AF65-F5344CB8AC3E}">
        <p14:creationId xmlns:p14="http://schemas.microsoft.com/office/powerpoint/2010/main" val="4218930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2"/>
          <p:cNvSpPr txBox="1">
            <a:spLocks noGrp="1"/>
          </p:cNvSpPr>
          <p:nvPr>
            <p:ph type="ctrTitle"/>
          </p:nvPr>
        </p:nvSpPr>
        <p:spPr>
          <a:xfrm>
            <a:off x="2220667" y="1936170"/>
            <a:ext cx="3037138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IoT</a:t>
            </a:r>
            <a:endParaRPr dirty="0"/>
          </a:p>
        </p:txBody>
      </p:sp>
      <p:sp>
        <p:nvSpPr>
          <p:cNvPr id="690" name="Google Shape;690;p32"/>
          <p:cNvSpPr/>
          <p:nvPr/>
        </p:nvSpPr>
        <p:spPr>
          <a:xfrm>
            <a:off x="5782875" y="1868575"/>
            <a:ext cx="1085100" cy="1085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32"/>
          <p:cNvSpPr txBox="1">
            <a:spLocks noGrp="1"/>
          </p:cNvSpPr>
          <p:nvPr>
            <p:ph type="title" idx="2"/>
          </p:nvPr>
        </p:nvSpPr>
        <p:spPr>
          <a:xfrm>
            <a:off x="5834900" y="2122225"/>
            <a:ext cx="9810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02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692" name="Google Shape;692;p32"/>
          <p:cNvSpPr/>
          <p:nvPr/>
        </p:nvSpPr>
        <p:spPr>
          <a:xfrm>
            <a:off x="1370476" y="3869000"/>
            <a:ext cx="6279992" cy="104326"/>
          </a:xfrm>
          <a:custGeom>
            <a:avLst/>
            <a:gdLst/>
            <a:ahLst/>
            <a:cxnLst/>
            <a:rect l="l" t="t" r="r" b="b"/>
            <a:pathLst>
              <a:path w="143387" h="2382" extrusionOk="0">
                <a:moveTo>
                  <a:pt x="1185" y="0"/>
                </a:moveTo>
                <a:cubicBezTo>
                  <a:pt x="530" y="0"/>
                  <a:pt x="1" y="529"/>
                  <a:pt x="1" y="1184"/>
                </a:cubicBezTo>
                <a:cubicBezTo>
                  <a:pt x="1" y="1840"/>
                  <a:pt x="530" y="2382"/>
                  <a:pt x="1185" y="2382"/>
                </a:cubicBezTo>
                <a:lnTo>
                  <a:pt x="142189" y="2382"/>
                </a:lnTo>
                <a:cubicBezTo>
                  <a:pt x="142844" y="2382"/>
                  <a:pt x="143386" y="1840"/>
                  <a:pt x="143386" y="1184"/>
                </a:cubicBezTo>
                <a:cubicBezTo>
                  <a:pt x="143386" y="529"/>
                  <a:pt x="142844" y="0"/>
                  <a:pt x="14218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32"/>
          <p:cNvSpPr/>
          <p:nvPr/>
        </p:nvSpPr>
        <p:spPr>
          <a:xfrm>
            <a:off x="1369950" y="3869000"/>
            <a:ext cx="5074478" cy="104326"/>
          </a:xfrm>
          <a:custGeom>
            <a:avLst/>
            <a:gdLst/>
            <a:ahLst/>
            <a:cxnLst/>
            <a:rect l="l" t="t" r="r" b="b"/>
            <a:pathLst>
              <a:path w="87904" h="2382" extrusionOk="0">
                <a:moveTo>
                  <a:pt x="1197" y="0"/>
                </a:moveTo>
                <a:cubicBezTo>
                  <a:pt x="529" y="0"/>
                  <a:pt x="0" y="529"/>
                  <a:pt x="0" y="1184"/>
                </a:cubicBezTo>
                <a:cubicBezTo>
                  <a:pt x="0" y="1840"/>
                  <a:pt x="529" y="2382"/>
                  <a:pt x="1197" y="2382"/>
                </a:cubicBezTo>
                <a:lnTo>
                  <a:pt x="86719" y="2382"/>
                </a:lnTo>
                <a:cubicBezTo>
                  <a:pt x="87375" y="2382"/>
                  <a:pt x="87904" y="1840"/>
                  <a:pt x="87904" y="1184"/>
                </a:cubicBezTo>
                <a:cubicBezTo>
                  <a:pt x="87904" y="529"/>
                  <a:pt x="87375" y="0"/>
                  <a:pt x="8671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94" name="Google Shape;694;p32"/>
          <p:cNvCxnSpPr>
            <a:stCxn id="690" idx="2"/>
          </p:cNvCxnSpPr>
          <p:nvPr/>
        </p:nvCxnSpPr>
        <p:spPr>
          <a:xfrm>
            <a:off x="6325425" y="2953675"/>
            <a:ext cx="0" cy="9780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7066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idx="1"/>
          </p:nvPr>
        </p:nvSpPr>
        <p:spPr>
          <a:xfrm>
            <a:off x="618825" y="989475"/>
            <a:ext cx="5101491" cy="3625055"/>
          </a:xfrm>
        </p:spPr>
        <p:txBody>
          <a:bodyPr/>
          <a:lstStyle/>
          <a:p>
            <a:pPr algn="just"/>
            <a:r>
              <a:rPr lang="en-GB" sz="1600" dirty="0"/>
              <a:t>Integrating blockchain with </a:t>
            </a:r>
            <a:r>
              <a:rPr lang="en-GB" sz="1600" dirty="0" err="1"/>
              <a:t>IoT</a:t>
            </a:r>
            <a:r>
              <a:rPr lang="en-GB" sz="1600" dirty="0"/>
              <a:t> devices for secure data exchange and automated transactions</a:t>
            </a:r>
          </a:p>
          <a:p>
            <a:pPr marL="165100" indent="0" algn="just">
              <a:buNone/>
            </a:pPr>
            <a:endParaRPr lang="en-GB" sz="800" dirty="0"/>
          </a:p>
          <a:p>
            <a:pPr algn="just"/>
            <a:r>
              <a:rPr lang="en-GB" sz="1600" dirty="0"/>
              <a:t>Utilizing smart contracts to manage interactions between devices</a:t>
            </a:r>
          </a:p>
          <a:p>
            <a:pPr marL="165100" indent="0" algn="just">
              <a:buNone/>
            </a:pPr>
            <a:endParaRPr lang="en-GB" sz="800" dirty="0"/>
          </a:p>
          <a:p>
            <a:pPr algn="just"/>
            <a:r>
              <a:rPr lang="en-GB" sz="1600" dirty="0"/>
              <a:t>By providing a decentralized ledger, blockchain fosters trust among stakeholders in the </a:t>
            </a:r>
            <a:r>
              <a:rPr lang="en-GB" sz="1600" dirty="0" err="1"/>
              <a:t>IoT</a:t>
            </a:r>
            <a:r>
              <a:rPr lang="en-GB" sz="1600" dirty="0"/>
              <a:t> ecosystem</a:t>
            </a:r>
          </a:p>
        </p:txBody>
      </p:sp>
      <p:sp>
        <p:nvSpPr>
          <p:cNvPr id="13" name="Title 12"/>
          <p:cNvSpPr>
            <a:spLocks noGrp="1"/>
          </p:cNvSpPr>
          <p:nvPr>
            <p:ph type="ctrTitle"/>
          </p:nvPr>
        </p:nvSpPr>
        <p:spPr>
          <a:xfrm>
            <a:off x="618825" y="411675"/>
            <a:ext cx="5158198" cy="577800"/>
          </a:xfrm>
        </p:spPr>
        <p:txBody>
          <a:bodyPr/>
          <a:lstStyle/>
          <a:p>
            <a:r>
              <a:rPr lang="en-US" dirty="0"/>
              <a:t> Blockchain in IOT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2872" y="1672925"/>
            <a:ext cx="2388781" cy="238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7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idx="4294967295"/>
          </p:nvPr>
        </p:nvSpPr>
        <p:spPr>
          <a:xfrm>
            <a:off x="0" y="989013"/>
            <a:ext cx="5100638" cy="3625850"/>
          </a:xfrm>
        </p:spPr>
        <p:txBody>
          <a:bodyPr/>
          <a:lstStyle/>
          <a:p>
            <a:pPr marL="158750" indent="0" algn="just">
              <a:buNone/>
            </a:pPr>
            <a:r>
              <a:rPr lang="en-GB" sz="1600" dirty="0"/>
              <a:t> </a:t>
            </a:r>
          </a:p>
        </p:txBody>
      </p:sp>
      <p:sp>
        <p:nvSpPr>
          <p:cNvPr id="13" name="Title 12"/>
          <p:cNvSpPr>
            <a:spLocks noGrp="1"/>
          </p:cNvSpPr>
          <p:nvPr>
            <p:ph type="ctrTitle" idx="4294967295"/>
          </p:nvPr>
        </p:nvSpPr>
        <p:spPr>
          <a:xfrm>
            <a:off x="0" y="411163"/>
            <a:ext cx="5157788" cy="57785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3076" name="Picture 4" descr="How Blockchain Technology Can Benefit the (IoT) Internet of Thing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529" y="650469"/>
            <a:ext cx="7555043" cy="384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5834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idx="4294967295"/>
          </p:nvPr>
        </p:nvSpPr>
        <p:spPr>
          <a:xfrm>
            <a:off x="0" y="989013"/>
            <a:ext cx="5100638" cy="3625850"/>
          </a:xfrm>
        </p:spPr>
        <p:txBody>
          <a:bodyPr/>
          <a:lstStyle/>
          <a:p>
            <a:pPr marL="158750" indent="0" algn="just">
              <a:buNone/>
            </a:pPr>
            <a:r>
              <a:rPr lang="en-GB" sz="1600" dirty="0"/>
              <a:t> </a:t>
            </a:r>
          </a:p>
        </p:txBody>
      </p:sp>
      <p:sp>
        <p:nvSpPr>
          <p:cNvPr id="13" name="Title 12"/>
          <p:cNvSpPr>
            <a:spLocks noGrp="1"/>
          </p:cNvSpPr>
          <p:nvPr>
            <p:ph type="ctrTitle" idx="4294967295"/>
          </p:nvPr>
        </p:nvSpPr>
        <p:spPr>
          <a:xfrm>
            <a:off x="0" y="411163"/>
            <a:ext cx="5157788" cy="57785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3074" name="Picture 2" descr="IoT blockchain platform conceptual scenario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060" y="163552"/>
            <a:ext cx="7470698" cy="4780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244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idx="1"/>
          </p:nvPr>
        </p:nvSpPr>
        <p:spPr>
          <a:xfrm>
            <a:off x="618824" y="989475"/>
            <a:ext cx="5980450" cy="3625055"/>
          </a:xfrm>
        </p:spPr>
        <p:txBody>
          <a:bodyPr/>
          <a:lstStyle/>
          <a:p>
            <a:pPr marL="165100" indent="0" algn="just">
              <a:buNone/>
            </a:pPr>
            <a:r>
              <a:rPr lang="en-GB" sz="1600" b="1" dirty="0"/>
              <a:t>Pros:</a:t>
            </a:r>
          </a:p>
          <a:p>
            <a:pPr algn="just"/>
            <a:r>
              <a:rPr lang="en-GB" sz="1600" dirty="0"/>
              <a:t>Enhanced security and privacy</a:t>
            </a:r>
          </a:p>
          <a:p>
            <a:pPr algn="just"/>
            <a:r>
              <a:rPr lang="en-GB" sz="1600" dirty="0"/>
              <a:t>Improved interoperability among diverse </a:t>
            </a:r>
            <a:r>
              <a:rPr lang="en-GB" sz="1600" dirty="0" err="1"/>
              <a:t>IoT</a:t>
            </a:r>
            <a:r>
              <a:rPr lang="en-GB" sz="1600" dirty="0"/>
              <a:t> devices</a:t>
            </a:r>
          </a:p>
          <a:p>
            <a:pPr algn="just"/>
            <a:r>
              <a:rPr lang="en-GB" sz="1600" dirty="0"/>
              <a:t>Automated and efficient transactions</a:t>
            </a:r>
          </a:p>
          <a:p>
            <a:pPr marL="165100" indent="0" algn="just">
              <a:buNone/>
            </a:pPr>
            <a:endParaRPr lang="en-GB" sz="1600" dirty="0"/>
          </a:p>
          <a:p>
            <a:pPr marL="165100" indent="0" algn="just">
              <a:buNone/>
            </a:pPr>
            <a:r>
              <a:rPr lang="en-GB" sz="1600" b="1" dirty="0"/>
              <a:t>Cons:</a:t>
            </a:r>
          </a:p>
          <a:p>
            <a:pPr algn="just"/>
            <a:r>
              <a:rPr lang="en-GB" sz="1600" dirty="0"/>
              <a:t>Scalability challenges due to the volume of </a:t>
            </a:r>
            <a:r>
              <a:rPr lang="en-GB" sz="1600" dirty="0" err="1"/>
              <a:t>IoT</a:t>
            </a:r>
            <a:r>
              <a:rPr lang="en-GB" sz="1600" dirty="0"/>
              <a:t> transactions</a:t>
            </a:r>
          </a:p>
          <a:p>
            <a:pPr algn="just"/>
            <a:r>
              <a:rPr lang="en-GB" sz="1600" dirty="0"/>
              <a:t>Integration complexities with existing </a:t>
            </a:r>
            <a:r>
              <a:rPr lang="en-GB" sz="1600" dirty="0" err="1"/>
              <a:t>IoT</a:t>
            </a:r>
            <a:r>
              <a:rPr lang="en-GB" sz="1600" dirty="0"/>
              <a:t> infrastructure</a:t>
            </a:r>
          </a:p>
          <a:p>
            <a:pPr algn="just"/>
            <a:r>
              <a:rPr lang="en-GB" sz="1600" dirty="0"/>
              <a:t>Potential energy consumption concerns in proof-of-work systems</a:t>
            </a:r>
          </a:p>
        </p:txBody>
      </p:sp>
      <p:sp>
        <p:nvSpPr>
          <p:cNvPr id="13" name="Title 12"/>
          <p:cNvSpPr>
            <a:spLocks noGrp="1"/>
          </p:cNvSpPr>
          <p:nvPr>
            <p:ph type="ctrTitle"/>
          </p:nvPr>
        </p:nvSpPr>
        <p:spPr>
          <a:xfrm>
            <a:off x="618824" y="411675"/>
            <a:ext cx="5158198" cy="577800"/>
          </a:xfrm>
        </p:spPr>
        <p:txBody>
          <a:bodyPr/>
          <a:lstStyle/>
          <a:p>
            <a:r>
              <a:rPr lang="en-US" dirty="0"/>
              <a:t> Blockchain in IOT</a:t>
            </a:r>
          </a:p>
        </p:txBody>
      </p:sp>
    </p:spTree>
    <p:extLst>
      <p:ext uri="{BB962C8B-B14F-4D97-AF65-F5344CB8AC3E}">
        <p14:creationId xmlns:p14="http://schemas.microsoft.com/office/powerpoint/2010/main" val="2990956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2"/>
          <p:cNvSpPr txBox="1">
            <a:spLocks noGrp="1"/>
          </p:cNvSpPr>
          <p:nvPr>
            <p:ph type="ctrTitle"/>
          </p:nvPr>
        </p:nvSpPr>
        <p:spPr>
          <a:xfrm>
            <a:off x="2255213" y="2281375"/>
            <a:ext cx="3037138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Supply Chain Management</a:t>
            </a:r>
            <a:endParaRPr sz="4000" dirty="0"/>
          </a:p>
        </p:txBody>
      </p:sp>
      <p:sp>
        <p:nvSpPr>
          <p:cNvPr id="689" name="Google Shape;689;p32"/>
          <p:cNvSpPr txBox="1">
            <a:spLocks noGrp="1"/>
          </p:cNvSpPr>
          <p:nvPr>
            <p:ph type="subTitle" idx="1"/>
          </p:nvPr>
        </p:nvSpPr>
        <p:spPr>
          <a:xfrm>
            <a:off x="1791587" y="2417450"/>
            <a:ext cx="3101400" cy="10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690" name="Google Shape;690;p32"/>
          <p:cNvSpPr/>
          <p:nvPr/>
        </p:nvSpPr>
        <p:spPr>
          <a:xfrm>
            <a:off x="5782875" y="1868575"/>
            <a:ext cx="1085100" cy="10851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32"/>
          <p:cNvSpPr txBox="1">
            <a:spLocks noGrp="1"/>
          </p:cNvSpPr>
          <p:nvPr>
            <p:ph type="title" idx="2"/>
          </p:nvPr>
        </p:nvSpPr>
        <p:spPr>
          <a:xfrm>
            <a:off x="5834900" y="2122225"/>
            <a:ext cx="9810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03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692" name="Google Shape;692;p32"/>
          <p:cNvSpPr/>
          <p:nvPr/>
        </p:nvSpPr>
        <p:spPr>
          <a:xfrm>
            <a:off x="1370476" y="3869000"/>
            <a:ext cx="6279992" cy="104326"/>
          </a:xfrm>
          <a:custGeom>
            <a:avLst/>
            <a:gdLst/>
            <a:ahLst/>
            <a:cxnLst/>
            <a:rect l="l" t="t" r="r" b="b"/>
            <a:pathLst>
              <a:path w="143387" h="2382" extrusionOk="0">
                <a:moveTo>
                  <a:pt x="1185" y="0"/>
                </a:moveTo>
                <a:cubicBezTo>
                  <a:pt x="530" y="0"/>
                  <a:pt x="1" y="529"/>
                  <a:pt x="1" y="1184"/>
                </a:cubicBezTo>
                <a:cubicBezTo>
                  <a:pt x="1" y="1840"/>
                  <a:pt x="530" y="2382"/>
                  <a:pt x="1185" y="2382"/>
                </a:cubicBezTo>
                <a:lnTo>
                  <a:pt x="142189" y="2382"/>
                </a:lnTo>
                <a:cubicBezTo>
                  <a:pt x="142844" y="2382"/>
                  <a:pt x="143386" y="1840"/>
                  <a:pt x="143386" y="1184"/>
                </a:cubicBezTo>
                <a:cubicBezTo>
                  <a:pt x="143386" y="529"/>
                  <a:pt x="142844" y="0"/>
                  <a:pt x="14218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32"/>
          <p:cNvSpPr/>
          <p:nvPr/>
        </p:nvSpPr>
        <p:spPr>
          <a:xfrm>
            <a:off x="1369950" y="3869000"/>
            <a:ext cx="5074478" cy="104326"/>
          </a:xfrm>
          <a:custGeom>
            <a:avLst/>
            <a:gdLst/>
            <a:ahLst/>
            <a:cxnLst/>
            <a:rect l="l" t="t" r="r" b="b"/>
            <a:pathLst>
              <a:path w="87904" h="2382" extrusionOk="0">
                <a:moveTo>
                  <a:pt x="1197" y="0"/>
                </a:moveTo>
                <a:cubicBezTo>
                  <a:pt x="529" y="0"/>
                  <a:pt x="0" y="529"/>
                  <a:pt x="0" y="1184"/>
                </a:cubicBezTo>
                <a:cubicBezTo>
                  <a:pt x="0" y="1840"/>
                  <a:pt x="529" y="2382"/>
                  <a:pt x="1197" y="2382"/>
                </a:cubicBezTo>
                <a:lnTo>
                  <a:pt x="86719" y="2382"/>
                </a:lnTo>
                <a:cubicBezTo>
                  <a:pt x="87375" y="2382"/>
                  <a:pt x="87904" y="1840"/>
                  <a:pt x="87904" y="1184"/>
                </a:cubicBezTo>
                <a:cubicBezTo>
                  <a:pt x="87904" y="529"/>
                  <a:pt x="87375" y="0"/>
                  <a:pt x="86719" y="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94" name="Google Shape;694;p32"/>
          <p:cNvCxnSpPr>
            <a:stCxn id="690" idx="2"/>
          </p:cNvCxnSpPr>
          <p:nvPr/>
        </p:nvCxnSpPr>
        <p:spPr>
          <a:xfrm>
            <a:off x="6325425" y="2953675"/>
            <a:ext cx="0" cy="9780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5362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idx="1"/>
          </p:nvPr>
        </p:nvSpPr>
        <p:spPr>
          <a:xfrm>
            <a:off x="618825" y="989476"/>
            <a:ext cx="5101491" cy="3440758"/>
          </a:xfrm>
        </p:spPr>
        <p:txBody>
          <a:bodyPr/>
          <a:lstStyle/>
          <a:p>
            <a:pPr algn="just"/>
            <a:r>
              <a:rPr lang="en-GB" sz="1600" dirty="0"/>
              <a:t>Utilizing blockchain to track and trace products across the supply chain</a:t>
            </a:r>
          </a:p>
          <a:p>
            <a:pPr marL="165100" indent="0" algn="just">
              <a:buNone/>
            </a:pPr>
            <a:endParaRPr lang="en-GB" sz="800" dirty="0"/>
          </a:p>
          <a:p>
            <a:pPr algn="just"/>
            <a:r>
              <a:rPr lang="en-GB" sz="1600" dirty="0"/>
              <a:t>Ensuring transparency and authenticity</a:t>
            </a:r>
          </a:p>
          <a:p>
            <a:pPr marL="165100" indent="0" algn="just">
              <a:buNone/>
            </a:pPr>
            <a:endParaRPr lang="en-GB" sz="800" dirty="0"/>
          </a:p>
          <a:p>
            <a:pPr algn="just"/>
            <a:r>
              <a:rPr lang="en-GB" sz="1600" dirty="0"/>
              <a:t>Facilitating efficient and secure transactions between stakeholders</a:t>
            </a:r>
          </a:p>
          <a:p>
            <a:pPr marL="165100" indent="0" algn="just">
              <a:buNone/>
            </a:pPr>
            <a:endParaRPr lang="en-GB" sz="800" dirty="0"/>
          </a:p>
          <a:p>
            <a:pPr algn="just"/>
            <a:r>
              <a:rPr lang="en-GB" sz="1600" dirty="0"/>
              <a:t>Prevents counterfeiting by ensuring transparent product authenticity tracking</a:t>
            </a:r>
          </a:p>
        </p:txBody>
      </p:sp>
      <p:sp>
        <p:nvSpPr>
          <p:cNvPr id="13" name="Title 12"/>
          <p:cNvSpPr>
            <a:spLocks noGrp="1"/>
          </p:cNvSpPr>
          <p:nvPr>
            <p:ph type="ctrTitle"/>
          </p:nvPr>
        </p:nvSpPr>
        <p:spPr>
          <a:xfrm>
            <a:off x="618825" y="411675"/>
            <a:ext cx="5158198" cy="577800"/>
          </a:xfrm>
        </p:spPr>
        <p:txBody>
          <a:bodyPr/>
          <a:lstStyle/>
          <a:p>
            <a:r>
              <a:rPr lang="en-US" dirty="0"/>
              <a:t>Supply Chain Management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907" y="1419771"/>
            <a:ext cx="2672316" cy="267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182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idx="4294967295"/>
          </p:nvPr>
        </p:nvSpPr>
        <p:spPr>
          <a:xfrm>
            <a:off x="0" y="989013"/>
            <a:ext cx="5100638" cy="3625850"/>
          </a:xfrm>
        </p:spPr>
        <p:txBody>
          <a:bodyPr/>
          <a:lstStyle/>
          <a:p>
            <a:pPr marL="158750" indent="0" algn="just">
              <a:buNone/>
            </a:pPr>
            <a:r>
              <a:rPr lang="en-GB" sz="1600" dirty="0"/>
              <a:t> </a:t>
            </a:r>
          </a:p>
        </p:txBody>
      </p:sp>
      <p:sp>
        <p:nvSpPr>
          <p:cNvPr id="13" name="Title 12"/>
          <p:cNvSpPr>
            <a:spLocks noGrp="1"/>
          </p:cNvSpPr>
          <p:nvPr>
            <p:ph type="ctrTitle" idx="4294967295"/>
          </p:nvPr>
        </p:nvSpPr>
        <p:spPr>
          <a:xfrm>
            <a:off x="0" y="411163"/>
            <a:ext cx="5157788" cy="57785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9218" name="Picture 2" descr="Blockchain in Supply Chai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432" y="411163"/>
            <a:ext cx="8595360" cy="429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4875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idx="4294967295"/>
          </p:nvPr>
        </p:nvSpPr>
        <p:spPr>
          <a:xfrm>
            <a:off x="0" y="989013"/>
            <a:ext cx="5100638" cy="3625850"/>
          </a:xfrm>
        </p:spPr>
        <p:txBody>
          <a:bodyPr/>
          <a:lstStyle/>
          <a:p>
            <a:pPr marL="158750" indent="0" algn="just">
              <a:buNone/>
            </a:pPr>
            <a:r>
              <a:rPr lang="en-GB" sz="1600" dirty="0"/>
              <a:t> </a:t>
            </a:r>
          </a:p>
        </p:txBody>
      </p:sp>
      <p:sp>
        <p:nvSpPr>
          <p:cNvPr id="13" name="Title 12"/>
          <p:cNvSpPr>
            <a:spLocks noGrp="1"/>
          </p:cNvSpPr>
          <p:nvPr>
            <p:ph type="ctrTitle" idx="4294967295"/>
          </p:nvPr>
        </p:nvSpPr>
        <p:spPr>
          <a:xfrm>
            <a:off x="0" y="411163"/>
            <a:ext cx="5157788" cy="57785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12290" name="Picture 2" descr="Do You Really Need Blockchain for Supply Chain Management? | LITSLINK Blo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706" y="260123"/>
            <a:ext cx="6972083" cy="4663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9829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idx="1"/>
          </p:nvPr>
        </p:nvSpPr>
        <p:spPr>
          <a:xfrm>
            <a:off x="618824" y="989475"/>
            <a:ext cx="5321232" cy="3625055"/>
          </a:xfrm>
        </p:spPr>
        <p:txBody>
          <a:bodyPr/>
          <a:lstStyle/>
          <a:p>
            <a:pPr marL="165100" indent="0" algn="just">
              <a:buNone/>
            </a:pPr>
            <a:r>
              <a:rPr lang="en-GB" sz="1600" b="1" dirty="0"/>
              <a:t>Pros:</a:t>
            </a:r>
          </a:p>
          <a:p>
            <a:pPr algn="just"/>
            <a:r>
              <a:rPr lang="en-GB" sz="1600" dirty="0"/>
              <a:t>Improved transparency and accountability, reducing counterfeit goods and fraud</a:t>
            </a:r>
          </a:p>
          <a:p>
            <a:pPr algn="just"/>
            <a:r>
              <a:rPr lang="en-GB" sz="1600" dirty="0"/>
              <a:t>Enhanced supply chain efficiency and agility</a:t>
            </a:r>
          </a:p>
          <a:p>
            <a:pPr algn="just"/>
            <a:r>
              <a:rPr lang="en-GB" sz="1600" dirty="0"/>
              <a:t>Increased consumer trust and brand reputation</a:t>
            </a:r>
          </a:p>
          <a:p>
            <a:pPr marL="165100" indent="0" algn="just">
              <a:buNone/>
            </a:pPr>
            <a:endParaRPr lang="en-GB" sz="1600" b="1" dirty="0"/>
          </a:p>
          <a:p>
            <a:pPr marL="165100" indent="0" algn="just">
              <a:buNone/>
            </a:pPr>
            <a:r>
              <a:rPr lang="en-GB" sz="1600" b="1" dirty="0"/>
              <a:t>Cons:</a:t>
            </a:r>
            <a:endParaRPr lang="en-GB" sz="500" dirty="0"/>
          </a:p>
          <a:p>
            <a:pPr algn="just"/>
            <a:r>
              <a:rPr lang="en-GB" sz="1600" dirty="0"/>
              <a:t>Implementation costs and technical complexities</a:t>
            </a:r>
          </a:p>
          <a:p>
            <a:pPr algn="just"/>
            <a:r>
              <a:rPr lang="en-GB" sz="1600" dirty="0"/>
              <a:t>Integration challenges with existing supply chain systems</a:t>
            </a:r>
          </a:p>
          <a:p>
            <a:pPr algn="just"/>
            <a:r>
              <a:rPr lang="en-GB" sz="1600" dirty="0"/>
              <a:t>Limited scalability in managing high-volume transaction</a:t>
            </a:r>
          </a:p>
        </p:txBody>
      </p:sp>
      <p:sp>
        <p:nvSpPr>
          <p:cNvPr id="13" name="Title 12"/>
          <p:cNvSpPr>
            <a:spLocks noGrp="1"/>
          </p:cNvSpPr>
          <p:nvPr>
            <p:ph type="ctrTitle"/>
          </p:nvPr>
        </p:nvSpPr>
        <p:spPr>
          <a:xfrm>
            <a:off x="618824" y="411675"/>
            <a:ext cx="5158198" cy="577800"/>
          </a:xfrm>
        </p:spPr>
        <p:txBody>
          <a:bodyPr/>
          <a:lstStyle/>
          <a:p>
            <a:r>
              <a:rPr lang="en-US" dirty="0"/>
              <a:t>Supply Chain Management</a:t>
            </a:r>
          </a:p>
        </p:txBody>
      </p:sp>
    </p:spTree>
    <p:extLst>
      <p:ext uri="{BB962C8B-B14F-4D97-AF65-F5344CB8AC3E}">
        <p14:creationId xmlns:p14="http://schemas.microsoft.com/office/powerpoint/2010/main" val="3069500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2"/>
          <p:cNvSpPr txBox="1">
            <a:spLocks noGrp="1"/>
          </p:cNvSpPr>
          <p:nvPr>
            <p:ph type="ctrTitle"/>
          </p:nvPr>
        </p:nvSpPr>
        <p:spPr>
          <a:xfrm>
            <a:off x="2203188" y="2202251"/>
            <a:ext cx="3037138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Electronic Voting</a:t>
            </a:r>
            <a:endParaRPr sz="4000" dirty="0"/>
          </a:p>
        </p:txBody>
      </p:sp>
      <p:sp>
        <p:nvSpPr>
          <p:cNvPr id="689" name="Google Shape;689;p32"/>
          <p:cNvSpPr txBox="1">
            <a:spLocks noGrp="1"/>
          </p:cNvSpPr>
          <p:nvPr>
            <p:ph type="subTitle" idx="1"/>
          </p:nvPr>
        </p:nvSpPr>
        <p:spPr>
          <a:xfrm>
            <a:off x="1791587" y="2417450"/>
            <a:ext cx="3101400" cy="10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690" name="Google Shape;690;p32"/>
          <p:cNvSpPr/>
          <p:nvPr/>
        </p:nvSpPr>
        <p:spPr>
          <a:xfrm>
            <a:off x="5782875" y="1868575"/>
            <a:ext cx="1085100" cy="1085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32"/>
          <p:cNvSpPr txBox="1">
            <a:spLocks noGrp="1"/>
          </p:cNvSpPr>
          <p:nvPr>
            <p:ph type="title" idx="2"/>
          </p:nvPr>
        </p:nvSpPr>
        <p:spPr>
          <a:xfrm>
            <a:off x="5834900" y="2122225"/>
            <a:ext cx="9810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04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692" name="Google Shape;692;p32"/>
          <p:cNvSpPr/>
          <p:nvPr/>
        </p:nvSpPr>
        <p:spPr>
          <a:xfrm>
            <a:off x="1370476" y="3869000"/>
            <a:ext cx="6279992" cy="104326"/>
          </a:xfrm>
          <a:custGeom>
            <a:avLst/>
            <a:gdLst/>
            <a:ahLst/>
            <a:cxnLst/>
            <a:rect l="l" t="t" r="r" b="b"/>
            <a:pathLst>
              <a:path w="143387" h="2382" extrusionOk="0">
                <a:moveTo>
                  <a:pt x="1185" y="0"/>
                </a:moveTo>
                <a:cubicBezTo>
                  <a:pt x="530" y="0"/>
                  <a:pt x="1" y="529"/>
                  <a:pt x="1" y="1184"/>
                </a:cubicBezTo>
                <a:cubicBezTo>
                  <a:pt x="1" y="1840"/>
                  <a:pt x="530" y="2382"/>
                  <a:pt x="1185" y="2382"/>
                </a:cubicBezTo>
                <a:lnTo>
                  <a:pt x="142189" y="2382"/>
                </a:lnTo>
                <a:cubicBezTo>
                  <a:pt x="142844" y="2382"/>
                  <a:pt x="143386" y="1840"/>
                  <a:pt x="143386" y="1184"/>
                </a:cubicBezTo>
                <a:cubicBezTo>
                  <a:pt x="143386" y="529"/>
                  <a:pt x="142844" y="0"/>
                  <a:pt x="14218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32"/>
          <p:cNvSpPr/>
          <p:nvPr/>
        </p:nvSpPr>
        <p:spPr>
          <a:xfrm>
            <a:off x="1369950" y="3869000"/>
            <a:ext cx="5074478" cy="104326"/>
          </a:xfrm>
          <a:custGeom>
            <a:avLst/>
            <a:gdLst/>
            <a:ahLst/>
            <a:cxnLst/>
            <a:rect l="l" t="t" r="r" b="b"/>
            <a:pathLst>
              <a:path w="87904" h="2382" extrusionOk="0">
                <a:moveTo>
                  <a:pt x="1197" y="0"/>
                </a:moveTo>
                <a:cubicBezTo>
                  <a:pt x="529" y="0"/>
                  <a:pt x="0" y="529"/>
                  <a:pt x="0" y="1184"/>
                </a:cubicBezTo>
                <a:cubicBezTo>
                  <a:pt x="0" y="1840"/>
                  <a:pt x="529" y="2382"/>
                  <a:pt x="1197" y="2382"/>
                </a:cubicBezTo>
                <a:lnTo>
                  <a:pt x="86719" y="2382"/>
                </a:lnTo>
                <a:cubicBezTo>
                  <a:pt x="87375" y="2382"/>
                  <a:pt x="87904" y="1840"/>
                  <a:pt x="87904" y="1184"/>
                </a:cubicBezTo>
                <a:cubicBezTo>
                  <a:pt x="87904" y="529"/>
                  <a:pt x="87375" y="0"/>
                  <a:pt x="8671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94" name="Google Shape;694;p32"/>
          <p:cNvCxnSpPr>
            <a:stCxn id="690" idx="2"/>
          </p:cNvCxnSpPr>
          <p:nvPr/>
        </p:nvCxnSpPr>
        <p:spPr>
          <a:xfrm>
            <a:off x="6325425" y="2953675"/>
            <a:ext cx="0" cy="978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0459924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idx="1"/>
          </p:nvPr>
        </p:nvSpPr>
        <p:spPr>
          <a:xfrm>
            <a:off x="618825" y="989476"/>
            <a:ext cx="5101491" cy="3440758"/>
          </a:xfrm>
        </p:spPr>
        <p:txBody>
          <a:bodyPr/>
          <a:lstStyle/>
          <a:p>
            <a:pPr algn="just"/>
            <a:r>
              <a:rPr lang="en-GB" sz="1600" dirty="0"/>
              <a:t>Implementing blockchain for transparent, secure, and verifiable electronic voting systems</a:t>
            </a:r>
          </a:p>
          <a:p>
            <a:pPr marL="165100" indent="0" algn="just">
              <a:buNone/>
            </a:pPr>
            <a:endParaRPr lang="en-GB" sz="800" dirty="0"/>
          </a:p>
          <a:p>
            <a:pPr algn="just"/>
            <a:r>
              <a:rPr lang="en-GB" sz="1600" dirty="0"/>
              <a:t>Ensuring integrity and confidentiality in the voting process.</a:t>
            </a:r>
          </a:p>
          <a:p>
            <a:pPr algn="just"/>
            <a:endParaRPr lang="en-GB" sz="1600" dirty="0"/>
          </a:p>
        </p:txBody>
      </p:sp>
      <p:sp>
        <p:nvSpPr>
          <p:cNvPr id="13" name="Title 12"/>
          <p:cNvSpPr>
            <a:spLocks noGrp="1"/>
          </p:cNvSpPr>
          <p:nvPr>
            <p:ph type="ctrTitle"/>
          </p:nvPr>
        </p:nvSpPr>
        <p:spPr>
          <a:xfrm>
            <a:off x="618825" y="411675"/>
            <a:ext cx="5158198" cy="577800"/>
          </a:xfrm>
        </p:spPr>
        <p:txBody>
          <a:bodyPr/>
          <a:lstStyle/>
          <a:p>
            <a:r>
              <a:rPr lang="en-US" dirty="0"/>
              <a:t>Electronic Voting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5899456" y="2155219"/>
            <a:ext cx="2386849" cy="238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485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idx="4294967295"/>
          </p:nvPr>
        </p:nvSpPr>
        <p:spPr>
          <a:xfrm>
            <a:off x="0" y="989013"/>
            <a:ext cx="5100638" cy="3625850"/>
          </a:xfrm>
        </p:spPr>
        <p:txBody>
          <a:bodyPr/>
          <a:lstStyle/>
          <a:p>
            <a:pPr marL="158750" indent="0" algn="just">
              <a:buNone/>
            </a:pPr>
            <a:r>
              <a:rPr lang="en-GB" sz="1600" dirty="0"/>
              <a:t> </a:t>
            </a:r>
          </a:p>
        </p:txBody>
      </p:sp>
      <p:sp>
        <p:nvSpPr>
          <p:cNvPr id="13" name="Title 12"/>
          <p:cNvSpPr>
            <a:spLocks noGrp="1"/>
          </p:cNvSpPr>
          <p:nvPr>
            <p:ph type="ctrTitle" idx="4294967295"/>
          </p:nvPr>
        </p:nvSpPr>
        <p:spPr>
          <a:xfrm>
            <a:off x="0" y="411163"/>
            <a:ext cx="5157788" cy="57785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13316" name="Picture 4" descr="The idea of Blockchain Voting Revolutionizing the Democratic Proces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069" y="411163"/>
            <a:ext cx="7995683" cy="429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3841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idx="1"/>
          </p:nvPr>
        </p:nvSpPr>
        <p:spPr>
          <a:xfrm>
            <a:off x="618824" y="989475"/>
            <a:ext cx="5321232" cy="3625055"/>
          </a:xfrm>
        </p:spPr>
        <p:txBody>
          <a:bodyPr/>
          <a:lstStyle/>
          <a:p>
            <a:pPr marL="165100" indent="0" algn="just">
              <a:buNone/>
            </a:pPr>
            <a:r>
              <a:rPr lang="en-GB" sz="1600" b="1" dirty="0">
                <a:solidFill>
                  <a:schemeClr val="bg1"/>
                </a:solidFill>
              </a:rPr>
              <a:t>Pros:</a:t>
            </a:r>
          </a:p>
          <a:p>
            <a:pPr algn="just"/>
            <a:r>
              <a:rPr lang="en-GB" sz="1600" dirty="0">
                <a:solidFill>
                  <a:schemeClr val="bg1"/>
                </a:solidFill>
              </a:rPr>
              <a:t>Enhanced security and trust in electoral systems</a:t>
            </a:r>
          </a:p>
          <a:p>
            <a:pPr algn="just"/>
            <a:r>
              <a:rPr lang="en-GB" sz="1600" dirty="0">
                <a:solidFill>
                  <a:schemeClr val="bg1"/>
                </a:solidFill>
              </a:rPr>
              <a:t>Increased accessibility for remote and overseas voters</a:t>
            </a:r>
          </a:p>
          <a:p>
            <a:pPr algn="just"/>
            <a:r>
              <a:rPr lang="en-GB" sz="1600" dirty="0">
                <a:solidFill>
                  <a:schemeClr val="bg1"/>
                </a:solidFill>
              </a:rPr>
              <a:t>Reduced administrative overhead and potential for real-time results</a:t>
            </a:r>
          </a:p>
          <a:p>
            <a:pPr marL="165100" indent="0" algn="just">
              <a:buNone/>
            </a:pPr>
            <a:endParaRPr lang="en-GB" sz="1600" dirty="0">
              <a:solidFill>
                <a:schemeClr val="bg1"/>
              </a:solidFill>
            </a:endParaRPr>
          </a:p>
          <a:p>
            <a:pPr marL="165100" indent="0" algn="just">
              <a:buNone/>
            </a:pPr>
            <a:r>
              <a:rPr lang="en-GB" sz="1600" b="1" dirty="0">
                <a:solidFill>
                  <a:schemeClr val="bg1"/>
                </a:solidFill>
              </a:rPr>
              <a:t>Cons:</a:t>
            </a:r>
          </a:p>
          <a:p>
            <a:pPr algn="just"/>
            <a:r>
              <a:rPr lang="en-GB" sz="1600" dirty="0">
                <a:solidFill>
                  <a:schemeClr val="bg1"/>
                </a:solidFill>
              </a:rPr>
              <a:t>Vulnerability to cyber attacks targeting individual voters</a:t>
            </a:r>
          </a:p>
          <a:p>
            <a:pPr algn="just"/>
            <a:r>
              <a:rPr lang="en-GB" sz="1600" dirty="0">
                <a:solidFill>
                  <a:schemeClr val="bg1"/>
                </a:solidFill>
              </a:rPr>
              <a:t>Regulatory challenges and adoption barriers</a:t>
            </a:r>
          </a:p>
          <a:p>
            <a:pPr algn="just"/>
            <a:r>
              <a:rPr lang="en-GB" sz="1600" dirty="0">
                <a:solidFill>
                  <a:schemeClr val="bg1"/>
                </a:solidFill>
              </a:rPr>
              <a:t>Potential issues with voter privacy and anonymity</a:t>
            </a:r>
          </a:p>
        </p:txBody>
      </p:sp>
      <p:sp>
        <p:nvSpPr>
          <p:cNvPr id="13" name="Title 12"/>
          <p:cNvSpPr>
            <a:spLocks noGrp="1"/>
          </p:cNvSpPr>
          <p:nvPr>
            <p:ph type="ctrTitle"/>
          </p:nvPr>
        </p:nvSpPr>
        <p:spPr>
          <a:xfrm>
            <a:off x="618824" y="411675"/>
            <a:ext cx="5158198" cy="577800"/>
          </a:xfrm>
        </p:spPr>
        <p:txBody>
          <a:bodyPr/>
          <a:lstStyle/>
          <a:p>
            <a:pPr algn="l"/>
            <a:r>
              <a:rPr lang="en-US" dirty="0"/>
              <a:t>Electronic Voting</a:t>
            </a:r>
          </a:p>
        </p:txBody>
      </p:sp>
    </p:spTree>
    <p:extLst>
      <p:ext uri="{BB962C8B-B14F-4D97-AF65-F5344CB8AC3E}">
        <p14:creationId xmlns:p14="http://schemas.microsoft.com/office/powerpoint/2010/main" val="6727577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2"/>
          <p:cNvSpPr txBox="1">
            <a:spLocks noGrp="1"/>
          </p:cNvSpPr>
          <p:nvPr>
            <p:ph type="ctrTitle"/>
          </p:nvPr>
        </p:nvSpPr>
        <p:spPr>
          <a:xfrm>
            <a:off x="2255213" y="2281375"/>
            <a:ext cx="3037138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Identity Management</a:t>
            </a:r>
            <a:endParaRPr sz="4400" dirty="0"/>
          </a:p>
        </p:txBody>
      </p:sp>
      <p:sp>
        <p:nvSpPr>
          <p:cNvPr id="689" name="Google Shape;689;p32"/>
          <p:cNvSpPr txBox="1">
            <a:spLocks noGrp="1"/>
          </p:cNvSpPr>
          <p:nvPr>
            <p:ph type="subTitle" idx="1"/>
          </p:nvPr>
        </p:nvSpPr>
        <p:spPr>
          <a:xfrm>
            <a:off x="1791587" y="2417450"/>
            <a:ext cx="3101400" cy="10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690" name="Google Shape;690;p32"/>
          <p:cNvSpPr/>
          <p:nvPr/>
        </p:nvSpPr>
        <p:spPr>
          <a:xfrm>
            <a:off x="5782875" y="1868575"/>
            <a:ext cx="1085100" cy="1085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32"/>
          <p:cNvSpPr txBox="1">
            <a:spLocks noGrp="1"/>
          </p:cNvSpPr>
          <p:nvPr>
            <p:ph type="title" idx="2"/>
          </p:nvPr>
        </p:nvSpPr>
        <p:spPr>
          <a:xfrm>
            <a:off x="5834900" y="2122225"/>
            <a:ext cx="9810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05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692" name="Google Shape;692;p32"/>
          <p:cNvSpPr/>
          <p:nvPr/>
        </p:nvSpPr>
        <p:spPr>
          <a:xfrm>
            <a:off x="1370476" y="3869000"/>
            <a:ext cx="6279992" cy="104326"/>
          </a:xfrm>
          <a:custGeom>
            <a:avLst/>
            <a:gdLst/>
            <a:ahLst/>
            <a:cxnLst/>
            <a:rect l="l" t="t" r="r" b="b"/>
            <a:pathLst>
              <a:path w="143387" h="2382" extrusionOk="0">
                <a:moveTo>
                  <a:pt x="1185" y="0"/>
                </a:moveTo>
                <a:cubicBezTo>
                  <a:pt x="530" y="0"/>
                  <a:pt x="1" y="529"/>
                  <a:pt x="1" y="1184"/>
                </a:cubicBezTo>
                <a:cubicBezTo>
                  <a:pt x="1" y="1840"/>
                  <a:pt x="530" y="2382"/>
                  <a:pt x="1185" y="2382"/>
                </a:cubicBezTo>
                <a:lnTo>
                  <a:pt x="142189" y="2382"/>
                </a:lnTo>
                <a:cubicBezTo>
                  <a:pt x="142844" y="2382"/>
                  <a:pt x="143386" y="1840"/>
                  <a:pt x="143386" y="1184"/>
                </a:cubicBezTo>
                <a:cubicBezTo>
                  <a:pt x="143386" y="529"/>
                  <a:pt x="142844" y="0"/>
                  <a:pt x="14218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32"/>
          <p:cNvSpPr/>
          <p:nvPr/>
        </p:nvSpPr>
        <p:spPr>
          <a:xfrm>
            <a:off x="1369950" y="3869000"/>
            <a:ext cx="5074478" cy="104326"/>
          </a:xfrm>
          <a:custGeom>
            <a:avLst/>
            <a:gdLst/>
            <a:ahLst/>
            <a:cxnLst/>
            <a:rect l="l" t="t" r="r" b="b"/>
            <a:pathLst>
              <a:path w="87904" h="2382" extrusionOk="0">
                <a:moveTo>
                  <a:pt x="1197" y="0"/>
                </a:moveTo>
                <a:cubicBezTo>
                  <a:pt x="529" y="0"/>
                  <a:pt x="0" y="529"/>
                  <a:pt x="0" y="1184"/>
                </a:cubicBezTo>
                <a:cubicBezTo>
                  <a:pt x="0" y="1840"/>
                  <a:pt x="529" y="2382"/>
                  <a:pt x="1197" y="2382"/>
                </a:cubicBezTo>
                <a:lnTo>
                  <a:pt x="86719" y="2382"/>
                </a:lnTo>
                <a:cubicBezTo>
                  <a:pt x="87375" y="2382"/>
                  <a:pt x="87904" y="1840"/>
                  <a:pt x="87904" y="1184"/>
                </a:cubicBezTo>
                <a:cubicBezTo>
                  <a:pt x="87904" y="529"/>
                  <a:pt x="87375" y="0"/>
                  <a:pt x="8671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94" name="Google Shape;694;p32"/>
          <p:cNvCxnSpPr>
            <a:stCxn id="690" idx="2"/>
          </p:cNvCxnSpPr>
          <p:nvPr/>
        </p:nvCxnSpPr>
        <p:spPr>
          <a:xfrm>
            <a:off x="6325425" y="2953675"/>
            <a:ext cx="0" cy="9780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4964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idx="1"/>
          </p:nvPr>
        </p:nvSpPr>
        <p:spPr>
          <a:xfrm>
            <a:off x="618825" y="989476"/>
            <a:ext cx="5101491" cy="3440758"/>
          </a:xfrm>
        </p:spPr>
        <p:txBody>
          <a:bodyPr/>
          <a:lstStyle/>
          <a:p>
            <a:pPr algn="just"/>
            <a:r>
              <a:rPr lang="en-GB" sz="1600" dirty="0"/>
              <a:t>Leveraging blockchain for secure and decentralized identity verification and management</a:t>
            </a:r>
          </a:p>
          <a:p>
            <a:pPr marL="165100" indent="0" algn="just">
              <a:buNone/>
            </a:pPr>
            <a:endParaRPr lang="en-GB" sz="800" dirty="0"/>
          </a:p>
          <a:p>
            <a:pPr algn="just"/>
            <a:r>
              <a:rPr lang="en-GB" sz="1600" dirty="0"/>
              <a:t>Empowering individuals to control their personal data and privacy</a:t>
            </a:r>
          </a:p>
        </p:txBody>
      </p:sp>
      <p:sp>
        <p:nvSpPr>
          <p:cNvPr id="13" name="Title 12"/>
          <p:cNvSpPr>
            <a:spLocks noGrp="1"/>
          </p:cNvSpPr>
          <p:nvPr>
            <p:ph type="ctrTitle"/>
          </p:nvPr>
        </p:nvSpPr>
        <p:spPr>
          <a:xfrm>
            <a:off x="618825" y="411675"/>
            <a:ext cx="5158198" cy="577800"/>
          </a:xfrm>
        </p:spPr>
        <p:txBody>
          <a:bodyPr/>
          <a:lstStyle/>
          <a:p>
            <a:r>
              <a:rPr lang="en-US" sz="3200" dirty="0"/>
              <a:t>Identity Management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0316" y="2125183"/>
            <a:ext cx="2934586" cy="29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883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idx="4294967295"/>
          </p:nvPr>
        </p:nvSpPr>
        <p:spPr>
          <a:xfrm>
            <a:off x="0" y="989013"/>
            <a:ext cx="5100638" cy="3625850"/>
          </a:xfrm>
        </p:spPr>
        <p:txBody>
          <a:bodyPr/>
          <a:lstStyle/>
          <a:p>
            <a:pPr marL="158750" indent="0" algn="just">
              <a:buNone/>
            </a:pPr>
            <a:r>
              <a:rPr lang="en-GB" sz="1600" dirty="0"/>
              <a:t> </a:t>
            </a:r>
          </a:p>
        </p:txBody>
      </p:sp>
      <p:sp>
        <p:nvSpPr>
          <p:cNvPr id="13" name="Title 12"/>
          <p:cNvSpPr>
            <a:spLocks noGrp="1"/>
          </p:cNvSpPr>
          <p:nvPr>
            <p:ph type="ctrTitle" idx="4294967295"/>
          </p:nvPr>
        </p:nvSpPr>
        <p:spPr>
          <a:xfrm>
            <a:off x="0" y="411163"/>
            <a:ext cx="5157788" cy="57785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16386" name="Picture 2" descr="Blockchain for Identity Managem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628" y="246226"/>
            <a:ext cx="8201246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2140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idx="4294967295"/>
          </p:nvPr>
        </p:nvSpPr>
        <p:spPr>
          <a:xfrm>
            <a:off x="0" y="989013"/>
            <a:ext cx="5100638" cy="3625850"/>
          </a:xfrm>
        </p:spPr>
        <p:txBody>
          <a:bodyPr/>
          <a:lstStyle/>
          <a:p>
            <a:pPr marL="158750" indent="0" algn="just">
              <a:buNone/>
            </a:pPr>
            <a:r>
              <a:rPr lang="en-GB" sz="1600" dirty="0"/>
              <a:t> </a:t>
            </a:r>
          </a:p>
        </p:txBody>
      </p:sp>
      <p:sp>
        <p:nvSpPr>
          <p:cNvPr id="13" name="Title 12"/>
          <p:cNvSpPr>
            <a:spLocks noGrp="1"/>
          </p:cNvSpPr>
          <p:nvPr>
            <p:ph type="ctrTitle" idx="4294967295"/>
          </p:nvPr>
        </p:nvSpPr>
        <p:spPr>
          <a:xfrm>
            <a:off x="0" y="411163"/>
            <a:ext cx="5157788" cy="57785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19458" name="Picture 2" descr="Blockchain Identity Management: Complete Guide 202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71" y="500063"/>
            <a:ext cx="8024218" cy="4206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5199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idx="1"/>
          </p:nvPr>
        </p:nvSpPr>
        <p:spPr>
          <a:xfrm>
            <a:off x="618824" y="989475"/>
            <a:ext cx="5321232" cy="3625055"/>
          </a:xfrm>
        </p:spPr>
        <p:txBody>
          <a:bodyPr/>
          <a:lstStyle/>
          <a:p>
            <a:pPr marL="165100" indent="0" algn="just">
              <a:buNone/>
            </a:pPr>
            <a:r>
              <a:rPr lang="en-GB" sz="1600" b="1" dirty="0">
                <a:solidFill>
                  <a:schemeClr val="bg1"/>
                </a:solidFill>
              </a:rPr>
              <a:t>Pros:</a:t>
            </a:r>
          </a:p>
          <a:p>
            <a:pPr algn="just"/>
            <a:r>
              <a:rPr lang="en-GB" sz="1600" dirty="0">
                <a:solidFill>
                  <a:schemeClr val="bg1"/>
                </a:solidFill>
              </a:rPr>
              <a:t>Enhanced security and privacy protection for individuals</a:t>
            </a:r>
          </a:p>
          <a:p>
            <a:pPr algn="just"/>
            <a:r>
              <a:rPr lang="en-GB" sz="1600" dirty="0">
                <a:solidFill>
                  <a:schemeClr val="bg1"/>
                </a:solidFill>
              </a:rPr>
              <a:t>Reduced identity fraud and data breaches</a:t>
            </a:r>
          </a:p>
          <a:p>
            <a:pPr algn="just"/>
            <a:r>
              <a:rPr lang="en-GB" sz="1600" dirty="0">
                <a:solidFill>
                  <a:schemeClr val="bg1"/>
                </a:solidFill>
              </a:rPr>
              <a:t>Simplified identity verification processes across industries</a:t>
            </a:r>
          </a:p>
          <a:p>
            <a:pPr marL="165100" indent="0" algn="just">
              <a:buNone/>
            </a:pPr>
            <a:endParaRPr lang="en-GB" sz="800" dirty="0">
              <a:solidFill>
                <a:schemeClr val="bg1"/>
              </a:solidFill>
            </a:endParaRPr>
          </a:p>
          <a:p>
            <a:pPr marL="165100" indent="0" algn="just">
              <a:buNone/>
            </a:pPr>
            <a:r>
              <a:rPr lang="en-GB" sz="1600" b="1" dirty="0">
                <a:solidFill>
                  <a:schemeClr val="bg1"/>
                </a:solidFill>
              </a:rPr>
              <a:t>Cons:</a:t>
            </a:r>
          </a:p>
          <a:p>
            <a:pPr marL="165100" indent="0" algn="just">
              <a:buNone/>
            </a:pPr>
            <a:endParaRPr lang="en-GB" sz="800" b="1" dirty="0">
              <a:solidFill>
                <a:schemeClr val="bg1"/>
              </a:solidFill>
            </a:endParaRPr>
          </a:p>
          <a:p>
            <a:pPr algn="just"/>
            <a:r>
              <a:rPr lang="en-GB" sz="1600" dirty="0">
                <a:solidFill>
                  <a:schemeClr val="bg1"/>
                </a:solidFill>
              </a:rPr>
              <a:t>Challenges with user adoption and education on managing decentralized identities</a:t>
            </a:r>
          </a:p>
          <a:p>
            <a:pPr algn="just"/>
            <a:r>
              <a:rPr lang="en-GB" sz="1600" dirty="0">
                <a:solidFill>
                  <a:schemeClr val="bg1"/>
                </a:solidFill>
              </a:rPr>
              <a:t>Regulatory uncertainties and compliance issues</a:t>
            </a:r>
          </a:p>
          <a:p>
            <a:pPr algn="just"/>
            <a:r>
              <a:rPr lang="en-GB" sz="1600" dirty="0">
                <a:solidFill>
                  <a:schemeClr val="bg1"/>
                </a:solidFill>
              </a:rPr>
              <a:t>Potential for data leakage in permissioned </a:t>
            </a:r>
            <a:r>
              <a:rPr lang="en-GB" sz="1600" dirty="0" err="1">
                <a:solidFill>
                  <a:schemeClr val="bg1"/>
                </a:solidFill>
              </a:rPr>
              <a:t>blockchain</a:t>
            </a:r>
            <a:r>
              <a:rPr lang="en-GB" sz="1600" dirty="0">
                <a:solidFill>
                  <a:schemeClr val="bg1"/>
                </a:solidFill>
              </a:rPr>
              <a:t> systems</a:t>
            </a:r>
          </a:p>
        </p:txBody>
      </p:sp>
      <p:sp>
        <p:nvSpPr>
          <p:cNvPr id="13" name="Title 12"/>
          <p:cNvSpPr>
            <a:spLocks noGrp="1"/>
          </p:cNvSpPr>
          <p:nvPr>
            <p:ph type="ctrTitle"/>
          </p:nvPr>
        </p:nvSpPr>
        <p:spPr>
          <a:xfrm>
            <a:off x="618824" y="411675"/>
            <a:ext cx="5158198" cy="577800"/>
          </a:xfrm>
        </p:spPr>
        <p:txBody>
          <a:bodyPr/>
          <a:lstStyle/>
          <a:p>
            <a:pPr algn="l"/>
            <a:r>
              <a:rPr lang="en-US" dirty="0"/>
              <a:t>Identity Management</a:t>
            </a:r>
          </a:p>
        </p:txBody>
      </p:sp>
    </p:spTree>
    <p:extLst>
      <p:ext uri="{BB962C8B-B14F-4D97-AF65-F5344CB8AC3E}">
        <p14:creationId xmlns:p14="http://schemas.microsoft.com/office/powerpoint/2010/main" val="40064367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2"/>
          <p:cNvSpPr txBox="1">
            <a:spLocks noGrp="1"/>
          </p:cNvSpPr>
          <p:nvPr>
            <p:ph type="ctrTitle"/>
          </p:nvPr>
        </p:nvSpPr>
        <p:spPr>
          <a:xfrm>
            <a:off x="2220667" y="1936170"/>
            <a:ext cx="3037138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Smart Grid</a:t>
            </a:r>
            <a:endParaRPr dirty="0"/>
          </a:p>
        </p:txBody>
      </p:sp>
      <p:sp>
        <p:nvSpPr>
          <p:cNvPr id="689" name="Google Shape;689;p32"/>
          <p:cNvSpPr txBox="1">
            <a:spLocks noGrp="1"/>
          </p:cNvSpPr>
          <p:nvPr>
            <p:ph type="subTitle" idx="1"/>
          </p:nvPr>
        </p:nvSpPr>
        <p:spPr>
          <a:xfrm>
            <a:off x="1791587" y="2417450"/>
            <a:ext cx="3101400" cy="10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690" name="Google Shape;690;p32"/>
          <p:cNvSpPr/>
          <p:nvPr/>
        </p:nvSpPr>
        <p:spPr>
          <a:xfrm>
            <a:off x="5782875" y="1868575"/>
            <a:ext cx="1085100" cy="10851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32"/>
          <p:cNvSpPr txBox="1">
            <a:spLocks noGrp="1"/>
          </p:cNvSpPr>
          <p:nvPr>
            <p:ph type="title" idx="2"/>
          </p:nvPr>
        </p:nvSpPr>
        <p:spPr>
          <a:xfrm>
            <a:off x="5834900" y="2122225"/>
            <a:ext cx="9810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06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692" name="Google Shape;692;p32"/>
          <p:cNvSpPr/>
          <p:nvPr/>
        </p:nvSpPr>
        <p:spPr>
          <a:xfrm>
            <a:off x="1370476" y="3869000"/>
            <a:ext cx="6279992" cy="104326"/>
          </a:xfrm>
          <a:custGeom>
            <a:avLst/>
            <a:gdLst/>
            <a:ahLst/>
            <a:cxnLst/>
            <a:rect l="l" t="t" r="r" b="b"/>
            <a:pathLst>
              <a:path w="143387" h="2382" extrusionOk="0">
                <a:moveTo>
                  <a:pt x="1185" y="0"/>
                </a:moveTo>
                <a:cubicBezTo>
                  <a:pt x="530" y="0"/>
                  <a:pt x="1" y="529"/>
                  <a:pt x="1" y="1184"/>
                </a:cubicBezTo>
                <a:cubicBezTo>
                  <a:pt x="1" y="1840"/>
                  <a:pt x="530" y="2382"/>
                  <a:pt x="1185" y="2382"/>
                </a:cubicBezTo>
                <a:lnTo>
                  <a:pt x="142189" y="2382"/>
                </a:lnTo>
                <a:cubicBezTo>
                  <a:pt x="142844" y="2382"/>
                  <a:pt x="143386" y="1840"/>
                  <a:pt x="143386" y="1184"/>
                </a:cubicBezTo>
                <a:cubicBezTo>
                  <a:pt x="143386" y="529"/>
                  <a:pt x="142844" y="0"/>
                  <a:pt x="14218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32"/>
          <p:cNvSpPr/>
          <p:nvPr/>
        </p:nvSpPr>
        <p:spPr>
          <a:xfrm>
            <a:off x="1369950" y="3869000"/>
            <a:ext cx="5074478" cy="104326"/>
          </a:xfrm>
          <a:custGeom>
            <a:avLst/>
            <a:gdLst/>
            <a:ahLst/>
            <a:cxnLst/>
            <a:rect l="l" t="t" r="r" b="b"/>
            <a:pathLst>
              <a:path w="87904" h="2382" extrusionOk="0">
                <a:moveTo>
                  <a:pt x="1197" y="0"/>
                </a:moveTo>
                <a:cubicBezTo>
                  <a:pt x="529" y="0"/>
                  <a:pt x="0" y="529"/>
                  <a:pt x="0" y="1184"/>
                </a:cubicBezTo>
                <a:cubicBezTo>
                  <a:pt x="0" y="1840"/>
                  <a:pt x="529" y="2382"/>
                  <a:pt x="1197" y="2382"/>
                </a:cubicBezTo>
                <a:lnTo>
                  <a:pt x="86719" y="2382"/>
                </a:lnTo>
                <a:cubicBezTo>
                  <a:pt x="87375" y="2382"/>
                  <a:pt x="87904" y="1840"/>
                  <a:pt x="87904" y="1184"/>
                </a:cubicBezTo>
                <a:cubicBezTo>
                  <a:pt x="87904" y="529"/>
                  <a:pt x="87375" y="0"/>
                  <a:pt x="86719" y="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94" name="Google Shape;694;p32"/>
          <p:cNvCxnSpPr>
            <a:stCxn id="690" idx="2"/>
          </p:cNvCxnSpPr>
          <p:nvPr/>
        </p:nvCxnSpPr>
        <p:spPr>
          <a:xfrm>
            <a:off x="6325425" y="2953675"/>
            <a:ext cx="0" cy="9780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50380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idx="1"/>
          </p:nvPr>
        </p:nvSpPr>
        <p:spPr>
          <a:xfrm>
            <a:off x="618825" y="989476"/>
            <a:ext cx="5101491" cy="3440758"/>
          </a:xfrm>
        </p:spPr>
        <p:txBody>
          <a:bodyPr/>
          <a:lstStyle/>
          <a:p>
            <a:pPr algn="just"/>
            <a:r>
              <a:rPr lang="en-GB" sz="1800" dirty="0"/>
              <a:t>Enhances energy efficiency and allocation</a:t>
            </a:r>
          </a:p>
          <a:p>
            <a:pPr marL="165100" indent="0" algn="just">
              <a:buNone/>
            </a:pPr>
            <a:endParaRPr lang="en-GB" sz="800" dirty="0"/>
          </a:p>
          <a:p>
            <a:pPr algn="just"/>
            <a:r>
              <a:rPr lang="en-GB" sz="1800" dirty="0"/>
              <a:t>Facilitates peer-to-peer energy trading</a:t>
            </a:r>
          </a:p>
          <a:p>
            <a:pPr marL="165100" indent="0" algn="just">
              <a:buNone/>
            </a:pPr>
            <a:endParaRPr lang="en-GB" sz="800" dirty="0"/>
          </a:p>
          <a:p>
            <a:pPr algn="just"/>
            <a:r>
              <a:rPr lang="en-GB" sz="1800" dirty="0"/>
              <a:t>Automates energy transactions with smart contracts</a:t>
            </a:r>
          </a:p>
          <a:p>
            <a:pPr marL="165100" indent="0" algn="just">
              <a:buNone/>
            </a:pPr>
            <a:endParaRPr lang="en-GB" sz="1800" dirty="0"/>
          </a:p>
          <a:p>
            <a:pPr marL="165100" indent="0" algn="just">
              <a:buNone/>
            </a:pPr>
            <a:endParaRPr lang="en-GB" sz="1800" dirty="0"/>
          </a:p>
        </p:txBody>
      </p:sp>
      <p:sp>
        <p:nvSpPr>
          <p:cNvPr id="13" name="Title 12"/>
          <p:cNvSpPr>
            <a:spLocks noGrp="1"/>
          </p:cNvSpPr>
          <p:nvPr>
            <p:ph type="ctrTitle"/>
          </p:nvPr>
        </p:nvSpPr>
        <p:spPr>
          <a:xfrm>
            <a:off x="618825" y="411675"/>
            <a:ext cx="5158198" cy="577800"/>
          </a:xfrm>
        </p:spPr>
        <p:txBody>
          <a:bodyPr/>
          <a:lstStyle/>
          <a:p>
            <a:r>
              <a:rPr lang="en-US" sz="3200" dirty="0"/>
              <a:t>Blockchain in Smart Grid 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7766" y="2869461"/>
            <a:ext cx="1885507" cy="1885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94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idx="4294967295"/>
          </p:nvPr>
        </p:nvSpPr>
        <p:spPr>
          <a:xfrm>
            <a:off x="0" y="989013"/>
            <a:ext cx="5100638" cy="3625850"/>
          </a:xfrm>
        </p:spPr>
        <p:txBody>
          <a:bodyPr/>
          <a:lstStyle/>
          <a:p>
            <a:pPr marL="158750" indent="0" algn="just">
              <a:buNone/>
            </a:pPr>
            <a:r>
              <a:rPr lang="en-GB" sz="1600" dirty="0"/>
              <a:t> </a:t>
            </a:r>
          </a:p>
        </p:txBody>
      </p:sp>
      <p:sp>
        <p:nvSpPr>
          <p:cNvPr id="13" name="Title 12"/>
          <p:cNvSpPr>
            <a:spLocks noGrp="1"/>
          </p:cNvSpPr>
          <p:nvPr>
            <p:ph type="ctrTitle" idx="4294967295"/>
          </p:nvPr>
        </p:nvSpPr>
        <p:spPr>
          <a:xfrm>
            <a:off x="0" y="411163"/>
            <a:ext cx="5157788" cy="57785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20482" name="Picture 2" descr="Blockchain in Smart Grids | Download Scientific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214128"/>
            <a:ext cx="8382000" cy="4714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3207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idx="4294967295"/>
          </p:nvPr>
        </p:nvSpPr>
        <p:spPr>
          <a:xfrm>
            <a:off x="0" y="989013"/>
            <a:ext cx="5100638" cy="3625850"/>
          </a:xfrm>
        </p:spPr>
        <p:txBody>
          <a:bodyPr/>
          <a:lstStyle/>
          <a:p>
            <a:pPr marL="158750" indent="0" algn="just">
              <a:buNone/>
            </a:pPr>
            <a:r>
              <a:rPr lang="en-GB" sz="1600" dirty="0"/>
              <a:t> </a:t>
            </a:r>
          </a:p>
        </p:txBody>
      </p:sp>
      <p:sp>
        <p:nvSpPr>
          <p:cNvPr id="13" name="Title 12"/>
          <p:cNvSpPr>
            <a:spLocks noGrp="1"/>
          </p:cNvSpPr>
          <p:nvPr>
            <p:ph type="ctrTitle" idx="4294967295"/>
          </p:nvPr>
        </p:nvSpPr>
        <p:spPr>
          <a:xfrm>
            <a:off x="0" y="411163"/>
            <a:ext cx="5157788" cy="57785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23554" name="Picture 2" descr="Blockchain in Energy: Key Benefits and Use Cas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790" y="191386"/>
            <a:ext cx="7924800" cy="475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8328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idx="1"/>
          </p:nvPr>
        </p:nvSpPr>
        <p:spPr>
          <a:xfrm>
            <a:off x="618824" y="989475"/>
            <a:ext cx="5562236" cy="3625055"/>
          </a:xfrm>
        </p:spPr>
        <p:txBody>
          <a:bodyPr/>
          <a:lstStyle/>
          <a:p>
            <a:pPr marL="165100" indent="0" algn="just">
              <a:buNone/>
            </a:pPr>
            <a:r>
              <a:rPr lang="en-GB" sz="1600" b="1" dirty="0">
                <a:solidFill>
                  <a:schemeClr val="bg1"/>
                </a:solidFill>
              </a:rPr>
              <a:t>Pros:</a:t>
            </a:r>
          </a:p>
          <a:p>
            <a:pPr algn="just"/>
            <a:r>
              <a:rPr lang="en-GB" sz="1600" dirty="0">
                <a:solidFill>
                  <a:schemeClr val="bg1"/>
                </a:solidFill>
              </a:rPr>
              <a:t>Increased energy efficiency and optimization in resource allocation</a:t>
            </a:r>
          </a:p>
          <a:p>
            <a:pPr algn="just"/>
            <a:r>
              <a:rPr lang="en-GB" sz="1600" dirty="0">
                <a:solidFill>
                  <a:schemeClr val="bg1"/>
                </a:solidFill>
              </a:rPr>
              <a:t>Empowerment of consumers through participation in energy markets</a:t>
            </a:r>
          </a:p>
          <a:p>
            <a:pPr algn="just"/>
            <a:r>
              <a:rPr lang="en-GB" sz="1600" dirty="0">
                <a:solidFill>
                  <a:schemeClr val="bg1"/>
                </a:solidFill>
              </a:rPr>
              <a:t>Improved grid reliability and resilience</a:t>
            </a:r>
          </a:p>
          <a:p>
            <a:pPr marL="165100" indent="0" algn="just">
              <a:buNone/>
            </a:pPr>
            <a:endParaRPr lang="en-GB" sz="1600" dirty="0">
              <a:solidFill>
                <a:schemeClr val="bg1"/>
              </a:solidFill>
            </a:endParaRPr>
          </a:p>
          <a:p>
            <a:pPr marL="165100" indent="0" algn="just">
              <a:buNone/>
            </a:pPr>
            <a:r>
              <a:rPr lang="en-GB" sz="1600" b="1" dirty="0">
                <a:solidFill>
                  <a:schemeClr val="bg1"/>
                </a:solidFill>
              </a:rPr>
              <a:t>Cons:</a:t>
            </a:r>
          </a:p>
          <a:p>
            <a:pPr algn="just"/>
            <a:r>
              <a:rPr lang="en-GB" sz="1600" dirty="0">
                <a:solidFill>
                  <a:schemeClr val="bg1"/>
                </a:solidFill>
              </a:rPr>
              <a:t>Scalability challenges in managing large-scale energy transactions</a:t>
            </a:r>
          </a:p>
          <a:p>
            <a:pPr algn="just"/>
            <a:r>
              <a:rPr lang="en-GB" sz="1600" dirty="0">
                <a:solidFill>
                  <a:schemeClr val="bg1"/>
                </a:solidFill>
              </a:rPr>
              <a:t>Regulatory complexities and interoperability issues</a:t>
            </a:r>
          </a:p>
          <a:p>
            <a:pPr algn="just"/>
            <a:r>
              <a:rPr lang="en-GB" sz="1600" dirty="0">
                <a:solidFill>
                  <a:schemeClr val="bg1"/>
                </a:solidFill>
              </a:rPr>
              <a:t>High initial implementation costs and technical barriers</a:t>
            </a:r>
          </a:p>
        </p:txBody>
      </p:sp>
      <p:sp>
        <p:nvSpPr>
          <p:cNvPr id="13" name="Title 12"/>
          <p:cNvSpPr>
            <a:spLocks noGrp="1"/>
          </p:cNvSpPr>
          <p:nvPr>
            <p:ph type="ctrTitle"/>
          </p:nvPr>
        </p:nvSpPr>
        <p:spPr>
          <a:xfrm>
            <a:off x="618824" y="411675"/>
            <a:ext cx="5158198" cy="577800"/>
          </a:xfrm>
        </p:spPr>
        <p:txBody>
          <a:bodyPr/>
          <a:lstStyle/>
          <a:p>
            <a:pPr algn="l"/>
            <a:r>
              <a:rPr lang="en-US" dirty="0"/>
              <a:t>Smart Grid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166" y="2513861"/>
            <a:ext cx="1885507" cy="1885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5498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2"/>
          <p:cNvSpPr txBox="1">
            <a:spLocks noGrp="1"/>
          </p:cNvSpPr>
          <p:nvPr>
            <p:ph type="ctrTitle"/>
          </p:nvPr>
        </p:nvSpPr>
        <p:spPr>
          <a:xfrm>
            <a:off x="2203188" y="2202251"/>
            <a:ext cx="3037138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Finance &amp; Banking</a:t>
            </a:r>
            <a:endParaRPr sz="4000" dirty="0"/>
          </a:p>
        </p:txBody>
      </p:sp>
      <p:sp>
        <p:nvSpPr>
          <p:cNvPr id="689" name="Google Shape;689;p32"/>
          <p:cNvSpPr txBox="1">
            <a:spLocks noGrp="1"/>
          </p:cNvSpPr>
          <p:nvPr>
            <p:ph type="subTitle" idx="1"/>
          </p:nvPr>
        </p:nvSpPr>
        <p:spPr>
          <a:xfrm>
            <a:off x="1791587" y="2417450"/>
            <a:ext cx="3101400" cy="10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690" name="Google Shape;690;p32"/>
          <p:cNvSpPr/>
          <p:nvPr/>
        </p:nvSpPr>
        <p:spPr>
          <a:xfrm>
            <a:off x="5782875" y="1868575"/>
            <a:ext cx="1085100" cy="1085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32"/>
          <p:cNvSpPr txBox="1">
            <a:spLocks noGrp="1"/>
          </p:cNvSpPr>
          <p:nvPr>
            <p:ph type="title" idx="2"/>
          </p:nvPr>
        </p:nvSpPr>
        <p:spPr>
          <a:xfrm>
            <a:off x="5834900" y="2122225"/>
            <a:ext cx="9810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07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692" name="Google Shape;692;p32"/>
          <p:cNvSpPr/>
          <p:nvPr/>
        </p:nvSpPr>
        <p:spPr>
          <a:xfrm>
            <a:off x="1370476" y="3869000"/>
            <a:ext cx="6279992" cy="104326"/>
          </a:xfrm>
          <a:custGeom>
            <a:avLst/>
            <a:gdLst/>
            <a:ahLst/>
            <a:cxnLst/>
            <a:rect l="l" t="t" r="r" b="b"/>
            <a:pathLst>
              <a:path w="143387" h="2382" extrusionOk="0">
                <a:moveTo>
                  <a:pt x="1185" y="0"/>
                </a:moveTo>
                <a:cubicBezTo>
                  <a:pt x="530" y="0"/>
                  <a:pt x="1" y="529"/>
                  <a:pt x="1" y="1184"/>
                </a:cubicBezTo>
                <a:cubicBezTo>
                  <a:pt x="1" y="1840"/>
                  <a:pt x="530" y="2382"/>
                  <a:pt x="1185" y="2382"/>
                </a:cubicBezTo>
                <a:lnTo>
                  <a:pt x="142189" y="2382"/>
                </a:lnTo>
                <a:cubicBezTo>
                  <a:pt x="142844" y="2382"/>
                  <a:pt x="143386" y="1840"/>
                  <a:pt x="143386" y="1184"/>
                </a:cubicBezTo>
                <a:cubicBezTo>
                  <a:pt x="143386" y="529"/>
                  <a:pt x="142844" y="0"/>
                  <a:pt x="14218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32"/>
          <p:cNvSpPr/>
          <p:nvPr/>
        </p:nvSpPr>
        <p:spPr>
          <a:xfrm>
            <a:off x="1369950" y="3869000"/>
            <a:ext cx="5074478" cy="104326"/>
          </a:xfrm>
          <a:custGeom>
            <a:avLst/>
            <a:gdLst/>
            <a:ahLst/>
            <a:cxnLst/>
            <a:rect l="l" t="t" r="r" b="b"/>
            <a:pathLst>
              <a:path w="87904" h="2382" extrusionOk="0">
                <a:moveTo>
                  <a:pt x="1197" y="0"/>
                </a:moveTo>
                <a:cubicBezTo>
                  <a:pt x="529" y="0"/>
                  <a:pt x="0" y="529"/>
                  <a:pt x="0" y="1184"/>
                </a:cubicBezTo>
                <a:cubicBezTo>
                  <a:pt x="0" y="1840"/>
                  <a:pt x="529" y="2382"/>
                  <a:pt x="1197" y="2382"/>
                </a:cubicBezTo>
                <a:lnTo>
                  <a:pt x="86719" y="2382"/>
                </a:lnTo>
                <a:cubicBezTo>
                  <a:pt x="87375" y="2382"/>
                  <a:pt x="87904" y="1840"/>
                  <a:pt x="87904" y="1184"/>
                </a:cubicBezTo>
                <a:cubicBezTo>
                  <a:pt x="87904" y="529"/>
                  <a:pt x="87375" y="0"/>
                  <a:pt x="8671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94" name="Google Shape;694;p32"/>
          <p:cNvCxnSpPr>
            <a:stCxn id="690" idx="2"/>
          </p:cNvCxnSpPr>
          <p:nvPr/>
        </p:nvCxnSpPr>
        <p:spPr>
          <a:xfrm>
            <a:off x="6325425" y="2953675"/>
            <a:ext cx="0" cy="978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147328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idx="1"/>
          </p:nvPr>
        </p:nvSpPr>
        <p:spPr>
          <a:xfrm>
            <a:off x="618825" y="989476"/>
            <a:ext cx="5101491" cy="3440758"/>
          </a:xfrm>
        </p:spPr>
        <p:txBody>
          <a:bodyPr/>
          <a:lstStyle/>
          <a:p>
            <a:pPr algn="just"/>
            <a:r>
              <a:rPr lang="en-GB" sz="1800" dirty="0"/>
              <a:t>Blockchain boosts finance and banking with secure, transparent transactions</a:t>
            </a:r>
          </a:p>
          <a:p>
            <a:pPr marL="165100" indent="0" algn="just">
              <a:buNone/>
            </a:pPr>
            <a:endParaRPr lang="en-GB" sz="800" dirty="0"/>
          </a:p>
          <a:p>
            <a:pPr algn="just"/>
            <a:r>
              <a:rPr lang="en-GB" sz="1800" dirty="0"/>
              <a:t>Decentralized ledger tech upgrades traditional banking processes</a:t>
            </a:r>
          </a:p>
        </p:txBody>
      </p:sp>
      <p:sp>
        <p:nvSpPr>
          <p:cNvPr id="13" name="Title 12"/>
          <p:cNvSpPr>
            <a:spLocks noGrp="1"/>
          </p:cNvSpPr>
          <p:nvPr>
            <p:ph type="ctrTitle"/>
          </p:nvPr>
        </p:nvSpPr>
        <p:spPr>
          <a:xfrm>
            <a:off x="618825" y="411675"/>
            <a:ext cx="5158198" cy="577800"/>
          </a:xfrm>
        </p:spPr>
        <p:txBody>
          <a:bodyPr/>
          <a:lstStyle/>
          <a:p>
            <a:r>
              <a:rPr lang="en-US" sz="3200" dirty="0"/>
              <a:t>Finance &amp; Banking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5371" y="1889696"/>
            <a:ext cx="2661178" cy="266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379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Blockchain Future in Financial Services ? – HyperHCI.co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013" y="238308"/>
            <a:ext cx="7158612" cy="4663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98807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idx="1"/>
          </p:nvPr>
        </p:nvSpPr>
        <p:spPr>
          <a:xfrm>
            <a:off x="618823" y="989475"/>
            <a:ext cx="6178925" cy="3625055"/>
          </a:xfrm>
        </p:spPr>
        <p:txBody>
          <a:bodyPr/>
          <a:lstStyle/>
          <a:p>
            <a:pPr marL="165100" indent="0" algn="just">
              <a:buNone/>
            </a:pPr>
            <a:r>
              <a:rPr lang="en-GB" sz="1600" b="1" dirty="0">
                <a:solidFill>
                  <a:schemeClr val="bg1"/>
                </a:solidFill>
              </a:rPr>
              <a:t>Pros:</a:t>
            </a:r>
          </a:p>
          <a:p>
            <a:pPr algn="just"/>
            <a:r>
              <a:rPr lang="en-GB" sz="1600" dirty="0">
                <a:solidFill>
                  <a:schemeClr val="bg1"/>
                </a:solidFill>
              </a:rPr>
              <a:t>Enhanced security and transparency, reducing fraud and building trust</a:t>
            </a:r>
          </a:p>
          <a:p>
            <a:pPr algn="just"/>
            <a:r>
              <a:rPr lang="en-GB" sz="1600" dirty="0">
                <a:solidFill>
                  <a:schemeClr val="bg1"/>
                </a:solidFill>
              </a:rPr>
              <a:t>Increased efficiency in payments and settlements, cutting costs</a:t>
            </a:r>
          </a:p>
          <a:p>
            <a:pPr algn="just"/>
            <a:r>
              <a:rPr lang="en-GB" sz="1600" dirty="0">
                <a:solidFill>
                  <a:schemeClr val="bg1"/>
                </a:solidFill>
              </a:rPr>
              <a:t>Potential for financial inclusion by banking the unbanked</a:t>
            </a:r>
          </a:p>
          <a:p>
            <a:pPr marL="165100" indent="0" algn="just">
              <a:buNone/>
            </a:pPr>
            <a:endParaRPr lang="en-GB" sz="1600" b="1" dirty="0">
              <a:solidFill>
                <a:schemeClr val="bg1"/>
              </a:solidFill>
            </a:endParaRPr>
          </a:p>
          <a:p>
            <a:pPr marL="165100" indent="0" algn="just">
              <a:buNone/>
            </a:pPr>
            <a:r>
              <a:rPr lang="en-GB" sz="1600" b="1" dirty="0">
                <a:solidFill>
                  <a:schemeClr val="bg1"/>
                </a:solidFill>
              </a:rPr>
              <a:t>Cons:</a:t>
            </a:r>
          </a:p>
          <a:p>
            <a:pPr algn="just"/>
            <a:r>
              <a:rPr lang="en-GB" sz="1600" dirty="0">
                <a:solidFill>
                  <a:schemeClr val="bg1"/>
                </a:solidFill>
              </a:rPr>
              <a:t>Regulatory challenges and compliance hurdles with </a:t>
            </a:r>
            <a:r>
              <a:rPr lang="en-GB" sz="1600" dirty="0" err="1">
                <a:solidFill>
                  <a:schemeClr val="bg1"/>
                </a:solidFill>
              </a:rPr>
              <a:t>blockchain</a:t>
            </a:r>
            <a:r>
              <a:rPr lang="en-GB" sz="1600" dirty="0">
                <a:solidFill>
                  <a:schemeClr val="bg1"/>
                </a:solidFill>
              </a:rPr>
              <a:t> adoption</a:t>
            </a:r>
          </a:p>
          <a:p>
            <a:pPr algn="just"/>
            <a:r>
              <a:rPr lang="en-GB" sz="1600" dirty="0">
                <a:solidFill>
                  <a:schemeClr val="bg1"/>
                </a:solidFill>
              </a:rPr>
              <a:t>Scalability concerns for managing high-volume transactions</a:t>
            </a:r>
          </a:p>
          <a:p>
            <a:pPr algn="just"/>
            <a:r>
              <a:rPr lang="en-GB" sz="1600" dirty="0">
                <a:solidFill>
                  <a:schemeClr val="bg1"/>
                </a:solidFill>
              </a:rPr>
              <a:t>Integration complexities with existing banking infrastructure and legacy systems</a:t>
            </a:r>
          </a:p>
        </p:txBody>
      </p:sp>
      <p:sp>
        <p:nvSpPr>
          <p:cNvPr id="13" name="Title 12"/>
          <p:cNvSpPr>
            <a:spLocks noGrp="1"/>
          </p:cNvSpPr>
          <p:nvPr>
            <p:ph type="ctrTitle"/>
          </p:nvPr>
        </p:nvSpPr>
        <p:spPr>
          <a:xfrm>
            <a:off x="618824" y="411675"/>
            <a:ext cx="5158198" cy="577800"/>
          </a:xfrm>
        </p:spPr>
        <p:txBody>
          <a:bodyPr/>
          <a:lstStyle/>
          <a:p>
            <a:r>
              <a:rPr lang="en-US" sz="2800" dirty="0"/>
              <a:t>Finance &amp; Banking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087" y="2805723"/>
            <a:ext cx="1808808" cy="180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1154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2"/>
          <p:cNvSpPr txBox="1">
            <a:spLocks noGrp="1"/>
          </p:cNvSpPr>
          <p:nvPr>
            <p:ph type="ctrTitle"/>
          </p:nvPr>
        </p:nvSpPr>
        <p:spPr>
          <a:xfrm>
            <a:off x="1311349" y="2281375"/>
            <a:ext cx="3981002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Cryptocurrency</a:t>
            </a:r>
            <a:endParaRPr sz="4400" dirty="0"/>
          </a:p>
        </p:txBody>
      </p:sp>
      <p:sp>
        <p:nvSpPr>
          <p:cNvPr id="689" name="Google Shape;689;p32"/>
          <p:cNvSpPr txBox="1">
            <a:spLocks noGrp="1"/>
          </p:cNvSpPr>
          <p:nvPr>
            <p:ph type="subTitle" idx="1"/>
          </p:nvPr>
        </p:nvSpPr>
        <p:spPr>
          <a:xfrm>
            <a:off x="1791587" y="2417450"/>
            <a:ext cx="3101400" cy="10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690" name="Google Shape;690;p32"/>
          <p:cNvSpPr/>
          <p:nvPr/>
        </p:nvSpPr>
        <p:spPr>
          <a:xfrm>
            <a:off x="5782875" y="1868575"/>
            <a:ext cx="1085100" cy="1085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32"/>
          <p:cNvSpPr txBox="1">
            <a:spLocks noGrp="1"/>
          </p:cNvSpPr>
          <p:nvPr>
            <p:ph type="title" idx="2"/>
          </p:nvPr>
        </p:nvSpPr>
        <p:spPr>
          <a:xfrm>
            <a:off x="5834900" y="2122225"/>
            <a:ext cx="9810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08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692" name="Google Shape;692;p32"/>
          <p:cNvSpPr/>
          <p:nvPr/>
        </p:nvSpPr>
        <p:spPr>
          <a:xfrm>
            <a:off x="1370476" y="3869000"/>
            <a:ext cx="6279992" cy="104326"/>
          </a:xfrm>
          <a:custGeom>
            <a:avLst/>
            <a:gdLst/>
            <a:ahLst/>
            <a:cxnLst/>
            <a:rect l="l" t="t" r="r" b="b"/>
            <a:pathLst>
              <a:path w="143387" h="2382" extrusionOk="0">
                <a:moveTo>
                  <a:pt x="1185" y="0"/>
                </a:moveTo>
                <a:cubicBezTo>
                  <a:pt x="530" y="0"/>
                  <a:pt x="1" y="529"/>
                  <a:pt x="1" y="1184"/>
                </a:cubicBezTo>
                <a:cubicBezTo>
                  <a:pt x="1" y="1840"/>
                  <a:pt x="530" y="2382"/>
                  <a:pt x="1185" y="2382"/>
                </a:cubicBezTo>
                <a:lnTo>
                  <a:pt x="142189" y="2382"/>
                </a:lnTo>
                <a:cubicBezTo>
                  <a:pt x="142844" y="2382"/>
                  <a:pt x="143386" y="1840"/>
                  <a:pt x="143386" y="1184"/>
                </a:cubicBezTo>
                <a:cubicBezTo>
                  <a:pt x="143386" y="529"/>
                  <a:pt x="142844" y="0"/>
                  <a:pt x="14218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32"/>
          <p:cNvSpPr/>
          <p:nvPr/>
        </p:nvSpPr>
        <p:spPr>
          <a:xfrm>
            <a:off x="1369950" y="3869000"/>
            <a:ext cx="5074478" cy="104326"/>
          </a:xfrm>
          <a:custGeom>
            <a:avLst/>
            <a:gdLst/>
            <a:ahLst/>
            <a:cxnLst/>
            <a:rect l="l" t="t" r="r" b="b"/>
            <a:pathLst>
              <a:path w="87904" h="2382" extrusionOk="0">
                <a:moveTo>
                  <a:pt x="1197" y="0"/>
                </a:moveTo>
                <a:cubicBezTo>
                  <a:pt x="529" y="0"/>
                  <a:pt x="0" y="529"/>
                  <a:pt x="0" y="1184"/>
                </a:cubicBezTo>
                <a:cubicBezTo>
                  <a:pt x="0" y="1840"/>
                  <a:pt x="529" y="2382"/>
                  <a:pt x="1197" y="2382"/>
                </a:cubicBezTo>
                <a:lnTo>
                  <a:pt x="86719" y="2382"/>
                </a:lnTo>
                <a:cubicBezTo>
                  <a:pt x="87375" y="2382"/>
                  <a:pt x="87904" y="1840"/>
                  <a:pt x="87904" y="1184"/>
                </a:cubicBezTo>
                <a:cubicBezTo>
                  <a:pt x="87904" y="529"/>
                  <a:pt x="87375" y="0"/>
                  <a:pt x="8671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94" name="Google Shape;694;p32"/>
          <p:cNvCxnSpPr>
            <a:stCxn id="690" idx="2"/>
          </p:cNvCxnSpPr>
          <p:nvPr/>
        </p:nvCxnSpPr>
        <p:spPr>
          <a:xfrm>
            <a:off x="6325425" y="2953675"/>
            <a:ext cx="0" cy="9780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3636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idx="1"/>
          </p:nvPr>
        </p:nvSpPr>
        <p:spPr>
          <a:xfrm>
            <a:off x="618825" y="989476"/>
            <a:ext cx="5101491" cy="3440758"/>
          </a:xfrm>
        </p:spPr>
        <p:txBody>
          <a:bodyPr/>
          <a:lstStyle/>
          <a:p>
            <a:pPr algn="just"/>
            <a:r>
              <a:rPr lang="en-GB" sz="1600" dirty="0"/>
              <a:t>Cryptocurrency uses blockchain for decentralized digital money, transforming finance</a:t>
            </a:r>
          </a:p>
          <a:p>
            <a:pPr marL="165100" indent="0" algn="just">
              <a:buNone/>
            </a:pPr>
            <a:endParaRPr lang="en-GB" sz="600" dirty="0"/>
          </a:p>
          <a:p>
            <a:pPr algn="just"/>
            <a:r>
              <a:rPr lang="en-GB" sz="1600" dirty="0"/>
              <a:t>It's a banking alternative, empowering users with control and cutting out intermediaries</a:t>
            </a:r>
          </a:p>
          <a:p>
            <a:pPr marL="165100" indent="0" algn="just">
              <a:buNone/>
            </a:pPr>
            <a:endParaRPr lang="en-GB" sz="600" dirty="0"/>
          </a:p>
          <a:p>
            <a:pPr algn="just"/>
            <a:r>
              <a:rPr lang="en-GB" sz="1600" dirty="0"/>
              <a:t>Cryptocurrencies operate on a global scale, facilitating borderless transactions without the need for currency conversion</a:t>
            </a:r>
          </a:p>
          <a:p>
            <a:pPr marL="165100" indent="0" algn="just">
              <a:buNone/>
            </a:pPr>
            <a:endParaRPr lang="en-GB" sz="600" dirty="0"/>
          </a:p>
          <a:p>
            <a:pPr algn="just"/>
            <a:r>
              <a:rPr lang="en-GB" sz="1600" dirty="0"/>
              <a:t>They promote financial inclusion by offering access to banking services to the unbanked population worldwide</a:t>
            </a:r>
          </a:p>
        </p:txBody>
      </p:sp>
      <p:sp>
        <p:nvSpPr>
          <p:cNvPr id="13" name="Title 12"/>
          <p:cNvSpPr>
            <a:spLocks noGrp="1"/>
          </p:cNvSpPr>
          <p:nvPr>
            <p:ph type="ctrTitle"/>
          </p:nvPr>
        </p:nvSpPr>
        <p:spPr>
          <a:xfrm>
            <a:off x="618825" y="411675"/>
            <a:ext cx="5158198" cy="577800"/>
          </a:xfrm>
        </p:spPr>
        <p:txBody>
          <a:bodyPr/>
          <a:lstStyle/>
          <a:p>
            <a:r>
              <a:rPr lang="en-US" sz="3200" dirty="0"/>
              <a:t>Cryptocurrency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5777023" y="1749306"/>
            <a:ext cx="2680928" cy="268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739" y="450317"/>
            <a:ext cx="7019814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8726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idx="1"/>
          </p:nvPr>
        </p:nvSpPr>
        <p:spPr>
          <a:xfrm>
            <a:off x="618823" y="989475"/>
            <a:ext cx="5158199" cy="3625055"/>
          </a:xfrm>
        </p:spPr>
        <p:txBody>
          <a:bodyPr/>
          <a:lstStyle/>
          <a:p>
            <a:pPr marL="165100" indent="0" algn="just">
              <a:buNone/>
            </a:pPr>
            <a:r>
              <a:rPr lang="en-GB" sz="1600" b="1" dirty="0">
                <a:solidFill>
                  <a:schemeClr val="bg1"/>
                </a:solidFill>
              </a:rPr>
              <a:t>Pros:</a:t>
            </a:r>
            <a:endParaRPr lang="en-GB" sz="1600" dirty="0">
              <a:solidFill>
                <a:schemeClr val="bg1"/>
              </a:solidFill>
            </a:endParaRPr>
          </a:p>
          <a:p>
            <a:pPr algn="just"/>
            <a:r>
              <a:rPr lang="en-GB" sz="1600" dirty="0">
                <a:solidFill>
                  <a:schemeClr val="bg1"/>
                </a:solidFill>
              </a:rPr>
              <a:t>Financial autonomy, bypassing traditional banks</a:t>
            </a:r>
          </a:p>
          <a:p>
            <a:pPr algn="just"/>
            <a:r>
              <a:rPr lang="en-GB" sz="1600" dirty="0">
                <a:solidFill>
                  <a:schemeClr val="bg1"/>
                </a:solidFill>
              </a:rPr>
              <a:t>Enhanced security and transparency</a:t>
            </a:r>
          </a:p>
          <a:p>
            <a:pPr algn="just"/>
            <a:r>
              <a:rPr lang="en-GB" sz="1600" dirty="0">
                <a:solidFill>
                  <a:schemeClr val="bg1"/>
                </a:solidFill>
              </a:rPr>
              <a:t>Facilitates borderless transactions and financial inclusion</a:t>
            </a:r>
          </a:p>
          <a:p>
            <a:pPr marL="165100" indent="0" algn="just">
              <a:buNone/>
            </a:pPr>
            <a:endParaRPr lang="en-GB" sz="1600" b="1" dirty="0">
              <a:solidFill>
                <a:schemeClr val="bg1"/>
              </a:solidFill>
            </a:endParaRPr>
          </a:p>
          <a:p>
            <a:pPr marL="165100" indent="0" algn="just">
              <a:buNone/>
            </a:pPr>
            <a:r>
              <a:rPr lang="en-GB" sz="1600" b="1" dirty="0">
                <a:solidFill>
                  <a:schemeClr val="bg1"/>
                </a:solidFill>
              </a:rPr>
              <a:t>Cons:</a:t>
            </a:r>
            <a:endParaRPr lang="en-GB" sz="1600" dirty="0">
              <a:solidFill>
                <a:schemeClr val="bg1"/>
              </a:solidFill>
            </a:endParaRPr>
          </a:p>
          <a:p>
            <a:pPr algn="just"/>
            <a:r>
              <a:rPr lang="en-GB" sz="1600" dirty="0">
                <a:solidFill>
                  <a:schemeClr val="bg1"/>
                </a:solidFill>
              </a:rPr>
              <a:t>Volatility and speculation risks.</a:t>
            </a:r>
          </a:p>
          <a:p>
            <a:pPr algn="just"/>
            <a:r>
              <a:rPr lang="en-GB" sz="1600" dirty="0">
                <a:solidFill>
                  <a:schemeClr val="bg1"/>
                </a:solidFill>
              </a:rPr>
              <a:t>Regulatory challenges and legal uncertainties.</a:t>
            </a:r>
          </a:p>
          <a:p>
            <a:pPr algn="just"/>
            <a:r>
              <a:rPr lang="en-GB" sz="1600" dirty="0">
                <a:solidFill>
                  <a:schemeClr val="bg1"/>
                </a:solidFill>
              </a:rPr>
              <a:t>Environmental concerns due to energy-intensive mining</a:t>
            </a:r>
          </a:p>
        </p:txBody>
      </p:sp>
      <p:sp>
        <p:nvSpPr>
          <p:cNvPr id="13" name="Title 12"/>
          <p:cNvSpPr>
            <a:spLocks noGrp="1"/>
          </p:cNvSpPr>
          <p:nvPr>
            <p:ph type="ctrTitle"/>
          </p:nvPr>
        </p:nvSpPr>
        <p:spPr>
          <a:xfrm>
            <a:off x="618824" y="411675"/>
            <a:ext cx="5158198" cy="577800"/>
          </a:xfrm>
        </p:spPr>
        <p:txBody>
          <a:bodyPr/>
          <a:lstStyle/>
          <a:p>
            <a:r>
              <a:rPr lang="en-US" sz="2800" dirty="0"/>
              <a:t>Cryptocurrency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6110852" y="1850906"/>
            <a:ext cx="2680928" cy="268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6778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2"/>
          <p:cNvSpPr txBox="1">
            <a:spLocks noGrp="1"/>
          </p:cNvSpPr>
          <p:nvPr>
            <p:ph type="ctrTitle"/>
          </p:nvPr>
        </p:nvSpPr>
        <p:spPr>
          <a:xfrm>
            <a:off x="845670" y="2605375"/>
            <a:ext cx="4492261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Digital Media &amp; Entertainment</a:t>
            </a:r>
            <a:endParaRPr dirty="0"/>
          </a:p>
        </p:txBody>
      </p:sp>
      <p:sp>
        <p:nvSpPr>
          <p:cNvPr id="689" name="Google Shape;689;p32"/>
          <p:cNvSpPr txBox="1">
            <a:spLocks noGrp="1"/>
          </p:cNvSpPr>
          <p:nvPr>
            <p:ph type="subTitle" idx="1"/>
          </p:nvPr>
        </p:nvSpPr>
        <p:spPr>
          <a:xfrm>
            <a:off x="1791587" y="2417450"/>
            <a:ext cx="3101400" cy="10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690" name="Google Shape;690;p32"/>
          <p:cNvSpPr/>
          <p:nvPr/>
        </p:nvSpPr>
        <p:spPr>
          <a:xfrm>
            <a:off x="5782875" y="1868575"/>
            <a:ext cx="1085100" cy="10851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32"/>
          <p:cNvSpPr txBox="1">
            <a:spLocks noGrp="1"/>
          </p:cNvSpPr>
          <p:nvPr>
            <p:ph type="title" idx="2"/>
          </p:nvPr>
        </p:nvSpPr>
        <p:spPr>
          <a:xfrm>
            <a:off x="5834900" y="2122225"/>
            <a:ext cx="9810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09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692" name="Google Shape;692;p32"/>
          <p:cNvSpPr/>
          <p:nvPr/>
        </p:nvSpPr>
        <p:spPr>
          <a:xfrm>
            <a:off x="1370476" y="3869000"/>
            <a:ext cx="6279992" cy="104326"/>
          </a:xfrm>
          <a:custGeom>
            <a:avLst/>
            <a:gdLst/>
            <a:ahLst/>
            <a:cxnLst/>
            <a:rect l="l" t="t" r="r" b="b"/>
            <a:pathLst>
              <a:path w="143387" h="2382" extrusionOk="0">
                <a:moveTo>
                  <a:pt x="1185" y="0"/>
                </a:moveTo>
                <a:cubicBezTo>
                  <a:pt x="530" y="0"/>
                  <a:pt x="1" y="529"/>
                  <a:pt x="1" y="1184"/>
                </a:cubicBezTo>
                <a:cubicBezTo>
                  <a:pt x="1" y="1840"/>
                  <a:pt x="530" y="2382"/>
                  <a:pt x="1185" y="2382"/>
                </a:cubicBezTo>
                <a:lnTo>
                  <a:pt x="142189" y="2382"/>
                </a:lnTo>
                <a:cubicBezTo>
                  <a:pt x="142844" y="2382"/>
                  <a:pt x="143386" y="1840"/>
                  <a:pt x="143386" y="1184"/>
                </a:cubicBezTo>
                <a:cubicBezTo>
                  <a:pt x="143386" y="529"/>
                  <a:pt x="142844" y="0"/>
                  <a:pt x="14218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32"/>
          <p:cNvSpPr/>
          <p:nvPr/>
        </p:nvSpPr>
        <p:spPr>
          <a:xfrm>
            <a:off x="1369950" y="3869000"/>
            <a:ext cx="5074478" cy="104326"/>
          </a:xfrm>
          <a:custGeom>
            <a:avLst/>
            <a:gdLst/>
            <a:ahLst/>
            <a:cxnLst/>
            <a:rect l="l" t="t" r="r" b="b"/>
            <a:pathLst>
              <a:path w="87904" h="2382" extrusionOk="0">
                <a:moveTo>
                  <a:pt x="1197" y="0"/>
                </a:moveTo>
                <a:cubicBezTo>
                  <a:pt x="529" y="0"/>
                  <a:pt x="0" y="529"/>
                  <a:pt x="0" y="1184"/>
                </a:cubicBezTo>
                <a:cubicBezTo>
                  <a:pt x="0" y="1840"/>
                  <a:pt x="529" y="2382"/>
                  <a:pt x="1197" y="2382"/>
                </a:cubicBezTo>
                <a:lnTo>
                  <a:pt x="86719" y="2382"/>
                </a:lnTo>
                <a:cubicBezTo>
                  <a:pt x="87375" y="2382"/>
                  <a:pt x="87904" y="1840"/>
                  <a:pt x="87904" y="1184"/>
                </a:cubicBezTo>
                <a:cubicBezTo>
                  <a:pt x="87904" y="529"/>
                  <a:pt x="87375" y="0"/>
                  <a:pt x="86719" y="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94" name="Google Shape;694;p32"/>
          <p:cNvCxnSpPr>
            <a:stCxn id="690" idx="2"/>
          </p:cNvCxnSpPr>
          <p:nvPr/>
        </p:nvCxnSpPr>
        <p:spPr>
          <a:xfrm>
            <a:off x="6325425" y="2953675"/>
            <a:ext cx="0" cy="9780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468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idx="1"/>
          </p:nvPr>
        </p:nvSpPr>
        <p:spPr>
          <a:xfrm>
            <a:off x="618825" y="989476"/>
            <a:ext cx="5101491" cy="3440758"/>
          </a:xfrm>
        </p:spPr>
        <p:txBody>
          <a:bodyPr/>
          <a:lstStyle/>
          <a:p>
            <a:pPr algn="just"/>
            <a:r>
              <a:rPr lang="en-GB" sz="1600" dirty="0"/>
              <a:t>Revolutionizing media &amp; entertainment with blockchain for content distribution, rights, and monetization</a:t>
            </a:r>
          </a:p>
          <a:p>
            <a:pPr marL="165100" indent="0" algn="just">
              <a:buNone/>
            </a:pPr>
            <a:endParaRPr lang="en-GB" sz="500" dirty="0"/>
          </a:p>
          <a:p>
            <a:pPr algn="just"/>
            <a:r>
              <a:rPr lang="en-GB" sz="1600" dirty="0"/>
              <a:t>Empowering creators &amp; consumers with decentralized platforms &amp; transparent revenue sharing</a:t>
            </a:r>
          </a:p>
          <a:p>
            <a:pPr marL="165100" indent="0" algn="just">
              <a:buNone/>
            </a:pPr>
            <a:endParaRPr lang="en-GB" sz="500" dirty="0"/>
          </a:p>
          <a:p>
            <a:pPr algn="just"/>
            <a:r>
              <a:rPr lang="en-GB" sz="1600" dirty="0"/>
              <a:t>Enhancing copyright protection &amp; combating piracy</a:t>
            </a:r>
          </a:p>
          <a:p>
            <a:pPr marL="165100" indent="0" algn="just">
              <a:buNone/>
            </a:pPr>
            <a:endParaRPr lang="en-GB" sz="500" dirty="0"/>
          </a:p>
          <a:p>
            <a:pPr algn="just"/>
            <a:r>
              <a:rPr lang="en-GB" sz="1600" dirty="0"/>
              <a:t>Enabling direct interaction between creators and audiences</a:t>
            </a:r>
          </a:p>
        </p:txBody>
      </p:sp>
      <p:sp>
        <p:nvSpPr>
          <p:cNvPr id="13" name="Title 12"/>
          <p:cNvSpPr>
            <a:spLocks noGrp="1"/>
          </p:cNvSpPr>
          <p:nvPr>
            <p:ph type="ctrTitle"/>
          </p:nvPr>
        </p:nvSpPr>
        <p:spPr>
          <a:xfrm>
            <a:off x="618825" y="411675"/>
            <a:ext cx="5158198" cy="577800"/>
          </a:xfrm>
        </p:spPr>
        <p:txBody>
          <a:bodyPr/>
          <a:lstStyle/>
          <a:p>
            <a:r>
              <a:rPr lang="en-US" sz="3200" dirty="0"/>
              <a:t>Digital Media &amp; Entertainment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0316" y="1630103"/>
            <a:ext cx="3009353" cy="300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111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680" y="224790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1045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idx="1"/>
          </p:nvPr>
        </p:nvSpPr>
        <p:spPr>
          <a:xfrm>
            <a:off x="618823" y="989475"/>
            <a:ext cx="5314144" cy="3625055"/>
          </a:xfrm>
        </p:spPr>
        <p:txBody>
          <a:bodyPr/>
          <a:lstStyle/>
          <a:p>
            <a:pPr marL="165100" indent="0" algn="just">
              <a:buNone/>
            </a:pPr>
            <a:r>
              <a:rPr lang="en-GB" sz="1400" b="1" dirty="0">
                <a:solidFill>
                  <a:schemeClr val="bg1"/>
                </a:solidFill>
              </a:rPr>
              <a:t>Pros:</a:t>
            </a:r>
          </a:p>
          <a:p>
            <a:pPr algn="just"/>
            <a:r>
              <a:rPr lang="en-GB" sz="1400" b="1" dirty="0">
                <a:solidFill>
                  <a:schemeClr val="bg1"/>
                </a:solidFill>
              </a:rPr>
              <a:t>Disintermediation:</a:t>
            </a:r>
            <a:r>
              <a:rPr lang="en-GB" sz="1400" dirty="0">
                <a:solidFill>
                  <a:schemeClr val="bg1"/>
                </a:solidFill>
              </a:rPr>
              <a:t> Direct interaction between creators &amp; consumers</a:t>
            </a:r>
          </a:p>
          <a:p>
            <a:pPr algn="just"/>
            <a:r>
              <a:rPr lang="en-GB" sz="1400" b="1" dirty="0">
                <a:solidFill>
                  <a:schemeClr val="bg1"/>
                </a:solidFill>
              </a:rPr>
              <a:t>Transparency: </a:t>
            </a:r>
            <a:r>
              <a:rPr lang="en-GB" sz="1400" dirty="0">
                <a:solidFill>
                  <a:schemeClr val="bg1"/>
                </a:solidFill>
              </a:rPr>
              <a:t>Fair revenue sharing, benefiting creators &amp; rights holders</a:t>
            </a:r>
          </a:p>
          <a:p>
            <a:pPr algn="just"/>
            <a:r>
              <a:rPr lang="en-GB" sz="1400" b="1" dirty="0">
                <a:solidFill>
                  <a:schemeClr val="bg1"/>
                </a:solidFill>
              </a:rPr>
              <a:t>New Opportunities:</a:t>
            </a:r>
            <a:r>
              <a:rPr lang="en-GB" sz="1400" dirty="0">
                <a:solidFill>
                  <a:schemeClr val="bg1"/>
                </a:solidFill>
              </a:rPr>
              <a:t> Blockchain platforms offer new monetization models</a:t>
            </a:r>
          </a:p>
          <a:p>
            <a:pPr marL="165100" indent="0" algn="just">
              <a:buNone/>
            </a:pPr>
            <a:endParaRPr lang="en-GB" sz="1400" b="1" dirty="0">
              <a:solidFill>
                <a:schemeClr val="bg1"/>
              </a:solidFill>
            </a:endParaRPr>
          </a:p>
          <a:p>
            <a:pPr marL="165100" indent="0" algn="just">
              <a:buNone/>
            </a:pPr>
            <a:r>
              <a:rPr lang="en-GB" sz="1400" b="1" dirty="0">
                <a:solidFill>
                  <a:schemeClr val="bg1"/>
                </a:solidFill>
              </a:rPr>
              <a:t>Cons:</a:t>
            </a:r>
          </a:p>
          <a:p>
            <a:pPr algn="just"/>
            <a:r>
              <a:rPr lang="en-GB" sz="1400" b="1" dirty="0">
                <a:solidFill>
                  <a:schemeClr val="bg1"/>
                </a:solidFill>
              </a:rPr>
              <a:t>Industry Resistance:</a:t>
            </a:r>
            <a:r>
              <a:rPr lang="en-GB" sz="1400" dirty="0">
                <a:solidFill>
                  <a:schemeClr val="bg1"/>
                </a:solidFill>
              </a:rPr>
              <a:t> Established players &amp; regulatory uncertainties</a:t>
            </a:r>
          </a:p>
          <a:p>
            <a:pPr algn="just"/>
            <a:r>
              <a:rPr lang="en-GB" sz="1400" b="1" dirty="0">
                <a:solidFill>
                  <a:schemeClr val="bg1"/>
                </a:solidFill>
              </a:rPr>
              <a:t>Technical Challenges:</a:t>
            </a:r>
            <a:r>
              <a:rPr lang="en-GB" sz="1400" dirty="0">
                <a:solidFill>
                  <a:schemeClr val="bg1"/>
                </a:solidFill>
              </a:rPr>
              <a:t> Scaling decentralized platforms for large content &amp; users</a:t>
            </a:r>
          </a:p>
          <a:p>
            <a:pPr algn="just"/>
            <a:r>
              <a:rPr lang="en-GB" sz="1400" b="1" dirty="0">
                <a:solidFill>
                  <a:schemeClr val="bg1"/>
                </a:solidFill>
              </a:rPr>
              <a:t>Copyright Concerns: </a:t>
            </a:r>
            <a:r>
              <a:rPr lang="en-GB" sz="1400" dirty="0">
                <a:solidFill>
                  <a:schemeClr val="bg1"/>
                </a:solidFill>
              </a:rPr>
              <a:t>Risks of infringement &amp; piracy in decentralized distribution</a:t>
            </a:r>
          </a:p>
        </p:txBody>
      </p:sp>
      <p:sp>
        <p:nvSpPr>
          <p:cNvPr id="13" name="Title 12"/>
          <p:cNvSpPr>
            <a:spLocks noGrp="1"/>
          </p:cNvSpPr>
          <p:nvPr>
            <p:ph type="ctrTitle"/>
          </p:nvPr>
        </p:nvSpPr>
        <p:spPr>
          <a:xfrm>
            <a:off x="618824" y="411675"/>
            <a:ext cx="5158198" cy="577800"/>
          </a:xfrm>
        </p:spPr>
        <p:txBody>
          <a:bodyPr/>
          <a:lstStyle/>
          <a:p>
            <a:r>
              <a:rPr lang="en-US" sz="2800" dirty="0"/>
              <a:t>Digital Media &amp; Entertainment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771" y="2281558"/>
            <a:ext cx="2357898" cy="2357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729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idx="1"/>
          </p:nvPr>
        </p:nvSpPr>
        <p:spPr>
          <a:xfrm>
            <a:off x="618823" y="989475"/>
            <a:ext cx="5314144" cy="3625055"/>
          </a:xfrm>
        </p:spPr>
        <p:txBody>
          <a:bodyPr/>
          <a:lstStyle/>
          <a:p>
            <a:pPr algn="just"/>
            <a:r>
              <a:rPr lang="en-GB" sz="1600" dirty="0">
                <a:solidFill>
                  <a:schemeClr val="bg1"/>
                </a:solidFill>
              </a:rPr>
              <a:t>Blockchain technology revolutionizes multiple sectors, offering security, transparency, and efficiency</a:t>
            </a:r>
          </a:p>
          <a:p>
            <a:pPr marL="165100" indent="0" algn="just">
              <a:buNone/>
            </a:pPr>
            <a:endParaRPr lang="en-GB" sz="700" dirty="0">
              <a:solidFill>
                <a:schemeClr val="bg1"/>
              </a:solidFill>
            </a:endParaRPr>
          </a:p>
          <a:p>
            <a:pPr algn="just"/>
            <a:r>
              <a:rPr lang="en-GB" sz="1600" dirty="0">
                <a:solidFill>
                  <a:schemeClr val="bg1"/>
                </a:solidFill>
              </a:rPr>
              <a:t>From finance to healthcare and art to digital media, blockchain empowers stakeholders and reshapes industries</a:t>
            </a:r>
          </a:p>
          <a:p>
            <a:pPr marL="165100" indent="0" algn="just">
              <a:buNone/>
            </a:pPr>
            <a:endParaRPr lang="en-GB" sz="700" dirty="0">
              <a:solidFill>
                <a:schemeClr val="bg1"/>
              </a:solidFill>
            </a:endParaRPr>
          </a:p>
          <a:p>
            <a:pPr algn="just"/>
            <a:r>
              <a:rPr lang="en-GB" sz="1600" dirty="0">
                <a:solidFill>
                  <a:schemeClr val="bg1"/>
                </a:solidFill>
              </a:rPr>
              <a:t>Challenges like regulation and scalability exist but collaboration can overcome them</a:t>
            </a:r>
          </a:p>
        </p:txBody>
      </p:sp>
      <p:sp>
        <p:nvSpPr>
          <p:cNvPr id="13" name="Title 12"/>
          <p:cNvSpPr>
            <a:spLocks noGrp="1"/>
          </p:cNvSpPr>
          <p:nvPr>
            <p:ph type="ctrTitle"/>
          </p:nvPr>
        </p:nvSpPr>
        <p:spPr>
          <a:xfrm>
            <a:off x="618824" y="411675"/>
            <a:ext cx="5158198" cy="577800"/>
          </a:xfrm>
        </p:spPr>
        <p:txBody>
          <a:bodyPr/>
          <a:lstStyle/>
          <a:p>
            <a:r>
              <a:rPr lang="en-US" sz="2800" dirty="0"/>
              <a:t>Conclusion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540" y="2472690"/>
            <a:ext cx="2343150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4270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47"/>
          <p:cNvSpPr txBox="1">
            <a:spLocks noGrp="1"/>
          </p:cNvSpPr>
          <p:nvPr>
            <p:ph type="title"/>
          </p:nvPr>
        </p:nvSpPr>
        <p:spPr>
          <a:xfrm>
            <a:off x="2471150" y="1830075"/>
            <a:ext cx="4381434" cy="112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</a:t>
            </a:r>
            <a:endParaRPr dirty="0"/>
          </a:p>
        </p:txBody>
      </p:sp>
      <p:sp>
        <p:nvSpPr>
          <p:cNvPr id="1356" name="Google Shape;1356;p47"/>
          <p:cNvSpPr txBox="1">
            <a:spLocks noGrp="1"/>
          </p:cNvSpPr>
          <p:nvPr>
            <p:ph type="subTitle" idx="1"/>
          </p:nvPr>
        </p:nvSpPr>
        <p:spPr>
          <a:xfrm>
            <a:off x="2902550" y="540000"/>
            <a:ext cx="2960400" cy="135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1357" name="Google Shape;1357;p47"/>
          <p:cNvSpPr txBox="1"/>
          <p:nvPr/>
        </p:nvSpPr>
        <p:spPr>
          <a:xfrm>
            <a:off x="3213811" y="4333329"/>
            <a:ext cx="2337900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0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Please keep this slide for attribution</a:t>
            </a:r>
            <a:endParaRPr sz="10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358" name="Google Shape;1358;p47"/>
          <p:cNvSpPr/>
          <p:nvPr/>
        </p:nvSpPr>
        <p:spPr>
          <a:xfrm>
            <a:off x="-65247" y="971445"/>
            <a:ext cx="62397" cy="62143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9" name="Google Shape;1359;p47"/>
          <p:cNvGrpSpPr/>
          <p:nvPr/>
        </p:nvGrpSpPr>
        <p:grpSpPr>
          <a:xfrm>
            <a:off x="7981434" y="-1177061"/>
            <a:ext cx="203789" cy="1274754"/>
            <a:chOff x="2877432" y="975334"/>
            <a:chExt cx="188886" cy="1181531"/>
          </a:xfrm>
        </p:grpSpPr>
        <p:sp>
          <p:nvSpPr>
            <p:cNvPr id="1360" name="Google Shape;1360;p47"/>
            <p:cNvSpPr/>
            <p:nvPr/>
          </p:nvSpPr>
          <p:spPr>
            <a:xfrm>
              <a:off x="2877432" y="1968242"/>
              <a:ext cx="188886" cy="188624"/>
            </a:xfrm>
            <a:custGeom>
              <a:avLst/>
              <a:gdLst/>
              <a:ahLst/>
              <a:cxnLst/>
              <a:rect l="l" t="t" r="r" b="b"/>
              <a:pathLst>
                <a:path w="7208" h="7198" fill="none" extrusionOk="0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w="5750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47"/>
            <p:cNvSpPr/>
            <p:nvPr/>
          </p:nvSpPr>
          <p:spPr>
            <a:xfrm>
              <a:off x="2905393" y="1452501"/>
              <a:ext cx="133226" cy="133252"/>
            </a:xfrm>
            <a:custGeom>
              <a:avLst/>
              <a:gdLst/>
              <a:ahLst/>
              <a:cxnLst/>
              <a:rect l="l" t="t" r="r" b="b"/>
              <a:pathLst>
                <a:path w="5084" h="5085" fill="none" extrusionOk="0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47"/>
            <p:cNvSpPr/>
            <p:nvPr/>
          </p:nvSpPr>
          <p:spPr>
            <a:xfrm>
              <a:off x="2931651" y="975334"/>
              <a:ext cx="80476" cy="80711"/>
            </a:xfrm>
            <a:custGeom>
              <a:avLst/>
              <a:gdLst/>
              <a:ahLst/>
              <a:cxnLst/>
              <a:rect l="l" t="t" r="r" b="b"/>
              <a:pathLst>
                <a:path w="3071" h="3080" fill="none" extrusionOk="0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w="25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3" name="Google Shape;1363;p47"/>
          <p:cNvSpPr/>
          <p:nvPr/>
        </p:nvSpPr>
        <p:spPr>
          <a:xfrm>
            <a:off x="9277943" y="-708433"/>
            <a:ext cx="9132" cy="2718429"/>
          </a:xfrm>
          <a:custGeom>
            <a:avLst/>
            <a:gdLst/>
            <a:ahLst/>
            <a:cxnLst/>
            <a:rect l="l" t="t" r="r" b="b"/>
            <a:pathLst>
              <a:path w="323" h="96151" extrusionOk="0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4" name="Google Shape;1364;p47"/>
          <p:cNvSpPr/>
          <p:nvPr/>
        </p:nvSpPr>
        <p:spPr>
          <a:xfrm>
            <a:off x="335228" y="-685306"/>
            <a:ext cx="9132" cy="1822332"/>
          </a:xfrm>
          <a:custGeom>
            <a:avLst/>
            <a:gdLst/>
            <a:ahLst/>
            <a:cxnLst/>
            <a:rect l="l" t="t" r="r" b="b"/>
            <a:pathLst>
              <a:path w="323" h="64456" extrusionOk="0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 Science Consulting by Slidesgo">
  <a:themeElements>
    <a:clrScheme name="Simple Light">
      <a:dk1>
        <a:srgbClr val="1A5E8F"/>
      </a:dk1>
      <a:lt1>
        <a:srgbClr val="FFFFFF"/>
      </a:lt1>
      <a:dk2>
        <a:srgbClr val="002845"/>
      </a:dk2>
      <a:lt2>
        <a:srgbClr val="FFD6E1"/>
      </a:lt2>
      <a:accent1>
        <a:srgbClr val="E898AC"/>
      </a:accent1>
      <a:accent2>
        <a:srgbClr val="00CFCC"/>
      </a:accent2>
      <a:accent3>
        <a:srgbClr val="FF9973"/>
      </a:accent3>
      <a:accent4>
        <a:srgbClr val="F64975"/>
      </a:accent4>
      <a:accent5>
        <a:srgbClr val="5EFFFD"/>
      </a:accent5>
      <a:accent6>
        <a:srgbClr val="FC723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</TotalTime>
  <Words>915</Words>
  <Application>Microsoft Office PowerPoint</Application>
  <PresentationFormat>On-screen Show (16:9)</PresentationFormat>
  <Paragraphs>233</Paragraphs>
  <Slides>47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47</vt:i4>
      </vt:variant>
    </vt:vector>
  </HeadingPairs>
  <TitlesOfParts>
    <vt:vector size="58" baseType="lpstr">
      <vt:lpstr>Proxima Nova Semibold</vt:lpstr>
      <vt:lpstr>Nunito Light</vt:lpstr>
      <vt:lpstr>Advent Pro SemiBold</vt:lpstr>
      <vt:lpstr>Livvic Light</vt:lpstr>
      <vt:lpstr>Arial</vt:lpstr>
      <vt:lpstr>Fira Sans Extra Condensed Medium</vt:lpstr>
      <vt:lpstr>Maven Pro</vt:lpstr>
      <vt:lpstr>Share Tech</vt:lpstr>
      <vt:lpstr>Proxima Nova</vt:lpstr>
      <vt:lpstr>Data Science Consulting by Slidesgo</vt:lpstr>
      <vt:lpstr>Slidesgo Final Pages</vt:lpstr>
      <vt:lpstr>Application Areas of Blockchain Technology</vt:lpstr>
      <vt:lpstr>Supply Chain Management</vt:lpstr>
      <vt:lpstr>Smart Grid</vt:lpstr>
      <vt:lpstr>Digital Media Entertainment</vt:lpstr>
      <vt:lpstr>Health Care</vt:lpstr>
      <vt:lpstr> Blockchain in Healthcare</vt:lpstr>
      <vt:lpstr> </vt:lpstr>
      <vt:lpstr> </vt:lpstr>
      <vt:lpstr> Blockchain in Healthcare</vt:lpstr>
      <vt:lpstr>IoT</vt:lpstr>
      <vt:lpstr> Blockchain in IOT</vt:lpstr>
      <vt:lpstr> </vt:lpstr>
      <vt:lpstr> </vt:lpstr>
      <vt:lpstr> Blockchain in IOT</vt:lpstr>
      <vt:lpstr>Supply Chain Management</vt:lpstr>
      <vt:lpstr>Supply Chain Management</vt:lpstr>
      <vt:lpstr> </vt:lpstr>
      <vt:lpstr> </vt:lpstr>
      <vt:lpstr>Supply Chain Management</vt:lpstr>
      <vt:lpstr>Electronic Voting</vt:lpstr>
      <vt:lpstr>Electronic Voting</vt:lpstr>
      <vt:lpstr> </vt:lpstr>
      <vt:lpstr>Electronic Voting</vt:lpstr>
      <vt:lpstr>Identity Management</vt:lpstr>
      <vt:lpstr>Identity Management</vt:lpstr>
      <vt:lpstr> </vt:lpstr>
      <vt:lpstr> </vt:lpstr>
      <vt:lpstr>Identity Management</vt:lpstr>
      <vt:lpstr>Smart Grid</vt:lpstr>
      <vt:lpstr>Blockchain in Smart Grid </vt:lpstr>
      <vt:lpstr> </vt:lpstr>
      <vt:lpstr> </vt:lpstr>
      <vt:lpstr>Smart Grid</vt:lpstr>
      <vt:lpstr>Finance &amp; Banking</vt:lpstr>
      <vt:lpstr>Finance &amp; Banking</vt:lpstr>
      <vt:lpstr>PowerPoint Presentation</vt:lpstr>
      <vt:lpstr>Finance &amp; Banking</vt:lpstr>
      <vt:lpstr>Cryptocurrency</vt:lpstr>
      <vt:lpstr>Cryptocurrency</vt:lpstr>
      <vt:lpstr>PowerPoint Presentation</vt:lpstr>
      <vt:lpstr>Cryptocurrency</vt:lpstr>
      <vt:lpstr>Digital Media &amp; Entertainment</vt:lpstr>
      <vt:lpstr>Digital Media &amp; Entertainment</vt:lpstr>
      <vt:lpstr>PowerPoint Presentation</vt:lpstr>
      <vt:lpstr>Digital Media &amp; Entertainment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Applications Areas of Blockchain</dc:title>
  <dc:creator>Hamza .</dc:creator>
  <cp:lastModifiedBy>Dr. Jawaid Iqbal/CS-CUST</cp:lastModifiedBy>
  <cp:revision>39</cp:revision>
  <dcterms:modified xsi:type="dcterms:W3CDTF">2024-05-02T07:26:22Z</dcterms:modified>
</cp:coreProperties>
</file>