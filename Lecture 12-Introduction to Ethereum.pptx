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54"/>
  </p:notesMasterIdLst>
  <p:sldIdLst>
    <p:sldId id="274" r:id="rId2"/>
    <p:sldId id="377" r:id="rId3"/>
    <p:sldId id="411" r:id="rId4"/>
    <p:sldId id="412" r:id="rId5"/>
    <p:sldId id="413" r:id="rId6"/>
    <p:sldId id="414" r:id="rId7"/>
    <p:sldId id="415" r:id="rId8"/>
    <p:sldId id="416" r:id="rId9"/>
    <p:sldId id="417" r:id="rId10"/>
    <p:sldId id="418" r:id="rId11"/>
    <p:sldId id="419" r:id="rId12"/>
    <p:sldId id="424" r:id="rId13"/>
    <p:sldId id="421" r:id="rId14"/>
    <p:sldId id="422" r:id="rId15"/>
    <p:sldId id="425" r:id="rId16"/>
    <p:sldId id="426" r:id="rId17"/>
    <p:sldId id="427" r:id="rId18"/>
    <p:sldId id="428" r:id="rId19"/>
    <p:sldId id="429" r:id="rId20"/>
    <p:sldId id="430" r:id="rId21"/>
    <p:sldId id="431" r:id="rId22"/>
    <p:sldId id="432" r:id="rId23"/>
    <p:sldId id="433" r:id="rId24"/>
    <p:sldId id="434" r:id="rId25"/>
    <p:sldId id="435" r:id="rId26"/>
    <p:sldId id="436" r:id="rId27"/>
    <p:sldId id="439" r:id="rId28"/>
    <p:sldId id="446" r:id="rId29"/>
    <p:sldId id="447" r:id="rId30"/>
    <p:sldId id="448" r:id="rId31"/>
    <p:sldId id="441" r:id="rId32"/>
    <p:sldId id="444" r:id="rId33"/>
    <p:sldId id="445" r:id="rId34"/>
    <p:sldId id="450" r:id="rId35"/>
    <p:sldId id="442" r:id="rId36"/>
    <p:sldId id="449" r:id="rId37"/>
    <p:sldId id="453" r:id="rId38"/>
    <p:sldId id="451" r:id="rId39"/>
    <p:sldId id="452" r:id="rId40"/>
    <p:sldId id="457" r:id="rId41"/>
    <p:sldId id="458" r:id="rId42"/>
    <p:sldId id="460" r:id="rId43"/>
    <p:sldId id="459" r:id="rId44"/>
    <p:sldId id="463" r:id="rId45"/>
    <p:sldId id="464" r:id="rId46"/>
    <p:sldId id="471" r:id="rId47"/>
    <p:sldId id="466" r:id="rId48"/>
    <p:sldId id="467" r:id="rId49"/>
    <p:sldId id="472" r:id="rId50"/>
    <p:sldId id="473" r:id="rId51"/>
    <p:sldId id="474" r:id="rId52"/>
    <p:sldId id="475" r:id="rId53"/>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F4334-D989-4D69-8866-D4A0ED0578A2}" v="4" dt="2023-10-18T11:17:37.215"/>
  </p1510:revLst>
</p1510:revInfo>
</file>

<file path=ppt/tableStyles.xml><?xml version="1.0" encoding="utf-8"?>
<a:tblStyleLst xmlns:a="http://schemas.openxmlformats.org/drawingml/2006/main" def="{5C22544A-7EE6-4342-B048-85BDC9FD1C3A}">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72000" autoAdjust="0"/>
  </p:normalViewPr>
  <p:slideViewPr>
    <p:cSldViewPr>
      <p:cViewPr varScale="1">
        <p:scale>
          <a:sx n="44" d="100"/>
          <a:sy n="44" d="100"/>
        </p:scale>
        <p:origin x="2052"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26AF4334-D989-4D69-8866-D4A0ED0578A2}"/>
    <pc:docChg chg="modSld">
      <pc:chgData name="Asif Muhammad" userId="6b0af2cb-2f76-400b-94d9-178b55ef4f85" providerId="ADAL" clId="{26AF4334-D989-4D69-8866-D4A0ED0578A2}" dt="2023-10-18T11:36:34.319" v="30"/>
      <pc:docMkLst>
        <pc:docMk/>
      </pc:docMkLst>
      <pc:sldChg chg="modSp mod">
        <pc:chgData name="Asif Muhammad" userId="6b0af2cb-2f76-400b-94d9-178b55ef4f85" providerId="ADAL" clId="{26AF4334-D989-4D69-8866-D4A0ED0578A2}" dt="2023-10-18T10:55:02.170" v="22" actId="6549"/>
        <pc:sldMkLst>
          <pc:docMk/>
          <pc:sldMk cId="0" sldId="274"/>
        </pc:sldMkLst>
        <pc:spChg chg="mod">
          <ac:chgData name="Asif Muhammad" userId="6b0af2cb-2f76-400b-94d9-178b55ef4f85" providerId="ADAL" clId="{26AF4334-D989-4D69-8866-D4A0ED0578A2}" dt="2023-10-18T10:55:02.170" v="22" actId="6549"/>
          <ac:spMkLst>
            <pc:docMk/>
            <pc:sldMk cId="0" sldId="274"/>
            <ac:spMk id="72706" creationId="{13FAF915-9B92-2FBA-42E4-21FC0ACE1568}"/>
          </ac:spMkLst>
        </pc:spChg>
      </pc:sldChg>
      <pc:sldChg chg="modSp mod">
        <pc:chgData name="Asif Muhammad" userId="6b0af2cb-2f76-400b-94d9-178b55ef4f85" providerId="ADAL" clId="{26AF4334-D989-4D69-8866-D4A0ED0578A2}" dt="2023-10-18T10:55:22.259" v="23" actId="20577"/>
        <pc:sldMkLst>
          <pc:docMk/>
          <pc:sldMk cId="0" sldId="377"/>
        </pc:sldMkLst>
        <pc:spChg chg="mod">
          <ac:chgData name="Asif Muhammad" userId="6b0af2cb-2f76-400b-94d9-178b55ef4f85" providerId="ADAL" clId="{26AF4334-D989-4D69-8866-D4A0ED0578A2}" dt="2023-10-18T10:55:22.259" v="23" actId="20577"/>
          <ac:spMkLst>
            <pc:docMk/>
            <pc:sldMk cId="0" sldId="377"/>
            <ac:spMk id="16386" creationId="{1EA139C1-4F53-77E9-1A9B-1465713996C9}"/>
          </ac:spMkLst>
        </pc:spChg>
      </pc:sldChg>
      <pc:sldChg chg="modSp mod">
        <pc:chgData name="Asif Muhammad" userId="6b0af2cb-2f76-400b-94d9-178b55ef4f85" providerId="ADAL" clId="{26AF4334-D989-4D69-8866-D4A0ED0578A2}" dt="2023-10-18T11:14:58.506" v="24" actId="122"/>
        <pc:sldMkLst>
          <pc:docMk/>
          <pc:sldMk cId="0" sldId="429"/>
        </pc:sldMkLst>
        <pc:spChg chg="mod">
          <ac:chgData name="Asif Muhammad" userId="6b0af2cb-2f76-400b-94d9-178b55ef4f85" providerId="ADAL" clId="{26AF4334-D989-4D69-8866-D4A0ED0578A2}" dt="2023-10-18T11:14:58.506" v="24" actId="122"/>
          <ac:spMkLst>
            <pc:docMk/>
            <pc:sldMk cId="0" sldId="429"/>
            <ac:spMk id="36865" creationId="{1504AE3D-3D39-2E96-0585-F08C1D1D77EB}"/>
          </ac:spMkLst>
        </pc:spChg>
      </pc:sldChg>
      <pc:sldChg chg="modSp">
        <pc:chgData name="Asif Muhammad" userId="6b0af2cb-2f76-400b-94d9-178b55ef4f85" providerId="ADAL" clId="{26AF4334-D989-4D69-8866-D4A0ED0578A2}" dt="2023-10-18T11:17:37.214" v="25" actId="20577"/>
        <pc:sldMkLst>
          <pc:docMk/>
          <pc:sldMk cId="0" sldId="431"/>
        </pc:sldMkLst>
        <pc:spChg chg="mod">
          <ac:chgData name="Asif Muhammad" userId="6b0af2cb-2f76-400b-94d9-178b55ef4f85" providerId="ADAL" clId="{26AF4334-D989-4D69-8866-D4A0ED0578A2}" dt="2023-10-18T11:17:37.214" v="25" actId="20577"/>
          <ac:spMkLst>
            <pc:docMk/>
            <pc:sldMk cId="0" sldId="431"/>
            <ac:spMk id="3" creationId="{56722035-DA64-40A2-ECC9-E7B0EED18CB4}"/>
          </ac:spMkLst>
        </pc:spChg>
      </pc:sldChg>
      <pc:sldChg chg="modSp mod">
        <pc:chgData name="Asif Muhammad" userId="6b0af2cb-2f76-400b-94d9-178b55ef4f85" providerId="ADAL" clId="{26AF4334-D989-4D69-8866-D4A0ED0578A2}" dt="2023-10-18T11:31:58.950" v="29" actId="6549"/>
        <pc:sldMkLst>
          <pc:docMk/>
          <pc:sldMk cId="0" sldId="452"/>
        </pc:sldMkLst>
        <pc:spChg chg="mod">
          <ac:chgData name="Asif Muhammad" userId="6b0af2cb-2f76-400b-94d9-178b55ef4f85" providerId="ADAL" clId="{26AF4334-D989-4D69-8866-D4A0ED0578A2}" dt="2023-10-18T11:31:58.950" v="29" actId="6549"/>
          <ac:spMkLst>
            <pc:docMk/>
            <pc:sldMk cId="0" sldId="452"/>
            <ac:spMk id="61442" creationId="{75675E90-E4C2-87B3-EA01-8F2911FA2FDA}"/>
          </ac:spMkLst>
        </pc:spChg>
      </pc:sldChg>
      <pc:sldChg chg="modNotesTx">
        <pc:chgData name="Asif Muhammad" userId="6b0af2cb-2f76-400b-94d9-178b55ef4f85" providerId="ADAL" clId="{26AF4334-D989-4D69-8866-D4A0ED0578A2}" dt="2023-10-18T11:36:34.319" v="30"/>
        <pc:sldMkLst>
          <pc:docMk/>
          <pc:sldMk cId="0" sldId="4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1702785-1D64-7054-0BD3-DA2721BCB80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1" name="Rectangle 3">
            <a:extLst>
              <a:ext uri="{FF2B5EF4-FFF2-40B4-BE49-F238E27FC236}">
                <a16:creationId xmlns:a16="http://schemas.microsoft.com/office/drawing/2014/main" id="{BCEE9559-586C-FEFA-2E9D-6BA028772EA5}"/>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13316" name="Rectangle 4">
            <a:extLst>
              <a:ext uri="{FF2B5EF4-FFF2-40B4-BE49-F238E27FC236}">
                <a16:creationId xmlns:a16="http://schemas.microsoft.com/office/drawing/2014/main" id="{01A4D305-6CB9-ECD8-E1C8-F1C763AC3F3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a:extLst>
              <a:ext uri="{FF2B5EF4-FFF2-40B4-BE49-F238E27FC236}">
                <a16:creationId xmlns:a16="http://schemas.microsoft.com/office/drawing/2014/main" id="{AE3FA753-CFF2-B4C1-FB52-9AC61B013CB5}"/>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a:extLst>
              <a:ext uri="{FF2B5EF4-FFF2-40B4-BE49-F238E27FC236}">
                <a16:creationId xmlns:a16="http://schemas.microsoft.com/office/drawing/2014/main" id="{2D4B54C7-9418-5CBC-D211-E6A4EB055C8A}"/>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5" name="Rectangle 7">
            <a:extLst>
              <a:ext uri="{FF2B5EF4-FFF2-40B4-BE49-F238E27FC236}">
                <a16:creationId xmlns:a16="http://schemas.microsoft.com/office/drawing/2014/main" id="{BEB277C4-12C8-1B7D-3397-6749109F6F10}"/>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3E22C1DA-CAC9-4EB5-ACC1-2B6323ED4F9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83981225-C6BF-EE29-C4E3-C6E76596DF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85434DBF-E0EB-4B93-B436-710097681BE6}" type="slidenum">
              <a:rPr lang="en-US" altLang="en-US"/>
              <a:pPr>
                <a:spcBef>
                  <a:spcPct val="0"/>
                </a:spcBef>
              </a:pPr>
              <a:t>1</a:t>
            </a:fld>
            <a:endParaRPr lang="en-US" altLang="en-US"/>
          </a:p>
        </p:txBody>
      </p:sp>
      <p:sp>
        <p:nvSpPr>
          <p:cNvPr id="15362" name="Rectangle 2">
            <a:extLst>
              <a:ext uri="{FF2B5EF4-FFF2-40B4-BE49-F238E27FC236}">
                <a16:creationId xmlns:a16="http://schemas.microsoft.com/office/drawing/2014/main" id="{AEBE1BD8-F1FD-162D-76C2-FCC402821361}"/>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4DF091E2-0663-176C-0D58-C89BA36DC64B}"/>
              </a:ext>
            </a:extLst>
          </p:cNvPr>
          <p:cNvSpPr>
            <a:spLocks noGrp="1" noChangeArrowheads="1"/>
          </p:cNvSpPr>
          <p:nvPr>
            <p:ph type="body" idx="1"/>
          </p:nvPr>
        </p:nvSpPr>
        <p:spPr/>
        <p:txBody>
          <a:bodyPr/>
          <a:lstStyle/>
          <a:p>
            <a:pPr eaLnBrk="1" hangingPunct="1">
              <a:defRPr/>
            </a:pPr>
            <a:endParaRPr lang="fr-FR">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Espace réservé de l'image des diapositives 1">
            <a:extLst>
              <a:ext uri="{FF2B5EF4-FFF2-40B4-BE49-F238E27FC236}">
                <a16:creationId xmlns:a16="http://schemas.microsoft.com/office/drawing/2014/main" id="{F3992CF4-1778-03D3-62D6-6CADDB56E80F}"/>
              </a:ext>
            </a:extLst>
          </p:cNvPr>
          <p:cNvSpPr>
            <a:spLocks noGrp="1" noRot="1" noChangeAspect="1" noChangeArrowheads="1" noTextEdit="1"/>
          </p:cNvSpPr>
          <p:nvPr>
            <p:ph type="sldImg"/>
          </p:nvPr>
        </p:nvSpPr>
        <p:spPr>
          <a:ln/>
        </p:spPr>
      </p:sp>
      <p:sp>
        <p:nvSpPr>
          <p:cNvPr id="22530" name="Espace réservé des commentaires 2">
            <a:extLst>
              <a:ext uri="{FF2B5EF4-FFF2-40B4-BE49-F238E27FC236}">
                <a16:creationId xmlns:a16="http://schemas.microsoft.com/office/drawing/2014/main" id="{DA73D7FB-4DF2-EA32-8320-C528C56F52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https://medium.com/@preethikasireddy/how-does-ethereum-work-anyway-22d1df506369</a:t>
            </a:r>
          </a:p>
        </p:txBody>
      </p:sp>
      <p:sp>
        <p:nvSpPr>
          <p:cNvPr id="22531" name="Espace réservé du numéro de diapositive 3">
            <a:extLst>
              <a:ext uri="{FF2B5EF4-FFF2-40B4-BE49-F238E27FC236}">
                <a16:creationId xmlns:a16="http://schemas.microsoft.com/office/drawing/2014/main" id="{15926181-E1EC-272A-88B5-3F4A3019F15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D42AA1BD-A9C7-4914-8C1C-94575B781D89}" type="slidenum">
              <a:rPr lang="en-US" altLang="en-US"/>
              <a:pPr>
                <a:spcBef>
                  <a:spcPct val="0"/>
                </a:spcBef>
              </a:pPr>
              <a:t>7</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Espace réservé de l'image des diapositives 1">
            <a:extLst>
              <a:ext uri="{FF2B5EF4-FFF2-40B4-BE49-F238E27FC236}">
                <a16:creationId xmlns:a16="http://schemas.microsoft.com/office/drawing/2014/main" id="{1E8B5CC1-6286-E63A-70DA-7E2F00DAD1CF}"/>
              </a:ext>
            </a:extLst>
          </p:cNvPr>
          <p:cNvSpPr>
            <a:spLocks noGrp="1" noRot="1" noChangeAspect="1" noChangeArrowheads="1" noTextEdit="1"/>
          </p:cNvSpPr>
          <p:nvPr>
            <p:ph type="sldImg"/>
          </p:nvPr>
        </p:nvSpPr>
        <p:spPr>
          <a:ln/>
        </p:spPr>
      </p:sp>
      <p:sp>
        <p:nvSpPr>
          <p:cNvPr id="24578" name="Espace réservé des commentaires 2">
            <a:extLst>
              <a:ext uri="{FF2B5EF4-FFF2-40B4-BE49-F238E27FC236}">
                <a16:creationId xmlns:a16="http://schemas.microsoft.com/office/drawing/2014/main" id="{910468F8-8C2E-5EC5-873B-FA0793563A6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https://medium.com/@preethikasireddy/how-does-ethereum-work-anyway-22d1df506369</a:t>
            </a:r>
          </a:p>
        </p:txBody>
      </p:sp>
      <p:sp>
        <p:nvSpPr>
          <p:cNvPr id="24579" name="Espace réservé du numéro de diapositive 3">
            <a:extLst>
              <a:ext uri="{FF2B5EF4-FFF2-40B4-BE49-F238E27FC236}">
                <a16:creationId xmlns:a16="http://schemas.microsoft.com/office/drawing/2014/main" id="{3EE3C198-B3A3-7416-6F61-05D4E7150A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4D012BD-6960-416B-A017-18E881578DA1}" type="slidenum">
              <a:rPr lang="en-US" altLang="en-US"/>
              <a:pPr>
                <a:spcBef>
                  <a:spcPct val="0"/>
                </a:spcBef>
              </a:pPr>
              <a:t>8</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Espace réservé de l'image des diapositives 1">
            <a:extLst>
              <a:ext uri="{FF2B5EF4-FFF2-40B4-BE49-F238E27FC236}">
                <a16:creationId xmlns:a16="http://schemas.microsoft.com/office/drawing/2014/main" id="{EA6B6D71-566D-5851-306B-8D7305237652}"/>
              </a:ext>
            </a:extLst>
          </p:cNvPr>
          <p:cNvSpPr>
            <a:spLocks noGrp="1" noRot="1" noChangeAspect="1" noChangeArrowheads="1" noTextEdit="1"/>
          </p:cNvSpPr>
          <p:nvPr>
            <p:ph type="sldImg"/>
          </p:nvPr>
        </p:nvSpPr>
        <p:spPr>
          <a:ln/>
        </p:spPr>
      </p:sp>
      <p:sp>
        <p:nvSpPr>
          <p:cNvPr id="26626" name="Espace réservé des commentaires 2">
            <a:extLst>
              <a:ext uri="{FF2B5EF4-FFF2-40B4-BE49-F238E27FC236}">
                <a16:creationId xmlns:a16="http://schemas.microsoft.com/office/drawing/2014/main" id="{8F5FE3D8-EAE2-839E-11A0-530111ECC8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a:latin typeface="Arial" panose="020B0604020202020204" pitchFamily="34" charset="0"/>
                <a:ea typeface="ＭＳ Ｐゴシック" panose="020B0600070205080204" pitchFamily="34" charset="-128"/>
              </a:rPr>
              <a:t>https://medium.com/@preethikasireddy/how-does-ethereum-work-anyway-22d1df506369</a:t>
            </a:r>
          </a:p>
        </p:txBody>
      </p:sp>
      <p:sp>
        <p:nvSpPr>
          <p:cNvPr id="26627" name="Espace réservé du numéro de diapositive 3">
            <a:extLst>
              <a:ext uri="{FF2B5EF4-FFF2-40B4-BE49-F238E27FC236}">
                <a16:creationId xmlns:a16="http://schemas.microsoft.com/office/drawing/2014/main" id="{1093B7AB-2495-A714-6EEE-F969BF63B0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F9653239-849E-4A2B-A3D6-4F59328CFF51}" type="slidenum">
              <a:rPr lang="en-US" altLang="en-US"/>
              <a:pPr>
                <a:spcBef>
                  <a:spcPct val="0"/>
                </a:spcBef>
              </a:pPr>
              <a:t>9</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7" name="Google Shape;297;g36e91fd57_0480:notes">
            <a:extLst>
              <a:ext uri="{FF2B5EF4-FFF2-40B4-BE49-F238E27FC236}">
                <a16:creationId xmlns:a16="http://schemas.microsoft.com/office/drawing/2014/main" id="{69EDBBA8-861B-AE0C-FA00-7CE0263FB7F5}"/>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45058" name="Google Shape;298;g36e91fd57_0480:notes">
            <a:extLst>
              <a:ext uri="{FF2B5EF4-FFF2-40B4-BE49-F238E27FC236}">
                <a16:creationId xmlns:a16="http://schemas.microsoft.com/office/drawing/2014/main" id="{A689925D-79EF-AF78-7EB6-96D546EF6C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Gavel from OpenClipArt.com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7105" name="Google Shape;241;g36e91fd57_0409:notes">
            <a:extLst>
              <a:ext uri="{FF2B5EF4-FFF2-40B4-BE49-F238E27FC236}">
                <a16:creationId xmlns:a16="http://schemas.microsoft.com/office/drawing/2014/main" id="{AB047192-E82A-8513-E27C-0393825442EE}"/>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47106" name="Google Shape;242;g36e91fd57_0409:notes">
            <a:extLst>
              <a:ext uri="{FF2B5EF4-FFF2-40B4-BE49-F238E27FC236}">
                <a16:creationId xmlns:a16="http://schemas.microsoft.com/office/drawing/2014/main" id="{E70C6995-D76C-3470-652A-6F2E712273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3249" name="Google Shape;185;g36e91fd57_0330:notes">
            <a:extLst>
              <a:ext uri="{FF2B5EF4-FFF2-40B4-BE49-F238E27FC236}">
                <a16:creationId xmlns:a16="http://schemas.microsoft.com/office/drawing/2014/main" id="{B63E9372-B21A-CDAC-C3B4-194589E1AC25}"/>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53250" name="Google Shape;186;g36e91fd57_0330:notes">
            <a:extLst>
              <a:ext uri="{FF2B5EF4-FFF2-40B4-BE49-F238E27FC236}">
                <a16:creationId xmlns:a16="http://schemas.microsoft.com/office/drawing/2014/main" id="{6360A4EF-77A0-C54C-DB5C-54C02AFE5A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7" name="Google Shape;207;g36e91fd57_056:notes">
            <a:extLst>
              <a:ext uri="{FF2B5EF4-FFF2-40B4-BE49-F238E27FC236}">
                <a16:creationId xmlns:a16="http://schemas.microsoft.com/office/drawing/2014/main" id="{C0F59A5D-7220-E5F3-F3BB-03F35A09E85A}"/>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55298" name="Google Shape;208;g36e91fd57_056:notes">
            <a:extLst>
              <a:ext uri="{FF2B5EF4-FFF2-40B4-BE49-F238E27FC236}">
                <a16:creationId xmlns:a16="http://schemas.microsoft.com/office/drawing/2014/main" id="{F5CA72A5-481B-058F-0CBE-9AB9EC54544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Turing completeness is a concept in computer science and computational theory that refers to the capability of a computational system or model to perform any computation that can be described algorithmically. If a system or model is Turing complete, it means that it has the computational power to simulate a Turing machine (as described in the previous response) and, by extension, can solve any problem that can be solved algorithmically.</a:t>
            </a:r>
          </a:p>
          <a:p>
            <a:endParaRPr lang="en-GB" dirty="0"/>
          </a:p>
          <a:p>
            <a:r>
              <a:rPr lang="en-GB" dirty="0"/>
              <a:t>Here are the key characteristics of Turing completeness:</a:t>
            </a:r>
          </a:p>
          <a:p>
            <a:endParaRPr lang="en-GB" dirty="0"/>
          </a:p>
          <a:p>
            <a:r>
              <a:rPr lang="en-GB" dirty="0"/>
              <a:t>1. **Universal Computation:** A system or model is considered Turing complete if it can simulate a Turing machine, meaning it can perform all the fundamental operations and computations that a Turing machine can.</a:t>
            </a:r>
          </a:p>
          <a:p>
            <a:endParaRPr lang="en-GB" dirty="0"/>
          </a:p>
          <a:p>
            <a:r>
              <a:rPr lang="en-GB" dirty="0"/>
              <a:t>2. **Algorithmic Expressiveness:** Being Turing complete implies that a system can express and execute any algorithm that is logically and algorithmically defined, without limitation.</a:t>
            </a:r>
          </a:p>
          <a:p>
            <a:endParaRPr lang="en-GB" dirty="0"/>
          </a:p>
          <a:p>
            <a:r>
              <a:rPr lang="en-GB" dirty="0"/>
              <a:t>3. **Looping and Conditional Logic:** A Turing-complete system must support looping constructs (such as "for" and "while" loops) and conditional statements (like "if" statements) to be able to perform arbitrary computations.</a:t>
            </a:r>
          </a:p>
          <a:p>
            <a:endParaRPr lang="en-GB" dirty="0"/>
          </a:p>
          <a:p>
            <a:r>
              <a:rPr lang="en-GB" dirty="0"/>
              <a:t>4. **Data Storage and Manipulation:** It should have the ability to store and manipulate data, typically using variables and data structures, to perform a wide range of computations.</a:t>
            </a:r>
          </a:p>
          <a:p>
            <a:endParaRPr lang="en-GB" dirty="0"/>
          </a:p>
          <a:p>
            <a:r>
              <a:rPr lang="en-GB" dirty="0"/>
              <a:t>5. **Recursion:** Turing completeness often involves supporting recursive functions or procedures, allowing computations to be defined in terms of themselves.</a:t>
            </a:r>
          </a:p>
          <a:p>
            <a:endParaRPr lang="en-GB" dirty="0"/>
          </a:p>
          <a:p>
            <a:r>
              <a:rPr lang="en-GB" dirty="0"/>
              <a:t>It's important to note that the concept of Turing completeness is theoretical and not tied to practical considerations. In practice, many programming languages, scripting languages, and computational systems are Turing complete, including well-known languages like Python, C++, and JavaScript. The concept helps establish the foundation of computational theory and provides a framework for reasoning about the capabilities and limitations of computational systems.</a:t>
            </a:r>
          </a:p>
          <a:p>
            <a:endParaRPr lang="en-GB" dirty="0"/>
          </a:p>
          <a:p>
            <a:r>
              <a:rPr lang="en-GB" dirty="0"/>
              <a:t>In summary, Turing completeness is a fundamental concept in computer science that indicates a system's ability to perform any algorithmic computation, demonstrating its computational universality. This concept underpins the theory of computation and is central to the design and analysis of programming languages and computational models.</a:t>
            </a:r>
          </a:p>
        </p:txBody>
      </p:sp>
      <p:sp>
        <p:nvSpPr>
          <p:cNvPr id="4" name="Slide Number Placeholder 3"/>
          <p:cNvSpPr>
            <a:spLocks noGrp="1"/>
          </p:cNvSpPr>
          <p:nvPr>
            <p:ph type="sldNum" sz="quarter" idx="5"/>
          </p:nvPr>
        </p:nvSpPr>
        <p:spPr/>
        <p:txBody>
          <a:bodyPr/>
          <a:lstStyle/>
          <a:p>
            <a:fld id="{3E22C1DA-CAC9-4EB5-ACC1-2B6323ED4F92}" type="slidenum">
              <a:rPr lang="en-US" altLang="en-US" smtClean="0"/>
              <a:pPr/>
              <a:t>40</a:t>
            </a:fld>
            <a:endParaRPr lang="en-US" altLang="en-US"/>
          </a:p>
        </p:txBody>
      </p:sp>
    </p:spTree>
    <p:extLst>
      <p:ext uri="{BB962C8B-B14F-4D97-AF65-F5344CB8AC3E}">
        <p14:creationId xmlns:p14="http://schemas.microsoft.com/office/powerpoint/2010/main" val="3380842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34"/>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4">
            <a:extLst>
              <a:ext uri="{FF2B5EF4-FFF2-40B4-BE49-F238E27FC236}">
                <a16:creationId xmlns:a16="http://schemas.microsoft.com/office/drawing/2014/main" id="{FD76C597-06FB-01B6-B7F8-E148CB762B9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B8C8C61-AB8D-8F9B-4254-9BB1FFFBE14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C3B51B3-0D90-2729-2278-DD005D5EAD64}"/>
              </a:ext>
            </a:extLst>
          </p:cNvPr>
          <p:cNvSpPr>
            <a:spLocks noGrp="1" noChangeArrowheads="1"/>
          </p:cNvSpPr>
          <p:nvPr>
            <p:ph type="sldNum" sz="quarter" idx="12"/>
          </p:nvPr>
        </p:nvSpPr>
        <p:spPr>
          <a:ln/>
        </p:spPr>
        <p:txBody>
          <a:bodyPr/>
          <a:lstStyle>
            <a:lvl1pPr>
              <a:defRPr/>
            </a:lvl1pPr>
          </a:lstStyle>
          <a:p>
            <a:fld id="{B30A703D-A0EC-47EE-9816-9D4AAE1D9BF9}" type="slidenum">
              <a:rPr lang="en-US" altLang="en-US"/>
              <a:pPr/>
              <a:t>‹#›</a:t>
            </a:fld>
            <a:endParaRPr lang="en-US" altLang="en-US"/>
          </a:p>
        </p:txBody>
      </p:sp>
    </p:spTree>
    <p:extLst>
      <p:ext uri="{BB962C8B-B14F-4D97-AF65-F5344CB8AC3E}">
        <p14:creationId xmlns:p14="http://schemas.microsoft.com/office/powerpoint/2010/main" val="1231622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5287C509-3636-C44A-2CB5-6E981A936BC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2A7D1F7-2FD3-7250-AD40-B679E1BE86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0C2C99B-A731-5315-2778-D65A6BEEA3E0}"/>
              </a:ext>
            </a:extLst>
          </p:cNvPr>
          <p:cNvSpPr>
            <a:spLocks noGrp="1" noChangeArrowheads="1"/>
          </p:cNvSpPr>
          <p:nvPr>
            <p:ph type="sldNum" sz="quarter" idx="12"/>
          </p:nvPr>
        </p:nvSpPr>
        <p:spPr>
          <a:ln/>
        </p:spPr>
        <p:txBody>
          <a:bodyPr/>
          <a:lstStyle>
            <a:lvl1pPr>
              <a:defRPr/>
            </a:lvl1pPr>
          </a:lstStyle>
          <a:p>
            <a:fld id="{F9104BDA-D44F-4B11-86E7-6A4BB78558E2}" type="slidenum">
              <a:rPr lang="en-US" altLang="en-US"/>
              <a:pPr/>
              <a:t>‹#›</a:t>
            </a:fld>
            <a:endParaRPr lang="en-US" altLang="en-US"/>
          </a:p>
        </p:txBody>
      </p:sp>
    </p:spTree>
    <p:extLst>
      <p:ext uri="{BB962C8B-B14F-4D97-AF65-F5344CB8AC3E}">
        <p14:creationId xmlns:p14="http://schemas.microsoft.com/office/powerpoint/2010/main" val="1132682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1"/>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4">
            <a:extLst>
              <a:ext uri="{FF2B5EF4-FFF2-40B4-BE49-F238E27FC236}">
                <a16:creationId xmlns:a16="http://schemas.microsoft.com/office/drawing/2014/main" id="{85A5E04F-9CCA-4A69-C324-B7E6D2F8C02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974A96D-71AE-57DA-E752-B09D7CBBF2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7DD235A-A60E-1632-AB72-224FCF01BA10}"/>
              </a:ext>
            </a:extLst>
          </p:cNvPr>
          <p:cNvSpPr>
            <a:spLocks noGrp="1" noChangeArrowheads="1"/>
          </p:cNvSpPr>
          <p:nvPr>
            <p:ph type="sldNum" sz="quarter" idx="12"/>
          </p:nvPr>
        </p:nvSpPr>
        <p:spPr>
          <a:ln/>
        </p:spPr>
        <p:txBody>
          <a:bodyPr/>
          <a:lstStyle>
            <a:lvl1pPr>
              <a:defRPr/>
            </a:lvl1pPr>
          </a:lstStyle>
          <a:p>
            <a:fld id="{DA7EEE2A-CE2B-4287-8184-8C50AA83C80B}" type="slidenum">
              <a:rPr lang="en-US" altLang="en-US"/>
              <a:pPr/>
              <a:t>‹#›</a:t>
            </a:fld>
            <a:endParaRPr lang="en-US" altLang="en-US"/>
          </a:p>
        </p:txBody>
      </p:sp>
    </p:spTree>
    <p:extLst>
      <p:ext uri="{BB962C8B-B14F-4D97-AF65-F5344CB8AC3E}">
        <p14:creationId xmlns:p14="http://schemas.microsoft.com/office/powerpoint/2010/main" val="2118474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a:extLst>
              <a:ext uri="{FF2B5EF4-FFF2-40B4-BE49-F238E27FC236}">
                <a16:creationId xmlns:a16="http://schemas.microsoft.com/office/drawing/2014/main" id="{C872714A-DE37-EE0F-6B1D-6F6DCF649B2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B6AD49E-1E37-9808-8F60-8D54670001C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DE7B72A-9089-5192-F715-0E705081FF5F}"/>
              </a:ext>
            </a:extLst>
          </p:cNvPr>
          <p:cNvSpPr>
            <a:spLocks noGrp="1" noChangeArrowheads="1"/>
          </p:cNvSpPr>
          <p:nvPr>
            <p:ph type="sldNum" sz="quarter" idx="12"/>
          </p:nvPr>
        </p:nvSpPr>
        <p:spPr>
          <a:ln/>
        </p:spPr>
        <p:txBody>
          <a:bodyPr/>
          <a:lstStyle>
            <a:lvl1pPr>
              <a:defRPr/>
            </a:lvl1pPr>
          </a:lstStyle>
          <a:p>
            <a:fld id="{6C26D3B6-F852-4B11-888F-C085E255528A}" type="slidenum">
              <a:rPr lang="en-US" altLang="en-US"/>
              <a:pPr/>
              <a:t>‹#›</a:t>
            </a:fld>
            <a:endParaRPr lang="en-US" altLang="en-US"/>
          </a:p>
        </p:txBody>
      </p:sp>
    </p:spTree>
    <p:extLst>
      <p:ext uri="{BB962C8B-B14F-4D97-AF65-F5344CB8AC3E}">
        <p14:creationId xmlns:p14="http://schemas.microsoft.com/office/powerpoint/2010/main" val="1145353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9"/>
            <a:ext cx="8229600" cy="114300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33"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a:extLst>
              <a:ext uri="{FF2B5EF4-FFF2-40B4-BE49-F238E27FC236}">
                <a16:creationId xmlns:a16="http://schemas.microsoft.com/office/drawing/2014/main" id="{34353AA5-3A5A-C27D-53A4-7607C5C9EB9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231D0BD3-F2BB-4548-16C7-A0FC4C018B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E2B96E83-7D94-6CD8-0DE0-F66E7C9C6905}"/>
              </a:ext>
            </a:extLst>
          </p:cNvPr>
          <p:cNvSpPr>
            <a:spLocks noGrp="1" noChangeArrowheads="1"/>
          </p:cNvSpPr>
          <p:nvPr>
            <p:ph type="sldNum" sz="quarter" idx="12"/>
          </p:nvPr>
        </p:nvSpPr>
        <p:spPr>
          <a:ln/>
        </p:spPr>
        <p:txBody>
          <a:bodyPr/>
          <a:lstStyle>
            <a:lvl1pPr>
              <a:defRPr/>
            </a:lvl1pPr>
          </a:lstStyle>
          <a:p>
            <a:fld id="{4C2D0D6E-0A09-4A02-B6D6-90C7AC7CF977}" type="slidenum">
              <a:rPr lang="en-US" altLang="en-US"/>
              <a:pPr/>
              <a:t>‹#›</a:t>
            </a:fld>
            <a:endParaRPr lang="en-US" altLang="en-US"/>
          </a:p>
        </p:txBody>
      </p:sp>
    </p:spTree>
    <p:extLst>
      <p:ext uri="{BB962C8B-B14F-4D97-AF65-F5344CB8AC3E}">
        <p14:creationId xmlns:p14="http://schemas.microsoft.com/office/powerpoint/2010/main" val="4215444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Rectangle 4">
            <a:extLst>
              <a:ext uri="{FF2B5EF4-FFF2-40B4-BE49-F238E27FC236}">
                <a16:creationId xmlns:a16="http://schemas.microsoft.com/office/drawing/2014/main" id="{130490AB-60F1-D541-C3EA-F3B8D3428B7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F8B11FC1-E8D0-8650-5CB4-822ABCEDBEC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AD543BE-4C74-6338-962D-5C97861180E5}"/>
              </a:ext>
            </a:extLst>
          </p:cNvPr>
          <p:cNvSpPr>
            <a:spLocks noGrp="1" noChangeArrowheads="1"/>
          </p:cNvSpPr>
          <p:nvPr>
            <p:ph type="sldNum" sz="quarter" idx="12"/>
          </p:nvPr>
        </p:nvSpPr>
        <p:spPr>
          <a:ln/>
        </p:spPr>
        <p:txBody>
          <a:bodyPr/>
          <a:lstStyle>
            <a:lvl1pPr>
              <a:defRPr/>
            </a:lvl1pPr>
          </a:lstStyle>
          <a:p>
            <a:fld id="{8F2B19E1-DC2B-41DB-9288-FDB54A98A349}" type="slidenum">
              <a:rPr lang="en-US" altLang="en-US"/>
              <a:pPr/>
              <a:t>‹#›</a:t>
            </a:fld>
            <a:endParaRPr lang="en-US" altLang="en-US"/>
          </a:p>
        </p:txBody>
      </p:sp>
    </p:spTree>
    <p:extLst>
      <p:ext uri="{BB962C8B-B14F-4D97-AF65-F5344CB8AC3E}">
        <p14:creationId xmlns:p14="http://schemas.microsoft.com/office/powerpoint/2010/main" val="3186670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7C3D92D-BD61-5359-6975-D0FDF13E2EC8}"/>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2DD27FA-D196-A562-2C07-1656BEF8EB2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ECF443DD-4CA7-5F05-3333-4FC692CCA0B8}"/>
              </a:ext>
            </a:extLst>
          </p:cNvPr>
          <p:cNvSpPr>
            <a:spLocks noGrp="1" noChangeArrowheads="1"/>
          </p:cNvSpPr>
          <p:nvPr>
            <p:ph type="sldNum" sz="quarter" idx="12"/>
          </p:nvPr>
        </p:nvSpPr>
        <p:spPr>
          <a:ln/>
        </p:spPr>
        <p:txBody>
          <a:bodyPr/>
          <a:lstStyle>
            <a:lvl1pPr>
              <a:defRPr/>
            </a:lvl1pPr>
          </a:lstStyle>
          <a:p>
            <a:fld id="{BC28B690-F154-4B0A-8634-B01DD5F24AA2}" type="slidenum">
              <a:rPr lang="en-US" altLang="en-US"/>
              <a:pPr/>
              <a:t>‹#›</a:t>
            </a:fld>
            <a:endParaRPr lang="en-US" altLang="en-US"/>
          </a:p>
        </p:txBody>
      </p:sp>
    </p:spTree>
    <p:extLst>
      <p:ext uri="{BB962C8B-B14F-4D97-AF65-F5344CB8AC3E}">
        <p14:creationId xmlns:p14="http://schemas.microsoft.com/office/powerpoint/2010/main" val="4009240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14" y="273049"/>
            <a:ext cx="3008313" cy="1162051"/>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6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1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97D2675B-6899-CD11-BAA2-B6AE484A489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002A7CA-34BF-67AB-16B5-C0063DD947B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C9BEC1B-D553-671C-FED7-135F537600E1}"/>
              </a:ext>
            </a:extLst>
          </p:cNvPr>
          <p:cNvSpPr>
            <a:spLocks noGrp="1" noChangeArrowheads="1"/>
          </p:cNvSpPr>
          <p:nvPr>
            <p:ph type="sldNum" sz="quarter" idx="12"/>
          </p:nvPr>
        </p:nvSpPr>
        <p:spPr>
          <a:ln/>
        </p:spPr>
        <p:txBody>
          <a:bodyPr/>
          <a:lstStyle>
            <a:lvl1pPr>
              <a:defRPr/>
            </a:lvl1pPr>
          </a:lstStyle>
          <a:p>
            <a:fld id="{3297B4C8-C482-4EA0-8968-C1288F6DB2D4}" type="slidenum">
              <a:rPr lang="en-US" altLang="en-US"/>
              <a:pPr/>
              <a:t>‹#›</a:t>
            </a:fld>
            <a:endParaRPr lang="en-US" altLang="en-US"/>
          </a:p>
        </p:txBody>
      </p:sp>
    </p:spTree>
    <p:extLst>
      <p:ext uri="{BB962C8B-B14F-4D97-AF65-F5344CB8AC3E}">
        <p14:creationId xmlns:p14="http://schemas.microsoft.com/office/powerpoint/2010/main" val="591610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1"/>
            <a:ext cx="5486400" cy="566739"/>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46"/>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50E16393-F539-BE8B-9EBB-CD186113C89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F23DC97-3CFF-51E3-9B5E-E2C9217D304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EB25C21-F5E5-4437-C151-A4260CC46CA0}"/>
              </a:ext>
            </a:extLst>
          </p:cNvPr>
          <p:cNvSpPr>
            <a:spLocks noGrp="1" noChangeArrowheads="1"/>
          </p:cNvSpPr>
          <p:nvPr>
            <p:ph type="sldNum" sz="quarter" idx="12"/>
          </p:nvPr>
        </p:nvSpPr>
        <p:spPr>
          <a:ln/>
        </p:spPr>
        <p:txBody>
          <a:bodyPr/>
          <a:lstStyle>
            <a:lvl1pPr>
              <a:defRPr/>
            </a:lvl1pPr>
          </a:lstStyle>
          <a:p>
            <a:fld id="{4699B177-5AC2-465D-AD90-62390FD8F6E1}" type="slidenum">
              <a:rPr lang="en-US" altLang="en-US"/>
              <a:pPr/>
              <a:t>‹#›</a:t>
            </a:fld>
            <a:endParaRPr lang="en-US" altLang="en-US"/>
          </a:p>
        </p:txBody>
      </p:sp>
    </p:spTree>
    <p:extLst>
      <p:ext uri="{BB962C8B-B14F-4D97-AF65-F5344CB8AC3E}">
        <p14:creationId xmlns:p14="http://schemas.microsoft.com/office/powerpoint/2010/main" val="3237817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14B7F362-1D45-94D3-6E1E-248DBCA6132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4A208BF-C482-DC5D-9553-D9E5CA6B23F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F086739-9BE1-A473-4CDC-EF1FD31D0E00}"/>
              </a:ext>
            </a:extLst>
          </p:cNvPr>
          <p:cNvSpPr>
            <a:spLocks noGrp="1" noChangeArrowheads="1"/>
          </p:cNvSpPr>
          <p:nvPr>
            <p:ph type="sldNum" sz="quarter" idx="12"/>
          </p:nvPr>
        </p:nvSpPr>
        <p:spPr>
          <a:ln/>
        </p:spPr>
        <p:txBody>
          <a:bodyPr/>
          <a:lstStyle>
            <a:lvl1pPr>
              <a:defRPr/>
            </a:lvl1pPr>
          </a:lstStyle>
          <a:p>
            <a:fld id="{72C835E3-A7E4-4FA3-8FEC-1271593EA4BE}" type="slidenum">
              <a:rPr lang="en-US" altLang="en-US"/>
              <a:pPr/>
              <a:t>‹#›</a:t>
            </a:fld>
            <a:endParaRPr lang="en-US" altLang="en-US"/>
          </a:p>
        </p:txBody>
      </p:sp>
    </p:spTree>
    <p:extLst>
      <p:ext uri="{BB962C8B-B14F-4D97-AF65-F5344CB8AC3E}">
        <p14:creationId xmlns:p14="http://schemas.microsoft.com/office/powerpoint/2010/main" val="2046561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72250" y="533401"/>
            <a:ext cx="2114550" cy="5592763"/>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228600" y="533401"/>
            <a:ext cx="6191250" cy="559276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F47169C5-5749-EE9E-7D94-B4D0EC79969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853E9C0-448C-1635-A7D3-9460987C3E7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025E467-D9CA-863E-FAAC-BD4889C12751}"/>
              </a:ext>
            </a:extLst>
          </p:cNvPr>
          <p:cNvSpPr>
            <a:spLocks noGrp="1" noChangeArrowheads="1"/>
          </p:cNvSpPr>
          <p:nvPr>
            <p:ph type="sldNum" sz="quarter" idx="12"/>
          </p:nvPr>
        </p:nvSpPr>
        <p:spPr>
          <a:ln/>
        </p:spPr>
        <p:txBody>
          <a:bodyPr/>
          <a:lstStyle>
            <a:lvl1pPr>
              <a:defRPr/>
            </a:lvl1pPr>
          </a:lstStyle>
          <a:p>
            <a:fld id="{03D8079F-93D1-49DB-8EB5-D7991B586907}" type="slidenum">
              <a:rPr lang="en-US" altLang="en-US"/>
              <a:pPr/>
              <a:t>‹#›</a:t>
            </a:fld>
            <a:endParaRPr lang="en-US" altLang="en-US"/>
          </a:p>
        </p:txBody>
      </p:sp>
    </p:spTree>
    <p:extLst>
      <p:ext uri="{BB962C8B-B14F-4D97-AF65-F5344CB8AC3E}">
        <p14:creationId xmlns:p14="http://schemas.microsoft.com/office/powerpoint/2010/main" val="30230118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57200" y="274637"/>
            <a:ext cx="8229600" cy="1143000"/>
          </a:xfrm>
          <a:prstGeom prst="rect">
            <a:avLst/>
          </a:prstGeom>
        </p:spPr>
        <p:txBody>
          <a:bodyPr spcFirstLastPara="1"/>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 name="Google Shape;15;p3"/>
          <p:cNvSpPr txBox="1">
            <a:spLocks noGrp="1"/>
          </p:cNvSpPr>
          <p:nvPr>
            <p:ph type="body" idx="1"/>
          </p:nvPr>
        </p:nvSpPr>
        <p:spPr>
          <a:xfrm>
            <a:off x="457200" y="1600203"/>
            <a:ext cx="8229600" cy="4967575"/>
          </a:xfrm>
          <a:prstGeom prst="rect">
            <a:avLst/>
          </a:prstGeom>
        </p:spPr>
        <p:txBody>
          <a:bodyPr spcFirstLastPara="1"/>
          <a:lstStyle>
            <a:lvl1pPr marL="457200" lvl="0" indent="-419100">
              <a:spcBef>
                <a:spcPts val="600"/>
              </a:spcBef>
              <a:spcAft>
                <a:spcPts val="0"/>
              </a:spcAft>
              <a:buSzPts val="3000"/>
              <a:buFont typeface="Wingdings" pitchFamily="2" charset="2"/>
              <a:buChar char="Ø"/>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dirty="0"/>
          </a:p>
        </p:txBody>
      </p:sp>
    </p:spTree>
    <p:extLst>
      <p:ext uri="{BB962C8B-B14F-4D97-AF65-F5344CB8AC3E}">
        <p14:creationId xmlns:p14="http://schemas.microsoft.com/office/powerpoint/2010/main" val="1349984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A1901F6-E08B-849F-262A-5CF53CA527CF}"/>
              </a:ext>
            </a:extLst>
          </p:cNvPr>
          <p:cNvSpPr>
            <a:spLocks noGrp="1" noChangeArrowheads="1"/>
          </p:cNvSpPr>
          <p:nvPr>
            <p:ph type="title"/>
          </p:nvPr>
        </p:nvSpPr>
        <p:spPr bwMode="auto">
          <a:xfrm>
            <a:off x="228600" y="7620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7931982-7700-A853-7FEC-F6D40846738A}"/>
              </a:ext>
            </a:extLst>
          </p:cNvPr>
          <p:cNvSpPr>
            <a:spLocks noGrp="1" noChangeArrowheads="1"/>
          </p:cNvSpPr>
          <p:nvPr>
            <p:ph type="body" idx="1"/>
          </p:nvPr>
        </p:nvSpPr>
        <p:spPr bwMode="auto">
          <a:xfrm>
            <a:off x="457200" y="16764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Rectangle 4">
            <a:extLst>
              <a:ext uri="{FF2B5EF4-FFF2-40B4-BE49-F238E27FC236}">
                <a16:creationId xmlns:a16="http://schemas.microsoft.com/office/drawing/2014/main" id="{C191A124-FE26-565C-0A38-BBDC6ADE6F1F}"/>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mn-cs"/>
              </a:defRPr>
            </a:lvl1pPr>
          </a:lstStyle>
          <a:p>
            <a:pPr>
              <a:defRPr/>
            </a:pPr>
            <a:endParaRPr lang="en-US"/>
          </a:p>
        </p:txBody>
      </p:sp>
      <p:sp>
        <p:nvSpPr>
          <p:cNvPr id="5125" name="Rectangle 5">
            <a:extLst>
              <a:ext uri="{FF2B5EF4-FFF2-40B4-BE49-F238E27FC236}">
                <a16:creationId xmlns:a16="http://schemas.microsoft.com/office/drawing/2014/main" id="{3E218BA0-6511-15DA-49BD-0672F579DEB2}"/>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mn-cs"/>
              </a:defRPr>
            </a:lvl1pPr>
          </a:lstStyle>
          <a:p>
            <a:pPr>
              <a:defRPr/>
            </a:pPr>
            <a:endParaRPr lang="en-US"/>
          </a:p>
        </p:txBody>
      </p:sp>
      <p:sp>
        <p:nvSpPr>
          <p:cNvPr id="5126" name="Rectangle 6">
            <a:extLst>
              <a:ext uri="{FF2B5EF4-FFF2-40B4-BE49-F238E27FC236}">
                <a16:creationId xmlns:a16="http://schemas.microsoft.com/office/drawing/2014/main" id="{A01A8080-0C11-C8EF-A394-A4821805AED8}"/>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B7D49175-9433-434A-B090-98A6A0ACAF66}" type="slidenum">
              <a:rPr lang="en-US" altLang="en-US"/>
              <a:pPr/>
              <a:t>‹#›</a:t>
            </a:fld>
            <a:endParaRPr lang="en-US" altLang="en-US"/>
          </a:p>
        </p:txBody>
      </p:sp>
      <p:sp>
        <p:nvSpPr>
          <p:cNvPr id="5129" name="Text Box 9">
            <a:extLst>
              <a:ext uri="{FF2B5EF4-FFF2-40B4-BE49-F238E27FC236}">
                <a16:creationId xmlns:a16="http://schemas.microsoft.com/office/drawing/2014/main" id="{7750C15F-0EA5-3AA8-75D0-0EBA2353DE93}"/>
              </a:ext>
            </a:extLst>
          </p:cNvPr>
          <p:cNvSpPr txBox="1">
            <a:spLocks noChangeArrowheads="1"/>
          </p:cNvSpPr>
          <p:nvPr/>
        </p:nvSpPr>
        <p:spPr bwMode="auto">
          <a:xfrm>
            <a:off x="0" y="0"/>
            <a:ext cx="9144000" cy="400050"/>
          </a:xfrm>
          <a:prstGeom prst="rect">
            <a:avLst/>
          </a:prstGeom>
          <a:solidFill>
            <a:schemeClr val="bg1">
              <a:lumMod val="85000"/>
            </a:schemeClr>
          </a:solidFill>
          <a:ln w="9525">
            <a:solidFill>
              <a:schemeClr val="bg1">
                <a:lumMod val="95000"/>
              </a:schemeClr>
            </a:solidFill>
            <a:miter lim="800000"/>
            <a:headEnd/>
            <a:tailEnd/>
          </a:ln>
          <a:effectLst/>
        </p:spPr>
        <p:txBody>
          <a:bodyPr>
            <a:spAutoFit/>
          </a:bodyPr>
          <a:lstStyle>
            <a:lvl1pPr eaLnBrk="0" hangingPunct="0">
              <a:defRPr sz="28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8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8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8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8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en-US" altLang="en-US" sz="2000" b="1" dirty="0">
                <a:solidFill>
                  <a:srgbClr val="0D0D0D"/>
                </a:solidFill>
              </a:rPr>
              <a:t>Lecture 12 </a:t>
            </a:r>
            <a:r>
              <a:rPr lang="mr-IN" altLang="en-US" sz="2000" b="1" dirty="0">
                <a:solidFill>
                  <a:srgbClr val="0D0D0D"/>
                </a:solidFill>
              </a:rPr>
              <a:t>–</a:t>
            </a:r>
            <a:r>
              <a:rPr lang="en-US" altLang="en-US" sz="2000" b="1" dirty="0">
                <a:solidFill>
                  <a:srgbClr val="0D0D0D"/>
                </a:solidFill>
              </a:rPr>
              <a:t> Introduction to Ethereum</a:t>
            </a:r>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Lst>
  <p:hf hdr="0" ftr="0" dt="0"/>
  <p:txStyles>
    <p:titleStyle>
      <a:lvl1pPr algn="l" rtl="0" eaLnBrk="0" fontAlgn="base" hangingPunct="0">
        <a:spcBef>
          <a:spcPct val="0"/>
        </a:spcBef>
        <a:spcAft>
          <a:spcPct val="0"/>
        </a:spcAft>
        <a:defRPr sz="3600" b="1">
          <a:solidFill>
            <a:schemeClr val="tx2"/>
          </a:solidFill>
          <a:latin typeface="+mj-lt"/>
          <a:ea typeface="+mj-ea"/>
          <a:cs typeface="ＭＳ Ｐゴシック" charset="0"/>
        </a:defRPr>
      </a:lvl1pPr>
      <a:lvl2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2pPr>
      <a:lvl3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3pPr>
      <a:lvl4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4pPr>
      <a:lvl5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5pPr>
      <a:lvl6pPr marL="457200" algn="l" rtl="0" fontAlgn="base">
        <a:spcBef>
          <a:spcPct val="0"/>
        </a:spcBef>
        <a:spcAft>
          <a:spcPct val="0"/>
        </a:spcAft>
        <a:defRPr sz="3600" b="1">
          <a:solidFill>
            <a:schemeClr val="tx2"/>
          </a:solidFill>
          <a:latin typeface="Trebuchet MS" charset="0"/>
          <a:ea typeface="ＭＳ Ｐゴシック" charset="0"/>
        </a:defRPr>
      </a:lvl6pPr>
      <a:lvl7pPr marL="914400" algn="l" rtl="0" fontAlgn="base">
        <a:spcBef>
          <a:spcPct val="0"/>
        </a:spcBef>
        <a:spcAft>
          <a:spcPct val="0"/>
        </a:spcAft>
        <a:defRPr sz="3600" b="1">
          <a:solidFill>
            <a:schemeClr val="tx2"/>
          </a:solidFill>
          <a:latin typeface="Trebuchet MS" charset="0"/>
          <a:ea typeface="ＭＳ Ｐゴシック" charset="0"/>
        </a:defRPr>
      </a:lvl7pPr>
      <a:lvl8pPr marL="1371600" algn="l" rtl="0" fontAlgn="base">
        <a:spcBef>
          <a:spcPct val="0"/>
        </a:spcBef>
        <a:spcAft>
          <a:spcPct val="0"/>
        </a:spcAft>
        <a:defRPr sz="3600" b="1">
          <a:solidFill>
            <a:schemeClr val="tx2"/>
          </a:solidFill>
          <a:latin typeface="Trebuchet MS" charset="0"/>
          <a:ea typeface="ＭＳ Ｐゴシック" charset="0"/>
        </a:defRPr>
      </a:lvl8pPr>
      <a:lvl9pPr marL="1828800" algn="l" rtl="0" fontAlgn="base">
        <a:spcBef>
          <a:spcPct val="0"/>
        </a:spcBef>
        <a:spcAft>
          <a:spcPct val="0"/>
        </a:spcAft>
        <a:defRPr sz="3600" b="1">
          <a:solidFill>
            <a:schemeClr val="tx2"/>
          </a:solidFill>
          <a:latin typeface="Trebuchet M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edium.com/@preethikasireddy/how-does-ethereum-work-anyway-22d1df506369" TargetMode="External"/><Relationship Id="rId2" Type="http://schemas.openxmlformats.org/officeDocument/2006/relationships/hyperlink" Target="https://vas3k.com/blog/ethereu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13FAF915-9B92-2FBA-42E4-21FC0ACE1568}"/>
              </a:ext>
            </a:extLst>
          </p:cNvPr>
          <p:cNvSpPr>
            <a:spLocks noGrp="1" noChangeArrowheads="1"/>
          </p:cNvSpPr>
          <p:nvPr>
            <p:ph type="ctrTitle"/>
          </p:nvPr>
        </p:nvSpPr>
        <p:spPr>
          <a:xfrm>
            <a:off x="685800" y="2416175"/>
            <a:ext cx="7772400" cy="1470025"/>
          </a:xfrm>
        </p:spPr>
        <p:txBody>
          <a:bodyPr/>
          <a:lstStyle/>
          <a:p>
            <a:pPr algn="ctr" eaLnBrk="1" hangingPunct="1">
              <a:defRPr/>
            </a:pPr>
            <a:r>
              <a:rPr lang="en-US" dirty="0">
                <a:solidFill>
                  <a:srgbClr val="0000FF"/>
                </a:solidFill>
                <a:cs typeface="+mj-cs"/>
              </a:rPr>
              <a:t>Lecture 12 </a:t>
            </a:r>
            <a:br>
              <a:rPr lang="en-US" dirty="0">
                <a:solidFill>
                  <a:srgbClr val="0000FF"/>
                </a:solidFill>
                <a:cs typeface="+mj-cs"/>
              </a:rPr>
            </a:br>
            <a:r>
              <a:rPr lang="en-US" dirty="0">
                <a:solidFill>
                  <a:schemeClr val="tx1">
                    <a:lumMod val="95000"/>
                    <a:lumOff val="5000"/>
                  </a:schemeClr>
                </a:solidFill>
              </a:rPr>
              <a:t>Introduction to Ethereum</a:t>
            </a:r>
            <a:endParaRPr lang="en-US" dirty="0">
              <a:solidFill>
                <a:srgbClr val="0000FF"/>
              </a:solidFill>
              <a:cs typeface="+mj-cs"/>
            </a:endParaRPr>
          </a:p>
        </p:txBody>
      </p:sp>
      <p:sp>
        <p:nvSpPr>
          <p:cNvPr id="2" name="Slide Number Placeholder 1">
            <a:extLst>
              <a:ext uri="{FF2B5EF4-FFF2-40B4-BE49-F238E27FC236}">
                <a16:creationId xmlns:a16="http://schemas.microsoft.com/office/drawing/2014/main" id="{1BFFE350-7248-E485-C287-93582A0A1FD5}"/>
              </a:ext>
            </a:extLst>
          </p:cNvPr>
          <p:cNvSpPr>
            <a:spLocks noGrp="1"/>
          </p:cNvSpPr>
          <p:nvPr>
            <p:ph type="sldNum" sz="quarter" idx="12"/>
          </p:nvPr>
        </p:nvSpPr>
        <p:spPr/>
        <p:txBody>
          <a:bodyPr/>
          <a:lstStyle/>
          <a:p>
            <a:fld id="{B30A703D-A0EC-47EE-9816-9D4AAE1D9BF9}" type="slidenum">
              <a:rPr lang="en-US" altLang="en-US" smtClean="0"/>
              <a:pPr/>
              <a:t>1</a:t>
            </a:fld>
            <a:endParaRPr lang="en-US"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re 5">
            <a:extLst>
              <a:ext uri="{FF2B5EF4-FFF2-40B4-BE49-F238E27FC236}">
                <a16:creationId xmlns:a16="http://schemas.microsoft.com/office/drawing/2014/main" id="{D52A2B33-6E5D-1483-7035-5381B3E8DF5A}"/>
              </a:ext>
            </a:extLst>
          </p:cNvPr>
          <p:cNvSpPr>
            <a:spLocks noGrp="1" noChangeArrowheads="1"/>
          </p:cNvSpPr>
          <p:nvPr>
            <p:ph type="title"/>
          </p:nvPr>
        </p:nvSpPr>
        <p:spPr/>
        <p:txBody>
          <a:bodyPr/>
          <a:lstStyle/>
          <a:p>
            <a:r>
              <a:rPr lang="en-US" altLang="en-US"/>
              <a:t>Do not distribute ...</a:t>
            </a:r>
            <a:endParaRPr lang="fr-FR" altLang="en-US"/>
          </a:p>
        </p:txBody>
      </p:sp>
      <p:sp>
        <p:nvSpPr>
          <p:cNvPr id="16386" name="Espace réservé du contenu 6">
            <a:extLst>
              <a:ext uri="{FF2B5EF4-FFF2-40B4-BE49-F238E27FC236}">
                <a16:creationId xmlns:a16="http://schemas.microsoft.com/office/drawing/2014/main" id="{1EA139C1-4F53-77E9-1A9B-1465713996C9}"/>
              </a:ext>
            </a:extLst>
          </p:cNvPr>
          <p:cNvSpPr>
            <a:spLocks noGrp="1" noChangeArrowheads="1"/>
          </p:cNvSpPr>
          <p:nvPr>
            <p:ph idx="1"/>
          </p:nvPr>
        </p:nvSpPr>
        <p:spPr>
          <a:xfrm>
            <a:off x="457200" y="1676400"/>
            <a:ext cx="8686800" cy="4191000"/>
          </a:xfrm>
        </p:spPr>
        <p:txBody>
          <a:bodyPr/>
          <a:lstStyle/>
          <a:p>
            <a:r>
              <a:rPr lang="fr-FR" altLang="en-US" sz="2000" dirty="0" err="1"/>
              <a:t>These</a:t>
            </a:r>
            <a:r>
              <a:rPr lang="fr-FR" altLang="en-US" sz="2000" dirty="0"/>
              <a:t> slides are not </a:t>
            </a:r>
            <a:r>
              <a:rPr lang="fr-FR" altLang="en-US" sz="2000" dirty="0" err="1"/>
              <a:t>always</a:t>
            </a:r>
            <a:r>
              <a:rPr lang="fr-FR" altLang="en-US" sz="2000" dirty="0"/>
              <a:t> </a:t>
            </a:r>
            <a:r>
              <a:rPr lang="fr-FR" altLang="en-US" sz="2000" dirty="0" err="1"/>
              <a:t>prepared</a:t>
            </a:r>
            <a:r>
              <a:rPr lang="fr-FR" altLang="en-US" sz="2000" dirty="0"/>
              <a:t> by me.</a:t>
            </a:r>
          </a:p>
          <a:p>
            <a:r>
              <a:rPr lang="fr-FR" altLang="en-US" sz="2000" dirty="0"/>
              <a:t>Most of the content </a:t>
            </a:r>
            <a:r>
              <a:rPr lang="fr-FR" altLang="en-US" sz="2000" dirty="0" err="1"/>
              <a:t>comes</a:t>
            </a:r>
            <a:r>
              <a:rPr lang="fr-FR" altLang="en-US" sz="2000" dirty="0"/>
              <a:t> </a:t>
            </a:r>
            <a:r>
              <a:rPr lang="fr-FR" altLang="en-US" sz="2000" dirty="0" err="1"/>
              <a:t>from</a:t>
            </a:r>
            <a:r>
              <a:rPr lang="fr-FR" altLang="en-US" sz="2000" dirty="0"/>
              <a:t> the </a:t>
            </a:r>
            <a:r>
              <a:rPr lang="fr-FR" altLang="en-US" sz="2000" dirty="0" err="1"/>
              <a:t>reference</a:t>
            </a:r>
            <a:r>
              <a:rPr lang="fr-FR" altLang="en-US" sz="2000" dirty="0"/>
              <a:t> book</a:t>
            </a:r>
          </a:p>
          <a:p>
            <a:pPr lvl="1"/>
            <a:r>
              <a:rPr lang="fr-FR" altLang="en-US" sz="1800" dirty="0" err="1"/>
              <a:t>Mastering</a:t>
            </a:r>
            <a:r>
              <a:rPr lang="fr-FR" altLang="en-US" sz="1800" dirty="0"/>
              <a:t> </a:t>
            </a:r>
            <a:r>
              <a:rPr lang="fr-FR" altLang="en-US" sz="1800" dirty="0" err="1"/>
              <a:t>Ethereum</a:t>
            </a:r>
            <a:r>
              <a:rPr lang="fr-FR" altLang="en-US" sz="1800" dirty="0"/>
              <a:t>: Building Smart </a:t>
            </a:r>
            <a:r>
              <a:rPr lang="fr-FR" altLang="en-US" sz="1800" dirty="0" err="1"/>
              <a:t>Contracts</a:t>
            </a:r>
            <a:r>
              <a:rPr lang="fr-FR" altLang="en-US" sz="1800" dirty="0"/>
              <a:t> and </a:t>
            </a:r>
            <a:r>
              <a:rPr lang="fr-FR" altLang="en-US" sz="1800" dirty="0" err="1"/>
              <a:t>Dapps</a:t>
            </a:r>
            <a:endParaRPr lang="fr-FR" altLang="en-US" sz="1800" dirty="0"/>
          </a:p>
          <a:p>
            <a:pPr lvl="1"/>
            <a:r>
              <a:rPr lang="fr-FR" altLang="en-US" sz="1400" dirty="0">
                <a:solidFill>
                  <a:srgbClr val="008000"/>
                </a:solidFill>
                <a:latin typeface="Gill Sans MT" panose="020B0502020104020203" pitchFamily="34" charset="0"/>
              </a:rPr>
              <a:t>	Book by Andreas </a:t>
            </a:r>
            <a:r>
              <a:rPr lang="fr-FR" altLang="en-US" sz="1400" dirty="0" err="1">
                <a:solidFill>
                  <a:srgbClr val="008000"/>
                </a:solidFill>
                <a:latin typeface="Gill Sans MT" panose="020B0502020104020203" pitchFamily="34" charset="0"/>
              </a:rPr>
              <a:t>Antonopoulos</a:t>
            </a:r>
            <a:r>
              <a:rPr lang="fr-FR" altLang="en-US" sz="1400" dirty="0">
                <a:solidFill>
                  <a:srgbClr val="008000"/>
                </a:solidFill>
                <a:latin typeface="Gill Sans MT" panose="020B0502020104020203" pitchFamily="34" charset="0"/>
              </a:rPr>
              <a:t> and Gavin Wood </a:t>
            </a:r>
            <a:r>
              <a:rPr lang="fr-FR" altLang="en-US" sz="1400" dirty="0" err="1">
                <a:solidFill>
                  <a:srgbClr val="008000"/>
                </a:solidFill>
                <a:latin typeface="Gill Sans MT" panose="020B0502020104020203" pitchFamily="34" charset="0"/>
              </a:rPr>
              <a:t>Ph.D</a:t>
            </a:r>
            <a:r>
              <a:rPr lang="fr-FR" altLang="en-US" sz="1400" dirty="0">
                <a:solidFill>
                  <a:srgbClr val="008000"/>
                </a:solidFill>
                <a:latin typeface="Gill Sans MT" panose="020B0502020104020203" pitchFamily="34" charset="0"/>
              </a:rPr>
              <a:t>.</a:t>
            </a:r>
            <a:endParaRPr lang="fr-FR" altLang="en-US" sz="2000" dirty="0"/>
          </a:p>
          <a:p>
            <a:endParaRPr lang="fr-FR" altLang="en-US" sz="2000" dirty="0"/>
          </a:p>
          <a:p>
            <a:r>
              <a:rPr lang="fr-FR" altLang="en-US" sz="2000" dirty="0" err="1"/>
              <a:t>Some</a:t>
            </a:r>
            <a:r>
              <a:rPr lang="fr-FR" altLang="en-US" sz="2000" dirty="0"/>
              <a:t> content </a:t>
            </a:r>
            <a:r>
              <a:rPr lang="fr-FR" altLang="en-US" sz="2000" dirty="0" err="1"/>
              <a:t>comes</a:t>
            </a:r>
            <a:r>
              <a:rPr lang="fr-FR" altLang="en-US" sz="2000" dirty="0"/>
              <a:t> </a:t>
            </a:r>
            <a:r>
              <a:rPr lang="fr-FR" altLang="en-US" sz="2000" dirty="0" err="1"/>
              <a:t>from</a:t>
            </a:r>
            <a:r>
              <a:rPr lang="fr-FR" altLang="en-US" sz="2000" dirty="0"/>
              <a:t> the blogs, </a:t>
            </a:r>
          </a:p>
          <a:p>
            <a:r>
              <a:rPr lang="fr-FR" altLang="en-US" sz="2000" i="1" dirty="0">
                <a:hlinkClick r:id="rId2"/>
              </a:rPr>
              <a:t>https://vas3k.com/blog/ethereum/</a:t>
            </a:r>
            <a:r>
              <a:rPr lang="fr-FR" altLang="en-US" sz="2000" i="1" dirty="0"/>
              <a:t> and </a:t>
            </a:r>
            <a:r>
              <a:rPr lang="fr-FR" altLang="en-US" sz="2000" dirty="0">
                <a:hlinkClick r:id="rId3"/>
              </a:rPr>
              <a:t>https://medium.com/@preethikasireddy/how-does-ethereum-work-anyway-22d1df506369</a:t>
            </a:r>
            <a:r>
              <a:rPr lang="fr-FR" altLang="en-US" sz="2000" dirty="0"/>
              <a:t> </a:t>
            </a:r>
          </a:p>
          <a:p>
            <a:endParaRPr lang="fr-FR" altLang="en-US" sz="2000" i="1" dirty="0"/>
          </a:p>
          <a:p>
            <a:endParaRPr lang="fr-FR" altLang="en-US" sz="2000" dirty="0"/>
          </a:p>
          <a:p>
            <a:endParaRPr lang="fr-FR" altLang="en-US" sz="2000" dirty="0"/>
          </a:p>
        </p:txBody>
      </p:sp>
      <p:sp>
        <p:nvSpPr>
          <p:cNvPr id="2" name="Slide Number Placeholder 1">
            <a:extLst>
              <a:ext uri="{FF2B5EF4-FFF2-40B4-BE49-F238E27FC236}">
                <a16:creationId xmlns:a16="http://schemas.microsoft.com/office/drawing/2014/main" id="{B4331E09-D057-E525-9096-C713A48CDFFF}"/>
              </a:ext>
            </a:extLst>
          </p:cNvPr>
          <p:cNvSpPr>
            <a:spLocks noGrp="1"/>
          </p:cNvSpPr>
          <p:nvPr>
            <p:ph type="sldNum" sz="quarter" idx="12"/>
          </p:nvPr>
        </p:nvSpPr>
        <p:spPr/>
        <p:txBody>
          <a:bodyPr/>
          <a:lstStyle/>
          <a:p>
            <a:fld id="{F9104BDA-D44F-4B11-86E7-6A4BB78558E2}" type="slidenum">
              <a:rPr lang="en-US" altLang="en-US" smtClean="0"/>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re 1">
            <a:extLst>
              <a:ext uri="{FF2B5EF4-FFF2-40B4-BE49-F238E27FC236}">
                <a16:creationId xmlns:a16="http://schemas.microsoft.com/office/drawing/2014/main" id="{723AFDB9-BE78-3CE5-6E21-3F3C5C450D23}"/>
              </a:ext>
            </a:extLst>
          </p:cNvPr>
          <p:cNvSpPr>
            <a:spLocks noGrp="1" noChangeArrowheads="1"/>
          </p:cNvSpPr>
          <p:nvPr>
            <p:ph type="title"/>
          </p:nvPr>
        </p:nvSpPr>
        <p:spPr/>
        <p:txBody>
          <a:bodyPr/>
          <a:lstStyle/>
          <a:p>
            <a:r>
              <a:rPr lang="fr-FR" altLang="en-US"/>
              <a:t>What is Blockchain? </a:t>
            </a:r>
          </a:p>
        </p:txBody>
      </p:sp>
      <p:sp>
        <p:nvSpPr>
          <p:cNvPr id="17410" name="Espace réservé du contenu 2">
            <a:extLst>
              <a:ext uri="{FF2B5EF4-FFF2-40B4-BE49-F238E27FC236}">
                <a16:creationId xmlns:a16="http://schemas.microsoft.com/office/drawing/2014/main" id="{22E021D8-15E5-E682-9977-D18D33B5EDFB}"/>
              </a:ext>
            </a:extLst>
          </p:cNvPr>
          <p:cNvSpPr>
            <a:spLocks noGrp="1" noChangeArrowheads="1"/>
          </p:cNvSpPr>
          <p:nvPr>
            <p:ph idx="1"/>
          </p:nvPr>
        </p:nvSpPr>
        <p:spPr/>
        <p:txBody>
          <a:bodyPr/>
          <a:lstStyle/>
          <a:p>
            <a:r>
              <a:rPr lang="fr-FR" altLang="en-US" sz="2400"/>
              <a:t>A linked list? </a:t>
            </a:r>
          </a:p>
          <a:p>
            <a:r>
              <a:rPr lang="fr-FR" altLang="en-US" sz="2400"/>
              <a:t>A linked list with hash pointers using a Cryptographic Hash Function </a:t>
            </a:r>
          </a:p>
          <a:p>
            <a:endParaRPr lang="fr-FR" altLang="en-US" sz="2400"/>
          </a:p>
          <a:p>
            <a:endParaRPr lang="fr-FR" altLang="en-US" sz="2400"/>
          </a:p>
        </p:txBody>
      </p:sp>
      <p:grpSp>
        <p:nvGrpSpPr>
          <p:cNvPr id="17411" name="Google Shape;214;p31">
            <a:extLst>
              <a:ext uri="{FF2B5EF4-FFF2-40B4-BE49-F238E27FC236}">
                <a16:creationId xmlns:a16="http://schemas.microsoft.com/office/drawing/2014/main" id="{54831919-5837-DFAF-D220-5D8B0303A87D}"/>
              </a:ext>
            </a:extLst>
          </p:cNvPr>
          <p:cNvGrpSpPr>
            <a:grpSpLocks/>
          </p:cNvGrpSpPr>
          <p:nvPr/>
        </p:nvGrpSpPr>
        <p:grpSpPr bwMode="auto">
          <a:xfrm>
            <a:off x="6043613" y="4699000"/>
            <a:ext cx="1344612" cy="1320800"/>
            <a:chOff x="5333050" y="2139900"/>
            <a:chExt cx="1344300" cy="1527518"/>
          </a:xfrm>
        </p:grpSpPr>
        <p:sp>
          <p:nvSpPr>
            <p:cNvPr id="17423" name="Google Shape;215;p31">
              <a:extLst>
                <a:ext uri="{FF2B5EF4-FFF2-40B4-BE49-F238E27FC236}">
                  <a16:creationId xmlns:a16="http://schemas.microsoft.com/office/drawing/2014/main" id="{45F1AC1A-BC2A-E00A-32DE-775DD95395C1}"/>
                </a:ext>
              </a:extLst>
            </p:cNvPr>
            <p:cNvSpPr>
              <a:spLocks noChangeArrowheads="1"/>
            </p:cNvSpPr>
            <p:nvPr/>
          </p:nvSpPr>
          <p:spPr bwMode="auto">
            <a:xfrm>
              <a:off x="5333050" y="2462100"/>
              <a:ext cx="1344300" cy="1205318"/>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a:latin typeface="Trebuchet MS" panose="020B0603020202020204" pitchFamily="34" charset="0"/>
                  <a:sym typeface="Trebuchet MS" panose="020B0603020202020204" pitchFamily="34" charset="0"/>
                </a:rPr>
                <a:t>data</a:t>
              </a:r>
            </a:p>
          </p:txBody>
        </p:sp>
        <p:sp>
          <p:nvSpPr>
            <p:cNvPr id="17424" name="Google Shape;216;p31">
              <a:extLst>
                <a:ext uri="{FF2B5EF4-FFF2-40B4-BE49-F238E27FC236}">
                  <a16:creationId xmlns:a16="http://schemas.microsoft.com/office/drawing/2014/main" id="{C309D8A1-A56D-AADC-0527-402C39F0FFAD}"/>
                </a:ext>
              </a:extLst>
            </p:cNvPr>
            <p:cNvSpPr>
              <a:spLocks noChangeArrowheads="1"/>
            </p:cNvSpPr>
            <p:nvPr/>
          </p:nvSpPr>
          <p:spPr bwMode="auto">
            <a:xfrm>
              <a:off x="5333050" y="2139900"/>
              <a:ext cx="1344300" cy="3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800">
                  <a:latin typeface="Trebuchet MS" panose="020B0603020202020204" pitchFamily="34" charset="0"/>
                  <a:sym typeface="Trebuchet MS" panose="020B0603020202020204" pitchFamily="34" charset="0"/>
                </a:rPr>
                <a:t>prev: H(  )</a:t>
              </a:r>
            </a:p>
          </p:txBody>
        </p:sp>
      </p:grpSp>
      <p:grpSp>
        <p:nvGrpSpPr>
          <p:cNvPr id="17412" name="Google Shape;217;p31">
            <a:extLst>
              <a:ext uri="{FF2B5EF4-FFF2-40B4-BE49-F238E27FC236}">
                <a16:creationId xmlns:a16="http://schemas.microsoft.com/office/drawing/2014/main" id="{D7C83275-C7A2-F6F4-4385-47EF0992174B}"/>
              </a:ext>
            </a:extLst>
          </p:cNvPr>
          <p:cNvGrpSpPr>
            <a:grpSpLocks/>
          </p:cNvGrpSpPr>
          <p:nvPr/>
        </p:nvGrpSpPr>
        <p:grpSpPr bwMode="auto">
          <a:xfrm>
            <a:off x="3686175" y="4699000"/>
            <a:ext cx="1343025" cy="1320800"/>
            <a:chOff x="5333050" y="2139900"/>
            <a:chExt cx="1344300" cy="2144400"/>
          </a:xfrm>
        </p:grpSpPr>
        <p:sp>
          <p:nvSpPr>
            <p:cNvPr id="17421" name="Google Shape;218;p31">
              <a:extLst>
                <a:ext uri="{FF2B5EF4-FFF2-40B4-BE49-F238E27FC236}">
                  <a16:creationId xmlns:a16="http://schemas.microsoft.com/office/drawing/2014/main" id="{81487FFB-1C5C-B32D-F1F0-CBEE527735C2}"/>
                </a:ext>
              </a:extLst>
            </p:cNvPr>
            <p:cNvSpPr>
              <a:spLocks noChangeArrowheads="1"/>
            </p:cNvSpPr>
            <p:nvPr/>
          </p:nvSpPr>
          <p:spPr bwMode="auto">
            <a:xfrm>
              <a:off x="5333050" y="2462100"/>
              <a:ext cx="1344300" cy="18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a:latin typeface="Trebuchet MS" panose="020B0603020202020204" pitchFamily="34" charset="0"/>
                  <a:sym typeface="Trebuchet MS" panose="020B0603020202020204" pitchFamily="34" charset="0"/>
                </a:rPr>
                <a:t>data</a:t>
              </a:r>
            </a:p>
          </p:txBody>
        </p:sp>
        <p:sp>
          <p:nvSpPr>
            <p:cNvPr id="17422" name="Google Shape;219;p31">
              <a:extLst>
                <a:ext uri="{FF2B5EF4-FFF2-40B4-BE49-F238E27FC236}">
                  <a16:creationId xmlns:a16="http://schemas.microsoft.com/office/drawing/2014/main" id="{30E3177F-CED9-72D6-9435-7F1BD04FB28A}"/>
                </a:ext>
              </a:extLst>
            </p:cNvPr>
            <p:cNvSpPr>
              <a:spLocks noChangeArrowheads="1"/>
            </p:cNvSpPr>
            <p:nvPr/>
          </p:nvSpPr>
          <p:spPr bwMode="auto">
            <a:xfrm>
              <a:off x="5333050" y="2139900"/>
              <a:ext cx="1344300" cy="3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800">
                  <a:latin typeface="Trebuchet MS" panose="020B0603020202020204" pitchFamily="34" charset="0"/>
                  <a:sym typeface="Trebuchet MS" panose="020B0603020202020204" pitchFamily="34" charset="0"/>
                </a:rPr>
                <a:t>prev: H(  )</a:t>
              </a:r>
            </a:p>
          </p:txBody>
        </p:sp>
      </p:grpSp>
      <p:sp>
        <p:nvSpPr>
          <p:cNvPr id="17413" name="Google Shape;220;p31">
            <a:extLst>
              <a:ext uri="{FF2B5EF4-FFF2-40B4-BE49-F238E27FC236}">
                <a16:creationId xmlns:a16="http://schemas.microsoft.com/office/drawing/2014/main" id="{C9415EC1-2900-A5DF-116C-6E54E67E155B}"/>
              </a:ext>
            </a:extLst>
          </p:cNvPr>
          <p:cNvSpPr>
            <a:spLocks/>
          </p:cNvSpPr>
          <p:nvPr/>
        </p:nvSpPr>
        <p:spPr bwMode="auto">
          <a:xfrm>
            <a:off x="5029200" y="4371975"/>
            <a:ext cx="2066925" cy="1201738"/>
          </a:xfrm>
          <a:custGeom>
            <a:avLst/>
            <a:gdLst>
              <a:gd name="T0" fmla="*/ 2147483646 w 82662"/>
              <a:gd name="T1" fmla="*/ 2147483646 h 55553"/>
              <a:gd name="T2" fmla="*/ 2147483646 w 82662"/>
              <a:gd name="T3" fmla="*/ 2147483646 h 55553"/>
              <a:gd name="T4" fmla="*/ 2147483646 w 82662"/>
              <a:gd name="T5" fmla="*/ 0 h 55553"/>
              <a:gd name="T6" fmla="*/ 2147483646 w 82662"/>
              <a:gd name="T7" fmla="*/ 2147483646 h 55553"/>
              <a:gd name="T8" fmla="*/ 0 w 82662"/>
              <a:gd name="T9" fmla="*/ 2147483646 h 55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662" h="55553" extrusionOk="0">
                <a:moveTo>
                  <a:pt x="82662" y="16888"/>
                </a:moveTo>
                <a:lnTo>
                  <a:pt x="82662" y="445"/>
                </a:lnTo>
                <a:lnTo>
                  <a:pt x="19554" y="0"/>
                </a:lnTo>
                <a:lnTo>
                  <a:pt x="19999" y="55553"/>
                </a:lnTo>
                <a:lnTo>
                  <a:pt x="0" y="55109"/>
                </a:lnTo>
              </a:path>
            </a:pathLst>
          </a:custGeom>
          <a:noFill/>
          <a:ln w="3810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7414" name="Google Shape;221;p31">
            <a:extLst>
              <a:ext uri="{FF2B5EF4-FFF2-40B4-BE49-F238E27FC236}">
                <a16:creationId xmlns:a16="http://schemas.microsoft.com/office/drawing/2014/main" id="{E57EF971-96A8-1132-F78A-2EF030D17AFA}"/>
              </a:ext>
            </a:extLst>
          </p:cNvPr>
          <p:cNvSpPr>
            <a:spLocks/>
          </p:cNvSpPr>
          <p:nvPr/>
        </p:nvSpPr>
        <p:spPr bwMode="auto">
          <a:xfrm>
            <a:off x="2674938" y="4371975"/>
            <a:ext cx="2065337" cy="1201738"/>
          </a:xfrm>
          <a:custGeom>
            <a:avLst/>
            <a:gdLst>
              <a:gd name="T0" fmla="*/ 2147483646 w 82662"/>
              <a:gd name="T1" fmla="*/ 2147483646 h 55553"/>
              <a:gd name="T2" fmla="*/ 2147483646 w 82662"/>
              <a:gd name="T3" fmla="*/ 2147483646 h 55553"/>
              <a:gd name="T4" fmla="*/ 2147483646 w 82662"/>
              <a:gd name="T5" fmla="*/ 0 h 55553"/>
              <a:gd name="T6" fmla="*/ 2147483646 w 82662"/>
              <a:gd name="T7" fmla="*/ 2147483646 h 55553"/>
              <a:gd name="T8" fmla="*/ 0 w 82662"/>
              <a:gd name="T9" fmla="*/ 2147483646 h 55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662" h="55553" extrusionOk="0">
                <a:moveTo>
                  <a:pt x="82662" y="16888"/>
                </a:moveTo>
                <a:lnTo>
                  <a:pt x="82662" y="445"/>
                </a:lnTo>
                <a:lnTo>
                  <a:pt x="19554" y="0"/>
                </a:lnTo>
                <a:lnTo>
                  <a:pt x="19999" y="55553"/>
                </a:lnTo>
                <a:lnTo>
                  <a:pt x="0" y="55109"/>
                </a:lnTo>
              </a:path>
            </a:pathLst>
          </a:custGeom>
          <a:noFill/>
          <a:ln w="3810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17415" name="Google Shape;222;p31">
            <a:extLst>
              <a:ext uri="{FF2B5EF4-FFF2-40B4-BE49-F238E27FC236}">
                <a16:creationId xmlns:a16="http://schemas.microsoft.com/office/drawing/2014/main" id="{93ACB19E-DDF5-AADC-16D3-3ECCEFC86AE2}"/>
              </a:ext>
            </a:extLst>
          </p:cNvPr>
          <p:cNvGrpSpPr>
            <a:grpSpLocks/>
          </p:cNvGrpSpPr>
          <p:nvPr/>
        </p:nvGrpSpPr>
        <p:grpSpPr bwMode="auto">
          <a:xfrm>
            <a:off x="1327150" y="4699000"/>
            <a:ext cx="1344613" cy="1320800"/>
            <a:chOff x="5333050" y="2139900"/>
            <a:chExt cx="1344300" cy="1527518"/>
          </a:xfrm>
        </p:grpSpPr>
        <p:sp>
          <p:nvSpPr>
            <p:cNvPr id="17419" name="Google Shape;223;p31">
              <a:extLst>
                <a:ext uri="{FF2B5EF4-FFF2-40B4-BE49-F238E27FC236}">
                  <a16:creationId xmlns:a16="http://schemas.microsoft.com/office/drawing/2014/main" id="{E195DB22-1166-6184-130A-95A4B44ECA28}"/>
                </a:ext>
              </a:extLst>
            </p:cNvPr>
            <p:cNvSpPr>
              <a:spLocks noChangeArrowheads="1"/>
            </p:cNvSpPr>
            <p:nvPr/>
          </p:nvSpPr>
          <p:spPr bwMode="auto">
            <a:xfrm>
              <a:off x="5333050" y="2462100"/>
              <a:ext cx="1344300" cy="1205318"/>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a:latin typeface="Trebuchet MS" panose="020B0603020202020204" pitchFamily="34" charset="0"/>
                  <a:sym typeface="Trebuchet MS" panose="020B0603020202020204" pitchFamily="34" charset="0"/>
                </a:rPr>
                <a:t>data</a:t>
              </a:r>
            </a:p>
          </p:txBody>
        </p:sp>
        <p:sp>
          <p:nvSpPr>
            <p:cNvPr id="17420" name="Google Shape;224;p31">
              <a:extLst>
                <a:ext uri="{FF2B5EF4-FFF2-40B4-BE49-F238E27FC236}">
                  <a16:creationId xmlns:a16="http://schemas.microsoft.com/office/drawing/2014/main" id="{4EF6E75A-8FB3-ED8E-1C86-455FF5262A9D}"/>
                </a:ext>
              </a:extLst>
            </p:cNvPr>
            <p:cNvSpPr>
              <a:spLocks noChangeArrowheads="1"/>
            </p:cNvSpPr>
            <p:nvPr/>
          </p:nvSpPr>
          <p:spPr bwMode="auto">
            <a:xfrm>
              <a:off x="5333050" y="2139900"/>
              <a:ext cx="1344300" cy="322200"/>
            </a:xfrm>
            <a:prstGeom prst="rect">
              <a:avLst/>
            </a:prstGeom>
            <a:solidFill>
              <a:schemeClr val="bg2"/>
            </a:solidFill>
            <a:ln w="19050">
              <a:solidFill>
                <a:schemeClr val="tx2"/>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800">
                  <a:latin typeface="Trebuchet MS" panose="020B0603020202020204" pitchFamily="34" charset="0"/>
                  <a:sym typeface="Trebuchet MS" panose="020B0603020202020204" pitchFamily="34" charset="0"/>
                </a:rPr>
                <a:t>prev: H(  )</a:t>
              </a:r>
            </a:p>
          </p:txBody>
        </p:sp>
      </p:grpSp>
      <p:sp>
        <p:nvSpPr>
          <p:cNvPr id="17416" name="Google Shape;225;p31">
            <a:extLst>
              <a:ext uri="{FF2B5EF4-FFF2-40B4-BE49-F238E27FC236}">
                <a16:creationId xmlns:a16="http://schemas.microsoft.com/office/drawing/2014/main" id="{F702A549-4AAB-25D1-A867-9AC2DEC55057}"/>
              </a:ext>
            </a:extLst>
          </p:cNvPr>
          <p:cNvSpPr>
            <a:spLocks/>
          </p:cNvSpPr>
          <p:nvPr/>
        </p:nvSpPr>
        <p:spPr bwMode="auto">
          <a:xfrm>
            <a:off x="319088" y="4371975"/>
            <a:ext cx="2066925" cy="1201738"/>
          </a:xfrm>
          <a:custGeom>
            <a:avLst/>
            <a:gdLst>
              <a:gd name="T0" fmla="*/ 2147483646 w 82662"/>
              <a:gd name="T1" fmla="*/ 2147483646 h 55553"/>
              <a:gd name="T2" fmla="*/ 2147483646 w 82662"/>
              <a:gd name="T3" fmla="*/ 2147483646 h 55553"/>
              <a:gd name="T4" fmla="*/ 2147483646 w 82662"/>
              <a:gd name="T5" fmla="*/ 0 h 55553"/>
              <a:gd name="T6" fmla="*/ 2147483646 w 82662"/>
              <a:gd name="T7" fmla="*/ 2147483646 h 55553"/>
              <a:gd name="T8" fmla="*/ 0 w 82662"/>
              <a:gd name="T9" fmla="*/ 2147483646 h 55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662" h="55553" extrusionOk="0">
                <a:moveTo>
                  <a:pt x="82662" y="16888"/>
                </a:moveTo>
                <a:lnTo>
                  <a:pt x="82662" y="445"/>
                </a:lnTo>
                <a:lnTo>
                  <a:pt x="19554" y="0"/>
                </a:lnTo>
                <a:lnTo>
                  <a:pt x="19999" y="55553"/>
                </a:lnTo>
                <a:lnTo>
                  <a:pt x="0" y="55109"/>
                </a:lnTo>
              </a:path>
            </a:pathLst>
          </a:custGeom>
          <a:noFill/>
          <a:ln w="3810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7417" name="Google Shape;226;p31">
            <a:extLst>
              <a:ext uri="{FF2B5EF4-FFF2-40B4-BE49-F238E27FC236}">
                <a16:creationId xmlns:a16="http://schemas.microsoft.com/office/drawing/2014/main" id="{063638D0-74A6-BA68-E257-FD2D813381D7}"/>
              </a:ext>
            </a:extLst>
          </p:cNvPr>
          <p:cNvSpPr txBox="1">
            <a:spLocks noChangeArrowheads="1"/>
          </p:cNvSpPr>
          <p:nvPr/>
        </p:nvSpPr>
        <p:spPr bwMode="auto">
          <a:xfrm>
            <a:off x="7096125" y="2819400"/>
            <a:ext cx="14144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3600">
                <a:latin typeface="Trebuchet MS" panose="020B0603020202020204" pitchFamily="34" charset="0"/>
                <a:sym typeface="Trebuchet MS" panose="020B0603020202020204" pitchFamily="34" charset="0"/>
              </a:rPr>
              <a:t>H(  )</a:t>
            </a:r>
          </a:p>
        </p:txBody>
      </p:sp>
      <p:sp>
        <p:nvSpPr>
          <p:cNvPr id="17418" name="Google Shape;227;p31">
            <a:extLst>
              <a:ext uri="{FF2B5EF4-FFF2-40B4-BE49-F238E27FC236}">
                <a16:creationId xmlns:a16="http://schemas.microsoft.com/office/drawing/2014/main" id="{6E3CE1B5-FE7A-2487-35DE-2EE8DF694C72}"/>
              </a:ext>
            </a:extLst>
          </p:cNvPr>
          <p:cNvSpPr>
            <a:spLocks/>
          </p:cNvSpPr>
          <p:nvPr/>
        </p:nvSpPr>
        <p:spPr bwMode="auto">
          <a:xfrm>
            <a:off x="7388225" y="3381375"/>
            <a:ext cx="444500" cy="1882775"/>
          </a:xfrm>
          <a:custGeom>
            <a:avLst/>
            <a:gdLst>
              <a:gd name="T0" fmla="*/ 2147483646 w 17777"/>
              <a:gd name="T1" fmla="*/ 0 h 87106"/>
              <a:gd name="T2" fmla="*/ 2147483646 w 17777"/>
              <a:gd name="T3" fmla="*/ 2147483646 h 87106"/>
              <a:gd name="T4" fmla="*/ 0 w 17777"/>
              <a:gd name="T5" fmla="*/ 2147483646 h 87106"/>
              <a:gd name="T6" fmla="*/ 0 60000 65536"/>
              <a:gd name="T7" fmla="*/ 0 60000 65536"/>
              <a:gd name="T8" fmla="*/ 0 60000 65536"/>
            </a:gdLst>
            <a:ahLst/>
            <a:cxnLst>
              <a:cxn ang="T6">
                <a:pos x="T0" y="T1"/>
              </a:cxn>
              <a:cxn ang="T7">
                <a:pos x="T2" y="T3"/>
              </a:cxn>
              <a:cxn ang="T8">
                <a:pos x="T4" y="T5"/>
              </a:cxn>
            </a:cxnLst>
            <a:rect l="0" t="0" r="r" b="b"/>
            <a:pathLst>
              <a:path w="17777" h="87106" extrusionOk="0">
                <a:moveTo>
                  <a:pt x="16888" y="0"/>
                </a:moveTo>
                <a:lnTo>
                  <a:pt x="17777" y="87106"/>
                </a:lnTo>
                <a:lnTo>
                  <a:pt x="0" y="87106"/>
                </a:lnTo>
              </a:path>
            </a:pathLst>
          </a:custGeom>
          <a:noFill/>
          <a:ln w="38100" cap="flat" cmpd="sng">
            <a:solidFill>
              <a:srgbClr val="990000"/>
            </a:solidFill>
            <a:prstDash val="solid"/>
            <a:round/>
            <a:headEnd type="none" w="med" len="med"/>
            <a:tailEnd type="stealth"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 name="Slide Number Placeholder 1">
            <a:extLst>
              <a:ext uri="{FF2B5EF4-FFF2-40B4-BE49-F238E27FC236}">
                <a16:creationId xmlns:a16="http://schemas.microsoft.com/office/drawing/2014/main" id="{6B74B7E2-11BC-74FF-C64A-80FF6577E897}"/>
              </a:ext>
            </a:extLst>
          </p:cNvPr>
          <p:cNvSpPr>
            <a:spLocks noGrp="1"/>
          </p:cNvSpPr>
          <p:nvPr>
            <p:ph type="sldNum" sz="quarter" idx="12"/>
          </p:nvPr>
        </p:nvSpPr>
        <p:spPr/>
        <p:txBody>
          <a:bodyPr/>
          <a:lstStyle/>
          <a:p>
            <a:fld id="{F9104BDA-D44F-4B11-86E7-6A4BB78558E2}" type="slidenum">
              <a:rPr lang="en-US" altLang="en-US" smtClean="0"/>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re 1">
            <a:extLst>
              <a:ext uri="{FF2B5EF4-FFF2-40B4-BE49-F238E27FC236}">
                <a16:creationId xmlns:a16="http://schemas.microsoft.com/office/drawing/2014/main" id="{9C6E8504-3A6A-47F2-FF48-C3737C784309}"/>
              </a:ext>
            </a:extLst>
          </p:cNvPr>
          <p:cNvSpPr>
            <a:spLocks noGrp="1" noChangeArrowheads="1"/>
          </p:cNvSpPr>
          <p:nvPr>
            <p:ph type="title"/>
          </p:nvPr>
        </p:nvSpPr>
        <p:spPr/>
        <p:txBody>
          <a:bodyPr/>
          <a:lstStyle/>
          <a:p>
            <a:r>
              <a:rPr lang="fr-FR" altLang="en-US"/>
              <a:t>What is a State Machine? </a:t>
            </a:r>
          </a:p>
        </p:txBody>
      </p:sp>
      <p:sp>
        <p:nvSpPr>
          <p:cNvPr id="18434" name="Espace réservé du contenu 2">
            <a:extLst>
              <a:ext uri="{FF2B5EF4-FFF2-40B4-BE49-F238E27FC236}">
                <a16:creationId xmlns:a16="http://schemas.microsoft.com/office/drawing/2014/main" id="{4BB1DE31-3FDE-2008-48CB-939EC8C43EE1}"/>
              </a:ext>
            </a:extLst>
          </p:cNvPr>
          <p:cNvSpPr>
            <a:spLocks noGrp="1" noChangeArrowheads="1"/>
          </p:cNvSpPr>
          <p:nvPr>
            <p:ph idx="1"/>
          </p:nvPr>
        </p:nvSpPr>
        <p:spPr/>
        <p:txBody>
          <a:bodyPr/>
          <a:lstStyle/>
          <a:p>
            <a:r>
              <a:rPr lang="fr-FR" altLang="en-US" sz="2400"/>
              <a:t>A state machine is any device storing the status of something at a given time.</a:t>
            </a:r>
          </a:p>
          <a:p>
            <a:r>
              <a:rPr lang="fr-FR" altLang="en-US" sz="2400"/>
              <a:t>State machines are represented using state diagrams.</a:t>
            </a:r>
          </a:p>
          <a:p>
            <a:endParaRPr lang="fr-FR" altLang="en-US" sz="2400"/>
          </a:p>
          <a:p>
            <a:r>
              <a:rPr lang="fr-FR" altLang="en-US" sz="2400"/>
              <a:t> Sounds familiar? </a:t>
            </a:r>
          </a:p>
        </p:txBody>
      </p:sp>
      <p:sp>
        <p:nvSpPr>
          <p:cNvPr id="2" name="Slide Number Placeholder 1">
            <a:extLst>
              <a:ext uri="{FF2B5EF4-FFF2-40B4-BE49-F238E27FC236}">
                <a16:creationId xmlns:a16="http://schemas.microsoft.com/office/drawing/2014/main" id="{44A243EC-D291-A5EC-AD5F-B3FA7576C9B7}"/>
              </a:ext>
            </a:extLst>
          </p:cNvPr>
          <p:cNvSpPr>
            <a:spLocks noGrp="1"/>
          </p:cNvSpPr>
          <p:nvPr>
            <p:ph type="sldNum" sz="quarter" idx="12"/>
          </p:nvPr>
        </p:nvSpPr>
        <p:spPr/>
        <p:txBody>
          <a:bodyPr/>
          <a:lstStyle/>
          <a:p>
            <a:fld id="{F9104BDA-D44F-4B11-86E7-6A4BB78558E2}" type="slidenum">
              <a:rPr lang="en-US" altLang="en-US" smtClean="0"/>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Oval 3">
            <a:extLst>
              <a:ext uri="{FF2B5EF4-FFF2-40B4-BE49-F238E27FC236}">
                <a16:creationId xmlns:a16="http://schemas.microsoft.com/office/drawing/2014/main" id="{A61D3D2C-29B6-28B4-4BB0-E686836381BD}"/>
              </a:ext>
            </a:extLst>
          </p:cNvPr>
          <p:cNvSpPr>
            <a:spLocks noChangeArrowheads="1"/>
          </p:cNvSpPr>
          <p:nvPr/>
        </p:nvSpPr>
        <p:spPr bwMode="auto">
          <a:xfrm>
            <a:off x="696913" y="2209800"/>
            <a:ext cx="985837" cy="962025"/>
          </a:xfrm>
          <a:prstGeom prst="ellipse">
            <a:avLst/>
          </a:prstGeom>
          <a:solidFill>
            <a:srgbClr val="FFFFFF"/>
          </a:solidFill>
          <a:ln w="19050">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58" name="Text Box 5">
            <a:extLst>
              <a:ext uri="{FF2B5EF4-FFF2-40B4-BE49-F238E27FC236}">
                <a16:creationId xmlns:a16="http://schemas.microsoft.com/office/drawing/2014/main" id="{A0AAF79A-0C65-1D2B-735F-C8BF9C4ABA42}"/>
              </a:ext>
            </a:extLst>
          </p:cNvPr>
          <p:cNvSpPr txBox="1">
            <a:spLocks noChangeArrowheads="1"/>
          </p:cNvSpPr>
          <p:nvPr/>
        </p:nvSpPr>
        <p:spPr bwMode="auto">
          <a:xfrm>
            <a:off x="1004888" y="1490663"/>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sndpkt = make_pkt(data, checksum)</a:t>
            </a:r>
          </a:p>
          <a:p>
            <a:pPr eaLnBrk="1" hangingPunct="1">
              <a:spcBef>
                <a:spcPct val="0"/>
              </a:spcBef>
              <a:buFontTx/>
              <a:buNone/>
            </a:pPr>
            <a:r>
              <a:rPr lang="en-US" altLang="en-US" sz="1600"/>
              <a:t>udt_send(sndpkt)</a:t>
            </a:r>
            <a:endParaRPr lang="en-US" altLang="en-US" sz="1600">
              <a:latin typeface="Times New Roman" panose="02020603050405020304" pitchFamily="18" charset="0"/>
            </a:endParaRPr>
          </a:p>
        </p:txBody>
      </p:sp>
      <p:sp>
        <p:nvSpPr>
          <p:cNvPr id="19459" name="Line 6">
            <a:extLst>
              <a:ext uri="{FF2B5EF4-FFF2-40B4-BE49-F238E27FC236}">
                <a16:creationId xmlns:a16="http://schemas.microsoft.com/office/drawing/2014/main" id="{A73428B8-7AB4-07B1-631C-DD12E6D08BAC}"/>
              </a:ext>
            </a:extLst>
          </p:cNvPr>
          <p:cNvSpPr>
            <a:spLocks noChangeShapeType="1"/>
          </p:cNvSpPr>
          <p:nvPr/>
        </p:nvSpPr>
        <p:spPr bwMode="auto">
          <a:xfrm>
            <a:off x="1109663" y="1535113"/>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460" name="Text Box 7">
            <a:extLst>
              <a:ext uri="{FF2B5EF4-FFF2-40B4-BE49-F238E27FC236}">
                <a16:creationId xmlns:a16="http://schemas.microsoft.com/office/drawing/2014/main" id="{F209FC9F-00B1-82C8-1A0C-DB908BFCB2DE}"/>
              </a:ext>
            </a:extLst>
          </p:cNvPr>
          <p:cNvSpPr txBox="1">
            <a:spLocks noChangeArrowheads="1"/>
          </p:cNvSpPr>
          <p:nvPr/>
        </p:nvSpPr>
        <p:spPr bwMode="auto">
          <a:xfrm>
            <a:off x="6319838" y="5314950"/>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extract(rcvpkt,data)</a:t>
            </a:r>
          </a:p>
          <a:p>
            <a:pPr eaLnBrk="1" hangingPunct="1">
              <a:spcBef>
                <a:spcPct val="0"/>
              </a:spcBef>
              <a:buFontTx/>
              <a:buNone/>
            </a:pPr>
            <a:r>
              <a:rPr lang="en-US" altLang="en-US" sz="1600"/>
              <a:t>deliver_data(data)</a:t>
            </a:r>
          </a:p>
          <a:p>
            <a:pPr eaLnBrk="1" hangingPunct="1">
              <a:spcBef>
                <a:spcPct val="0"/>
              </a:spcBef>
              <a:buFontTx/>
              <a:buNone/>
            </a:pPr>
            <a:r>
              <a:rPr lang="en-US" altLang="en-US" sz="1600"/>
              <a:t>udt_send(ACK)</a:t>
            </a:r>
            <a:endParaRPr lang="en-US" altLang="en-US" sz="1600">
              <a:latin typeface="Times New Roman" panose="02020603050405020304" pitchFamily="18" charset="0"/>
            </a:endParaRPr>
          </a:p>
        </p:txBody>
      </p:sp>
      <p:sp>
        <p:nvSpPr>
          <p:cNvPr id="19461" name="Text Box 8">
            <a:extLst>
              <a:ext uri="{FF2B5EF4-FFF2-40B4-BE49-F238E27FC236}">
                <a16:creationId xmlns:a16="http://schemas.microsoft.com/office/drawing/2014/main" id="{E2FB92B6-D183-E526-BFED-A691FF12477F}"/>
              </a:ext>
            </a:extLst>
          </p:cNvPr>
          <p:cNvSpPr txBox="1">
            <a:spLocks noChangeArrowheads="1"/>
          </p:cNvSpPr>
          <p:nvPr/>
        </p:nvSpPr>
        <p:spPr bwMode="auto">
          <a:xfrm>
            <a:off x="6297613" y="4781550"/>
            <a:ext cx="21574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rdt_rcv(rcvpkt) &amp;&amp; </a:t>
            </a:r>
          </a:p>
          <a:p>
            <a:pPr eaLnBrk="1" hangingPunct="1">
              <a:spcBef>
                <a:spcPct val="0"/>
              </a:spcBef>
              <a:buFontTx/>
              <a:buNone/>
            </a:pPr>
            <a:r>
              <a:rPr lang="en-US" altLang="en-US" sz="1600"/>
              <a:t>   notcorrupt(rcvpkt)</a:t>
            </a:r>
            <a:endParaRPr lang="en-US" altLang="en-US" sz="1600">
              <a:latin typeface="Times New Roman" panose="02020603050405020304" pitchFamily="18" charset="0"/>
            </a:endParaRPr>
          </a:p>
        </p:txBody>
      </p:sp>
      <p:sp>
        <p:nvSpPr>
          <p:cNvPr id="19462" name="Line 9">
            <a:extLst>
              <a:ext uri="{FF2B5EF4-FFF2-40B4-BE49-F238E27FC236}">
                <a16:creationId xmlns:a16="http://schemas.microsoft.com/office/drawing/2014/main" id="{81E0C60F-2AE0-DF6F-23D1-08BF57405BCD}"/>
              </a:ext>
            </a:extLst>
          </p:cNvPr>
          <p:cNvSpPr>
            <a:spLocks noChangeShapeType="1"/>
          </p:cNvSpPr>
          <p:nvPr/>
        </p:nvSpPr>
        <p:spPr bwMode="auto">
          <a:xfrm>
            <a:off x="6419850" y="5370513"/>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463" name="Freeform 10">
            <a:extLst>
              <a:ext uri="{FF2B5EF4-FFF2-40B4-BE49-F238E27FC236}">
                <a16:creationId xmlns:a16="http://schemas.microsoft.com/office/drawing/2014/main" id="{1713572E-D34B-1A57-9BD4-26C7145156F4}"/>
              </a:ext>
            </a:extLst>
          </p:cNvPr>
          <p:cNvSpPr>
            <a:spLocks/>
          </p:cNvSpPr>
          <p:nvPr/>
        </p:nvSpPr>
        <p:spPr bwMode="auto">
          <a:xfrm flipV="1">
            <a:off x="1057275" y="1979613"/>
            <a:ext cx="1800225" cy="247650"/>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9464" name="Freeform 11">
            <a:extLst>
              <a:ext uri="{FF2B5EF4-FFF2-40B4-BE49-F238E27FC236}">
                <a16:creationId xmlns:a16="http://schemas.microsoft.com/office/drawing/2014/main" id="{0F0063FC-4AAA-C1E0-D581-86348800A0F7}"/>
              </a:ext>
            </a:extLst>
          </p:cNvPr>
          <p:cNvSpPr>
            <a:spLocks/>
          </p:cNvSpPr>
          <p:nvPr/>
        </p:nvSpPr>
        <p:spPr bwMode="auto">
          <a:xfrm>
            <a:off x="1104900" y="3140075"/>
            <a:ext cx="1800225" cy="247650"/>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9465" name="Text Box 12">
            <a:extLst>
              <a:ext uri="{FF2B5EF4-FFF2-40B4-BE49-F238E27FC236}">
                <a16:creationId xmlns:a16="http://schemas.microsoft.com/office/drawing/2014/main" id="{2BE32FD3-8DDA-BEA8-E7DD-502CF07D1ADF}"/>
              </a:ext>
            </a:extLst>
          </p:cNvPr>
          <p:cNvSpPr txBox="1">
            <a:spLocks noChangeArrowheads="1"/>
          </p:cNvSpPr>
          <p:nvPr/>
        </p:nvSpPr>
        <p:spPr bwMode="auto">
          <a:xfrm>
            <a:off x="1071563" y="3492500"/>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rdt_rcv(rcvpkt) &amp;&amp; isACK(rcvpkt)</a:t>
            </a:r>
            <a:endParaRPr lang="en-US" altLang="en-US" sz="1600">
              <a:latin typeface="Times New Roman" panose="02020603050405020304" pitchFamily="18" charset="0"/>
            </a:endParaRPr>
          </a:p>
        </p:txBody>
      </p:sp>
      <p:sp>
        <p:nvSpPr>
          <p:cNvPr id="19466" name="Line 13">
            <a:extLst>
              <a:ext uri="{FF2B5EF4-FFF2-40B4-BE49-F238E27FC236}">
                <a16:creationId xmlns:a16="http://schemas.microsoft.com/office/drawing/2014/main" id="{EAB600BB-5E6B-5B01-A630-B27A97E53DE4}"/>
              </a:ext>
            </a:extLst>
          </p:cNvPr>
          <p:cNvSpPr>
            <a:spLocks noChangeShapeType="1"/>
          </p:cNvSpPr>
          <p:nvPr/>
        </p:nvSpPr>
        <p:spPr bwMode="auto">
          <a:xfrm>
            <a:off x="1173163" y="3816350"/>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467" name="Freeform 14">
            <a:extLst>
              <a:ext uri="{FF2B5EF4-FFF2-40B4-BE49-F238E27FC236}">
                <a16:creationId xmlns:a16="http://schemas.microsoft.com/office/drawing/2014/main" id="{1B87FA1D-B9F8-6464-2813-4DCE7D4DB123}"/>
              </a:ext>
            </a:extLst>
          </p:cNvPr>
          <p:cNvSpPr>
            <a:spLocks/>
          </p:cNvSpPr>
          <p:nvPr/>
        </p:nvSpPr>
        <p:spPr bwMode="auto">
          <a:xfrm>
            <a:off x="3252788" y="2286000"/>
            <a:ext cx="466725" cy="893763"/>
          </a:xfrm>
          <a:custGeom>
            <a:avLst/>
            <a:gdLst>
              <a:gd name="T0" fmla="*/ 0 w 735"/>
              <a:gd name="T1" fmla="*/ 2147483646 h 1080"/>
              <a:gd name="T2" fmla="*/ 0 w 735"/>
              <a:gd name="T3" fmla="*/ 2147483646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9468" name="Text Box 15">
            <a:extLst>
              <a:ext uri="{FF2B5EF4-FFF2-40B4-BE49-F238E27FC236}">
                <a16:creationId xmlns:a16="http://schemas.microsoft.com/office/drawing/2014/main" id="{E63404C2-D689-F18B-D796-2DE0295E43FF}"/>
              </a:ext>
            </a:extLst>
          </p:cNvPr>
          <p:cNvSpPr txBox="1">
            <a:spLocks noChangeArrowheads="1"/>
          </p:cNvSpPr>
          <p:nvPr/>
        </p:nvSpPr>
        <p:spPr bwMode="auto">
          <a:xfrm>
            <a:off x="3562350" y="2600325"/>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udt_send(sndpkt)</a:t>
            </a:r>
            <a:endParaRPr lang="en-US" altLang="en-US" sz="1600">
              <a:latin typeface="Times New Roman" panose="02020603050405020304" pitchFamily="18" charset="0"/>
            </a:endParaRPr>
          </a:p>
        </p:txBody>
      </p:sp>
      <p:sp>
        <p:nvSpPr>
          <p:cNvPr id="19469" name="Text Box 16">
            <a:extLst>
              <a:ext uri="{FF2B5EF4-FFF2-40B4-BE49-F238E27FC236}">
                <a16:creationId xmlns:a16="http://schemas.microsoft.com/office/drawing/2014/main" id="{97CF7905-8F30-4B39-B126-713C1D365CCB}"/>
              </a:ext>
            </a:extLst>
          </p:cNvPr>
          <p:cNvSpPr txBox="1">
            <a:spLocks noChangeArrowheads="1"/>
          </p:cNvSpPr>
          <p:nvPr/>
        </p:nvSpPr>
        <p:spPr bwMode="auto">
          <a:xfrm>
            <a:off x="3536950" y="1925638"/>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rdt_rcv(rcvpkt) &amp;&amp;</a:t>
            </a:r>
          </a:p>
          <a:p>
            <a:pPr eaLnBrk="1" hangingPunct="1">
              <a:spcBef>
                <a:spcPct val="0"/>
              </a:spcBef>
              <a:buFontTx/>
              <a:buNone/>
            </a:pPr>
            <a:r>
              <a:rPr lang="en-US" altLang="en-US" sz="1600"/>
              <a:t>   isNAK(rcvpkt)</a:t>
            </a:r>
            <a:endParaRPr lang="en-US" altLang="en-US" sz="1600">
              <a:latin typeface="Times New Roman" panose="02020603050405020304" pitchFamily="18" charset="0"/>
            </a:endParaRPr>
          </a:p>
        </p:txBody>
      </p:sp>
      <p:sp>
        <p:nvSpPr>
          <p:cNvPr id="19470" name="Line 17">
            <a:extLst>
              <a:ext uri="{FF2B5EF4-FFF2-40B4-BE49-F238E27FC236}">
                <a16:creationId xmlns:a16="http://schemas.microsoft.com/office/drawing/2014/main" id="{DEC5DB39-D3D2-C777-AEA4-D8F44F2F790F}"/>
              </a:ext>
            </a:extLst>
          </p:cNvPr>
          <p:cNvSpPr>
            <a:spLocks noChangeShapeType="1"/>
          </p:cNvSpPr>
          <p:nvPr/>
        </p:nvSpPr>
        <p:spPr bwMode="auto">
          <a:xfrm>
            <a:off x="3656013" y="2600325"/>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nvGrpSpPr>
          <p:cNvPr id="19471" name="Group 18">
            <a:extLst>
              <a:ext uri="{FF2B5EF4-FFF2-40B4-BE49-F238E27FC236}">
                <a16:creationId xmlns:a16="http://schemas.microsoft.com/office/drawing/2014/main" id="{41BE4A10-E6CE-F11D-5D38-DFDD6486DEC3}"/>
              </a:ext>
            </a:extLst>
          </p:cNvPr>
          <p:cNvGrpSpPr>
            <a:grpSpLocks/>
          </p:cNvGrpSpPr>
          <p:nvPr/>
        </p:nvGrpSpPr>
        <p:grpSpPr bwMode="auto">
          <a:xfrm>
            <a:off x="6573838" y="2352675"/>
            <a:ext cx="1924050" cy="858838"/>
            <a:chOff x="2222" y="2660"/>
            <a:chExt cx="1212" cy="541"/>
          </a:xfrm>
        </p:grpSpPr>
        <p:sp>
          <p:nvSpPr>
            <p:cNvPr id="19487" name="Text Box 19">
              <a:extLst>
                <a:ext uri="{FF2B5EF4-FFF2-40B4-BE49-F238E27FC236}">
                  <a16:creationId xmlns:a16="http://schemas.microsoft.com/office/drawing/2014/main" id="{1B7FFE3B-F93B-6F38-651E-E5B9E9201B7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udt_send(NAK)</a:t>
              </a:r>
              <a:endParaRPr lang="en-US" altLang="en-US" sz="1600">
                <a:latin typeface="Times New Roman" panose="02020603050405020304" pitchFamily="18" charset="0"/>
              </a:endParaRPr>
            </a:p>
          </p:txBody>
        </p:sp>
        <p:sp>
          <p:nvSpPr>
            <p:cNvPr id="19488" name="Text Box 20">
              <a:extLst>
                <a:ext uri="{FF2B5EF4-FFF2-40B4-BE49-F238E27FC236}">
                  <a16:creationId xmlns:a16="http://schemas.microsoft.com/office/drawing/2014/main" id="{495A504D-4FB1-1E19-A740-1D3475A17836}"/>
                </a:ext>
              </a:extLst>
            </p:cNvPr>
            <p:cNvSpPr txBox="1">
              <a:spLocks noChangeArrowheads="1"/>
            </p:cNvSpPr>
            <p:nvPr/>
          </p:nvSpPr>
          <p:spPr bwMode="auto">
            <a:xfrm>
              <a:off x="2225" y="2660"/>
              <a:ext cx="120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rdt_rcv(rcvpkt) &amp;&amp; </a:t>
              </a:r>
            </a:p>
            <a:p>
              <a:pPr eaLnBrk="1" hangingPunct="1">
                <a:spcBef>
                  <a:spcPct val="0"/>
                </a:spcBef>
                <a:buFontTx/>
                <a:buNone/>
              </a:pPr>
              <a:r>
                <a:rPr lang="en-US" altLang="en-US" sz="1600"/>
                <a:t>  corrupt(rcvpkt)</a:t>
              </a:r>
              <a:endParaRPr lang="en-US" altLang="en-US" sz="1600">
                <a:latin typeface="Times New Roman" panose="02020603050405020304" pitchFamily="18" charset="0"/>
              </a:endParaRPr>
            </a:p>
          </p:txBody>
        </p:sp>
        <p:sp>
          <p:nvSpPr>
            <p:cNvPr id="19489" name="Line 21">
              <a:extLst>
                <a:ext uri="{FF2B5EF4-FFF2-40B4-BE49-F238E27FC236}">
                  <a16:creationId xmlns:a16="http://schemas.microsoft.com/office/drawing/2014/main" id="{B9E6403E-D89F-05F2-06D7-A5327B5CD4BB}"/>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19472" name="Group 22">
            <a:extLst>
              <a:ext uri="{FF2B5EF4-FFF2-40B4-BE49-F238E27FC236}">
                <a16:creationId xmlns:a16="http://schemas.microsoft.com/office/drawing/2014/main" id="{790786D0-665B-F600-817B-22DA3CEDC2E6}"/>
              </a:ext>
            </a:extLst>
          </p:cNvPr>
          <p:cNvGrpSpPr>
            <a:grpSpLocks/>
          </p:cNvGrpSpPr>
          <p:nvPr/>
        </p:nvGrpSpPr>
        <p:grpSpPr bwMode="auto">
          <a:xfrm>
            <a:off x="2332038" y="2222500"/>
            <a:ext cx="1249362" cy="962025"/>
            <a:chOff x="1565" y="2116"/>
            <a:chExt cx="787" cy="606"/>
          </a:xfrm>
        </p:grpSpPr>
        <p:sp>
          <p:nvSpPr>
            <p:cNvPr id="19485" name="Oval 23">
              <a:extLst>
                <a:ext uri="{FF2B5EF4-FFF2-40B4-BE49-F238E27FC236}">
                  <a16:creationId xmlns:a16="http://schemas.microsoft.com/office/drawing/2014/main" id="{6677B524-8D86-0748-0806-432EAE8738B6}"/>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86" name="Text Box 24">
              <a:extLst>
                <a:ext uri="{FF2B5EF4-FFF2-40B4-BE49-F238E27FC236}">
                  <a16:creationId xmlns:a16="http://schemas.microsoft.com/office/drawing/2014/main" id="{63182DA8-4BBF-BC44-CFF1-707280001A1F}"/>
                </a:ext>
              </a:extLst>
            </p:cNvPr>
            <p:cNvSpPr txBox="1">
              <a:spLocks noChangeArrowheads="1"/>
            </p:cNvSpPr>
            <p:nvPr/>
          </p:nvSpPr>
          <p:spPr bwMode="auto">
            <a:xfrm>
              <a:off x="1675" y="2204"/>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400"/>
                <a:t>Wait for ACK or NAK</a:t>
              </a:r>
              <a:endParaRPr lang="en-US" altLang="en-US" sz="1400">
                <a:latin typeface="Times New Roman" panose="02020603050405020304" pitchFamily="18" charset="0"/>
              </a:endParaRPr>
            </a:p>
          </p:txBody>
        </p:sp>
      </p:grpSp>
      <p:sp>
        <p:nvSpPr>
          <p:cNvPr id="19473" name="Line 25">
            <a:extLst>
              <a:ext uri="{FF2B5EF4-FFF2-40B4-BE49-F238E27FC236}">
                <a16:creationId xmlns:a16="http://schemas.microsoft.com/office/drawing/2014/main" id="{4CBBA394-DEE3-51F0-F336-E2C676D14E29}"/>
              </a:ext>
            </a:extLst>
          </p:cNvPr>
          <p:cNvSpPr>
            <a:spLocks noChangeShapeType="1"/>
          </p:cNvSpPr>
          <p:nvPr/>
        </p:nvSpPr>
        <p:spPr bwMode="auto">
          <a:xfrm>
            <a:off x="6334125" y="3497263"/>
            <a:ext cx="433388" cy="2444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9474" name="Freeform 26">
            <a:extLst>
              <a:ext uri="{FF2B5EF4-FFF2-40B4-BE49-F238E27FC236}">
                <a16:creationId xmlns:a16="http://schemas.microsoft.com/office/drawing/2014/main" id="{D1211E12-E64B-C8CF-A7D5-C5029318F7FE}"/>
              </a:ext>
            </a:extLst>
          </p:cNvPr>
          <p:cNvSpPr>
            <a:spLocks/>
          </p:cNvSpPr>
          <p:nvPr/>
        </p:nvSpPr>
        <p:spPr bwMode="auto">
          <a:xfrm>
            <a:off x="6672263" y="3148013"/>
            <a:ext cx="1257300" cy="469900"/>
          </a:xfrm>
          <a:custGeom>
            <a:avLst/>
            <a:gdLst>
              <a:gd name="T0" fmla="*/ 2147483646 w 1500"/>
              <a:gd name="T1" fmla="*/ 2147483646 h 740"/>
              <a:gd name="T2" fmla="*/ 2147483646 w 1500"/>
              <a:gd name="T3" fmla="*/ 2147483646 h 740"/>
              <a:gd name="T4" fmla="*/ 0 60000 65536"/>
              <a:gd name="T5" fmla="*/ 0 60000 65536"/>
              <a:gd name="T6" fmla="*/ 0 w 1500"/>
              <a:gd name="T7" fmla="*/ 0 h 740"/>
              <a:gd name="T8" fmla="*/ 1500 w 1500"/>
              <a:gd name="T9" fmla="*/ 740 h 740"/>
            </a:gdLst>
            <a:ahLst/>
            <a:cxnLst>
              <a:cxn ang="T4">
                <a:pos x="T0" y="T1"/>
              </a:cxn>
              <a:cxn ang="T5">
                <a:pos x="T2" y="T3"/>
              </a:cxn>
            </a:cxnLst>
            <a:rect l="T6" t="T7" r="T8" b="T9"/>
            <a:pathLst>
              <a:path w="1500" h="740">
                <a:moveTo>
                  <a:pt x="361" y="671"/>
                </a:moveTo>
                <a:cubicBezTo>
                  <a:pt x="0" y="0"/>
                  <a:pt x="1500" y="90"/>
                  <a:pt x="1017" y="74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19475" name="Group 27">
            <a:extLst>
              <a:ext uri="{FF2B5EF4-FFF2-40B4-BE49-F238E27FC236}">
                <a16:creationId xmlns:a16="http://schemas.microsoft.com/office/drawing/2014/main" id="{C642833F-B357-B39D-99F7-0BE7B1890D3B}"/>
              </a:ext>
            </a:extLst>
          </p:cNvPr>
          <p:cNvGrpSpPr>
            <a:grpSpLocks/>
          </p:cNvGrpSpPr>
          <p:nvPr/>
        </p:nvGrpSpPr>
        <p:grpSpPr bwMode="auto">
          <a:xfrm>
            <a:off x="6792913" y="3568700"/>
            <a:ext cx="1284287" cy="962025"/>
            <a:chOff x="1390" y="3347"/>
            <a:chExt cx="809" cy="606"/>
          </a:xfrm>
        </p:grpSpPr>
        <p:sp>
          <p:nvSpPr>
            <p:cNvPr id="19483" name="Oval 28">
              <a:extLst>
                <a:ext uri="{FF2B5EF4-FFF2-40B4-BE49-F238E27FC236}">
                  <a16:creationId xmlns:a16="http://schemas.microsoft.com/office/drawing/2014/main" id="{A799EC45-D579-F788-6F00-43A3427334D1}"/>
                </a:ext>
              </a:extLst>
            </p:cNvPr>
            <p:cNvSpPr>
              <a:spLocks noChangeArrowheads="1"/>
            </p:cNvSpPr>
            <p:nvPr/>
          </p:nvSpPr>
          <p:spPr bwMode="auto">
            <a:xfrm>
              <a:off x="1390" y="3347"/>
              <a:ext cx="621" cy="606"/>
            </a:xfrm>
            <a:prstGeom prst="ellipse">
              <a:avLst/>
            </a:prstGeom>
            <a:solidFill>
              <a:srgbClr val="FFFFFF"/>
            </a:solidFill>
            <a:ln w="19050">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484" name="Text Box 29">
              <a:extLst>
                <a:ext uri="{FF2B5EF4-FFF2-40B4-BE49-F238E27FC236}">
                  <a16:creationId xmlns:a16="http://schemas.microsoft.com/office/drawing/2014/main" id="{ED459E58-D95A-C879-4BAE-AFF1AB99655A}"/>
                </a:ext>
              </a:extLst>
            </p:cNvPr>
            <p:cNvSpPr txBox="1">
              <a:spLocks noChangeArrowheads="1"/>
            </p:cNvSpPr>
            <p:nvPr/>
          </p:nvSpPr>
          <p:spPr bwMode="auto">
            <a:xfrm>
              <a:off x="1443" y="3400"/>
              <a:ext cx="7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Wait for call from below</a:t>
              </a:r>
              <a:endParaRPr lang="en-US" altLang="en-US" sz="1600">
                <a:latin typeface="Times New Roman" panose="02020603050405020304" pitchFamily="18" charset="0"/>
              </a:endParaRPr>
            </a:p>
          </p:txBody>
        </p:sp>
      </p:grpSp>
      <p:sp>
        <p:nvSpPr>
          <p:cNvPr id="19476" name="Freeform 30">
            <a:extLst>
              <a:ext uri="{FF2B5EF4-FFF2-40B4-BE49-F238E27FC236}">
                <a16:creationId xmlns:a16="http://schemas.microsoft.com/office/drawing/2014/main" id="{97DF4F22-89B5-D305-46FC-50048A58B9D6}"/>
              </a:ext>
            </a:extLst>
          </p:cNvPr>
          <p:cNvSpPr>
            <a:spLocks/>
          </p:cNvSpPr>
          <p:nvPr/>
        </p:nvSpPr>
        <p:spPr bwMode="auto">
          <a:xfrm flipV="1">
            <a:off x="6684963" y="4464050"/>
            <a:ext cx="1257300" cy="469900"/>
          </a:xfrm>
          <a:custGeom>
            <a:avLst/>
            <a:gdLst>
              <a:gd name="T0" fmla="*/ 2147483646 w 1500"/>
              <a:gd name="T1" fmla="*/ 2147483646 h 740"/>
              <a:gd name="T2" fmla="*/ 2147483646 w 1500"/>
              <a:gd name="T3" fmla="*/ 2147483646 h 740"/>
              <a:gd name="T4" fmla="*/ 0 60000 65536"/>
              <a:gd name="T5" fmla="*/ 0 60000 65536"/>
              <a:gd name="T6" fmla="*/ 0 w 1500"/>
              <a:gd name="T7" fmla="*/ 0 h 740"/>
              <a:gd name="T8" fmla="*/ 1500 w 1500"/>
              <a:gd name="T9" fmla="*/ 740 h 740"/>
            </a:gdLst>
            <a:ahLst/>
            <a:cxnLst>
              <a:cxn ang="T4">
                <a:pos x="T0" y="T1"/>
              </a:cxn>
              <a:cxn ang="T5">
                <a:pos x="T2" y="T3"/>
              </a:cxn>
            </a:cxnLst>
            <a:rect l="T6" t="T7" r="T8" b="T9"/>
            <a:pathLst>
              <a:path w="1500" h="740">
                <a:moveTo>
                  <a:pt x="361" y="671"/>
                </a:moveTo>
                <a:cubicBezTo>
                  <a:pt x="0" y="0"/>
                  <a:pt x="1500" y="90"/>
                  <a:pt x="1017" y="74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9477" name="Text Box 31">
            <a:extLst>
              <a:ext uri="{FF2B5EF4-FFF2-40B4-BE49-F238E27FC236}">
                <a16:creationId xmlns:a16="http://schemas.microsoft.com/office/drawing/2014/main" id="{0158713B-3E2F-ED54-66C4-CADB064BBBC1}"/>
              </a:ext>
            </a:extLst>
          </p:cNvPr>
          <p:cNvSpPr txBox="1">
            <a:spLocks noChangeArrowheads="1"/>
          </p:cNvSpPr>
          <p:nvPr/>
        </p:nvSpPr>
        <p:spPr bwMode="auto">
          <a:xfrm>
            <a:off x="896938" y="4267200"/>
            <a:ext cx="1089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a:solidFill>
                  <a:srgbClr val="CC0000"/>
                </a:solidFill>
                <a:latin typeface="Tahoma" panose="020B0604030504040204" pitchFamily="34" charset="0"/>
              </a:rPr>
              <a:t>sender</a:t>
            </a:r>
          </a:p>
        </p:txBody>
      </p:sp>
      <p:sp>
        <p:nvSpPr>
          <p:cNvPr id="19478" name="Text Box 32">
            <a:extLst>
              <a:ext uri="{FF2B5EF4-FFF2-40B4-BE49-F238E27FC236}">
                <a16:creationId xmlns:a16="http://schemas.microsoft.com/office/drawing/2014/main" id="{1E2DD0A3-CC8B-9BB5-D786-6C0E10A98777}"/>
              </a:ext>
            </a:extLst>
          </p:cNvPr>
          <p:cNvSpPr txBox="1">
            <a:spLocks noChangeArrowheads="1"/>
          </p:cNvSpPr>
          <p:nvPr/>
        </p:nvSpPr>
        <p:spPr bwMode="auto">
          <a:xfrm>
            <a:off x="6972300" y="1466850"/>
            <a:ext cx="1247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a:solidFill>
                  <a:srgbClr val="CC0000"/>
                </a:solidFill>
                <a:latin typeface="Tahoma" panose="020B0604030504040204" pitchFamily="34" charset="0"/>
              </a:rPr>
              <a:t>receiver</a:t>
            </a:r>
          </a:p>
        </p:txBody>
      </p:sp>
      <p:sp>
        <p:nvSpPr>
          <p:cNvPr id="19479" name="Line 33">
            <a:extLst>
              <a:ext uri="{FF2B5EF4-FFF2-40B4-BE49-F238E27FC236}">
                <a16:creationId xmlns:a16="http://schemas.microsoft.com/office/drawing/2014/main" id="{B02A2CAB-91FE-644A-F389-E0270CB25FC3}"/>
              </a:ext>
            </a:extLst>
          </p:cNvPr>
          <p:cNvSpPr>
            <a:spLocks noChangeShapeType="1"/>
          </p:cNvSpPr>
          <p:nvPr/>
        </p:nvSpPr>
        <p:spPr bwMode="auto">
          <a:xfrm>
            <a:off x="349250" y="2166938"/>
            <a:ext cx="433388" cy="2444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19480" name="Text Box 34">
            <a:extLst>
              <a:ext uri="{FF2B5EF4-FFF2-40B4-BE49-F238E27FC236}">
                <a16:creationId xmlns:a16="http://schemas.microsoft.com/office/drawing/2014/main" id="{3D3C21DF-DBC4-7C73-9D51-E458A16510E9}"/>
              </a:ext>
            </a:extLst>
          </p:cNvPr>
          <p:cNvSpPr txBox="1">
            <a:spLocks noChangeArrowheads="1"/>
          </p:cNvSpPr>
          <p:nvPr/>
        </p:nvSpPr>
        <p:spPr bwMode="auto">
          <a:xfrm>
            <a:off x="1031875" y="1212850"/>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rdt_send(data)</a:t>
            </a:r>
            <a:endParaRPr lang="en-US" altLang="en-US" sz="1600">
              <a:latin typeface="Times New Roman" panose="02020603050405020304" pitchFamily="18" charset="0"/>
            </a:endParaRPr>
          </a:p>
        </p:txBody>
      </p:sp>
      <p:sp>
        <p:nvSpPr>
          <p:cNvPr id="19481" name="Text Box 35">
            <a:extLst>
              <a:ext uri="{FF2B5EF4-FFF2-40B4-BE49-F238E27FC236}">
                <a16:creationId xmlns:a16="http://schemas.microsoft.com/office/drawing/2014/main" id="{77F191B2-DD9C-3403-3D55-79CFEC120924}"/>
              </a:ext>
            </a:extLst>
          </p:cNvPr>
          <p:cNvSpPr txBox="1">
            <a:spLocks noChangeArrowheads="1"/>
          </p:cNvSpPr>
          <p:nvPr/>
        </p:nvSpPr>
        <p:spPr bwMode="auto">
          <a:xfrm>
            <a:off x="1462088" y="3786188"/>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latin typeface="Symbol" panose="05050102010706020507" pitchFamily="18" charset="2"/>
              </a:rPr>
              <a:t>L</a:t>
            </a:r>
          </a:p>
        </p:txBody>
      </p:sp>
      <p:sp>
        <p:nvSpPr>
          <p:cNvPr id="19482" name="Text Box 4">
            <a:extLst>
              <a:ext uri="{FF2B5EF4-FFF2-40B4-BE49-F238E27FC236}">
                <a16:creationId xmlns:a16="http://schemas.microsoft.com/office/drawing/2014/main" id="{1D28996F-3E59-3A2B-FBD7-1D15440AB768}"/>
              </a:ext>
            </a:extLst>
          </p:cNvPr>
          <p:cNvSpPr txBox="1">
            <a:spLocks noChangeArrowheads="1"/>
          </p:cNvSpPr>
          <p:nvPr/>
        </p:nvSpPr>
        <p:spPr bwMode="auto">
          <a:xfrm>
            <a:off x="781050" y="229393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a:t>Wait for call from above</a:t>
            </a:r>
            <a:endParaRPr lang="en-US" altLang="en-US" sz="1600">
              <a:latin typeface="Times New Roman" panose="02020603050405020304" pitchFamily="18" charset="0"/>
            </a:endParaRPr>
          </a:p>
        </p:txBody>
      </p:sp>
      <p:sp>
        <p:nvSpPr>
          <p:cNvPr id="2" name="Slide Number Placeholder 1">
            <a:extLst>
              <a:ext uri="{FF2B5EF4-FFF2-40B4-BE49-F238E27FC236}">
                <a16:creationId xmlns:a16="http://schemas.microsoft.com/office/drawing/2014/main" id="{058F4ACB-3AE9-1BF2-6048-62C3256F9EBA}"/>
              </a:ext>
            </a:extLst>
          </p:cNvPr>
          <p:cNvSpPr>
            <a:spLocks noGrp="1"/>
          </p:cNvSpPr>
          <p:nvPr>
            <p:ph type="sldNum" sz="quarter" idx="12"/>
          </p:nvPr>
        </p:nvSpPr>
        <p:spPr/>
        <p:txBody>
          <a:bodyPr/>
          <a:lstStyle/>
          <a:p>
            <a:fld id="{8F2B19E1-DC2B-41DB-9288-FDB54A98A349}" type="slidenum">
              <a:rPr lang="en-US" altLang="en-US" smtClean="0"/>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re 1">
            <a:extLst>
              <a:ext uri="{FF2B5EF4-FFF2-40B4-BE49-F238E27FC236}">
                <a16:creationId xmlns:a16="http://schemas.microsoft.com/office/drawing/2014/main" id="{9978B912-E6BD-ACDA-D5ED-BE897711A69B}"/>
              </a:ext>
            </a:extLst>
          </p:cNvPr>
          <p:cNvSpPr>
            <a:spLocks noGrp="1" noChangeArrowheads="1"/>
          </p:cNvSpPr>
          <p:nvPr>
            <p:ph type="title"/>
          </p:nvPr>
        </p:nvSpPr>
        <p:spPr/>
        <p:txBody>
          <a:bodyPr/>
          <a:lstStyle/>
          <a:p>
            <a:r>
              <a:rPr lang="fr-FR" altLang="en-US"/>
              <a:t>Why back to CNet?</a:t>
            </a:r>
          </a:p>
        </p:txBody>
      </p:sp>
      <p:sp>
        <p:nvSpPr>
          <p:cNvPr id="20482" name="Espace réservé du contenu 2">
            <a:extLst>
              <a:ext uri="{FF2B5EF4-FFF2-40B4-BE49-F238E27FC236}">
                <a16:creationId xmlns:a16="http://schemas.microsoft.com/office/drawing/2014/main" id="{9DC05C51-4E7A-F549-D580-0BB1603BF25C}"/>
              </a:ext>
            </a:extLst>
          </p:cNvPr>
          <p:cNvSpPr>
            <a:spLocks noGrp="1" noChangeArrowheads="1"/>
          </p:cNvSpPr>
          <p:nvPr>
            <p:ph idx="1"/>
          </p:nvPr>
        </p:nvSpPr>
        <p:spPr/>
        <p:txBody>
          <a:bodyPr/>
          <a:lstStyle/>
          <a:p>
            <a:r>
              <a:rPr lang="fr-FR" altLang="en-US"/>
              <a:t>Is there any relation between state machines and the blockchain? </a:t>
            </a:r>
          </a:p>
          <a:p>
            <a:endParaRPr lang="fr-FR" altLang="en-US"/>
          </a:p>
          <a:p>
            <a:r>
              <a:rPr lang="fr-FR" altLang="en-US"/>
              <a:t>Alternatively, can we model the Blockchain using a state machine?</a:t>
            </a:r>
          </a:p>
        </p:txBody>
      </p:sp>
      <p:sp>
        <p:nvSpPr>
          <p:cNvPr id="2" name="Slide Number Placeholder 1">
            <a:extLst>
              <a:ext uri="{FF2B5EF4-FFF2-40B4-BE49-F238E27FC236}">
                <a16:creationId xmlns:a16="http://schemas.microsoft.com/office/drawing/2014/main" id="{16BD6662-072C-CD2D-E269-1BFF6D96D595}"/>
              </a:ext>
            </a:extLst>
          </p:cNvPr>
          <p:cNvSpPr>
            <a:spLocks noGrp="1"/>
          </p:cNvSpPr>
          <p:nvPr>
            <p:ph type="sldNum" sz="quarter" idx="12"/>
          </p:nvPr>
        </p:nvSpPr>
        <p:spPr/>
        <p:txBody>
          <a:bodyPr/>
          <a:lstStyle/>
          <a:p>
            <a:fld id="{F9104BDA-D44F-4B11-86E7-6A4BB78558E2}" type="slidenum">
              <a:rPr lang="en-US" altLang="en-US" smtClean="0"/>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re 1">
            <a:extLst>
              <a:ext uri="{FF2B5EF4-FFF2-40B4-BE49-F238E27FC236}">
                <a16:creationId xmlns:a16="http://schemas.microsoft.com/office/drawing/2014/main" id="{E5D0031D-FBF2-2516-1AED-8E8896EF7CF4}"/>
              </a:ext>
            </a:extLst>
          </p:cNvPr>
          <p:cNvSpPr>
            <a:spLocks noGrp="1" noChangeArrowheads="1"/>
          </p:cNvSpPr>
          <p:nvPr>
            <p:ph type="title"/>
          </p:nvPr>
        </p:nvSpPr>
        <p:spPr/>
        <p:txBody>
          <a:bodyPr/>
          <a:lstStyle/>
          <a:p>
            <a:r>
              <a:rPr lang="fr-FR" altLang="en-US"/>
              <a:t>What is Blockchain?</a:t>
            </a:r>
          </a:p>
        </p:txBody>
      </p:sp>
      <p:sp>
        <p:nvSpPr>
          <p:cNvPr id="21506" name="Espace réservé du contenu 2">
            <a:extLst>
              <a:ext uri="{FF2B5EF4-FFF2-40B4-BE49-F238E27FC236}">
                <a16:creationId xmlns:a16="http://schemas.microsoft.com/office/drawing/2014/main" id="{14374AAD-F877-E1E8-0F7B-932E1BBCFC6F}"/>
              </a:ext>
            </a:extLst>
          </p:cNvPr>
          <p:cNvSpPr>
            <a:spLocks noGrp="1" noChangeArrowheads="1"/>
          </p:cNvSpPr>
          <p:nvPr>
            <p:ph idx="1"/>
          </p:nvPr>
        </p:nvSpPr>
        <p:spPr/>
        <p:txBody>
          <a:bodyPr/>
          <a:lstStyle/>
          <a:p>
            <a:r>
              <a:rPr lang="fr-FR" altLang="en-US"/>
              <a:t>A transactional decentralized state machine </a:t>
            </a:r>
          </a:p>
        </p:txBody>
      </p:sp>
      <p:pic>
        <p:nvPicPr>
          <p:cNvPr id="21507" name="Image 3" descr="1*jZ-VRXBJtOnePofB0z2Q8A.png">
            <a:extLst>
              <a:ext uri="{FF2B5EF4-FFF2-40B4-BE49-F238E27FC236}">
                <a16:creationId xmlns:a16="http://schemas.microsoft.com/office/drawing/2014/main" id="{63D69E5B-3782-54F6-AD21-C35DD9662E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3352800"/>
            <a:ext cx="9144000"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F0FFA8B9-DE5B-D016-23D6-D2BF6AA0FFD4}"/>
              </a:ext>
            </a:extLst>
          </p:cNvPr>
          <p:cNvSpPr>
            <a:spLocks noGrp="1"/>
          </p:cNvSpPr>
          <p:nvPr>
            <p:ph type="sldNum" sz="quarter" idx="12"/>
          </p:nvPr>
        </p:nvSpPr>
        <p:spPr/>
        <p:txBody>
          <a:bodyPr/>
          <a:lstStyle/>
          <a:p>
            <a:fld id="{F9104BDA-D44F-4B11-86E7-6A4BB78558E2}" type="slidenum">
              <a:rPr lang="en-US" altLang="en-US" smtClean="0"/>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re 1">
            <a:extLst>
              <a:ext uri="{FF2B5EF4-FFF2-40B4-BE49-F238E27FC236}">
                <a16:creationId xmlns:a16="http://schemas.microsoft.com/office/drawing/2014/main" id="{D002459F-BCF6-1515-1C08-F3DBC3B53B3B}"/>
              </a:ext>
            </a:extLst>
          </p:cNvPr>
          <p:cNvSpPr>
            <a:spLocks noGrp="1" noChangeArrowheads="1"/>
          </p:cNvSpPr>
          <p:nvPr>
            <p:ph type="title"/>
          </p:nvPr>
        </p:nvSpPr>
        <p:spPr/>
        <p:txBody>
          <a:bodyPr/>
          <a:lstStyle/>
          <a:p>
            <a:r>
              <a:rPr lang="fr-FR" altLang="en-US"/>
              <a:t>What is Blockchain?</a:t>
            </a:r>
          </a:p>
        </p:txBody>
      </p:sp>
      <p:sp>
        <p:nvSpPr>
          <p:cNvPr id="23554" name="Espace réservé du contenu 2">
            <a:extLst>
              <a:ext uri="{FF2B5EF4-FFF2-40B4-BE49-F238E27FC236}">
                <a16:creationId xmlns:a16="http://schemas.microsoft.com/office/drawing/2014/main" id="{3D8F6389-E081-8C43-92E5-F7A32048BD1B}"/>
              </a:ext>
            </a:extLst>
          </p:cNvPr>
          <p:cNvSpPr>
            <a:spLocks noGrp="1" noChangeArrowheads="1"/>
          </p:cNvSpPr>
          <p:nvPr>
            <p:ph idx="1"/>
          </p:nvPr>
        </p:nvSpPr>
        <p:spPr/>
        <p:txBody>
          <a:bodyPr/>
          <a:lstStyle/>
          <a:p>
            <a:r>
              <a:rPr lang="fr-FR" altLang="en-US"/>
              <a:t>A transactional decentralized state machine </a:t>
            </a:r>
          </a:p>
        </p:txBody>
      </p:sp>
      <p:pic>
        <p:nvPicPr>
          <p:cNvPr id="23555" name="Image 4" descr="1*l_H58_pGm3XGwGoQlO9FVQ.png">
            <a:extLst>
              <a:ext uri="{FF2B5EF4-FFF2-40B4-BE49-F238E27FC236}">
                <a16:creationId xmlns:a16="http://schemas.microsoft.com/office/drawing/2014/main" id="{4FD826A8-3E84-A56C-FBB9-571D299F83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3124200"/>
            <a:ext cx="9144000" cy="291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7853EBA-5B6C-52A1-AC81-D425F8A088FB}"/>
              </a:ext>
            </a:extLst>
          </p:cNvPr>
          <p:cNvSpPr>
            <a:spLocks noGrp="1"/>
          </p:cNvSpPr>
          <p:nvPr>
            <p:ph type="sldNum" sz="quarter" idx="12"/>
          </p:nvPr>
        </p:nvSpPr>
        <p:spPr/>
        <p:txBody>
          <a:bodyPr/>
          <a:lstStyle/>
          <a:p>
            <a:fld id="{F9104BDA-D44F-4B11-86E7-6A4BB78558E2}" type="slidenum">
              <a:rPr lang="en-US" altLang="en-US" smtClean="0"/>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re 1">
            <a:extLst>
              <a:ext uri="{FF2B5EF4-FFF2-40B4-BE49-F238E27FC236}">
                <a16:creationId xmlns:a16="http://schemas.microsoft.com/office/drawing/2014/main" id="{E2778F7B-5125-5240-ABDF-69D046C860EA}"/>
              </a:ext>
            </a:extLst>
          </p:cNvPr>
          <p:cNvSpPr>
            <a:spLocks noGrp="1" noChangeArrowheads="1"/>
          </p:cNvSpPr>
          <p:nvPr>
            <p:ph type="title"/>
          </p:nvPr>
        </p:nvSpPr>
        <p:spPr/>
        <p:txBody>
          <a:bodyPr/>
          <a:lstStyle/>
          <a:p>
            <a:r>
              <a:rPr lang="fr-FR" altLang="en-US"/>
              <a:t>What about bitcoin blockchain?</a:t>
            </a:r>
          </a:p>
        </p:txBody>
      </p:sp>
      <p:sp>
        <p:nvSpPr>
          <p:cNvPr id="25602" name="Espace réservé du contenu 2">
            <a:extLst>
              <a:ext uri="{FF2B5EF4-FFF2-40B4-BE49-F238E27FC236}">
                <a16:creationId xmlns:a16="http://schemas.microsoft.com/office/drawing/2014/main" id="{320A2D56-A4E4-6F12-8F69-006CD5E3F436}"/>
              </a:ext>
            </a:extLst>
          </p:cNvPr>
          <p:cNvSpPr>
            <a:spLocks noGrp="1" noChangeArrowheads="1"/>
          </p:cNvSpPr>
          <p:nvPr>
            <p:ph idx="1"/>
          </p:nvPr>
        </p:nvSpPr>
        <p:spPr/>
        <p:txBody>
          <a:bodyPr/>
          <a:lstStyle/>
          <a:p>
            <a:r>
              <a:rPr lang="fr-FR" altLang="en-US" sz="2800"/>
              <a:t>A transactional decentralized state machine for ownership of bitcoins </a:t>
            </a:r>
          </a:p>
        </p:txBody>
      </p:sp>
      <p:pic>
        <p:nvPicPr>
          <p:cNvPr id="25603" name="Picture 6">
            <a:extLst>
              <a:ext uri="{FF2B5EF4-FFF2-40B4-BE49-F238E27FC236}">
                <a16:creationId xmlns:a16="http://schemas.microsoft.com/office/drawing/2014/main" id="{FD41A923-D7AC-CCBA-60BB-32D0538A64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3" y="3228975"/>
            <a:ext cx="9094787"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9399F524-A98C-F685-F50C-DE5342C44C72}"/>
              </a:ext>
            </a:extLst>
          </p:cNvPr>
          <p:cNvSpPr>
            <a:spLocks noGrp="1"/>
          </p:cNvSpPr>
          <p:nvPr>
            <p:ph type="sldNum" sz="quarter" idx="12"/>
          </p:nvPr>
        </p:nvSpPr>
        <p:spPr/>
        <p:txBody>
          <a:bodyPr/>
          <a:lstStyle/>
          <a:p>
            <a:fld id="{F9104BDA-D44F-4B11-86E7-6A4BB78558E2}" type="slidenum">
              <a:rPr lang="en-US" altLang="en-US" smtClean="0"/>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re 1">
            <a:extLst>
              <a:ext uri="{FF2B5EF4-FFF2-40B4-BE49-F238E27FC236}">
                <a16:creationId xmlns:a16="http://schemas.microsoft.com/office/drawing/2014/main" id="{77649959-1102-8CC7-6F80-84CDEB4BA8E2}"/>
              </a:ext>
            </a:extLst>
          </p:cNvPr>
          <p:cNvSpPr>
            <a:spLocks noGrp="1" noChangeArrowheads="1"/>
          </p:cNvSpPr>
          <p:nvPr>
            <p:ph type="title"/>
          </p:nvPr>
        </p:nvSpPr>
        <p:spPr/>
        <p:txBody>
          <a:bodyPr/>
          <a:lstStyle/>
          <a:p>
            <a:r>
              <a:rPr lang="fr-FR" altLang="en-US" sz="3200"/>
              <a:t>What about bitcoin</a:t>
            </a:r>
            <a:r>
              <a:rPr lang="fr-FR" altLang="fr-FR" sz="3200"/>
              <a:t>’</a:t>
            </a:r>
            <a:r>
              <a:rPr lang="fr-FR" altLang="en-US" sz="3200"/>
              <a:t>s blockchain?</a:t>
            </a:r>
          </a:p>
        </p:txBody>
      </p:sp>
      <p:sp>
        <p:nvSpPr>
          <p:cNvPr id="27650" name="Espace réservé du contenu 2">
            <a:extLst>
              <a:ext uri="{FF2B5EF4-FFF2-40B4-BE49-F238E27FC236}">
                <a16:creationId xmlns:a16="http://schemas.microsoft.com/office/drawing/2014/main" id="{C945E832-4F7A-7AD5-5591-F23A4716E805}"/>
              </a:ext>
            </a:extLst>
          </p:cNvPr>
          <p:cNvSpPr>
            <a:spLocks noGrp="1" noChangeArrowheads="1"/>
          </p:cNvSpPr>
          <p:nvPr>
            <p:ph idx="1"/>
          </p:nvPr>
        </p:nvSpPr>
        <p:spPr/>
        <p:txBody>
          <a:bodyPr/>
          <a:lstStyle/>
          <a:p>
            <a:r>
              <a:rPr lang="fr-FR" altLang="en-US" sz="2400"/>
              <a:t>The Bitcoin</a:t>
            </a:r>
            <a:r>
              <a:rPr lang="fr-FR" altLang="fr-FR" sz="2400"/>
              <a:t>’</a:t>
            </a:r>
            <a:r>
              <a:rPr lang="fr-FR" altLang="en-US" sz="2400"/>
              <a:t>s blockchain, tracks the state of units of bitcoin and their ownership. </a:t>
            </a:r>
          </a:p>
          <a:p>
            <a:endParaRPr lang="fr-FR" altLang="en-US" sz="2400"/>
          </a:p>
          <a:p>
            <a:r>
              <a:rPr lang="fr-FR" altLang="en-US" sz="2400"/>
              <a:t>You can think of Bitcoin as a distributed </a:t>
            </a:r>
            <a:r>
              <a:rPr lang="fr-FR" altLang="en-US" sz="2400" i="1"/>
              <a:t>state machine</a:t>
            </a:r>
            <a:r>
              <a:rPr lang="fr-FR" altLang="en-US" sz="2400"/>
              <a:t>, where transactions cause a global </a:t>
            </a:r>
            <a:r>
              <a:rPr lang="fr-FR" altLang="en-US" sz="2400" i="1"/>
              <a:t>state transition</a:t>
            </a:r>
            <a:r>
              <a:rPr lang="fr-FR" altLang="en-US" sz="2400"/>
              <a:t>, altering the ownership of coins. </a:t>
            </a:r>
          </a:p>
          <a:p>
            <a:endParaRPr lang="fr-FR" altLang="en-US" sz="2400"/>
          </a:p>
          <a:p>
            <a:endParaRPr lang="fr-FR" altLang="en-US" sz="2400"/>
          </a:p>
          <a:p>
            <a:endParaRPr lang="fr-FR" altLang="en-US" sz="2400"/>
          </a:p>
        </p:txBody>
      </p:sp>
      <p:sp>
        <p:nvSpPr>
          <p:cNvPr id="2" name="Slide Number Placeholder 1">
            <a:extLst>
              <a:ext uri="{FF2B5EF4-FFF2-40B4-BE49-F238E27FC236}">
                <a16:creationId xmlns:a16="http://schemas.microsoft.com/office/drawing/2014/main" id="{989F3337-537A-5958-1806-233A8591F44C}"/>
              </a:ext>
            </a:extLst>
          </p:cNvPr>
          <p:cNvSpPr>
            <a:spLocks noGrp="1"/>
          </p:cNvSpPr>
          <p:nvPr>
            <p:ph type="sldNum" sz="quarter" idx="12"/>
          </p:nvPr>
        </p:nvSpPr>
        <p:spPr/>
        <p:txBody>
          <a:bodyPr/>
          <a:lstStyle/>
          <a:p>
            <a:fld id="{F9104BDA-D44F-4B11-86E7-6A4BB78558E2}" type="slidenum">
              <a:rPr lang="en-US" altLang="en-US" smtClean="0"/>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re 1">
            <a:extLst>
              <a:ext uri="{FF2B5EF4-FFF2-40B4-BE49-F238E27FC236}">
                <a16:creationId xmlns:a16="http://schemas.microsoft.com/office/drawing/2014/main" id="{1C29B55D-B390-B12F-A399-903E2AED1D1D}"/>
              </a:ext>
            </a:extLst>
          </p:cNvPr>
          <p:cNvSpPr>
            <a:spLocks noGrp="1" noChangeArrowheads="1"/>
          </p:cNvSpPr>
          <p:nvPr>
            <p:ph type="title"/>
          </p:nvPr>
        </p:nvSpPr>
        <p:spPr/>
        <p:txBody>
          <a:bodyPr/>
          <a:lstStyle/>
          <a:p>
            <a:r>
              <a:rPr lang="fr-FR" altLang="en-US"/>
              <a:t>How this can be generalized? </a:t>
            </a:r>
          </a:p>
        </p:txBody>
      </p:sp>
      <p:sp>
        <p:nvSpPr>
          <p:cNvPr id="28674" name="Espace réservé du contenu 2">
            <a:extLst>
              <a:ext uri="{FF2B5EF4-FFF2-40B4-BE49-F238E27FC236}">
                <a16:creationId xmlns:a16="http://schemas.microsoft.com/office/drawing/2014/main" id="{ABB71A15-7D58-7720-050B-5F15CD92D61C}"/>
              </a:ext>
            </a:extLst>
          </p:cNvPr>
          <p:cNvSpPr>
            <a:spLocks noGrp="1" noChangeArrowheads="1"/>
          </p:cNvSpPr>
          <p:nvPr>
            <p:ph idx="1"/>
          </p:nvPr>
        </p:nvSpPr>
        <p:spPr/>
        <p:txBody>
          <a:bodyPr/>
          <a:lstStyle/>
          <a:p>
            <a:r>
              <a:rPr lang="fr-FR" altLang="en-US" sz="2800"/>
              <a:t>What if we can replace bitcoins with a general purpose data store?</a:t>
            </a:r>
          </a:p>
          <a:p>
            <a:endParaRPr lang="fr-FR" altLang="en-US" sz="2800"/>
          </a:p>
          <a:p>
            <a:r>
              <a:rPr lang="fr-FR" altLang="en-US" sz="2800"/>
              <a:t>It will open up numerous new use-cases and domains for blockchain</a:t>
            </a:r>
          </a:p>
        </p:txBody>
      </p:sp>
      <p:sp>
        <p:nvSpPr>
          <p:cNvPr id="2" name="Slide Number Placeholder 1">
            <a:extLst>
              <a:ext uri="{FF2B5EF4-FFF2-40B4-BE49-F238E27FC236}">
                <a16:creationId xmlns:a16="http://schemas.microsoft.com/office/drawing/2014/main" id="{49EB3B9D-562B-4B98-E99B-89A703405B5D}"/>
              </a:ext>
            </a:extLst>
          </p:cNvPr>
          <p:cNvSpPr>
            <a:spLocks noGrp="1"/>
          </p:cNvSpPr>
          <p:nvPr>
            <p:ph type="sldNum" sz="quarter" idx="12"/>
          </p:nvPr>
        </p:nvSpPr>
        <p:spPr/>
        <p:txBody>
          <a:bodyPr/>
          <a:lstStyle/>
          <a:p>
            <a:fld id="{F9104BDA-D44F-4B11-86E7-6A4BB78558E2}" type="slidenum">
              <a:rPr lang="en-US" altLang="en-US" smtClean="0"/>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Image 3" descr="Screenshot 2019-10-21 at 6.41.59 PM.pdf">
            <a:extLst>
              <a:ext uri="{FF2B5EF4-FFF2-40B4-BE49-F238E27FC236}">
                <a16:creationId xmlns:a16="http://schemas.microsoft.com/office/drawing/2014/main" id="{E564BE38-CA71-75C6-F2C6-154C9A1632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989013"/>
            <a:ext cx="9144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9E79EB8-8D43-4D20-89B2-478AEA9A429D}"/>
              </a:ext>
            </a:extLst>
          </p:cNvPr>
          <p:cNvSpPr>
            <a:spLocks noGrp="1"/>
          </p:cNvSpPr>
          <p:nvPr>
            <p:ph type="sldNum" sz="quarter" idx="12"/>
          </p:nvPr>
        </p:nvSpPr>
        <p:spPr/>
        <p:txBody>
          <a:bodyPr/>
          <a:lstStyle/>
          <a:p>
            <a:fld id="{F9104BDA-D44F-4B11-86E7-6A4BB78558E2}" type="slidenum">
              <a:rPr lang="en-US" altLang="en-US" smtClean="0"/>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re 1">
            <a:extLst>
              <a:ext uri="{FF2B5EF4-FFF2-40B4-BE49-F238E27FC236}">
                <a16:creationId xmlns:a16="http://schemas.microsoft.com/office/drawing/2014/main" id="{14C1A9CC-DD27-6D7C-F6D1-F0698DD772EC}"/>
              </a:ext>
            </a:extLst>
          </p:cNvPr>
          <p:cNvSpPr>
            <a:spLocks noGrp="1" noChangeArrowheads="1"/>
          </p:cNvSpPr>
          <p:nvPr>
            <p:ph type="title"/>
          </p:nvPr>
        </p:nvSpPr>
        <p:spPr/>
        <p:txBody>
          <a:bodyPr/>
          <a:lstStyle/>
          <a:p>
            <a:r>
              <a:rPr lang="fr-FR" altLang="en-US" sz="3200"/>
              <a:t>Ethereum: A General-Purpose Blockchain </a:t>
            </a:r>
          </a:p>
        </p:txBody>
      </p:sp>
      <p:sp>
        <p:nvSpPr>
          <p:cNvPr id="30722" name="Espace réservé du contenu 2">
            <a:extLst>
              <a:ext uri="{FF2B5EF4-FFF2-40B4-BE49-F238E27FC236}">
                <a16:creationId xmlns:a16="http://schemas.microsoft.com/office/drawing/2014/main" id="{333AFBA4-A06D-B568-4D43-419EFC8D3EE1}"/>
              </a:ext>
            </a:extLst>
          </p:cNvPr>
          <p:cNvSpPr>
            <a:spLocks noGrp="1" noChangeArrowheads="1"/>
          </p:cNvSpPr>
          <p:nvPr>
            <p:ph idx="1"/>
          </p:nvPr>
        </p:nvSpPr>
        <p:spPr/>
        <p:txBody>
          <a:bodyPr/>
          <a:lstStyle/>
          <a:p>
            <a:r>
              <a:rPr lang="fr-FR" altLang="en-US" sz="2400"/>
              <a:t>Ethereum is also a distributed state machine. </a:t>
            </a:r>
          </a:p>
          <a:p>
            <a:endParaRPr lang="fr-FR" altLang="en-US" sz="2400"/>
          </a:p>
          <a:p>
            <a:r>
              <a:rPr lang="fr-FR" altLang="en-US" sz="2400"/>
              <a:t>Instead of tracking only the state of currency ownership, Ethereum tracks the state transitions of a general-purpose data store, </a:t>
            </a:r>
          </a:p>
          <a:p>
            <a:pPr lvl="1"/>
            <a:r>
              <a:rPr lang="fr-FR" altLang="en-US" sz="2000"/>
              <a:t>a store that can hold any data expressible as a </a:t>
            </a:r>
            <a:r>
              <a:rPr lang="fr-FR" altLang="en-US" sz="2000" i="1"/>
              <a:t>key–value tuple</a:t>
            </a:r>
            <a:r>
              <a:rPr lang="fr-FR" altLang="en-US" sz="2000"/>
              <a:t>. </a:t>
            </a:r>
          </a:p>
          <a:p>
            <a:pPr lvl="1"/>
            <a:r>
              <a:rPr lang="fr-FR" altLang="en-US" sz="2000"/>
              <a:t>A key–value data store holds arbitrary values, each referenced by some key; for example, the value </a:t>
            </a:r>
            <a:r>
              <a:rPr lang="fr-FR" altLang="fr-FR" sz="2000"/>
              <a:t>“</a:t>
            </a:r>
            <a:r>
              <a:rPr lang="fr-FR" altLang="ja-JP" sz="2000"/>
              <a:t>Mastering Ethereum</a:t>
            </a:r>
            <a:r>
              <a:rPr lang="fr-FR" altLang="fr-FR" sz="2000"/>
              <a:t>”</a:t>
            </a:r>
            <a:r>
              <a:rPr lang="fr-FR" altLang="ja-JP" sz="2000"/>
              <a:t> referenced by the key </a:t>
            </a:r>
            <a:r>
              <a:rPr lang="fr-FR" altLang="fr-FR" sz="2000"/>
              <a:t>“</a:t>
            </a:r>
            <a:r>
              <a:rPr lang="fr-FR" altLang="ja-JP" sz="2000"/>
              <a:t>Book Title</a:t>
            </a:r>
            <a:r>
              <a:rPr lang="fr-FR" altLang="fr-FR" sz="2000"/>
              <a:t>”</a:t>
            </a:r>
            <a:r>
              <a:rPr lang="fr-FR" altLang="ja-JP" sz="2000"/>
              <a:t>. </a:t>
            </a:r>
          </a:p>
          <a:p>
            <a:pPr lvl="1">
              <a:buFontTx/>
              <a:buNone/>
            </a:pPr>
            <a:endParaRPr lang="fr-FR" altLang="en-US" sz="2000"/>
          </a:p>
          <a:p>
            <a:endParaRPr lang="fr-FR" altLang="en-US" sz="2400"/>
          </a:p>
        </p:txBody>
      </p:sp>
      <p:sp>
        <p:nvSpPr>
          <p:cNvPr id="2" name="Slide Number Placeholder 1">
            <a:extLst>
              <a:ext uri="{FF2B5EF4-FFF2-40B4-BE49-F238E27FC236}">
                <a16:creationId xmlns:a16="http://schemas.microsoft.com/office/drawing/2014/main" id="{96ED7E2E-A22C-BCAF-54D8-2D9569C4DD24}"/>
              </a:ext>
            </a:extLst>
          </p:cNvPr>
          <p:cNvSpPr>
            <a:spLocks noGrp="1"/>
          </p:cNvSpPr>
          <p:nvPr>
            <p:ph type="sldNum" sz="quarter" idx="12"/>
          </p:nvPr>
        </p:nvSpPr>
        <p:spPr/>
        <p:txBody>
          <a:bodyPr/>
          <a:lstStyle/>
          <a:p>
            <a:fld id="{F9104BDA-D44F-4B11-86E7-6A4BB78558E2}" type="slidenum">
              <a:rPr lang="en-US" altLang="en-US" smtClean="0"/>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re 1">
            <a:extLst>
              <a:ext uri="{FF2B5EF4-FFF2-40B4-BE49-F238E27FC236}">
                <a16:creationId xmlns:a16="http://schemas.microsoft.com/office/drawing/2014/main" id="{9C1C1384-F816-1EB4-A96D-9875E8028027}"/>
              </a:ext>
            </a:extLst>
          </p:cNvPr>
          <p:cNvSpPr>
            <a:spLocks noGrp="1" noChangeArrowheads="1"/>
          </p:cNvSpPr>
          <p:nvPr>
            <p:ph type="title"/>
          </p:nvPr>
        </p:nvSpPr>
        <p:spPr/>
        <p:txBody>
          <a:bodyPr/>
          <a:lstStyle/>
          <a:p>
            <a:r>
              <a:rPr lang="fr-FR" altLang="en-US" sz="3200"/>
              <a:t>Ethereum: A General-Purpose Blockchain </a:t>
            </a:r>
          </a:p>
        </p:txBody>
      </p:sp>
      <p:sp>
        <p:nvSpPr>
          <p:cNvPr id="31746" name="Espace réservé du contenu 2">
            <a:extLst>
              <a:ext uri="{FF2B5EF4-FFF2-40B4-BE49-F238E27FC236}">
                <a16:creationId xmlns:a16="http://schemas.microsoft.com/office/drawing/2014/main" id="{3BB613CC-A3A6-3A8A-B07A-1BAFD28CD47F}"/>
              </a:ext>
            </a:extLst>
          </p:cNvPr>
          <p:cNvSpPr>
            <a:spLocks noGrp="1" noChangeArrowheads="1"/>
          </p:cNvSpPr>
          <p:nvPr>
            <p:ph idx="1"/>
          </p:nvPr>
        </p:nvSpPr>
        <p:spPr/>
        <p:txBody>
          <a:bodyPr/>
          <a:lstStyle/>
          <a:p>
            <a:endParaRPr lang="fr-FR" altLang="en-US" sz="2400"/>
          </a:p>
          <a:p>
            <a:r>
              <a:rPr lang="fr-FR" altLang="en-US" sz="2400"/>
              <a:t>Ethereum has memory that stores both code and data, and it uses the Ethereum blockchain to track how this memory changes over time. </a:t>
            </a:r>
          </a:p>
          <a:p>
            <a:endParaRPr lang="fr-FR" altLang="en-US" sz="2400"/>
          </a:p>
          <a:p>
            <a:r>
              <a:rPr lang="fr-FR" altLang="en-US" sz="2400"/>
              <a:t>Like a general-purpose stored-program computer, Ethereum can load code into its state machine and </a:t>
            </a:r>
            <a:r>
              <a:rPr lang="fr-FR" altLang="en-US" sz="2400" i="1"/>
              <a:t>run </a:t>
            </a:r>
            <a:r>
              <a:rPr lang="fr-FR" altLang="en-US" sz="2400"/>
              <a:t>that code, storing the resulting state changes in its blockchain. </a:t>
            </a:r>
          </a:p>
          <a:p>
            <a:endParaRPr lang="fr-FR" altLang="en-US" sz="2400"/>
          </a:p>
          <a:p>
            <a:endParaRPr lang="fr-FR" altLang="en-US" sz="2400"/>
          </a:p>
          <a:p>
            <a:endParaRPr lang="fr-FR" altLang="en-US" sz="2400"/>
          </a:p>
        </p:txBody>
      </p:sp>
      <p:sp>
        <p:nvSpPr>
          <p:cNvPr id="2" name="Slide Number Placeholder 1">
            <a:extLst>
              <a:ext uri="{FF2B5EF4-FFF2-40B4-BE49-F238E27FC236}">
                <a16:creationId xmlns:a16="http://schemas.microsoft.com/office/drawing/2014/main" id="{8E4C5FC6-78F0-6616-B4B6-FF64726CFC0F}"/>
              </a:ext>
            </a:extLst>
          </p:cNvPr>
          <p:cNvSpPr>
            <a:spLocks noGrp="1"/>
          </p:cNvSpPr>
          <p:nvPr>
            <p:ph type="sldNum" sz="quarter" idx="12"/>
          </p:nvPr>
        </p:nvSpPr>
        <p:spPr/>
        <p:txBody>
          <a:bodyPr/>
          <a:lstStyle/>
          <a:p>
            <a:fld id="{F9104BDA-D44F-4B11-86E7-6A4BB78558E2}" type="slidenum">
              <a:rPr lang="en-US" altLang="en-US" smtClean="0"/>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Image 3" descr="Screenshot 2019-10-21 at 7.09.00 PM.pdf">
            <a:extLst>
              <a:ext uri="{FF2B5EF4-FFF2-40B4-BE49-F238E27FC236}">
                <a16:creationId xmlns:a16="http://schemas.microsoft.com/office/drawing/2014/main" id="{9E0E3A27-6E33-F361-FEC2-F80C3DF86A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533400"/>
            <a:ext cx="9144000" cy="475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0" name="Rectangle 4">
            <a:extLst>
              <a:ext uri="{FF2B5EF4-FFF2-40B4-BE49-F238E27FC236}">
                <a16:creationId xmlns:a16="http://schemas.microsoft.com/office/drawing/2014/main" id="{8B8F907D-F24A-FD93-9710-D24348B29E7D}"/>
              </a:ext>
            </a:extLst>
          </p:cNvPr>
          <p:cNvSpPr>
            <a:spLocks noChangeArrowheads="1"/>
          </p:cNvSpPr>
          <p:nvPr/>
        </p:nvSpPr>
        <p:spPr bwMode="auto">
          <a:xfrm>
            <a:off x="838200" y="5562600"/>
            <a:ext cx="678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2000" i="1"/>
              <a:t>https://vas3k.com/blog/ethereum/</a:t>
            </a:r>
          </a:p>
        </p:txBody>
      </p:sp>
      <p:sp>
        <p:nvSpPr>
          <p:cNvPr id="2" name="Slide Number Placeholder 1">
            <a:extLst>
              <a:ext uri="{FF2B5EF4-FFF2-40B4-BE49-F238E27FC236}">
                <a16:creationId xmlns:a16="http://schemas.microsoft.com/office/drawing/2014/main" id="{7A05D56B-CF8E-2291-3593-6C5DED6A6FB9}"/>
              </a:ext>
            </a:extLst>
          </p:cNvPr>
          <p:cNvSpPr>
            <a:spLocks noGrp="1"/>
          </p:cNvSpPr>
          <p:nvPr>
            <p:ph type="sldNum" sz="quarter" idx="12"/>
          </p:nvPr>
        </p:nvSpPr>
        <p:spPr/>
        <p:txBody>
          <a:bodyPr/>
          <a:lstStyle/>
          <a:p>
            <a:fld id="{F9104BDA-D44F-4B11-86E7-6A4BB78558E2}" type="slidenum">
              <a:rPr lang="en-US" altLang="en-US" smtClean="0"/>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re 1">
            <a:extLst>
              <a:ext uri="{FF2B5EF4-FFF2-40B4-BE49-F238E27FC236}">
                <a16:creationId xmlns:a16="http://schemas.microsoft.com/office/drawing/2014/main" id="{65A16C19-5719-8FB3-A134-FF76A6C17E39}"/>
              </a:ext>
            </a:extLst>
          </p:cNvPr>
          <p:cNvSpPr>
            <a:spLocks noGrp="1" noChangeArrowheads="1"/>
          </p:cNvSpPr>
          <p:nvPr>
            <p:ph type="title"/>
          </p:nvPr>
        </p:nvSpPr>
        <p:spPr/>
        <p:txBody>
          <a:bodyPr/>
          <a:lstStyle/>
          <a:p>
            <a:r>
              <a:rPr lang="fr-FR" altLang="en-US"/>
              <a:t>The need for agreements</a:t>
            </a:r>
          </a:p>
        </p:txBody>
      </p:sp>
      <p:sp>
        <p:nvSpPr>
          <p:cNvPr id="33794" name="Espace réservé du contenu 2">
            <a:extLst>
              <a:ext uri="{FF2B5EF4-FFF2-40B4-BE49-F238E27FC236}">
                <a16:creationId xmlns:a16="http://schemas.microsoft.com/office/drawing/2014/main" id="{2D26A303-2FD8-0C7E-70DE-F7C647BFDF78}"/>
              </a:ext>
            </a:extLst>
          </p:cNvPr>
          <p:cNvSpPr>
            <a:spLocks noGrp="1" noChangeArrowheads="1"/>
          </p:cNvSpPr>
          <p:nvPr>
            <p:ph idx="1"/>
          </p:nvPr>
        </p:nvSpPr>
        <p:spPr/>
        <p:txBody>
          <a:bodyPr/>
          <a:lstStyle/>
          <a:p>
            <a:r>
              <a:rPr lang="fr-FR" altLang="en-US" sz="2400"/>
              <a:t>In everyday life, we always make agreements based on </a:t>
            </a:r>
            <a:r>
              <a:rPr lang="fr-FR" altLang="fr-FR" sz="2400"/>
              <a:t>“</a:t>
            </a:r>
            <a:r>
              <a:rPr lang="fr-FR" altLang="en-US" sz="2400"/>
              <a:t>if… then</a:t>
            </a:r>
            <a:r>
              <a:rPr lang="fr-FR" altLang="fr-FR" sz="2400"/>
              <a:t>”</a:t>
            </a:r>
            <a:r>
              <a:rPr lang="fr-FR" altLang="en-US" sz="2400"/>
              <a:t> principle, regarding everything, not only finance.</a:t>
            </a:r>
          </a:p>
          <a:p>
            <a:pPr lvl="1"/>
            <a:endParaRPr lang="fr-FR" altLang="en-US" sz="2000"/>
          </a:p>
          <a:p>
            <a:r>
              <a:rPr lang="fr-FR" altLang="en-US" sz="2400"/>
              <a:t>If you do this, I</a:t>
            </a:r>
            <a:r>
              <a:rPr lang="fr-FR" altLang="fr-FR" sz="2400"/>
              <a:t>’</a:t>
            </a:r>
            <a:r>
              <a:rPr lang="fr-FR" altLang="en-US" sz="2400"/>
              <a:t>ll do that ...ideas/examples?</a:t>
            </a:r>
          </a:p>
          <a:p>
            <a:pPr>
              <a:buFontTx/>
              <a:buNone/>
            </a:pPr>
            <a:endParaRPr lang="fr-FR" altLang="en-US" sz="2400"/>
          </a:p>
        </p:txBody>
      </p:sp>
      <p:sp>
        <p:nvSpPr>
          <p:cNvPr id="2" name="Slide Number Placeholder 1">
            <a:extLst>
              <a:ext uri="{FF2B5EF4-FFF2-40B4-BE49-F238E27FC236}">
                <a16:creationId xmlns:a16="http://schemas.microsoft.com/office/drawing/2014/main" id="{0FE4DBC0-61B5-4AE8-33D9-52C55230B4AB}"/>
              </a:ext>
            </a:extLst>
          </p:cNvPr>
          <p:cNvSpPr>
            <a:spLocks noGrp="1"/>
          </p:cNvSpPr>
          <p:nvPr>
            <p:ph type="sldNum" sz="quarter" idx="12"/>
          </p:nvPr>
        </p:nvSpPr>
        <p:spPr/>
        <p:txBody>
          <a:bodyPr/>
          <a:lstStyle/>
          <a:p>
            <a:fld id="{F9104BDA-D44F-4B11-86E7-6A4BB78558E2}" type="slidenum">
              <a:rPr lang="en-US" altLang="en-US" smtClean="0"/>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re 1">
            <a:extLst>
              <a:ext uri="{FF2B5EF4-FFF2-40B4-BE49-F238E27FC236}">
                <a16:creationId xmlns:a16="http://schemas.microsoft.com/office/drawing/2014/main" id="{F7E8E1E5-7F01-A3F7-BF17-D0D09FC6D3B0}"/>
              </a:ext>
            </a:extLst>
          </p:cNvPr>
          <p:cNvSpPr>
            <a:spLocks noGrp="1" noChangeArrowheads="1"/>
          </p:cNvSpPr>
          <p:nvPr>
            <p:ph type="title"/>
          </p:nvPr>
        </p:nvSpPr>
        <p:spPr/>
        <p:txBody>
          <a:bodyPr/>
          <a:lstStyle/>
          <a:p>
            <a:r>
              <a:rPr lang="fr-FR" altLang="en-US"/>
              <a:t>The need for agreements</a:t>
            </a:r>
          </a:p>
        </p:txBody>
      </p:sp>
      <p:sp>
        <p:nvSpPr>
          <p:cNvPr id="3" name="Espace réservé du contenu 2">
            <a:extLst>
              <a:ext uri="{FF2B5EF4-FFF2-40B4-BE49-F238E27FC236}">
                <a16:creationId xmlns:a16="http://schemas.microsoft.com/office/drawing/2014/main" id="{C75437D8-CAB5-6B3E-A2D9-8B64685A969F}"/>
              </a:ext>
            </a:extLst>
          </p:cNvPr>
          <p:cNvSpPr>
            <a:spLocks noGrp="1" noChangeArrowheads="1"/>
          </p:cNvSpPr>
          <p:nvPr>
            <p:ph idx="1"/>
          </p:nvPr>
        </p:nvSpPr>
        <p:spPr/>
        <p:txBody>
          <a:bodyPr/>
          <a:lstStyle/>
          <a:p>
            <a:r>
              <a:rPr lang="fr-FR" altLang="en-US" sz="2400"/>
              <a:t>The main problems about agreements are that nobody can really guarantee the fulfillment. </a:t>
            </a:r>
          </a:p>
          <a:p>
            <a:endParaRPr lang="fr-FR" altLang="en-US" sz="2400"/>
          </a:p>
          <a:p>
            <a:endParaRPr lang="fr-FR" altLang="en-US" sz="2400"/>
          </a:p>
          <a:p>
            <a:r>
              <a:rPr lang="fr-FR" altLang="en-US" sz="2400"/>
              <a:t>To avoid these problems business uses contracts: </a:t>
            </a:r>
          </a:p>
          <a:p>
            <a:pPr lvl="1"/>
            <a:r>
              <a:rPr lang="fr-FR" altLang="en-US" sz="2000"/>
              <a:t>Trained people fill the papers with special words, </a:t>
            </a:r>
          </a:p>
          <a:p>
            <a:pPr lvl="1"/>
            <a:r>
              <a:rPr lang="fr-FR" altLang="en-US" sz="2000"/>
              <a:t>cover them with stamps and signatures </a:t>
            </a:r>
          </a:p>
          <a:p>
            <a:pPr lvl="1"/>
            <a:r>
              <a:rPr lang="fr-FR" altLang="en-US" sz="2000"/>
              <a:t>so that there is something to bring to the court ..</a:t>
            </a:r>
          </a:p>
        </p:txBody>
      </p:sp>
      <p:sp>
        <p:nvSpPr>
          <p:cNvPr id="2" name="Slide Number Placeholder 1">
            <a:extLst>
              <a:ext uri="{FF2B5EF4-FFF2-40B4-BE49-F238E27FC236}">
                <a16:creationId xmlns:a16="http://schemas.microsoft.com/office/drawing/2014/main" id="{9595BE16-ABEB-7EE4-1A23-AECF6BD65324}"/>
              </a:ext>
            </a:extLst>
          </p:cNvPr>
          <p:cNvSpPr>
            <a:spLocks noGrp="1"/>
          </p:cNvSpPr>
          <p:nvPr>
            <p:ph type="sldNum" sz="quarter" idx="12"/>
          </p:nvPr>
        </p:nvSpPr>
        <p:spPr/>
        <p:txBody>
          <a:bodyPr/>
          <a:lstStyle/>
          <a:p>
            <a:fld id="{F9104BDA-D44F-4B11-86E7-6A4BB78558E2}" type="slidenum">
              <a:rPr lang="en-US" altLang="en-US" smtClean="0"/>
              <a:pPr/>
              <a:t>17</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Image 3">
            <a:extLst>
              <a:ext uri="{FF2B5EF4-FFF2-40B4-BE49-F238E27FC236}">
                <a16:creationId xmlns:a16="http://schemas.microsoft.com/office/drawing/2014/main" id="{2DE2C6A0-CA03-AA95-2AAD-9B5C669528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00" y="609600"/>
            <a:ext cx="8699500" cy="59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9C6602C-297C-58DD-5156-65DB6AF71C29}"/>
              </a:ext>
            </a:extLst>
          </p:cNvPr>
          <p:cNvSpPr>
            <a:spLocks noGrp="1"/>
          </p:cNvSpPr>
          <p:nvPr>
            <p:ph type="sldNum" sz="quarter" idx="12"/>
          </p:nvPr>
        </p:nvSpPr>
        <p:spPr/>
        <p:txBody>
          <a:bodyPr/>
          <a:lstStyle/>
          <a:p>
            <a:fld id="{F9104BDA-D44F-4B11-86E7-6A4BB78558E2}" type="slidenum">
              <a:rPr lang="en-US" altLang="en-US" smtClean="0"/>
              <a:pPr/>
              <a:t>18</a:t>
            </a:fld>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re 3">
            <a:extLst>
              <a:ext uri="{FF2B5EF4-FFF2-40B4-BE49-F238E27FC236}">
                <a16:creationId xmlns:a16="http://schemas.microsoft.com/office/drawing/2014/main" id="{1504AE3D-3D39-2E96-0585-F08C1D1D77EB}"/>
              </a:ext>
            </a:extLst>
          </p:cNvPr>
          <p:cNvSpPr>
            <a:spLocks noGrp="1" noChangeArrowheads="1"/>
          </p:cNvSpPr>
          <p:nvPr>
            <p:ph type="title"/>
          </p:nvPr>
        </p:nvSpPr>
        <p:spPr>
          <a:xfrm>
            <a:off x="228600" y="3200400"/>
            <a:ext cx="8229600" cy="685800"/>
          </a:xfrm>
        </p:spPr>
        <p:txBody>
          <a:bodyPr/>
          <a:lstStyle/>
          <a:p>
            <a:pPr algn="ctr"/>
            <a:r>
              <a:rPr lang="fr-FR" altLang="en-US" dirty="0"/>
              <a:t>Alex and the smart </a:t>
            </a:r>
            <a:r>
              <a:rPr lang="fr-FR" altLang="en-US" dirty="0" err="1"/>
              <a:t>contract</a:t>
            </a:r>
            <a:endParaRPr lang="fr-FR" altLang="en-US" dirty="0"/>
          </a:p>
        </p:txBody>
      </p:sp>
      <p:sp>
        <p:nvSpPr>
          <p:cNvPr id="2" name="Slide Number Placeholder 1">
            <a:extLst>
              <a:ext uri="{FF2B5EF4-FFF2-40B4-BE49-F238E27FC236}">
                <a16:creationId xmlns:a16="http://schemas.microsoft.com/office/drawing/2014/main" id="{794BEB8B-E4C1-1438-643D-4A9775CEAA43}"/>
              </a:ext>
            </a:extLst>
          </p:cNvPr>
          <p:cNvSpPr>
            <a:spLocks noGrp="1"/>
          </p:cNvSpPr>
          <p:nvPr>
            <p:ph type="sldNum" sz="quarter" idx="12"/>
          </p:nvPr>
        </p:nvSpPr>
        <p:spPr/>
        <p:txBody>
          <a:bodyPr/>
          <a:lstStyle/>
          <a:p>
            <a:fld id="{8F2B19E1-DC2B-41DB-9288-FDB54A98A349}" type="slidenum">
              <a:rPr lang="en-US" altLang="en-US" smtClean="0"/>
              <a:pPr/>
              <a:t>19</a:t>
            </a:fld>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re 2">
            <a:extLst>
              <a:ext uri="{FF2B5EF4-FFF2-40B4-BE49-F238E27FC236}">
                <a16:creationId xmlns:a16="http://schemas.microsoft.com/office/drawing/2014/main" id="{61EE705D-40C0-A6EF-23CB-DF863545F984}"/>
              </a:ext>
            </a:extLst>
          </p:cNvPr>
          <p:cNvSpPr>
            <a:spLocks noGrp="1" noChangeArrowheads="1"/>
          </p:cNvSpPr>
          <p:nvPr>
            <p:ph type="title"/>
          </p:nvPr>
        </p:nvSpPr>
        <p:spPr/>
        <p:txBody>
          <a:bodyPr/>
          <a:lstStyle/>
          <a:p>
            <a:r>
              <a:rPr lang="fr-FR" altLang="en-US"/>
              <a:t>Alex and Kate</a:t>
            </a:r>
          </a:p>
        </p:txBody>
      </p:sp>
      <p:sp>
        <p:nvSpPr>
          <p:cNvPr id="37890" name="Espace réservé du contenu 3">
            <a:extLst>
              <a:ext uri="{FF2B5EF4-FFF2-40B4-BE49-F238E27FC236}">
                <a16:creationId xmlns:a16="http://schemas.microsoft.com/office/drawing/2014/main" id="{FFC77006-4EFC-2EDD-72F3-78AA587DFC84}"/>
              </a:ext>
            </a:extLst>
          </p:cNvPr>
          <p:cNvSpPr>
            <a:spLocks noGrp="1" noChangeArrowheads="1"/>
          </p:cNvSpPr>
          <p:nvPr>
            <p:ph idx="1"/>
          </p:nvPr>
        </p:nvSpPr>
        <p:spPr/>
        <p:txBody>
          <a:bodyPr/>
          <a:lstStyle/>
          <a:p>
            <a:r>
              <a:rPr lang="fr-FR" altLang="en-US" sz="2400"/>
              <a:t>Alex is going to visit another city and need to rent an apartment there. </a:t>
            </a:r>
          </a:p>
          <a:p>
            <a:r>
              <a:rPr lang="fr-FR" altLang="en-US" sz="2400"/>
              <a:t>He finds the following ad – a girl named Kate offers an apartment in the very center for $300 per month.</a:t>
            </a:r>
          </a:p>
          <a:p>
            <a:endParaRPr lang="fr-FR" altLang="en-US" sz="2400"/>
          </a:p>
          <a:p>
            <a:r>
              <a:rPr lang="fr-FR" altLang="en-US" sz="2400"/>
              <a:t>This sounds too good to be true! </a:t>
            </a:r>
          </a:p>
        </p:txBody>
      </p:sp>
      <p:sp>
        <p:nvSpPr>
          <p:cNvPr id="2" name="Slide Number Placeholder 1">
            <a:extLst>
              <a:ext uri="{FF2B5EF4-FFF2-40B4-BE49-F238E27FC236}">
                <a16:creationId xmlns:a16="http://schemas.microsoft.com/office/drawing/2014/main" id="{513CD94D-9701-276B-39C4-D74D53EE1DDA}"/>
              </a:ext>
            </a:extLst>
          </p:cNvPr>
          <p:cNvSpPr>
            <a:spLocks noGrp="1"/>
          </p:cNvSpPr>
          <p:nvPr>
            <p:ph type="sldNum" sz="quarter" idx="12"/>
          </p:nvPr>
        </p:nvSpPr>
        <p:spPr/>
        <p:txBody>
          <a:bodyPr/>
          <a:lstStyle/>
          <a:p>
            <a:fld id="{F9104BDA-D44F-4B11-86E7-6A4BB78558E2}" type="slidenum">
              <a:rPr lang="en-US" altLang="en-US" smtClean="0"/>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re 1">
            <a:extLst>
              <a:ext uri="{FF2B5EF4-FFF2-40B4-BE49-F238E27FC236}">
                <a16:creationId xmlns:a16="http://schemas.microsoft.com/office/drawing/2014/main" id="{A8924D98-AB5E-406F-EF41-74FD0DE30946}"/>
              </a:ext>
            </a:extLst>
          </p:cNvPr>
          <p:cNvSpPr>
            <a:spLocks noGrp="1" noChangeArrowheads="1"/>
          </p:cNvSpPr>
          <p:nvPr>
            <p:ph type="title"/>
          </p:nvPr>
        </p:nvSpPr>
        <p:spPr/>
        <p:txBody>
          <a:bodyPr/>
          <a:lstStyle/>
          <a:p>
            <a:r>
              <a:rPr lang="fr-FR" altLang="en-US"/>
              <a:t>Alex and Kate</a:t>
            </a:r>
          </a:p>
        </p:txBody>
      </p:sp>
      <p:sp>
        <p:nvSpPr>
          <p:cNvPr id="3" name="Espace réservé du contenu 2">
            <a:extLst>
              <a:ext uri="{FF2B5EF4-FFF2-40B4-BE49-F238E27FC236}">
                <a16:creationId xmlns:a16="http://schemas.microsoft.com/office/drawing/2014/main" id="{56722035-DA64-40A2-ECC9-E7B0EED18CB4}"/>
              </a:ext>
            </a:extLst>
          </p:cNvPr>
          <p:cNvSpPr>
            <a:spLocks noGrp="1" noChangeArrowheads="1"/>
          </p:cNvSpPr>
          <p:nvPr>
            <p:ph idx="1"/>
          </p:nvPr>
        </p:nvSpPr>
        <p:spPr/>
        <p:txBody>
          <a:bodyPr/>
          <a:lstStyle/>
          <a:p>
            <a:r>
              <a:rPr lang="fr-FR" altLang="en-US" sz="2400" dirty="0"/>
              <a:t>Kate and Alex </a:t>
            </a:r>
            <a:r>
              <a:rPr lang="fr-FR" altLang="en-US" sz="2400" dirty="0" err="1"/>
              <a:t>ain</a:t>
            </a:r>
            <a:r>
              <a:rPr lang="fr-FR" altLang="fr-FR" sz="2400" dirty="0" err="1"/>
              <a:t>’</a:t>
            </a:r>
            <a:r>
              <a:rPr lang="fr-FR" altLang="en-US" sz="2400" dirty="0" err="1"/>
              <a:t>t</a:t>
            </a:r>
            <a:r>
              <a:rPr lang="fr-FR" altLang="en-US" sz="2400" dirty="0"/>
              <a:t> </a:t>
            </a:r>
            <a:r>
              <a:rPr lang="fr-FR" altLang="en-US" sz="2400" dirty="0" err="1"/>
              <a:t>familiar</a:t>
            </a:r>
            <a:r>
              <a:rPr lang="fr-FR" altLang="en-US" sz="2400" dirty="0"/>
              <a:t> </a:t>
            </a:r>
            <a:r>
              <a:rPr lang="fr-FR" altLang="en-US" sz="2400" dirty="0" err="1"/>
              <a:t>so</a:t>
            </a:r>
            <a:r>
              <a:rPr lang="fr-FR" altLang="en-US" sz="2400" dirty="0"/>
              <a:t> </a:t>
            </a:r>
            <a:r>
              <a:rPr lang="fr-FR" altLang="en-US" sz="2400" dirty="0" err="1"/>
              <a:t>couldn</a:t>
            </a:r>
            <a:r>
              <a:rPr lang="fr-FR" altLang="fr-FR" sz="2400" dirty="0" err="1"/>
              <a:t>’</a:t>
            </a:r>
            <a:r>
              <a:rPr lang="fr-FR" altLang="en-US" sz="2400" dirty="0" err="1"/>
              <a:t>t</a:t>
            </a:r>
            <a:r>
              <a:rPr lang="fr-FR" altLang="en-US" sz="2400" dirty="0"/>
              <a:t> trust </a:t>
            </a:r>
            <a:r>
              <a:rPr lang="fr-FR" altLang="en-US" sz="2400" dirty="0" err="1"/>
              <a:t>each</a:t>
            </a:r>
            <a:r>
              <a:rPr lang="fr-FR" altLang="en-US" sz="2400" dirty="0"/>
              <a:t> </a:t>
            </a:r>
            <a:r>
              <a:rPr lang="fr-FR" altLang="en-US" sz="2400" dirty="0" err="1"/>
              <a:t>other</a:t>
            </a:r>
            <a:r>
              <a:rPr lang="fr-FR" altLang="en-US" sz="2400" dirty="0"/>
              <a:t>. </a:t>
            </a:r>
          </a:p>
          <a:p>
            <a:pPr lvl="1"/>
            <a:r>
              <a:rPr lang="fr-FR" altLang="en-US" sz="2000" dirty="0"/>
              <a:t>Kate </a:t>
            </a:r>
            <a:r>
              <a:rPr lang="fr-FR" altLang="en-US" sz="2000" dirty="0" err="1"/>
              <a:t>is</a:t>
            </a:r>
            <a:r>
              <a:rPr lang="fr-FR" altLang="en-US" sz="2000" dirty="0"/>
              <a:t> </a:t>
            </a:r>
            <a:r>
              <a:rPr lang="fr-FR" altLang="en-US" sz="2000" dirty="0" err="1"/>
              <a:t>afraid</a:t>
            </a:r>
            <a:r>
              <a:rPr lang="fr-FR" altLang="en-US" sz="2000" dirty="0"/>
              <a:t> </a:t>
            </a:r>
            <a:r>
              <a:rPr lang="fr-FR" altLang="en-US" sz="2000" dirty="0" err="1"/>
              <a:t>that</a:t>
            </a:r>
            <a:r>
              <a:rPr lang="fr-FR" altLang="en-US" sz="2000" dirty="0"/>
              <a:t> Alex </a:t>
            </a:r>
            <a:r>
              <a:rPr lang="fr-FR" altLang="en-US" sz="2000" dirty="0" err="1"/>
              <a:t>could</a:t>
            </a:r>
            <a:r>
              <a:rPr lang="fr-FR" altLang="en-US" sz="2000" dirty="0"/>
              <a:t> change </a:t>
            </a:r>
            <a:r>
              <a:rPr lang="fr-FR" altLang="en-US" sz="2000" dirty="0" err="1"/>
              <a:t>his</a:t>
            </a:r>
            <a:r>
              <a:rPr lang="fr-FR" altLang="en-US" sz="2000" dirty="0"/>
              <a:t> </a:t>
            </a:r>
            <a:r>
              <a:rPr lang="fr-FR" altLang="en-US" sz="2000" dirty="0" err="1"/>
              <a:t>mind</a:t>
            </a:r>
            <a:r>
              <a:rPr lang="fr-FR" altLang="en-US" sz="2000" dirty="0"/>
              <a:t> at the </a:t>
            </a:r>
            <a:r>
              <a:rPr lang="fr-FR" altLang="en-US" sz="2000" dirty="0" err="1"/>
              <a:t>very</a:t>
            </a:r>
            <a:r>
              <a:rPr lang="fr-FR" altLang="en-US" sz="2000" dirty="0"/>
              <a:t> last moment. </a:t>
            </a:r>
          </a:p>
          <a:p>
            <a:pPr lvl="1"/>
            <a:r>
              <a:rPr lang="fr-FR" altLang="en-US" sz="2000" dirty="0"/>
              <a:t>Alex </a:t>
            </a:r>
            <a:r>
              <a:rPr lang="fr-FR" altLang="en-US" sz="2000" dirty="0" err="1"/>
              <a:t>knows</a:t>
            </a:r>
            <a:r>
              <a:rPr lang="fr-FR" altLang="en-US" sz="2000" dirty="0"/>
              <a:t> Kate can </a:t>
            </a:r>
            <a:r>
              <a:rPr lang="fr-FR" altLang="en-US" sz="2000" dirty="0" err="1"/>
              <a:t>be</a:t>
            </a:r>
            <a:r>
              <a:rPr lang="fr-FR" altLang="en-US" sz="2000" dirty="0"/>
              <a:t> an </a:t>
            </a:r>
            <a:r>
              <a:rPr lang="fr-FR" altLang="en-US" sz="2000" dirty="0" err="1"/>
              <a:t>anyone</a:t>
            </a:r>
            <a:r>
              <a:rPr lang="fr-FR" altLang="en-US" sz="2000" dirty="0"/>
              <a:t> </a:t>
            </a:r>
            <a:r>
              <a:rPr lang="en-GB" altLang="en-US" sz="2000" dirty="0"/>
              <a:t>impersonating</a:t>
            </a:r>
            <a:r>
              <a:rPr lang="fr-FR" altLang="en-US" sz="2000" dirty="0"/>
              <a:t> Kate.</a:t>
            </a:r>
          </a:p>
          <a:p>
            <a:endParaRPr lang="fr-FR" altLang="en-US" sz="2400" dirty="0"/>
          </a:p>
        </p:txBody>
      </p:sp>
      <p:pic>
        <p:nvPicPr>
          <p:cNvPr id="38915" name="Image 3" descr="Screenshot 2019-10-22 at 8.44.25 AM.pdf">
            <a:extLst>
              <a:ext uri="{FF2B5EF4-FFF2-40B4-BE49-F238E27FC236}">
                <a16:creationId xmlns:a16="http://schemas.microsoft.com/office/drawing/2014/main" id="{8550920B-E583-D878-2C06-DB3B57C607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3429000"/>
            <a:ext cx="64103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C0F9E96-01F7-A4E2-C0FC-410D3F62EB66}"/>
              </a:ext>
            </a:extLst>
          </p:cNvPr>
          <p:cNvSpPr>
            <a:spLocks noGrp="1"/>
          </p:cNvSpPr>
          <p:nvPr>
            <p:ph type="sldNum" sz="quarter" idx="12"/>
          </p:nvPr>
        </p:nvSpPr>
        <p:spPr/>
        <p:txBody>
          <a:bodyPr/>
          <a:lstStyle/>
          <a:p>
            <a:fld id="{F9104BDA-D44F-4B11-86E7-6A4BB78558E2}" type="slidenum">
              <a:rPr lang="en-US" altLang="en-US" smtClean="0"/>
              <a:pPr/>
              <a:t>21</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Image 3">
            <a:extLst>
              <a:ext uri="{FF2B5EF4-FFF2-40B4-BE49-F238E27FC236}">
                <a16:creationId xmlns:a16="http://schemas.microsoft.com/office/drawing/2014/main" id="{8F8B10E1-CD8C-B9A4-3D21-19B4D05E46F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
            <a:ext cx="9144000" cy="570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36EAD7C-F4F3-9F75-DA58-1FB0FC07A48C}"/>
              </a:ext>
            </a:extLst>
          </p:cNvPr>
          <p:cNvSpPr>
            <a:spLocks noGrp="1"/>
          </p:cNvSpPr>
          <p:nvPr>
            <p:ph type="sldNum" sz="quarter" idx="12"/>
          </p:nvPr>
        </p:nvSpPr>
        <p:spPr/>
        <p:txBody>
          <a:bodyPr/>
          <a:lstStyle/>
          <a:p>
            <a:fld id="{F9104BDA-D44F-4B11-86E7-6A4BB78558E2}" type="slidenum">
              <a:rPr lang="en-US" altLang="en-US" smtClean="0"/>
              <a:pPr/>
              <a:t>22</a:t>
            </a:fld>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re 1">
            <a:extLst>
              <a:ext uri="{FF2B5EF4-FFF2-40B4-BE49-F238E27FC236}">
                <a16:creationId xmlns:a16="http://schemas.microsoft.com/office/drawing/2014/main" id="{09C325E2-0DD9-9ADF-E8D6-A3778A1A195B}"/>
              </a:ext>
            </a:extLst>
          </p:cNvPr>
          <p:cNvSpPr>
            <a:spLocks noGrp="1" noChangeArrowheads="1"/>
          </p:cNvSpPr>
          <p:nvPr>
            <p:ph type="title"/>
          </p:nvPr>
        </p:nvSpPr>
        <p:spPr/>
        <p:txBody>
          <a:bodyPr/>
          <a:lstStyle/>
          <a:p>
            <a:r>
              <a:rPr lang="fr-FR" altLang="en-US"/>
              <a:t>What can be done?</a:t>
            </a:r>
          </a:p>
        </p:txBody>
      </p:sp>
      <p:sp>
        <p:nvSpPr>
          <p:cNvPr id="40962" name="Espace réservé du contenu 2">
            <a:extLst>
              <a:ext uri="{FF2B5EF4-FFF2-40B4-BE49-F238E27FC236}">
                <a16:creationId xmlns:a16="http://schemas.microsoft.com/office/drawing/2014/main" id="{8462A445-A4C6-CCA7-6974-134F719C8887}"/>
              </a:ext>
            </a:extLst>
          </p:cNvPr>
          <p:cNvSpPr>
            <a:spLocks noGrp="1" noChangeArrowheads="1"/>
          </p:cNvSpPr>
          <p:nvPr>
            <p:ph idx="1"/>
          </p:nvPr>
        </p:nvSpPr>
        <p:spPr/>
        <p:txBody>
          <a:bodyPr/>
          <a:lstStyle/>
          <a:p>
            <a:r>
              <a:rPr lang="fr-FR" altLang="en-US" sz="2400"/>
              <a:t>There are two traditional ways to get the things sorted:</a:t>
            </a:r>
          </a:p>
          <a:p>
            <a:pPr lvl="1"/>
            <a:r>
              <a:rPr lang="fr-FR" altLang="en-US" sz="2000"/>
              <a:t>Alex and Kate sign a long agreement. Finally, Alex agrees to pay $100 in advance and hopes that Kate is a real girl.</a:t>
            </a:r>
          </a:p>
          <a:p>
            <a:pPr lvl="1"/>
            <a:r>
              <a:rPr lang="fr-FR" altLang="en-US" sz="2000"/>
              <a:t>They find an agent who agrees to get all responsibility but wants 50% commission. </a:t>
            </a:r>
          </a:p>
          <a:p>
            <a:pPr lvl="1"/>
            <a:endParaRPr lang="fr-FR" altLang="en-US" sz="2000"/>
          </a:p>
          <a:p>
            <a:pPr lvl="1"/>
            <a:endParaRPr lang="fr-FR" altLang="en-US" sz="2000"/>
          </a:p>
          <a:p>
            <a:pPr lvl="1"/>
            <a:r>
              <a:rPr lang="fr-FR" altLang="en-US" sz="2000"/>
              <a:t>What else?</a:t>
            </a:r>
          </a:p>
          <a:p>
            <a:pPr lvl="1"/>
            <a:endParaRPr lang="fr-FR" altLang="en-US" sz="2000"/>
          </a:p>
          <a:p>
            <a:pPr lvl="1"/>
            <a:endParaRPr lang="fr-FR" altLang="en-US" sz="2000"/>
          </a:p>
          <a:p>
            <a:endParaRPr lang="fr-FR" altLang="en-US" sz="2400"/>
          </a:p>
        </p:txBody>
      </p:sp>
      <p:sp>
        <p:nvSpPr>
          <p:cNvPr id="2" name="Slide Number Placeholder 1">
            <a:extLst>
              <a:ext uri="{FF2B5EF4-FFF2-40B4-BE49-F238E27FC236}">
                <a16:creationId xmlns:a16="http://schemas.microsoft.com/office/drawing/2014/main" id="{CDC235E4-5160-F3FA-A91C-C5A775642732}"/>
              </a:ext>
            </a:extLst>
          </p:cNvPr>
          <p:cNvSpPr>
            <a:spLocks noGrp="1"/>
          </p:cNvSpPr>
          <p:nvPr>
            <p:ph type="sldNum" sz="quarter" idx="12"/>
          </p:nvPr>
        </p:nvSpPr>
        <p:spPr/>
        <p:txBody>
          <a:bodyPr/>
          <a:lstStyle/>
          <a:p>
            <a:fld id="{F9104BDA-D44F-4B11-86E7-6A4BB78558E2}" type="slidenum">
              <a:rPr lang="en-US" altLang="en-US" smtClean="0"/>
              <a:pPr/>
              <a:t>23</a:t>
            </a:fld>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5" name="Image 3">
            <a:extLst>
              <a:ext uri="{FF2B5EF4-FFF2-40B4-BE49-F238E27FC236}">
                <a16:creationId xmlns:a16="http://schemas.microsoft.com/office/drawing/2014/main" id="{90C6539F-C491-8B4E-C602-59C6AA253E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457200"/>
            <a:ext cx="7367588" cy="638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8AEEBFF-962D-675C-A376-0309D8B45776}"/>
              </a:ext>
            </a:extLst>
          </p:cNvPr>
          <p:cNvSpPr>
            <a:spLocks noGrp="1"/>
          </p:cNvSpPr>
          <p:nvPr>
            <p:ph type="sldNum" sz="quarter" idx="12"/>
          </p:nvPr>
        </p:nvSpPr>
        <p:spPr/>
        <p:txBody>
          <a:bodyPr/>
          <a:lstStyle/>
          <a:p>
            <a:fld id="{F9104BDA-D44F-4B11-86E7-6A4BB78558E2}" type="slidenum">
              <a:rPr lang="en-US" altLang="en-US" smtClean="0"/>
              <a:pPr/>
              <a:t>24</a:t>
            </a:fld>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re 1">
            <a:extLst>
              <a:ext uri="{FF2B5EF4-FFF2-40B4-BE49-F238E27FC236}">
                <a16:creationId xmlns:a16="http://schemas.microsoft.com/office/drawing/2014/main" id="{C3E6DA87-75A1-A72F-4DD8-46613C2027F4}"/>
              </a:ext>
            </a:extLst>
          </p:cNvPr>
          <p:cNvSpPr>
            <a:spLocks noGrp="1" noChangeArrowheads="1"/>
          </p:cNvSpPr>
          <p:nvPr>
            <p:ph type="title"/>
          </p:nvPr>
        </p:nvSpPr>
        <p:spPr/>
        <p:txBody>
          <a:bodyPr/>
          <a:lstStyle/>
          <a:p>
            <a:r>
              <a:rPr lang="fr-FR" altLang="en-US"/>
              <a:t>A Smart Contract?</a:t>
            </a:r>
          </a:p>
        </p:txBody>
      </p:sp>
      <p:sp>
        <p:nvSpPr>
          <p:cNvPr id="3" name="Espace réservé du contenu 2">
            <a:extLst>
              <a:ext uri="{FF2B5EF4-FFF2-40B4-BE49-F238E27FC236}">
                <a16:creationId xmlns:a16="http://schemas.microsoft.com/office/drawing/2014/main" id="{5837E2AC-3AAC-E4C2-0A77-AF84B9348EB8}"/>
              </a:ext>
            </a:extLst>
          </p:cNvPr>
          <p:cNvSpPr>
            <a:spLocks noGrp="1"/>
          </p:cNvSpPr>
          <p:nvPr>
            <p:ph idx="1"/>
          </p:nvPr>
        </p:nvSpPr>
        <p:spPr/>
        <p:txBody>
          <a:bodyPr/>
          <a:lstStyle/>
          <a:p>
            <a:pPr>
              <a:defRPr/>
            </a:pPr>
            <a:r>
              <a:rPr lang="fr-FR" sz="2800" dirty="0"/>
              <a:t>Can </a:t>
            </a:r>
            <a:r>
              <a:rPr lang="fr-FR" sz="2800" dirty="0" err="1"/>
              <a:t>this</a:t>
            </a:r>
            <a:r>
              <a:rPr lang="fr-FR" sz="2800" dirty="0"/>
              <a:t> </a:t>
            </a:r>
            <a:r>
              <a:rPr lang="fr-FR" sz="2800" dirty="0" err="1"/>
              <a:t>be</a:t>
            </a:r>
            <a:r>
              <a:rPr lang="fr-FR" sz="2800" dirty="0"/>
              <a:t> </a:t>
            </a:r>
            <a:r>
              <a:rPr lang="fr-FR" sz="2800" dirty="0" err="1"/>
              <a:t>done</a:t>
            </a:r>
            <a:r>
              <a:rPr lang="fr-FR" sz="2800" dirty="0"/>
              <a:t> </a:t>
            </a:r>
            <a:r>
              <a:rPr lang="fr-FR" sz="2800" dirty="0" err="1"/>
              <a:t>using</a:t>
            </a:r>
            <a:r>
              <a:rPr lang="fr-FR" sz="2800" dirty="0"/>
              <a:t> </a:t>
            </a:r>
            <a:r>
              <a:rPr lang="fr-FR" sz="2800" dirty="0" err="1"/>
              <a:t>bitcoin</a:t>
            </a:r>
            <a:r>
              <a:rPr lang="fr-FR" sz="2800" dirty="0"/>
              <a:t>?</a:t>
            </a:r>
          </a:p>
          <a:p>
            <a:pPr>
              <a:defRPr/>
            </a:pPr>
            <a:r>
              <a:rPr lang="fr-FR" sz="2800" dirty="0" err="1"/>
              <a:t>Bitcoin</a:t>
            </a:r>
            <a:r>
              <a:rPr lang="fr-FR" sz="2800" dirty="0"/>
              <a:t> has a </a:t>
            </a:r>
            <a:r>
              <a:rPr lang="fr-FR" sz="2800" dirty="0" err="1"/>
              <a:t>scripting</a:t>
            </a:r>
            <a:r>
              <a:rPr lang="fr-FR" sz="2800" dirty="0"/>
              <a:t> </a:t>
            </a:r>
            <a:r>
              <a:rPr lang="fr-FR" sz="2800" dirty="0" err="1"/>
              <a:t>language</a:t>
            </a:r>
            <a:r>
              <a:rPr lang="fr-FR" sz="2800" dirty="0"/>
              <a:t> </a:t>
            </a:r>
          </a:p>
          <a:p>
            <a:pPr marL="400050" lvl="1" indent="0">
              <a:defRPr/>
            </a:pPr>
            <a:r>
              <a:rPr lang="fr-FR" sz="2000" dirty="0" err="1"/>
              <a:t>Built</a:t>
            </a:r>
            <a:r>
              <a:rPr lang="fr-FR" sz="2000" dirty="0"/>
              <a:t> for </a:t>
            </a:r>
            <a:r>
              <a:rPr lang="fr-FR" sz="2000" dirty="0" err="1"/>
              <a:t>Bitcoin</a:t>
            </a:r>
            <a:r>
              <a:rPr lang="fr-FR" sz="2000" dirty="0"/>
              <a:t> (</a:t>
            </a:r>
            <a:r>
              <a:rPr lang="fr-FR" sz="2000" dirty="0" err="1"/>
              <a:t>inspired</a:t>
            </a:r>
            <a:r>
              <a:rPr lang="fr-FR" sz="2000" dirty="0"/>
              <a:t> by Forth)</a:t>
            </a:r>
          </a:p>
          <a:p>
            <a:pPr marL="400050" lvl="1" indent="0">
              <a:spcBef>
                <a:spcPct val="0"/>
              </a:spcBef>
              <a:defRPr/>
            </a:pPr>
            <a:r>
              <a:rPr lang="fr-FR" sz="2000" dirty="0"/>
              <a:t>Simple, compact</a:t>
            </a:r>
          </a:p>
          <a:p>
            <a:pPr marL="400050" lvl="1" indent="0">
              <a:spcBef>
                <a:spcPct val="0"/>
              </a:spcBef>
              <a:defRPr/>
            </a:pPr>
            <a:r>
              <a:rPr lang="fr-FR" sz="2000" dirty="0"/>
              <a:t>Support for </a:t>
            </a:r>
            <a:r>
              <a:rPr lang="fr-FR" sz="2000" dirty="0" err="1"/>
              <a:t>cryptography</a:t>
            </a:r>
            <a:endParaRPr lang="fr-FR" sz="2000" dirty="0"/>
          </a:p>
          <a:p>
            <a:pPr marL="400050" lvl="1" indent="0">
              <a:spcBef>
                <a:spcPct val="0"/>
              </a:spcBef>
              <a:defRPr/>
            </a:pPr>
            <a:r>
              <a:rPr lang="fr-FR" sz="2000" dirty="0" err="1"/>
              <a:t>Stack-based</a:t>
            </a:r>
            <a:endParaRPr lang="fr-FR" sz="2000" dirty="0"/>
          </a:p>
          <a:p>
            <a:pPr marL="400050" lvl="1" indent="0">
              <a:spcBef>
                <a:spcPct val="0"/>
              </a:spcBef>
              <a:defRPr/>
            </a:pPr>
            <a:r>
              <a:rPr lang="fr-FR" sz="2000" dirty="0" err="1"/>
              <a:t>Limits</a:t>
            </a:r>
            <a:r>
              <a:rPr lang="fr-FR" sz="2000" dirty="0"/>
              <a:t> on time/</a:t>
            </a:r>
            <a:r>
              <a:rPr lang="fr-FR" sz="2000" dirty="0" err="1"/>
              <a:t>memory</a:t>
            </a:r>
            <a:endParaRPr lang="fr-FR" sz="2000" dirty="0"/>
          </a:p>
          <a:p>
            <a:pPr marL="400050" lvl="1" indent="0">
              <a:spcBef>
                <a:spcPct val="0"/>
              </a:spcBef>
              <a:defRPr/>
            </a:pPr>
            <a:r>
              <a:rPr lang="fr-FR" sz="2000" dirty="0"/>
              <a:t>No looping</a:t>
            </a:r>
          </a:p>
          <a:p>
            <a:pPr lvl="1">
              <a:defRPr/>
            </a:pPr>
            <a:endParaRPr lang="fr-FR" sz="2400" dirty="0"/>
          </a:p>
          <a:p>
            <a:pPr>
              <a:defRPr/>
            </a:pPr>
            <a:endParaRPr lang="fr-FR" sz="2800" dirty="0"/>
          </a:p>
        </p:txBody>
      </p:sp>
      <p:sp>
        <p:nvSpPr>
          <p:cNvPr id="2" name="Slide Number Placeholder 1">
            <a:extLst>
              <a:ext uri="{FF2B5EF4-FFF2-40B4-BE49-F238E27FC236}">
                <a16:creationId xmlns:a16="http://schemas.microsoft.com/office/drawing/2014/main" id="{DCA698BE-F09B-00B8-9DB0-4CD2E1A92D6D}"/>
              </a:ext>
            </a:extLst>
          </p:cNvPr>
          <p:cNvSpPr>
            <a:spLocks noGrp="1"/>
          </p:cNvSpPr>
          <p:nvPr>
            <p:ph type="sldNum" sz="quarter" idx="12"/>
          </p:nvPr>
        </p:nvSpPr>
        <p:spPr/>
        <p:txBody>
          <a:bodyPr/>
          <a:lstStyle/>
          <a:p>
            <a:fld id="{F9104BDA-D44F-4B11-86E7-6A4BB78558E2}" type="slidenum">
              <a:rPr lang="en-US" altLang="en-US" smtClean="0"/>
              <a:pPr/>
              <a:t>25</a:t>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Google Shape;300;p32">
            <a:extLst>
              <a:ext uri="{FF2B5EF4-FFF2-40B4-BE49-F238E27FC236}">
                <a16:creationId xmlns:a16="http://schemas.microsoft.com/office/drawing/2014/main" id="{C7832200-1A68-2509-458E-E8CDF680B01F}"/>
              </a:ext>
            </a:extLst>
          </p:cNvPr>
          <p:cNvSpPr>
            <a:spLocks noGrp="1" noChangeArrowheads="1"/>
          </p:cNvSpPr>
          <p:nvPr>
            <p:ph type="title"/>
          </p:nvPr>
        </p:nvSpPr>
        <p:spPr>
          <a:xfrm>
            <a:off x="457200" y="274638"/>
            <a:ext cx="8229600" cy="1143000"/>
          </a:xfrm>
        </p:spPr>
        <p:txBody>
          <a:bodyPr/>
          <a:lstStyle/>
          <a:p>
            <a:pPr eaLnBrk="1" hangingPunct="1">
              <a:spcBef>
                <a:spcPct val="0"/>
              </a:spcBef>
              <a:spcAft>
                <a:spcPct val="0"/>
              </a:spcAft>
              <a:buSzTx/>
              <a:buFont typeface="Trebuchet MS" panose="020B0603020202020204" pitchFamily="34" charset="0"/>
              <a:buNone/>
            </a:pPr>
            <a:r>
              <a:rPr lang="fr-FR" altLang="en-US">
                <a:sym typeface="Trebuchet MS" panose="020B0603020202020204" pitchFamily="34" charset="0"/>
              </a:rPr>
              <a:t>Example 1: Escrow transactions</a:t>
            </a:r>
            <a:endParaRPr lang="fr-FR" altLang="en-US" i="1">
              <a:sym typeface="Trebuchet MS" panose="020B0603020202020204" pitchFamily="34" charset="0"/>
            </a:endParaRPr>
          </a:p>
        </p:txBody>
      </p:sp>
      <p:sp>
        <p:nvSpPr>
          <p:cNvPr id="301" name="Google Shape;301;p32">
            <a:extLst>
              <a:ext uri="{FF2B5EF4-FFF2-40B4-BE49-F238E27FC236}">
                <a16:creationId xmlns:a16="http://schemas.microsoft.com/office/drawing/2014/main" id="{86218DBE-A00B-80C2-EFBE-3AD8FEA2DC23}"/>
              </a:ext>
            </a:extLst>
          </p:cNvPr>
          <p:cNvSpPr/>
          <p:nvPr/>
        </p:nvSpPr>
        <p:spPr>
          <a:xfrm>
            <a:off x="146050" y="3698875"/>
            <a:ext cx="1425575" cy="1741488"/>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400" kern="0">
              <a:solidFill>
                <a:srgbClr val="000000"/>
              </a:solidFill>
              <a:latin typeface="Arial"/>
              <a:ea typeface="Arial"/>
              <a:cs typeface="Arial"/>
              <a:sym typeface="Arial"/>
            </a:endParaRPr>
          </a:p>
        </p:txBody>
      </p:sp>
      <p:sp>
        <p:nvSpPr>
          <p:cNvPr id="302" name="Google Shape;302;p32">
            <a:extLst>
              <a:ext uri="{FF2B5EF4-FFF2-40B4-BE49-F238E27FC236}">
                <a16:creationId xmlns:a16="http://schemas.microsoft.com/office/drawing/2014/main" id="{E9E7D2E4-1468-3CA3-0DCA-DDC3C772992D}"/>
              </a:ext>
            </a:extLst>
          </p:cNvPr>
          <p:cNvSpPr/>
          <p:nvPr/>
        </p:nvSpPr>
        <p:spPr>
          <a:xfrm>
            <a:off x="7112000" y="3698875"/>
            <a:ext cx="1427163" cy="1741488"/>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400" kern="0">
              <a:solidFill>
                <a:srgbClr val="000000"/>
              </a:solidFill>
              <a:latin typeface="Arial"/>
              <a:ea typeface="Arial"/>
              <a:cs typeface="Arial"/>
              <a:sym typeface="Arial"/>
            </a:endParaRPr>
          </a:p>
        </p:txBody>
      </p:sp>
      <p:sp>
        <p:nvSpPr>
          <p:cNvPr id="303" name="Google Shape;303;p32">
            <a:extLst>
              <a:ext uri="{FF2B5EF4-FFF2-40B4-BE49-F238E27FC236}">
                <a16:creationId xmlns:a16="http://schemas.microsoft.com/office/drawing/2014/main" id="{132B540C-1BC8-0818-05A7-862769AF3CC5}"/>
              </a:ext>
            </a:extLst>
          </p:cNvPr>
          <p:cNvSpPr>
            <a:spLocks noChangeArrowheads="1"/>
          </p:cNvSpPr>
          <p:nvPr/>
        </p:nvSpPr>
        <p:spPr bwMode="auto">
          <a:xfrm>
            <a:off x="1746250" y="5426075"/>
            <a:ext cx="5365750" cy="1301750"/>
          </a:xfrm>
          <a:prstGeom prst="roundRect">
            <a:avLst>
              <a:gd name="adj" fmla="val 16667"/>
            </a:avLst>
          </a:prstGeom>
          <a:solidFill>
            <a:srgbClr val="6AA84F"/>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r>
              <a:rPr lang="en-US" altLang="en-US" sz="1800" b="1">
                <a:solidFill>
                  <a:srgbClr val="000000"/>
                </a:solidFill>
                <a:latin typeface="Trebuchet MS" panose="020B0603020202020204" pitchFamily="34" charset="0"/>
                <a:sym typeface="Trebuchet MS" panose="020B0603020202020204" pitchFamily="34" charset="0"/>
              </a:rPr>
              <a:t>PROBLEM:</a:t>
            </a:r>
            <a:r>
              <a:rPr lang="en-US" altLang="en-US" sz="1800">
                <a:solidFill>
                  <a:srgbClr val="000000"/>
                </a:solidFill>
                <a:latin typeface="Trebuchet MS" panose="020B0603020202020204" pitchFamily="34" charset="0"/>
                <a:sym typeface="Trebuchet MS" panose="020B0603020202020204" pitchFamily="34" charset="0"/>
              </a:rPr>
              <a:t> Alice wants to buy online from Bob. Alice doesn</a:t>
            </a:r>
            <a:r>
              <a:rPr lang="en-US" altLang="fr-FR" sz="1800">
                <a:solidFill>
                  <a:srgbClr val="000000"/>
                </a:solidFill>
                <a:latin typeface="Trebuchet MS" panose="020B0603020202020204" pitchFamily="34" charset="0"/>
                <a:sym typeface="Trebuchet MS" panose="020B0603020202020204" pitchFamily="34" charset="0"/>
              </a:rPr>
              <a:t>’</a:t>
            </a:r>
            <a:r>
              <a:rPr lang="en-US" altLang="en-US" sz="1800">
                <a:solidFill>
                  <a:srgbClr val="000000"/>
                </a:solidFill>
                <a:latin typeface="Trebuchet MS" panose="020B0603020202020204" pitchFamily="34" charset="0"/>
                <a:sym typeface="Trebuchet MS" panose="020B0603020202020204" pitchFamily="34" charset="0"/>
              </a:rPr>
              <a:t>t want to pay until after Bob ships.</a:t>
            </a:r>
            <a:endParaRPr lang="fr-FR" altLang="en-US" sz="1800">
              <a:solidFill>
                <a:srgbClr val="000000"/>
              </a:solidFill>
              <a:latin typeface="Trebuchet MS" panose="020B0603020202020204" pitchFamily="34" charset="0"/>
              <a:sym typeface="Trebuchet MS" panose="020B0603020202020204" pitchFamily="34" charset="0"/>
            </a:endParaRPr>
          </a:p>
          <a:p>
            <a:pPr algn="ctr" eaLnBrk="1" hangingPunct="1">
              <a:spcBef>
                <a:spcPct val="0"/>
              </a:spcBef>
              <a:buClr>
                <a:srgbClr val="000000"/>
              </a:buClr>
              <a:buFontTx/>
              <a:buNone/>
            </a:pPr>
            <a:r>
              <a:rPr lang="en-US" altLang="en-US" sz="1800">
                <a:solidFill>
                  <a:srgbClr val="000000"/>
                </a:solidFill>
                <a:latin typeface="Trebuchet MS" panose="020B0603020202020204" pitchFamily="34" charset="0"/>
                <a:sym typeface="Trebuchet MS" panose="020B0603020202020204" pitchFamily="34" charset="0"/>
              </a:rPr>
              <a:t>Bob doesn</a:t>
            </a:r>
            <a:r>
              <a:rPr lang="en-US" altLang="fr-FR" sz="1800">
                <a:solidFill>
                  <a:srgbClr val="000000"/>
                </a:solidFill>
                <a:latin typeface="Trebuchet MS" panose="020B0603020202020204" pitchFamily="34" charset="0"/>
                <a:sym typeface="Trebuchet MS" panose="020B0603020202020204" pitchFamily="34" charset="0"/>
              </a:rPr>
              <a:t>’</a:t>
            </a:r>
            <a:r>
              <a:rPr lang="en-US" altLang="en-US" sz="1800">
                <a:solidFill>
                  <a:srgbClr val="000000"/>
                </a:solidFill>
                <a:latin typeface="Trebuchet MS" panose="020B0603020202020204" pitchFamily="34" charset="0"/>
                <a:sym typeface="Trebuchet MS" panose="020B0603020202020204" pitchFamily="34" charset="0"/>
              </a:rPr>
              <a:t>t want to ship until after Alice pays.</a:t>
            </a:r>
            <a:endParaRPr lang="fr-FR" altLang="en-US" sz="1800">
              <a:solidFill>
                <a:srgbClr val="000000"/>
              </a:solidFill>
              <a:latin typeface="Trebuchet MS" panose="020B0603020202020204" pitchFamily="34" charset="0"/>
              <a:sym typeface="Trebuchet MS" panose="020B0603020202020204" pitchFamily="34" charset="0"/>
            </a:endParaRPr>
          </a:p>
        </p:txBody>
      </p:sp>
      <p:sp>
        <p:nvSpPr>
          <p:cNvPr id="304" name="Google Shape;304;p32">
            <a:extLst>
              <a:ext uri="{FF2B5EF4-FFF2-40B4-BE49-F238E27FC236}">
                <a16:creationId xmlns:a16="http://schemas.microsoft.com/office/drawing/2014/main" id="{D69E932A-D07D-2949-B27E-B52086256CA6}"/>
              </a:ext>
            </a:extLst>
          </p:cNvPr>
          <p:cNvSpPr/>
          <p:nvPr/>
        </p:nvSpPr>
        <p:spPr>
          <a:xfrm>
            <a:off x="1895475" y="5426075"/>
            <a:ext cx="5002213" cy="887413"/>
          </a:xfrm>
          <a:prstGeom prst="rect">
            <a:avLst/>
          </a:prstGeom>
          <a:solidFill>
            <a:srgbClr val="FCE5CD"/>
          </a:solidFill>
          <a:ln w="19050" cap="flat" cmpd="sng">
            <a:solidFill>
              <a:srgbClr val="666666"/>
            </a:solidFill>
            <a:prstDash val="solid"/>
            <a:round/>
            <a:headEnd type="none" w="sm" len="sm"/>
            <a:tailEnd type="none" w="sm" len="sm"/>
          </a:ln>
        </p:spPr>
        <p:txBody>
          <a:bodyPr spcFirstLastPara="1" lIns="91425" tIns="91425" rIns="91425" bIns="91425" anchor="ctr"/>
          <a:lstStyle/>
          <a:p>
            <a:pPr eaLnBrk="1" fontAlgn="auto" hangingPunct="1">
              <a:lnSpc>
                <a:spcPct val="150000"/>
              </a:lnSpc>
              <a:spcBef>
                <a:spcPts val="0"/>
              </a:spcBef>
              <a:spcAft>
                <a:spcPts val="0"/>
              </a:spcAft>
              <a:buClr>
                <a:srgbClr val="000000"/>
              </a:buClr>
              <a:buFont typeface="Arial"/>
              <a:buNone/>
              <a:defRPr/>
            </a:pPr>
            <a:r>
              <a:rPr lang="en" sz="1800" kern="0">
                <a:solidFill>
                  <a:srgbClr val="000000"/>
                </a:solidFill>
                <a:latin typeface="Trebuchet MS"/>
                <a:ea typeface="Trebuchet MS"/>
                <a:cs typeface="Trebuchet MS"/>
                <a:sym typeface="Trebuchet MS"/>
              </a:rPr>
              <a:t>Pay </a:t>
            </a:r>
            <a:r>
              <a:rPr lang="en" sz="1800" i="1" kern="0">
                <a:solidFill>
                  <a:srgbClr val="000000"/>
                </a:solidFill>
                <a:latin typeface="Trebuchet MS"/>
                <a:ea typeface="Trebuchet MS"/>
                <a:cs typeface="Trebuchet MS"/>
                <a:sym typeface="Trebuchet MS"/>
              </a:rPr>
              <a:t>x</a:t>
            </a:r>
            <a:r>
              <a:rPr lang="en" sz="1800" kern="0">
                <a:solidFill>
                  <a:srgbClr val="000000"/>
                </a:solidFill>
                <a:latin typeface="Trebuchet MS"/>
                <a:ea typeface="Trebuchet MS"/>
                <a:cs typeface="Trebuchet MS"/>
                <a:sym typeface="Trebuchet MS"/>
              </a:rPr>
              <a:t> to 2-of-3 of Alice, Bob, Judy (MULTISIG)</a:t>
            </a:r>
            <a:endParaRPr sz="1800" kern="0" baseline="-25000">
              <a:solidFill>
                <a:srgbClr val="000000"/>
              </a:solidFill>
              <a:latin typeface="Trebuchet MS"/>
              <a:ea typeface="Trebuchet MS"/>
              <a:cs typeface="Trebuchet MS"/>
              <a:sym typeface="Trebuchet MS"/>
            </a:endParaRPr>
          </a:p>
          <a:p>
            <a:pPr algn="r" eaLnBrk="1" fontAlgn="auto" hangingPunct="1">
              <a:lnSpc>
                <a:spcPct val="115000"/>
              </a:lnSpc>
              <a:spcBef>
                <a:spcPts val="0"/>
              </a:spcBef>
              <a:spcAft>
                <a:spcPts val="0"/>
              </a:spcAft>
              <a:buClr>
                <a:srgbClr val="000000"/>
              </a:buClr>
              <a:buFont typeface="Arial"/>
              <a:buNone/>
              <a:defRPr/>
            </a:pPr>
            <a:r>
              <a:rPr lang="en" sz="1000" kern="0">
                <a:solidFill>
                  <a:srgbClr val="000000"/>
                </a:solidFill>
                <a:latin typeface="Trebuchet MS"/>
                <a:ea typeface="Trebuchet MS"/>
                <a:cs typeface="Trebuchet MS"/>
                <a:sym typeface="Trebuchet MS"/>
              </a:rPr>
              <a:t>SIGNED(ALICE)</a:t>
            </a:r>
            <a:endParaRPr sz="1000" kern="0">
              <a:solidFill>
                <a:srgbClr val="000000"/>
              </a:solidFill>
              <a:latin typeface="Trebuchet MS"/>
              <a:ea typeface="Trebuchet MS"/>
              <a:cs typeface="Trebuchet MS"/>
              <a:sym typeface="Trebuchet MS"/>
            </a:endParaRPr>
          </a:p>
        </p:txBody>
      </p:sp>
      <p:sp>
        <p:nvSpPr>
          <p:cNvPr id="305" name="Google Shape;305;p32">
            <a:extLst>
              <a:ext uri="{FF2B5EF4-FFF2-40B4-BE49-F238E27FC236}">
                <a16:creationId xmlns:a16="http://schemas.microsoft.com/office/drawing/2014/main" id="{6EBFE303-DF7B-B20E-41D7-255407D6143F}"/>
              </a:ext>
            </a:extLst>
          </p:cNvPr>
          <p:cNvSpPr txBox="1"/>
          <p:nvPr/>
        </p:nvSpPr>
        <p:spPr>
          <a:xfrm>
            <a:off x="7512050" y="5440363"/>
            <a:ext cx="627063" cy="430212"/>
          </a:xfrm>
          <a:prstGeom prst="rect">
            <a:avLst/>
          </a:prstGeom>
          <a:noFill/>
          <a:ln>
            <a:noFill/>
          </a:ln>
        </p:spPr>
        <p:txBody>
          <a:bodyPr spcFirstLastPara="1" lIns="91425" tIns="91425" rIns="91425" bIns="91425"/>
          <a:lstStyle/>
          <a:p>
            <a:pPr algn="ctr" eaLnBrk="1" fontAlgn="auto" hangingPunct="1">
              <a:spcBef>
                <a:spcPts val="0"/>
              </a:spcBef>
              <a:spcAft>
                <a:spcPts val="0"/>
              </a:spcAft>
              <a:buClr>
                <a:srgbClr val="000000"/>
              </a:buClr>
              <a:buFont typeface="Arial"/>
              <a:buNone/>
              <a:defRPr/>
            </a:pPr>
            <a:r>
              <a:rPr lang="en" sz="1400" kern="0">
                <a:solidFill>
                  <a:srgbClr val="000000"/>
                </a:solidFill>
                <a:latin typeface="Arial"/>
                <a:ea typeface="Arial"/>
                <a:cs typeface="Arial"/>
                <a:sym typeface="Arial"/>
              </a:rPr>
              <a:t>Bob</a:t>
            </a:r>
            <a:endParaRPr sz="1400" kern="0">
              <a:solidFill>
                <a:srgbClr val="000000"/>
              </a:solidFill>
              <a:latin typeface="Arial"/>
              <a:ea typeface="Arial"/>
              <a:cs typeface="Arial"/>
              <a:sym typeface="Arial"/>
            </a:endParaRPr>
          </a:p>
        </p:txBody>
      </p:sp>
      <p:sp>
        <p:nvSpPr>
          <p:cNvPr id="306" name="Google Shape;306;p32">
            <a:extLst>
              <a:ext uri="{FF2B5EF4-FFF2-40B4-BE49-F238E27FC236}">
                <a16:creationId xmlns:a16="http://schemas.microsoft.com/office/drawing/2014/main" id="{0B59271D-381E-10F3-51AE-EE324D9B5B30}"/>
              </a:ext>
            </a:extLst>
          </p:cNvPr>
          <p:cNvSpPr txBox="1"/>
          <p:nvPr/>
        </p:nvSpPr>
        <p:spPr>
          <a:xfrm>
            <a:off x="544513" y="5440363"/>
            <a:ext cx="628650" cy="430212"/>
          </a:xfrm>
          <a:prstGeom prst="rect">
            <a:avLst/>
          </a:prstGeom>
          <a:noFill/>
          <a:ln>
            <a:noFill/>
          </a:ln>
        </p:spPr>
        <p:txBody>
          <a:bodyPr spcFirstLastPara="1" lIns="91425" tIns="91425" rIns="91425" bIns="91425"/>
          <a:lstStyle/>
          <a:p>
            <a:pPr algn="ctr" eaLnBrk="1" fontAlgn="auto" hangingPunct="1">
              <a:spcBef>
                <a:spcPts val="0"/>
              </a:spcBef>
              <a:spcAft>
                <a:spcPts val="0"/>
              </a:spcAft>
              <a:buClr>
                <a:srgbClr val="000000"/>
              </a:buClr>
              <a:buFont typeface="Arial"/>
              <a:buNone/>
              <a:defRPr/>
            </a:pPr>
            <a:r>
              <a:rPr lang="en" sz="1400" kern="0">
                <a:solidFill>
                  <a:srgbClr val="000000"/>
                </a:solidFill>
                <a:latin typeface="Arial"/>
                <a:ea typeface="Arial"/>
                <a:cs typeface="Arial"/>
                <a:sym typeface="Arial"/>
              </a:rPr>
              <a:t>Alice</a:t>
            </a:r>
            <a:endParaRPr sz="1400" kern="0">
              <a:solidFill>
                <a:srgbClr val="000000"/>
              </a:solidFill>
              <a:latin typeface="Arial"/>
              <a:ea typeface="Arial"/>
              <a:cs typeface="Arial"/>
              <a:sym typeface="Arial"/>
            </a:endParaRPr>
          </a:p>
        </p:txBody>
      </p:sp>
      <p:sp>
        <p:nvSpPr>
          <p:cNvPr id="307" name="Google Shape;307;p32">
            <a:extLst>
              <a:ext uri="{FF2B5EF4-FFF2-40B4-BE49-F238E27FC236}">
                <a16:creationId xmlns:a16="http://schemas.microsoft.com/office/drawing/2014/main" id="{6805597A-3E4D-D213-C29B-A95A5BAC779A}"/>
              </a:ext>
            </a:extLst>
          </p:cNvPr>
          <p:cNvSpPr/>
          <p:nvPr/>
        </p:nvSpPr>
        <p:spPr>
          <a:xfrm>
            <a:off x="725488" y="1236663"/>
            <a:ext cx="1019175" cy="1244600"/>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400" kern="0">
              <a:solidFill>
                <a:srgbClr val="000000"/>
              </a:solidFill>
              <a:latin typeface="Arial"/>
              <a:ea typeface="Arial"/>
              <a:cs typeface="Arial"/>
              <a:sym typeface="Arial"/>
            </a:endParaRPr>
          </a:p>
        </p:txBody>
      </p:sp>
      <p:sp>
        <p:nvSpPr>
          <p:cNvPr id="308" name="Google Shape;308;p32">
            <a:extLst>
              <a:ext uri="{FF2B5EF4-FFF2-40B4-BE49-F238E27FC236}">
                <a16:creationId xmlns:a16="http://schemas.microsoft.com/office/drawing/2014/main" id="{6FA19F23-54EB-9337-222E-F904158A0BE8}"/>
              </a:ext>
            </a:extLst>
          </p:cNvPr>
          <p:cNvSpPr/>
          <p:nvPr/>
        </p:nvSpPr>
        <p:spPr>
          <a:xfrm>
            <a:off x="3692525" y="3530600"/>
            <a:ext cx="1300163" cy="1143000"/>
          </a:xfrm>
          <a:prstGeom prst="cube">
            <a:avLst>
              <a:gd name="adj" fmla="val 25000"/>
            </a:avLst>
          </a:prstGeom>
          <a:solidFill>
            <a:srgbClr val="B45F06"/>
          </a:solidFill>
          <a:ln w="19050" cap="flat" cmpd="sng">
            <a:solidFill>
              <a:schemeClr val="dk2"/>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r>
              <a:rPr lang="en" sz="1400" kern="0">
                <a:solidFill>
                  <a:srgbClr val="000000"/>
                </a:solidFill>
                <a:latin typeface="Arial"/>
                <a:ea typeface="Arial"/>
                <a:cs typeface="Arial"/>
                <a:sym typeface="Arial"/>
              </a:rPr>
              <a:t>To: Alice</a:t>
            </a:r>
            <a:endParaRPr sz="1400" kern="0">
              <a:solidFill>
                <a:srgbClr val="000000"/>
              </a:solidFill>
              <a:latin typeface="Arial"/>
              <a:ea typeface="Arial"/>
              <a:cs typeface="Arial"/>
              <a:sym typeface="Arial"/>
            </a:endParaRPr>
          </a:p>
          <a:p>
            <a:pPr eaLnBrk="1" fontAlgn="auto" hangingPunct="1">
              <a:spcBef>
                <a:spcPts val="0"/>
              </a:spcBef>
              <a:spcAft>
                <a:spcPts val="0"/>
              </a:spcAft>
              <a:buClr>
                <a:srgbClr val="000000"/>
              </a:buClr>
              <a:buFont typeface="Arial"/>
              <a:buNone/>
              <a:defRPr/>
            </a:pPr>
            <a:r>
              <a:rPr lang="en" sz="1400" kern="0">
                <a:solidFill>
                  <a:srgbClr val="000000"/>
                </a:solidFill>
                <a:latin typeface="Arial"/>
                <a:ea typeface="Arial"/>
                <a:cs typeface="Arial"/>
                <a:sym typeface="Arial"/>
              </a:rPr>
              <a:t>From: Bob</a:t>
            </a:r>
            <a:endParaRPr sz="1400" kern="0">
              <a:solidFill>
                <a:srgbClr val="000000"/>
              </a:solidFill>
              <a:latin typeface="Arial"/>
              <a:ea typeface="Arial"/>
              <a:cs typeface="Arial"/>
              <a:sym typeface="Arial"/>
            </a:endParaRPr>
          </a:p>
        </p:txBody>
      </p:sp>
      <p:cxnSp>
        <p:nvCxnSpPr>
          <p:cNvPr id="309" name="Google Shape;309;p32">
            <a:extLst>
              <a:ext uri="{FF2B5EF4-FFF2-40B4-BE49-F238E27FC236}">
                <a16:creationId xmlns:a16="http://schemas.microsoft.com/office/drawing/2014/main" id="{DB29513B-289A-68C4-8207-E772380F99E0}"/>
              </a:ext>
            </a:extLst>
          </p:cNvPr>
          <p:cNvCxnSpPr>
            <a:cxnSpLocks noChangeShapeType="1"/>
          </p:cNvCxnSpPr>
          <p:nvPr/>
        </p:nvCxnSpPr>
        <p:spPr bwMode="auto">
          <a:xfrm rot="10800000">
            <a:off x="1598613" y="4911725"/>
            <a:ext cx="5459412" cy="0"/>
          </a:xfrm>
          <a:prstGeom prst="straightConnector1">
            <a:avLst/>
          </a:prstGeom>
          <a:noFill/>
          <a:ln w="19050">
            <a:solidFill>
              <a:schemeClr val="bg2"/>
            </a:solidFill>
            <a:round/>
            <a:headEnd/>
            <a:tailEnd type="triangle" w="med" len="med"/>
          </a:ln>
          <a:extLst>
            <a:ext uri="{909E8E84-426E-40DD-AFC4-6F175D3DCCD1}">
              <a14:hiddenFill xmlns:a14="http://schemas.microsoft.com/office/drawing/2010/main">
                <a:noFill/>
              </a14:hiddenFill>
            </a:ext>
          </a:extLst>
        </p:spPr>
      </p:cxnSp>
      <p:sp>
        <p:nvSpPr>
          <p:cNvPr id="310" name="Google Shape;310;p32">
            <a:extLst>
              <a:ext uri="{FF2B5EF4-FFF2-40B4-BE49-F238E27FC236}">
                <a16:creationId xmlns:a16="http://schemas.microsoft.com/office/drawing/2014/main" id="{4BEAC146-DB6A-911F-98F6-F5DCE543B6F3}"/>
              </a:ext>
            </a:extLst>
          </p:cNvPr>
          <p:cNvSpPr/>
          <p:nvPr/>
        </p:nvSpPr>
        <p:spPr>
          <a:xfrm>
            <a:off x="1916113" y="2222500"/>
            <a:ext cx="5003800" cy="887413"/>
          </a:xfrm>
          <a:prstGeom prst="rect">
            <a:avLst/>
          </a:prstGeom>
          <a:solidFill>
            <a:srgbClr val="FCE5CD"/>
          </a:solidFill>
          <a:ln w="19050" cap="flat" cmpd="sng">
            <a:solidFill>
              <a:srgbClr val="666666"/>
            </a:solidFill>
            <a:prstDash val="solid"/>
            <a:round/>
            <a:headEnd type="none" w="sm" len="sm"/>
            <a:tailEnd type="none" w="sm" len="sm"/>
          </a:ln>
        </p:spPr>
        <p:txBody>
          <a:bodyPr spcFirstLastPara="1" lIns="91425" tIns="91425" rIns="91425" bIns="91425" anchor="ctr"/>
          <a:lstStyle/>
          <a:p>
            <a:pPr eaLnBrk="1" fontAlgn="auto" hangingPunct="1">
              <a:lnSpc>
                <a:spcPct val="150000"/>
              </a:lnSpc>
              <a:spcBef>
                <a:spcPts val="0"/>
              </a:spcBef>
              <a:spcAft>
                <a:spcPts val="0"/>
              </a:spcAft>
              <a:buClr>
                <a:srgbClr val="000000"/>
              </a:buClr>
              <a:buFont typeface="Arial"/>
              <a:buNone/>
              <a:defRPr/>
            </a:pPr>
            <a:r>
              <a:rPr lang="en" sz="1800" kern="0">
                <a:solidFill>
                  <a:srgbClr val="000000"/>
                </a:solidFill>
                <a:latin typeface="Trebuchet MS"/>
                <a:ea typeface="Trebuchet MS"/>
                <a:cs typeface="Trebuchet MS"/>
                <a:sym typeface="Trebuchet MS"/>
              </a:rPr>
              <a:t>Pay </a:t>
            </a:r>
            <a:r>
              <a:rPr lang="en" sz="1800" i="1" kern="0">
                <a:solidFill>
                  <a:srgbClr val="000000"/>
                </a:solidFill>
                <a:latin typeface="Trebuchet MS"/>
                <a:ea typeface="Trebuchet MS"/>
                <a:cs typeface="Trebuchet MS"/>
                <a:sym typeface="Trebuchet MS"/>
              </a:rPr>
              <a:t>x</a:t>
            </a:r>
            <a:r>
              <a:rPr lang="en" sz="1800" kern="0">
                <a:solidFill>
                  <a:srgbClr val="000000"/>
                </a:solidFill>
                <a:latin typeface="Trebuchet MS"/>
                <a:ea typeface="Trebuchet MS"/>
                <a:cs typeface="Trebuchet MS"/>
                <a:sym typeface="Trebuchet MS"/>
              </a:rPr>
              <a:t> to Bob</a:t>
            </a:r>
            <a:endParaRPr sz="1800" kern="0" baseline="-25000">
              <a:solidFill>
                <a:srgbClr val="000000"/>
              </a:solidFill>
              <a:latin typeface="Trebuchet MS"/>
              <a:ea typeface="Trebuchet MS"/>
              <a:cs typeface="Trebuchet MS"/>
              <a:sym typeface="Trebuchet MS"/>
            </a:endParaRPr>
          </a:p>
          <a:p>
            <a:pPr algn="r" eaLnBrk="1" fontAlgn="auto" hangingPunct="1">
              <a:lnSpc>
                <a:spcPct val="115000"/>
              </a:lnSpc>
              <a:spcBef>
                <a:spcPts val="0"/>
              </a:spcBef>
              <a:spcAft>
                <a:spcPts val="0"/>
              </a:spcAft>
              <a:buClr>
                <a:srgbClr val="000000"/>
              </a:buClr>
              <a:buFont typeface="Arial"/>
              <a:buNone/>
              <a:defRPr/>
            </a:pPr>
            <a:r>
              <a:rPr lang="en" sz="1000" kern="0">
                <a:solidFill>
                  <a:srgbClr val="000000"/>
                </a:solidFill>
                <a:latin typeface="Trebuchet MS"/>
                <a:ea typeface="Trebuchet MS"/>
                <a:cs typeface="Trebuchet MS"/>
                <a:sym typeface="Trebuchet MS"/>
              </a:rPr>
              <a:t>SIGNED(ALICE, BOB)</a:t>
            </a:r>
            <a:endParaRPr sz="1000" kern="0">
              <a:solidFill>
                <a:srgbClr val="000000"/>
              </a:solidFill>
              <a:latin typeface="Trebuchet MS"/>
              <a:ea typeface="Trebuchet MS"/>
              <a:cs typeface="Trebuchet MS"/>
              <a:sym typeface="Trebuchet MS"/>
            </a:endParaRPr>
          </a:p>
        </p:txBody>
      </p:sp>
      <p:cxnSp>
        <p:nvCxnSpPr>
          <p:cNvPr id="311" name="Google Shape;311;p32">
            <a:extLst>
              <a:ext uri="{FF2B5EF4-FFF2-40B4-BE49-F238E27FC236}">
                <a16:creationId xmlns:a16="http://schemas.microsoft.com/office/drawing/2014/main" id="{CDFA7C0E-F2AC-2E1E-38ED-9FBDCB2380AC}"/>
              </a:ext>
            </a:extLst>
          </p:cNvPr>
          <p:cNvCxnSpPr>
            <a:cxnSpLocks noChangeShapeType="1"/>
          </p:cNvCxnSpPr>
          <p:nvPr/>
        </p:nvCxnSpPr>
        <p:spPr bwMode="auto">
          <a:xfrm>
            <a:off x="2228850" y="2876550"/>
            <a:ext cx="212725" cy="2674938"/>
          </a:xfrm>
          <a:prstGeom prst="straightConnector1">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312" name="Google Shape;312;p32">
            <a:extLst>
              <a:ext uri="{FF2B5EF4-FFF2-40B4-BE49-F238E27FC236}">
                <a16:creationId xmlns:a16="http://schemas.microsoft.com/office/drawing/2014/main" id="{EA74BD97-FAD3-74D6-BB15-D19049A167F8}"/>
              </a:ext>
            </a:extLst>
          </p:cNvPr>
          <p:cNvSpPr txBox="1"/>
          <p:nvPr/>
        </p:nvSpPr>
        <p:spPr>
          <a:xfrm>
            <a:off x="2767013" y="1417638"/>
            <a:ext cx="3151187" cy="769937"/>
          </a:xfrm>
          <a:prstGeom prst="rect">
            <a:avLst/>
          </a:prstGeom>
          <a:noFill/>
          <a:ln>
            <a:noFill/>
          </a:ln>
        </p:spPr>
        <p:txBody>
          <a:bodyPr spcFirstLastPara="1" lIns="91425" tIns="91425" rIns="91425" bIns="91425"/>
          <a:lstStyle/>
          <a:p>
            <a:pPr eaLnBrk="1" fontAlgn="auto" hangingPunct="1">
              <a:spcBef>
                <a:spcPts val="0"/>
              </a:spcBef>
              <a:spcAft>
                <a:spcPts val="0"/>
              </a:spcAft>
              <a:buClr>
                <a:srgbClr val="000000"/>
              </a:buClr>
              <a:buFont typeface="Arial"/>
              <a:buNone/>
              <a:defRPr/>
            </a:pPr>
            <a:r>
              <a:rPr lang="en" sz="3000" kern="0">
                <a:solidFill>
                  <a:srgbClr val="000000"/>
                </a:solidFill>
                <a:latin typeface="Arial"/>
                <a:ea typeface="Arial"/>
                <a:cs typeface="Arial"/>
                <a:sym typeface="Arial"/>
              </a:rPr>
              <a:t>(normal case)</a:t>
            </a:r>
            <a:endParaRPr sz="3000" kern="0">
              <a:solidFill>
                <a:srgbClr val="000000"/>
              </a:solidFill>
              <a:latin typeface="Arial"/>
              <a:ea typeface="Arial"/>
              <a:cs typeface="Arial"/>
              <a:sym typeface="Arial"/>
            </a:endParaRPr>
          </a:p>
        </p:txBody>
      </p:sp>
      <p:sp>
        <p:nvSpPr>
          <p:cNvPr id="313" name="Google Shape;313;p32">
            <a:extLst>
              <a:ext uri="{FF2B5EF4-FFF2-40B4-BE49-F238E27FC236}">
                <a16:creationId xmlns:a16="http://schemas.microsoft.com/office/drawing/2014/main" id="{AE25AD43-E7F2-7E3A-D7D8-87D6BB7C7307}"/>
              </a:ext>
            </a:extLst>
          </p:cNvPr>
          <p:cNvSpPr/>
          <p:nvPr/>
        </p:nvSpPr>
        <p:spPr>
          <a:xfrm>
            <a:off x="4859338" y="3935413"/>
            <a:ext cx="133350" cy="331787"/>
          </a:xfrm>
          <a:prstGeom prst="irregularSeal2">
            <a:avLst/>
          </a:prstGeom>
          <a:solidFill>
            <a:schemeClr val="lt2"/>
          </a:solidFill>
          <a:ln w="19050" cap="flat" cmpd="sng">
            <a:solidFill>
              <a:schemeClr val="dk2"/>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400" kern="0">
              <a:solidFill>
                <a:srgbClr val="000000"/>
              </a:solidFill>
              <a:latin typeface="Arial"/>
              <a:ea typeface="Arial"/>
              <a:cs typeface="Arial"/>
              <a:sym typeface="Arial"/>
            </a:endParaRPr>
          </a:p>
        </p:txBody>
      </p:sp>
      <p:sp>
        <p:nvSpPr>
          <p:cNvPr id="314" name="Google Shape;314;p32">
            <a:extLst>
              <a:ext uri="{FF2B5EF4-FFF2-40B4-BE49-F238E27FC236}">
                <a16:creationId xmlns:a16="http://schemas.microsoft.com/office/drawing/2014/main" id="{5E93C620-3D63-BBF3-091A-C347312D56B6}"/>
              </a:ext>
            </a:extLst>
          </p:cNvPr>
          <p:cNvSpPr/>
          <p:nvPr/>
        </p:nvSpPr>
        <p:spPr>
          <a:xfrm rot="4877682">
            <a:off x="4186238" y="3471863"/>
            <a:ext cx="284162" cy="398462"/>
          </a:xfrm>
          <a:prstGeom prst="irregularSeal2">
            <a:avLst/>
          </a:prstGeom>
          <a:solidFill>
            <a:schemeClr val="lt2"/>
          </a:solidFill>
          <a:ln w="19050" cap="flat" cmpd="sng">
            <a:solidFill>
              <a:schemeClr val="dk2"/>
            </a:solidFill>
            <a:prstDash val="solid"/>
            <a:round/>
            <a:headEnd type="none" w="sm" len="sm"/>
            <a:tailEnd type="none" w="sm" len="sm"/>
          </a:ln>
        </p:spPr>
        <p:txBody>
          <a:bodyPr spcFirstLastPara="1" lIns="91425" tIns="91425" rIns="91425" bIns="91425" anchor="ctr"/>
          <a:lstStyle/>
          <a:p>
            <a:pPr eaLnBrk="1" fontAlgn="auto" hangingPunct="1">
              <a:spcBef>
                <a:spcPts val="0"/>
              </a:spcBef>
              <a:spcAft>
                <a:spcPts val="0"/>
              </a:spcAft>
              <a:buClr>
                <a:srgbClr val="000000"/>
              </a:buClr>
              <a:buFont typeface="Arial"/>
              <a:buNone/>
              <a:defRPr/>
            </a:pPr>
            <a:endParaRPr sz="1400" kern="0">
              <a:solidFill>
                <a:srgbClr val="000000"/>
              </a:solidFill>
              <a:latin typeface="Arial"/>
              <a:ea typeface="Arial"/>
              <a:cs typeface="Arial"/>
              <a:sym typeface="Arial"/>
            </a:endParaRPr>
          </a:p>
        </p:txBody>
      </p:sp>
      <p:sp>
        <p:nvSpPr>
          <p:cNvPr id="315" name="Google Shape;315;p32">
            <a:extLst>
              <a:ext uri="{FF2B5EF4-FFF2-40B4-BE49-F238E27FC236}">
                <a16:creationId xmlns:a16="http://schemas.microsoft.com/office/drawing/2014/main" id="{2E9B7D7F-9F81-1B0A-F10F-312BA82BE18C}"/>
              </a:ext>
            </a:extLst>
          </p:cNvPr>
          <p:cNvSpPr/>
          <p:nvPr/>
        </p:nvSpPr>
        <p:spPr>
          <a:xfrm>
            <a:off x="1906588" y="2259013"/>
            <a:ext cx="5002212" cy="887412"/>
          </a:xfrm>
          <a:prstGeom prst="rect">
            <a:avLst/>
          </a:prstGeom>
          <a:solidFill>
            <a:srgbClr val="FCE5CD"/>
          </a:solidFill>
          <a:ln w="19050" cap="flat" cmpd="sng">
            <a:solidFill>
              <a:srgbClr val="666666"/>
            </a:solidFill>
            <a:prstDash val="solid"/>
            <a:round/>
            <a:headEnd type="none" w="sm" len="sm"/>
            <a:tailEnd type="none" w="sm" len="sm"/>
          </a:ln>
        </p:spPr>
        <p:txBody>
          <a:bodyPr spcFirstLastPara="1" lIns="91425" tIns="91425" rIns="91425" bIns="91425" anchor="ctr"/>
          <a:lstStyle/>
          <a:p>
            <a:pPr eaLnBrk="1" fontAlgn="auto" hangingPunct="1">
              <a:lnSpc>
                <a:spcPct val="150000"/>
              </a:lnSpc>
              <a:spcBef>
                <a:spcPts val="0"/>
              </a:spcBef>
              <a:spcAft>
                <a:spcPts val="0"/>
              </a:spcAft>
              <a:buClr>
                <a:srgbClr val="000000"/>
              </a:buClr>
              <a:buFont typeface="Arial"/>
              <a:buNone/>
              <a:defRPr/>
            </a:pPr>
            <a:r>
              <a:rPr lang="en" sz="1800" kern="0">
                <a:solidFill>
                  <a:srgbClr val="000000"/>
                </a:solidFill>
                <a:latin typeface="Trebuchet MS"/>
                <a:ea typeface="Trebuchet MS"/>
                <a:cs typeface="Trebuchet MS"/>
                <a:sym typeface="Trebuchet MS"/>
              </a:rPr>
              <a:t>Pay </a:t>
            </a:r>
            <a:r>
              <a:rPr lang="en" sz="1800" i="1" kern="0">
                <a:solidFill>
                  <a:srgbClr val="000000"/>
                </a:solidFill>
                <a:latin typeface="Trebuchet MS"/>
                <a:ea typeface="Trebuchet MS"/>
                <a:cs typeface="Trebuchet MS"/>
                <a:sym typeface="Trebuchet MS"/>
              </a:rPr>
              <a:t>x</a:t>
            </a:r>
            <a:r>
              <a:rPr lang="en" sz="1800" kern="0">
                <a:solidFill>
                  <a:srgbClr val="000000"/>
                </a:solidFill>
                <a:latin typeface="Trebuchet MS"/>
                <a:ea typeface="Trebuchet MS"/>
                <a:cs typeface="Trebuchet MS"/>
                <a:sym typeface="Trebuchet MS"/>
              </a:rPr>
              <a:t> to Alice</a:t>
            </a:r>
            <a:endParaRPr sz="1800" kern="0" baseline="-25000">
              <a:solidFill>
                <a:srgbClr val="000000"/>
              </a:solidFill>
              <a:latin typeface="Trebuchet MS"/>
              <a:ea typeface="Trebuchet MS"/>
              <a:cs typeface="Trebuchet MS"/>
              <a:sym typeface="Trebuchet MS"/>
            </a:endParaRPr>
          </a:p>
          <a:p>
            <a:pPr algn="r" eaLnBrk="1" fontAlgn="auto" hangingPunct="1">
              <a:lnSpc>
                <a:spcPct val="115000"/>
              </a:lnSpc>
              <a:spcBef>
                <a:spcPts val="0"/>
              </a:spcBef>
              <a:spcAft>
                <a:spcPts val="0"/>
              </a:spcAft>
              <a:buClr>
                <a:srgbClr val="000000"/>
              </a:buClr>
              <a:buFont typeface="Arial"/>
              <a:buNone/>
              <a:defRPr/>
            </a:pPr>
            <a:r>
              <a:rPr lang="en" sz="1000" kern="0">
                <a:solidFill>
                  <a:srgbClr val="000000"/>
                </a:solidFill>
                <a:latin typeface="Trebuchet MS"/>
                <a:ea typeface="Trebuchet MS"/>
                <a:cs typeface="Trebuchet MS"/>
                <a:sym typeface="Trebuchet MS"/>
              </a:rPr>
              <a:t>SIGNED(ALICE, JUDY)</a:t>
            </a:r>
            <a:endParaRPr sz="1000" kern="0">
              <a:solidFill>
                <a:srgbClr val="000000"/>
              </a:solidFill>
              <a:latin typeface="Trebuchet MS"/>
              <a:ea typeface="Trebuchet MS"/>
              <a:cs typeface="Trebuchet MS"/>
              <a:sym typeface="Trebuchet MS"/>
            </a:endParaRPr>
          </a:p>
        </p:txBody>
      </p:sp>
      <p:sp>
        <p:nvSpPr>
          <p:cNvPr id="316" name="Google Shape;316;p32">
            <a:extLst>
              <a:ext uri="{FF2B5EF4-FFF2-40B4-BE49-F238E27FC236}">
                <a16:creationId xmlns:a16="http://schemas.microsoft.com/office/drawing/2014/main" id="{875C93A5-9020-77E5-2B57-4CC444DB5142}"/>
              </a:ext>
            </a:extLst>
          </p:cNvPr>
          <p:cNvSpPr txBox="1"/>
          <p:nvPr/>
        </p:nvSpPr>
        <p:spPr>
          <a:xfrm>
            <a:off x="2852738" y="1343025"/>
            <a:ext cx="3152775" cy="769938"/>
          </a:xfrm>
          <a:prstGeom prst="rect">
            <a:avLst/>
          </a:prstGeom>
          <a:noFill/>
          <a:ln>
            <a:noFill/>
          </a:ln>
        </p:spPr>
        <p:txBody>
          <a:bodyPr spcFirstLastPara="1" lIns="91425" tIns="91425" rIns="91425" bIns="91425"/>
          <a:lstStyle/>
          <a:p>
            <a:pPr eaLnBrk="1" fontAlgn="auto" hangingPunct="1">
              <a:spcBef>
                <a:spcPts val="0"/>
              </a:spcBef>
              <a:spcAft>
                <a:spcPts val="0"/>
              </a:spcAft>
              <a:buClr>
                <a:srgbClr val="000000"/>
              </a:buClr>
              <a:buFont typeface="Arial"/>
              <a:buNone/>
              <a:defRPr/>
            </a:pPr>
            <a:r>
              <a:rPr lang="en" sz="3000" kern="0">
                <a:solidFill>
                  <a:srgbClr val="000000"/>
                </a:solidFill>
                <a:latin typeface="Arial"/>
                <a:ea typeface="Arial"/>
                <a:cs typeface="Arial"/>
                <a:sym typeface="Arial"/>
              </a:rPr>
              <a:t>(disputed case)</a:t>
            </a:r>
            <a:endParaRPr sz="3000" kern="0">
              <a:solidFill>
                <a:srgbClr val="000000"/>
              </a:solidFill>
              <a:latin typeface="Arial"/>
              <a:ea typeface="Arial"/>
              <a:cs typeface="Arial"/>
              <a:sym typeface="Arial"/>
            </a:endParaRPr>
          </a:p>
        </p:txBody>
      </p:sp>
      <p:sp>
        <p:nvSpPr>
          <p:cNvPr id="317" name="Google Shape;317;p32">
            <a:extLst>
              <a:ext uri="{FF2B5EF4-FFF2-40B4-BE49-F238E27FC236}">
                <a16:creationId xmlns:a16="http://schemas.microsoft.com/office/drawing/2014/main" id="{BB65F5D9-075F-DE5D-7F25-3B21CE32C168}"/>
              </a:ext>
            </a:extLst>
          </p:cNvPr>
          <p:cNvSpPr txBox="1"/>
          <p:nvPr/>
        </p:nvSpPr>
        <p:spPr>
          <a:xfrm>
            <a:off x="863600" y="2451100"/>
            <a:ext cx="627063" cy="430213"/>
          </a:xfrm>
          <a:prstGeom prst="rect">
            <a:avLst/>
          </a:prstGeom>
          <a:noFill/>
          <a:ln>
            <a:noFill/>
          </a:ln>
        </p:spPr>
        <p:txBody>
          <a:bodyPr spcFirstLastPara="1" lIns="91425" tIns="91425" rIns="91425" bIns="91425"/>
          <a:lstStyle/>
          <a:p>
            <a:pPr algn="ctr" eaLnBrk="1" fontAlgn="auto" hangingPunct="1">
              <a:spcBef>
                <a:spcPts val="0"/>
              </a:spcBef>
              <a:spcAft>
                <a:spcPts val="0"/>
              </a:spcAft>
              <a:buClr>
                <a:srgbClr val="000000"/>
              </a:buClr>
              <a:buFont typeface="Arial"/>
              <a:buNone/>
              <a:defRPr/>
            </a:pPr>
            <a:r>
              <a:rPr lang="en" sz="1400" kern="0">
                <a:solidFill>
                  <a:srgbClr val="000000"/>
                </a:solidFill>
                <a:latin typeface="Arial"/>
                <a:ea typeface="Arial"/>
                <a:cs typeface="Arial"/>
                <a:sym typeface="Arial"/>
              </a:rPr>
              <a:t>Judy</a:t>
            </a:r>
            <a:endParaRPr sz="1400" kern="0">
              <a:solidFill>
                <a:srgbClr val="000000"/>
              </a:solidFill>
              <a:latin typeface="Arial"/>
              <a:ea typeface="Arial"/>
              <a:cs typeface="Arial"/>
              <a:sym typeface="Arial"/>
            </a:endParaRPr>
          </a:p>
        </p:txBody>
      </p:sp>
      <p:pic>
        <p:nvPicPr>
          <p:cNvPr id="318" name="Google Shape;318;p32">
            <a:extLst>
              <a:ext uri="{FF2B5EF4-FFF2-40B4-BE49-F238E27FC236}">
                <a16:creationId xmlns:a16="http://schemas.microsoft.com/office/drawing/2014/main" id="{BF5AABE7-126C-FC70-4CD5-639087303CF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874713"/>
            <a:ext cx="1300162" cy="245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nodeType="clickEffect">
                                  <p:stCondLst>
                                    <p:cond delay="0"/>
                                  </p:stCondLst>
                                  <p:childTnLst>
                                    <p:animEffect transition="out" filter="fade">
                                      <p:cBhvr>
                                        <p:cTn id="6" dur="1000"/>
                                        <p:tgtEl>
                                          <p:spTgt spid="303"/>
                                        </p:tgtEl>
                                      </p:cBhvr>
                                    </p:animEffect>
                                    <p:set>
                                      <p:cBhvr>
                                        <p:cTn id="7" dur="1" fill="hold">
                                          <p:stCondLst>
                                            <p:cond delay="1000"/>
                                          </p:stCondLst>
                                        </p:cTn>
                                        <p:tgtEl>
                                          <p:spTgt spid="303"/>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04"/>
                                        </p:tgtEl>
                                        <p:attrNameLst>
                                          <p:attrName>style.visibility</p:attrName>
                                        </p:attrNameLst>
                                      </p:cBhvr>
                                      <p:to>
                                        <p:strVal val="visible"/>
                                      </p:to>
                                    </p:set>
                                    <p:animEffect transition="in" filter="fade">
                                      <p:cBhvr>
                                        <p:cTn id="10" dur="1000"/>
                                        <p:tgtEl>
                                          <p:spTgt spid="30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309"/>
                                        </p:tgtEl>
                                        <p:attrNameLst>
                                          <p:attrName>style.visibility</p:attrName>
                                        </p:attrNameLst>
                                      </p:cBhvr>
                                      <p:to>
                                        <p:strVal val="visible"/>
                                      </p:to>
                                    </p:set>
                                    <p:animEffect transition="in" filter="fade">
                                      <p:cBhvr>
                                        <p:cTn id="15" dur="1000"/>
                                        <p:tgtEl>
                                          <p:spTgt spid="309"/>
                                        </p:tgtEl>
                                      </p:cBhvr>
                                    </p:animEffect>
                                  </p:childTnLst>
                                </p:cTn>
                              </p:par>
                              <p:par>
                                <p:cTn id="16" presetID="10" presetClass="entr" presetSubtype="0" fill="hold" nodeType="withEffect">
                                  <p:stCondLst>
                                    <p:cond delay="0"/>
                                  </p:stCondLst>
                                  <p:childTnLst>
                                    <p:set>
                                      <p:cBhvr>
                                        <p:cTn id="17" dur="1" fill="hold">
                                          <p:stCondLst>
                                            <p:cond delay="0"/>
                                          </p:stCondLst>
                                        </p:cTn>
                                        <p:tgtEl>
                                          <p:spTgt spid="308"/>
                                        </p:tgtEl>
                                        <p:attrNameLst>
                                          <p:attrName>style.visibility</p:attrName>
                                        </p:attrNameLst>
                                      </p:cBhvr>
                                      <p:to>
                                        <p:strVal val="visible"/>
                                      </p:to>
                                    </p:set>
                                    <p:animEffect transition="in" filter="fade">
                                      <p:cBhvr>
                                        <p:cTn id="18" dur="1000"/>
                                        <p:tgtEl>
                                          <p:spTgt spid="30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310"/>
                                        </p:tgtEl>
                                        <p:attrNameLst>
                                          <p:attrName>style.visibility</p:attrName>
                                        </p:attrNameLst>
                                      </p:cBhvr>
                                      <p:to>
                                        <p:strVal val="visible"/>
                                      </p:to>
                                    </p:set>
                                    <p:animEffect transition="in" filter="fade">
                                      <p:cBhvr>
                                        <p:cTn id="23" dur="1000"/>
                                        <p:tgtEl>
                                          <p:spTgt spid="310"/>
                                        </p:tgtEl>
                                      </p:cBhvr>
                                    </p:animEffect>
                                  </p:childTnLst>
                                </p:cTn>
                              </p:par>
                              <p:par>
                                <p:cTn id="24" presetID="10" presetClass="entr" presetSubtype="0" fill="hold" nodeType="withEffect">
                                  <p:stCondLst>
                                    <p:cond delay="0"/>
                                  </p:stCondLst>
                                  <p:childTnLst>
                                    <p:set>
                                      <p:cBhvr>
                                        <p:cTn id="25" dur="1" fill="hold">
                                          <p:stCondLst>
                                            <p:cond delay="0"/>
                                          </p:stCondLst>
                                        </p:cTn>
                                        <p:tgtEl>
                                          <p:spTgt spid="311"/>
                                        </p:tgtEl>
                                        <p:attrNameLst>
                                          <p:attrName>style.visibility</p:attrName>
                                        </p:attrNameLst>
                                      </p:cBhvr>
                                      <p:to>
                                        <p:strVal val="visible"/>
                                      </p:to>
                                    </p:set>
                                    <p:animEffect transition="in" filter="fade">
                                      <p:cBhvr>
                                        <p:cTn id="26" dur="1000"/>
                                        <p:tgtEl>
                                          <p:spTgt spid="311"/>
                                        </p:tgtEl>
                                      </p:cBhvr>
                                    </p:animEffect>
                                  </p:childTnLst>
                                </p:cTn>
                              </p:par>
                              <p:par>
                                <p:cTn id="27" presetID="10" presetClass="entr" presetSubtype="0" fill="hold" nodeType="withEffect">
                                  <p:stCondLst>
                                    <p:cond delay="0"/>
                                  </p:stCondLst>
                                  <p:childTnLst>
                                    <p:set>
                                      <p:cBhvr>
                                        <p:cTn id="28" dur="1" fill="hold">
                                          <p:stCondLst>
                                            <p:cond delay="0"/>
                                          </p:stCondLst>
                                        </p:cTn>
                                        <p:tgtEl>
                                          <p:spTgt spid="312"/>
                                        </p:tgtEl>
                                        <p:attrNameLst>
                                          <p:attrName>style.visibility</p:attrName>
                                        </p:attrNameLst>
                                      </p:cBhvr>
                                      <p:to>
                                        <p:strVal val="visible"/>
                                      </p:to>
                                    </p:set>
                                    <p:animEffect transition="in" filter="fade">
                                      <p:cBhvr>
                                        <p:cTn id="29" dur="1000"/>
                                        <p:tgtEl>
                                          <p:spTgt spid="3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xit" presetSubtype="0" fill="hold" nodeType="clickEffect">
                                  <p:stCondLst>
                                    <p:cond delay="0"/>
                                  </p:stCondLst>
                                  <p:childTnLst>
                                    <p:animEffect transition="out" filter="fade">
                                      <p:cBhvr>
                                        <p:cTn id="33" dur="1000"/>
                                        <p:tgtEl>
                                          <p:spTgt spid="310"/>
                                        </p:tgtEl>
                                      </p:cBhvr>
                                    </p:animEffect>
                                    <p:set>
                                      <p:cBhvr>
                                        <p:cTn id="34" dur="1" fill="hold">
                                          <p:stCondLst>
                                            <p:cond delay="1000"/>
                                          </p:stCondLst>
                                        </p:cTn>
                                        <p:tgtEl>
                                          <p:spTgt spid="310"/>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1000"/>
                                        <p:tgtEl>
                                          <p:spTgt spid="311"/>
                                        </p:tgtEl>
                                      </p:cBhvr>
                                    </p:animEffect>
                                    <p:set>
                                      <p:cBhvr>
                                        <p:cTn id="37" dur="1" fill="hold">
                                          <p:stCondLst>
                                            <p:cond delay="1000"/>
                                          </p:stCondLst>
                                        </p:cTn>
                                        <p:tgtEl>
                                          <p:spTgt spid="311"/>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1000"/>
                                        <p:tgtEl>
                                          <p:spTgt spid="312"/>
                                        </p:tgtEl>
                                      </p:cBhvr>
                                    </p:animEffect>
                                    <p:set>
                                      <p:cBhvr>
                                        <p:cTn id="40" dur="1" fill="hold">
                                          <p:stCondLst>
                                            <p:cond delay="1000"/>
                                          </p:stCondLst>
                                        </p:cTn>
                                        <p:tgtEl>
                                          <p:spTgt spid="312"/>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ntr" presetSubtype="0" fill="hold" nodeType="clickEffect">
                                  <p:stCondLst>
                                    <p:cond delay="0"/>
                                  </p:stCondLst>
                                  <p:childTnLst>
                                    <p:set>
                                      <p:cBhvr>
                                        <p:cTn id="44" dur="1" fill="hold">
                                          <p:stCondLst>
                                            <p:cond delay="0"/>
                                          </p:stCondLst>
                                        </p:cTn>
                                        <p:tgtEl>
                                          <p:spTgt spid="314"/>
                                        </p:tgtEl>
                                        <p:attrNameLst>
                                          <p:attrName>style.visibility</p:attrName>
                                        </p:attrNameLst>
                                      </p:cBhvr>
                                      <p:to>
                                        <p:strVal val="visible"/>
                                      </p:to>
                                    </p:set>
                                    <p:animEffect transition="in" filter="fade">
                                      <p:cBhvr>
                                        <p:cTn id="45" dur="1000"/>
                                        <p:tgtEl>
                                          <p:spTgt spid="314"/>
                                        </p:tgtEl>
                                      </p:cBhvr>
                                    </p:animEffect>
                                  </p:childTnLst>
                                </p:cTn>
                              </p:par>
                              <p:par>
                                <p:cTn id="46" presetID="10" presetClass="entr" presetSubtype="0" fill="hold" nodeType="withEffect">
                                  <p:stCondLst>
                                    <p:cond delay="0"/>
                                  </p:stCondLst>
                                  <p:childTnLst>
                                    <p:set>
                                      <p:cBhvr>
                                        <p:cTn id="47" dur="1" fill="hold">
                                          <p:stCondLst>
                                            <p:cond delay="0"/>
                                          </p:stCondLst>
                                        </p:cTn>
                                        <p:tgtEl>
                                          <p:spTgt spid="313"/>
                                        </p:tgtEl>
                                        <p:attrNameLst>
                                          <p:attrName>style.visibility</p:attrName>
                                        </p:attrNameLst>
                                      </p:cBhvr>
                                      <p:to>
                                        <p:strVal val="visible"/>
                                      </p:to>
                                    </p:set>
                                    <p:animEffect transition="in" filter="fade">
                                      <p:cBhvr>
                                        <p:cTn id="48" dur="1000"/>
                                        <p:tgtEl>
                                          <p:spTgt spid="31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nodeType="clickEffect">
                                  <p:stCondLst>
                                    <p:cond delay="0"/>
                                  </p:stCondLst>
                                  <p:childTnLst>
                                    <p:set>
                                      <p:cBhvr>
                                        <p:cTn id="52" dur="1" fill="hold">
                                          <p:stCondLst>
                                            <p:cond delay="0"/>
                                          </p:stCondLst>
                                        </p:cTn>
                                        <p:tgtEl>
                                          <p:spTgt spid="307"/>
                                        </p:tgtEl>
                                        <p:attrNameLst>
                                          <p:attrName>style.visibility</p:attrName>
                                        </p:attrNameLst>
                                      </p:cBhvr>
                                      <p:to>
                                        <p:strVal val="visible"/>
                                      </p:to>
                                    </p:set>
                                    <p:animEffect transition="in" filter="fade">
                                      <p:cBhvr>
                                        <p:cTn id="53" dur="1000"/>
                                        <p:tgtEl>
                                          <p:spTgt spid="307"/>
                                        </p:tgtEl>
                                      </p:cBhvr>
                                    </p:animEffect>
                                  </p:childTnLst>
                                </p:cTn>
                              </p:par>
                              <p:par>
                                <p:cTn id="54" presetID="10" presetClass="entr" presetSubtype="0" fill="hold" nodeType="withEffect">
                                  <p:stCondLst>
                                    <p:cond delay="0"/>
                                  </p:stCondLst>
                                  <p:childTnLst>
                                    <p:set>
                                      <p:cBhvr>
                                        <p:cTn id="55" dur="1" fill="hold">
                                          <p:stCondLst>
                                            <p:cond delay="0"/>
                                          </p:stCondLst>
                                        </p:cTn>
                                        <p:tgtEl>
                                          <p:spTgt spid="318"/>
                                        </p:tgtEl>
                                        <p:attrNameLst>
                                          <p:attrName>style.visibility</p:attrName>
                                        </p:attrNameLst>
                                      </p:cBhvr>
                                      <p:to>
                                        <p:strVal val="visible"/>
                                      </p:to>
                                    </p:set>
                                    <p:animEffect transition="in" filter="fade">
                                      <p:cBhvr>
                                        <p:cTn id="56" dur="1000"/>
                                        <p:tgtEl>
                                          <p:spTgt spid="318"/>
                                        </p:tgtEl>
                                      </p:cBhvr>
                                    </p:animEffect>
                                  </p:childTnLst>
                                </p:cTn>
                              </p:par>
                              <p:par>
                                <p:cTn id="57" presetID="10" presetClass="entr" presetSubtype="0" fill="hold" nodeType="withEffect">
                                  <p:stCondLst>
                                    <p:cond delay="0"/>
                                  </p:stCondLst>
                                  <p:childTnLst>
                                    <p:set>
                                      <p:cBhvr>
                                        <p:cTn id="58" dur="1" fill="hold">
                                          <p:stCondLst>
                                            <p:cond delay="0"/>
                                          </p:stCondLst>
                                        </p:cTn>
                                        <p:tgtEl>
                                          <p:spTgt spid="315"/>
                                        </p:tgtEl>
                                        <p:attrNameLst>
                                          <p:attrName>style.visibility</p:attrName>
                                        </p:attrNameLst>
                                      </p:cBhvr>
                                      <p:to>
                                        <p:strVal val="visible"/>
                                      </p:to>
                                    </p:set>
                                    <p:animEffect transition="in" filter="fade">
                                      <p:cBhvr>
                                        <p:cTn id="59" dur="1000"/>
                                        <p:tgtEl>
                                          <p:spTgt spid="315"/>
                                        </p:tgtEl>
                                      </p:cBhvr>
                                    </p:animEffect>
                                  </p:childTnLst>
                                </p:cTn>
                              </p:par>
                              <p:par>
                                <p:cTn id="60" presetID="10" presetClass="entr" presetSubtype="0" fill="hold" nodeType="withEffect">
                                  <p:stCondLst>
                                    <p:cond delay="0"/>
                                  </p:stCondLst>
                                  <p:childTnLst>
                                    <p:set>
                                      <p:cBhvr>
                                        <p:cTn id="61" dur="1" fill="hold">
                                          <p:stCondLst>
                                            <p:cond delay="0"/>
                                          </p:stCondLst>
                                        </p:cTn>
                                        <p:tgtEl>
                                          <p:spTgt spid="317"/>
                                        </p:tgtEl>
                                        <p:attrNameLst>
                                          <p:attrName>style.visibility</p:attrName>
                                        </p:attrNameLst>
                                      </p:cBhvr>
                                      <p:to>
                                        <p:strVal val="visible"/>
                                      </p:to>
                                    </p:set>
                                    <p:animEffect transition="in" filter="fade">
                                      <p:cBhvr>
                                        <p:cTn id="62" dur="1000"/>
                                        <p:tgtEl>
                                          <p:spTgt spid="317"/>
                                        </p:tgtEl>
                                      </p:cBhvr>
                                    </p:animEffect>
                                  </p:childTnLst>
                                </p:cTn>
                              </p:par>
                              <p:par>
                                <p:cTn id="63" presetID="10" presetClass="entr" presetSubtype="0" fill="hold" nodeType="withEffect">
                                  <p:stCondLst>
                                    <p:cond delay="0"/>
                                  </p:stCondLst>
                                  <p:childTnLst>
                                    <p:set>
                                      <p:cBhvr>
                                        <p:cTn id="64" dur="1" fill="hold">
                                          <p:stCondLst>
                                            <p:cond delay="0"/>
                                          </p:stCondLst>
                                        </p:cTn>
                                        <p:tgtEl>
                                          <p:spTgt spid="316"/>
                                        </p:tgtEl>
                                        <p:attrNameLst>
                                          <p:attrName>style.visibility</p:attrName>
                                        </p:attrNameLst>
                                      </p:cBhvr>
                                      <p:to>
                                        <p:strVal val="visible"/>
                                      </p:to>
                                    </p:set>
                                    <p:animEffect transition="in" filter="fade">
                                      <p:cBhvr>
                                        <p:cTn id="65" dur="1000"/>
                                        <p:tgtEl>
                                          <p:spTgt spid="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Google Shape;244;p26">
            <a:extLst>
              <a:ext uri="{FF2B5EF4-FFF2-40B4-BE49-F238E27FC236}">
                <a16:creationId xmlns:a16="http://schemas.microsoft.com/office/drawing/2014/main" id="{AE36A50F-D3B2-0F64-40D0-6D4DB05A47CA}"/>
              </a:ext>
            </a:extLst>
          </p:cNvPr>
          <p:cNvSpPr>
            <a:spLocks noGrp="1" noChangeArrowheads="1"/>
          </p:cNvSpPr>
          <p:nvPr>
            <p:ph type="title"/>
          </p:nvPr>
        </p:nvSpPr>
        <p:spPr/>
        <p:txBody>
          <a:bodyPr/>
          <a:lstStyle/>
          <a:p>
            <a:r>
              <a:rPr lang="fr-FR" altLang="en-US" sz="3200"/>
              <a:t>Bitcoin scripts in practice</a:t>
            </a:r>
            <a:endParaRPr lang="fr-FR" altLang="en-US" sz="3200" i="1"/>
          </a:p>
        </p:txBody>
      </p:sp>
      <p:sp>
        <p:nvSpPr>
          <p:cNvPr id="46082" name="Google Shape;245;p26">
            <a:extLst>
              <a:ext uri="{FF2B5EF4-FFF2-40B4-BE49-F238E27FC236}">
                <a16:creationId xmlns:a16="http://schemas.microsoft.com/office/drawing/2014/main" id="{1A88F3D7-A16B-5270-1F41-5D61E088D2B6}"/>
              </a:ext>
            </a:extLst>
          </p:cNvPr>
          <p:cNvSpPr>
            <a:spLocks noGrp="1" noChangeArrowheads="1"/>
          </p:cNvSpPr>
          <p:nvPr>
            <p:ph idx="1"/>
          </p:nvPr>
        </p:nvSpPr>
        <p:spPr/>
        <p:txBody>
          <a:bodyPr/>
          <a:lstStyle/>
          <a:p>
            <a:pPr indent="-457200"/>
            <a:r>
              <a:rPr lang="fr-FR" altLang="en-US" sz="2400"/>
              <a:t>Most nodes whitelist known scripts</a:t>
            </a:r>
          </a:p>
          <a:p>
            <a:pPr indent="-457200">
              <a:spcBef>
                <a:spcPct val="0"/>
              </a:spcBef>
            </a:pPr>
            <a:r>
              <a:rPr lang="fr-FR" altLang="en-US" sz="2400"/>
              <a:t>99.9% are simple signature checks</a:t>
            </a:r>
          </a:p>
          <a:p>
            <a:pPr indent="-457200">
              <a:spcBef>
                <a:spcPct val="0"/>
              </a:spcBef>
            </a:pPr>
            <a:r>
              <a:rPr lang="fr-FR" altLang="en-US" sz="2400"/>
              <a:t>~0.01% are MULTISIG</a:t>
            </a:r>
          </a:p>
          <a:p>
            <a:pPr indent="-457200">
              <a:spcBef>
                <a:spcPct val="0"/>
              </a:spcBef>
            </a:pPr>
            <a:r>
              <a:rPr lang="fr-FR" altLang="en-US" sz="2400"/>
              <a:t>~0.01% are </a:t>
            </a:r>
            <a:r>
              <a:rPr lang="fr-FR" altLang="en-US" sz="2400">
                <a:solidFill>
                  <a:srgbClr val="0000FF"/>
                </a:solidFill>
              </a:rPr>
              <a:t>Pay-to-Script-Hash</a:t>
            </a:r>
          </a:p>
          <a:p>
            <a:pPr indent="-457200">
              <a:spcBef>
                <a:spcPct val="0"/>
              </a:spcBef>
              <a:buClr>
                <a:srgbClr val="000000"/>
              </a:buClr>
            </a:pPr>
            <a:r>
              <a:rPr lang="fr-FR" altLang="en-US" sz="2400">
                <a:solidFill>
                  <a:srgbClr val="000000"/>
                </a:solidFill>
              </a:rPr>
              <a:t>Remainder are errors, proof-of-burn</a:t>
            </a:r>
          </a:p>
        </p:txBody>
      </p:sp>
      <p:sp>
        <p:nvSpPr>
          <p:cNvPr id="2" name="Slide Number Placeholder 1">
            <a:extLst>
              <a:ext uri="{FF2B5EF4-FFF2-40B4-BE49-F238E27FC236}">
                <a16:creationId xmlns:a16="http://schemas.microsoft.com/office/drawing/2014/main" id="{FCE341FD-7A76-DC57-0291-E3877EA97EE1}"/>
              </a:ext>
            </a:extLst>
          </p:cNvPr>
          <p:cNvSpPr>
            <a:spLocks noGrp="1"/>
          </p:cNvSpPr>
          <p:nvPr>
            <p:ph type="sldNum" sz="quarter" idx="12"/>
          </p:nvPr>
        </p:nvSpPr>
        <p:spPr/>
        <p:txBody>
          <a:bodyPr/>
          <a:lstStyle/>
          <a:p>
            <a:fld id="{F9104BDA-D44F-4B11-86E7-6A4BB78558E2}" type="slidenum">
              <a:rPr lang="en-US" altLang="en-US" smtClean="0"/>
              <a:pPr/>
              <a:t>27</a:t>
            </a:fld>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re 1">
            <a:extLst>
              <a:ext uri="{FF2B5EF4-FFF2-40B4-BE49-F238E27FC236}">
                <a16:creationId xmlns:a16="http://schemas.microsoft.com/office/drawing/2014/main" id="{C2A56C50-8BBC-74E7-D85B-B020A5DBD3F9}"/>
              </a:ext>
            </a:extLst>
          </p:cNvPr>
          <p:cNvSpPr>
            <a:spLocks noGrp="1" noChangeArrowheads="1"/>
          </p:cNvSpPr>
          <p:nvPr>
            <p:ph type="title"/>
          </p:nvPr>
        </p:nvSpPr>
        <p:spPr/>
        <p:txBody>
          <a:bodyPr/>
          <a:lstStyle/>
          <a:p>
            <a:r>
              <a:rPr lang="fr-FR" altLang="en-US"/>
              <a:t>Smart Contracts - Ethereum</a:t>
            </a:r>
          </a:p>
        </p:txBody>
      </p:sp>
      <p:sp>
        <p:nvSpPr>
          <p:cNvPr id="48130" name="Espace réservé du contenu 2">
            <a:extLst>
              <a:ext uri="{FF2B5EF4-FFF2-40B4-BE49-F238E27FC236}">
                <a16:creationId xmlns:a16="http://schemas.microsoft.com/office/drawing/2014/main" id="{5C696E79-88FB-460E-8669-DE3F13FCD760}"/>
              </a:ext>
            </a:extLst>
          </p:cNvPr>
          <p:cNvSpPr>
            <a:spLocks noGrp="1" noChangeArrowheads="1"/>
          </p:cNvSpPr>
          <p:nvPr>
            <p:ph idx="1"/>
          </p:nvPr>
        </p:nvSpPr>
        <p:spPr/>
        <p:txBody>
          <a:bodyPr/>
          <a:lstStyle/>
          <a:p>
            <a:r>
              <a:rPr lang="fr-FR" altLang="en-US" sz="2800"/>
              <a:t>It is possible to create similar contract using solidity</a:t>
            </a:r>
          </a:p>
          <a:p>
            <a:pPr lvl="1"/>
            <a:r>
              <a:rPr lang="fr-FR" altLang="en-US" sz="2400"/>
              <a:t>One of the languages for writing smart contract!!</a:t>
            </a:r>
          </a:p>
          <a:p>
            <a:pPr lvl="1"/>
            <a:r>
              <a:rPr lang="fr-FR" altLang="en-US" sz="2400"/>
              <a:t>The language is Turing-Complete and it</a:t>
            </a:r>
            <a:r>
              <a:rPr lang="fr-FR" altLang="fr-FR" sz="2400"/>
              <a:t>’</a:t>
            </a:r>
            <a:r>
              <a:rPr lang="fr-FR" altLang="en-US" sz="2400"/>
              <a:t>s possible to implement any programmable logic.</a:t>
            </a:r>
          </a:p>
          <a:p>
            <a:pPr lvl="1"/>
            <a:r>
              <a:rPr lang="fr-FR" altLang="en-US" sz="2400"/>
              <a:t>It has variables, functions, conditions, loops and even some imitation of classes and inheritance.</a:t>
            </a:r>
          </a:p>
        </p:txBody>
      </p:sp>
      <p:sp>
        <p:nvSpPr>
          <p:cNvPr id="2" name="Slide Number Placeholder 1">
            <a:extLst>
              <a:ext uri="{FF2B5EF4-FFF2-40B4-BE49-F238E27FC236}">
                <a16:creationId xmlns:a16="http://schemas.microsoft.com/office/drawing/2014/main" id="{B984851F-C1BC-11B2-6941-4483AE3CD1D4}"/>
              </a:ext>
            </a:extLst>
          </p:cNvPr>
          <p:cNvSpPr>
            <a:spLocks noGrp="1"/>
          </p:cNvSpPr>
          <p:nvPr>
            <p:ph type="sldNum" sz="quarter" idx="12"/>
          </p:nvPr>
        </p:nvSpPr>
        <p:spPr/>
        <p:txBody>
          <a:bodyPr/>
          <a:lstStyle/>
          <a:p>
            <a:fld id="{F9104BDA-D44F-4B11-86E7-6A4BB78558E2}" type="slidenum">
              <a:rPr lang="en-US" altLang="en-US" smtClean="0"/>
              <a:pPr/>
              <a:t>28</a:t>
            </a:fld>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re 1">
            <a:extLst>
              <a:ext uri="{FF2B5EF4-FFF2-40B4-BE49-F238E27FC236}">
                <a16:creationId xmlns:a16="http://schemas.microsoft.com/office/drawing/2014/main" id="{4E13E589-8FD5-1259-D2CC-FD6DE374A563}"/>
              </a:ext>
            </a:extLst>
          </p:cNvPr>
          <p:cNvSpPr>
            <a:spLocks noGrp="1" noChangeArrowheads="1"/>
          </p:cNvSpPr>
          <p:nvPr>
            <p:ph type="title"/>
          </p:nvPr>
        </p:nvSpPr>
        <p:spPr/>
        <p:txBody>
          <a:bodyPr/>
          <a:lstStyle/>
          <a:p>
            <a:r>
              <a:rPr lang="fr-FR" altLang="en-US"/>
              <a:t>Smart Contracts - Ethereum</a:t>
            </a:r>
          </a:p>
        </p:txBody>
      </p:sp>
      <p:sp>
        <p:nvSpPr>
          <p:cNvPr id="49154" name="Espace réservé du contenu 2">
            <a:extLst>
              <a:ext uri="{FF2B5EF4-FFF2-40B4-BE49-F238E27FC236}">
                <a16:creationId xmlns:a16="http://schemas.microsoft.com/office/drawing/2014/main" id="{E92897EB-3B21-CBBA-1525-A31B27A6DD92}"/>
              </a:ext>
            </a:extLst>
          </p:cNvPr>
          <p:cNvSpPr>
            <a:spLocks noGrp="1" noChangeArrowheads="1"/>
          </p:cNvSpPr>
          <p:nvPr>
            <p:ph idx="1"/>
          </p:nvPr>
        </p:nvSpPr>
        <p:spPr/>
        <p:txBody>
          <a:bodyPr/>
          <a:lstStyle/>
          <a:p>
            <a:r>
              <a:rPr lang="fr-FR" altLang="en-US" sz="2400"/>
              <a:t>Once you write a contract, it is placed on the blockchain. Even having own address.</a:t>
            </a:r>
          </a:p>
          <a:p>
            <a:endParaRPr lang="fr-FR" altLang="en-US" sz="2400"/>
          </a:p>
          <a:p>
            <a:r>
              <a:rPr lang="fr-FR" altLang="en-US" sz="2400"/>
              <a:t>This alex-to-kate contract lives in the blockchain forever. </a:t>
            </a:r>
          </a:p>
          <a:p>
            <a:r>
              <a:rPr lang="fr-FR" altLang="en-US" sz="2400"/>
              <a:t>It can be invoked multiple times for bob-to-kate and charlie-to-kate and even alice-to-bob rentals. </a:t>
            </a:r>
          </a:p>
        </p:txBody>
      </p:sp>
      <p:sp>
        <p:nvSpPr>
          <p:cNvPr id="2" name="Slide Number Placeholder 1">
            <a:extLst>
              <a:ext uri="{FF2B5EF4-FFF2-40B4-BE49-F238E27FC236}">
                <a16:creationId xmlns:a16="http://schemas.microsoft.com/office/drawing/2014/main" id="{7DBDB437-13BB-3AB9-C83C-D8B5585A8C27}"/>
              </a:ext>
            </a:extLst>
          </p:cNvPr>
          <p:cNvSpPr>
            <a:spLocks noGrp="1"/>
          </p:cNvSpPr>
          <p:nvPr>
            <p:ph type="sldNum" sz="quarter" idx="12"/>
          </p:nvPr>
        </p:nvSpPr>
        <p:spPr/>
        <p:txBody>
          <a:bodyPr/>
          <a:lstStyle/>
          <a:p>
            <a:fld id="{F9104BDA-D44F-4B11-86E7-6A4BB78558E2}" type="slidenum">
              <a:rPr lang="en-US" altLang="en-US" smtClean="0"/>
              <a:pPr/>
              <a:t>29</a:t>
            </a:fld>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re 3">
            <a:extLst>
              <a:ext uri="{FF2B5EF4-FFF2-40B4-BE49-F238E27FC236}">
                <a16:creationId xmlns:a16="http://schemas.microsoft.com/office/drawing/2014/main" id="{CBF3DA2F-B5C9-01BC-C185-D306BFE3AB2F}"/>
              </a:ext>
            </a:extLst>
          </p:cNvPr>
          <p:cNvSpPr>
            <a:spLocks noGrp="1" noChangeArrowheads="1"/>
          </p:cNvSpPr>
          <p:nvPr>
            <p:ph type="title"/>
          </p:nvPr>
        </p:nvSpPr>
        <p:spPr>
          <a:xfrm>
            <a:off x="304800" y="2667000"/>
            <a:ext cx="8229600" cy="685800"/>
          </a:xfrm>
        </p:spPr>
        <p:txBody>
          <a:bodyPr/>
          <a:lstStyle/>
          <a:p>
            <a:r>
              <a:rPr lang="fr-FR" altLang="en-US" sz="3200"/>
              <a:t>Who and How Executes Smart Contracts?</a:t>
            </a:r>
          </a:p>
        </p:txBody>
      </p:sp>
      <p:cxnSp>
        <p:nvCxnSpPr>
          <p:cNvPr id="6" name="Connecteur droit 5">
            <a:extLst>
              <a:ext uri="{FF2B5EF4-FFF2-40B4-BE49-F238E27FC236}">
                <a16:creationId xmlns:a16="http://schemas.microsoft.com/office/drawing/2014/main" id="{511F9E4B-2D11-EAB9-3BB6-6A0A70B5DA24}"/>
              </a:ext>
            </a:extLst>
          </p:cNvPr>
          <p:cNvCxnSpPr>
            <a:cxnSpLocks noChangeShapeType="1"/>
          </p:cNvCxnSpPr>
          <p:nvPr/>
        </p:nvCxnSpPr>
        <p:spPr bwMode="auto">
          <a:xfrm flipH="1">
            <a:off x="4876800" y="3048000"/>
            <a:ext cx="3352800" cy="0"/>
          </a:xfrm>
          <a:prstGeom prst="line">
            <a:avLst/>
          </a:prstGeom>
          <a:noFill/>
          <a:ln w="57150">
            <a:solidFill>
              <a:srgbClr val="FF0000"/>
            </a:solidFill>
            <a:round/>
            <a:headEnd/>
            <a:tailEnd/>
          </a:ln>
          <a:effectLst>
            <a:outerShdw blurRad="40000" dist="20000" dir="5400000" rotWithShape="0">
              <a:srgbClr val="808080">
                <a:alpha val="37999"/>
              </a:srgbClr>
            </a:outerShdw>
          </a:effectLst>
        </p:spPr>
      </p:cxnSp>
      <p:sp>
        <p:nvSpPr>
          <p:cNvPr id="7" name="Rectangle 6">
            <a:extLst>
              <a:ext uri="{FF2B5EF4-FFF2-40B4-BE49-F238E27FC236}">
                <a16:creationId xmlns:a16="http://schemas.microsoft.com/office/drawing/2014/main" id="{333B4A03-7BFA-6815-FA73-34212D04D3F2}"/>
              </a:ext>
            </a:extLst>
          </p:cNvPr>
          <p:cNvSpPr>
            <a:spLocks noChangeArrowheads="1"/>
          </p:cNvSpPr>
          <p:nvPr/>
        </p:nvSpPr>
        <p:spPr bwMode="auto">
          <a:xfrm>
            <a:off x="5029200" y="2209800"/>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b="1"/>
              <a:t>Bitcoin Scripts</a:t>
            </a:r>
          </a:p>
        </p:txBody>
      </p:sp>
      <p:sp>
        <p:nvSpPr>
          <p:cNvPr id="2" name="Slide Number Placeholder 1">
            <a:extLst>
              <a:ext uri="{FF2B5EF4-FFF2-40B4-BE49-F238E27FC236}">
                <a16:creationId xmlns:a16="http://schemas.microsoft.com/office/drawing/2014/main" id="{63E7BD6F-ACAB-065F-CA66-F085118C03AB}"/>
              </a:ext>
            </a:extLst>
          </p:cNvPr>
          <p:cNvSpPr>
            <a:spLocks noGrp="1"/>
          </p:cNvSpPr>
          <p:nvPr>
            <p:ph type="sldNum" sz="quarter" idx="12"/>
          </p:nvPr>
        </p:nvSpPr>
        <p:spPr/>
        <p:txBody>
          <a:bodyPr/>
          <a:lstStyle/>
          <a:p>
            <a:fld id="{8F2B19E1-DC2B-41DB-9288-FDB54A98A349}" type="slidenum">
              <a:rPr lang="en-US" altLang="en-US" smtClean="0"/>
              <a:pPr/>
              <a:t>30</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re 1">
            <a:extLst>
              <a:ext uri="{FF2B5EF4-FFF2-40B4-BE49-F238E27FC236}">
                <a16:creationId xmlns:a16="http://schemas.microsoft.com/office/drawing/2014/main" id="{81723F4D-7FFD-15B7-68D3-37931EBCD104}"/>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How bitcoin scripts are executed?</a:t>
            </a:r>
          </a:p>
        </p:txBody>
      </p:sp>
      <p:sp>
        <p:nvSpPr>
          <p:cNvPr id="51202" name="Espace réservé du texte 2">
            <a:extLst>
              <a:ext uri="{FF2B5EF4-FFF2-40B4-BE49-F238E27FC236}">
                <a16:creationId xmlns:a16="http://schemas.microsoft.com/office/drawing/2014/main" id="{7C0AE1B1-3F4E-65DE-3CD1-00F581C053F0}"/>
              </a:ext>
            </a:extLst>
          </p:cNvPr>
          <p:cNvSpPr>
            <a:spLocks noGrp="1" noChangeArrowheads="1"/>
          </p:cNvSpPr>
          <p:nvPr>
            <p:ph type="body" idx="1"/>
          </p:nvPr>
        </p:nvSpPr>
        <p:spPr>
          <a:xfrm>
            <a:off x="457200" y="1600200"/>
            <a:ext cx="8229600" cy="4967288"/>
          </a:xfrm>
        </p:spPr>
        <p:txBody>
          <a:bodyPr/>
          <a:lstStyle/>
          <a:p>
            <a:pPr>
              <a:spcAft>
                <a:spcPct val="0"/>
              </a:spcAft>
              <a:buSzTx/>
            </a:pPr>
            <a:r>
              <a:rPr lang="fr-FR" altLang="en-US"/>
              <a:t>A transaction is validated by miners before it gets into the block and chain. </a:t>
            </a:r>
          </a:p>
          <a:p>
            <a:pPr>
              <a:spcAft>
                <a:spcPct val="0"/>
              </a:spcAft>
              <a:buSzTx/>
            </a:pPr>
            <a:endParaRPr lang="fr-FR" altLang="en-US"/>
          </a:p>
          <a:p>
            <a:pPr>
              <a:spcAft>
                <a:spcPct val="0"/>
              </a:spcAft>
              <a:buSzTx/>
            </a:pPr>
            <a:r>
              <a:rPr lang="fr-FR" altLang="en-US"/>
              <a:t>We know how it works?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Google Shape;188;p21">
            <a:extLst>
              <a:ext uri="{FF2B5EF4-FFF2-40B4-BE49-F238E27FC236}">
                <a16:creationId xmlns:a16="http://schemas.microsoft.com/office/drawing/2014/main" id="{07C73F6C-0F52-D316-A575-A45546778E41}"/>
              </a:ext>
            </a:extLst>
          </p:cNvPr>
          <p:cNvSpPr>
            <a:spLocks noGrp="1" noChangeArrowheads="1"/>
          </p:cNvSpPr>
          <p:nvPr>
            <p:ph type="title"/>
          </p:nvPr>
        </p:nvSpPr>
        <p:spPr>
          <a:xfrm>
            <a:off x="457200" y="274638"/>
            <a:ext cx="8450263" cy="1143000"/>
          </a:xfrm>
        </p:spPr>
        <p:txBody>
          <a:bodyPr/>
          <a:lstStyle/>
          <a:p>
            <a:pPr>
              <a:spcBef>
                <a:spcPct val="0"/>
              </a:spcBef>
              <a:spcAft>
                <a:spcPct val="0"/>
              </a:spcAft>
              <a:buSzTx/>
            </a:pPr>
            <a:r>
              <a:rPr lang="fr-FR" altLang="en-US"/>
              <a:t>Input </a:t>
            </a:r>
            <a:r>
              <a:rPr lang="fr-FR" altLang="fr-FR"/>
              <a:t>“</a:t>
            </a:r>
            <a:r>
              <a:rPr lang="fr-FR" altLang="en-US"/>
              <a:t>addresses</a:t>
            </a:r>
            <a:r>
              <a:rPr lang="fr-FR" altLang="fr-FR"/>
              <a:t>”</a:t>
            </a:r>
            <a:r>
              <a:rPr lang="fr-FR" altLang="en-US"/>
              <a:t> are </a:t>
            </a:r>
            <a:r>
              <a:rPr lang="fr-FR" altLang="en-US" i="1"/>
              <a:t>also</a:t>
            </a:r>
            <a:r>
              <a:rPr lang="fr-FR" altLang="en-US"/>
              <a:t> scripts</a:t>
            </a:r>
            <a:endParaRPr lang="fr-FR" altLang="en-US">
              <a:sym typeface="Trebuchet MS" panose="020B0603020202020204" pitchFamily="34" charset="0"/>
            </a:endParaRPr>
          </a:p>
        </p:txBody>
      </p:sp>
      <p:sp>
        <p:nvSpPr>
          <p:cNvPr id="52226" name="Google Shape;189;p21">
            <a:extLst>
              <a:ext uri="{FF2B5EF4-FFF2-40B4-BE49-F238E27FC236}">
                <a16:creationId xmlns:a16="http://schemas.microsoft.com/office/drawing/2014/main" id="{8C393314-1D72-49A0-3975-8FEF262F82D7}"/>
              </a:ext>
            </a:extLst>
          </p:cNvPr>
          <p:cNvSpPr txBox="1">
            <a:spLocks noChangeArrowheads="1"/>
          </p:cNvSpPr>
          <p:nvPr/>
        </p:nvSpPr>
        <p:spPr bwMode="auto">
          <a:xfrm>
            <a:off x="1897063" y="3879850"/>
            <a:ext cx="7094537" cy="2246313"/>
          </a:xfrm>
          <a:prstGeom prst="rect">
            <a:avLst/>
          </a:prstGeom>
          <a:solidFill>
            <a:srgbClr val="F1C23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2400">
                <a:solidFill>
                  <a:srgbClr val="000000"/>
                </a:solidFill>
                <a:latin typeface="Trebuchet MS" panose="020B0603020202020204" pitchFamily="34" charset="0"/>
                <a:sym typeface="Trebuchet MS" panose="020B0603020202020204" pitchFamily="34" charset="0"/>
              </a:rPr>
              <a:t>OP_DUP</a:t>
            </a:r>
          </a:p>
          <a:p>
            <a:pPr eaLnBrk="1" hangingPunct="1">
              <a:spcBef>
                <a:spcPct val="0"/>
              </a:spcBef>
              <a:buFontTx/>
              <a:buNone/>
            </a:pPr>
            <a:r>
              <a:rPr lang="fr-FR" altLang="en-US" sz="2400">
                <a:solidFill>
                  <a:srgbClr val="000000"/>
                </a:solidFill>
                <a:latin typeface="Trebuchet MS" panose="020B0603020202020204" pitchFamily="34" charset="0"/>
                <a:sym typeface="Trebuchet MS" panose="020B0603020202020204" pitchFamily="34" charset="0"/>
              </a:rPr>
              <a:t>OP_HASH160</a:t>
            </a:r>
          </a:p>
          <a:p>
            <a:pPr eaLnBrk="1" hangingPunct="1">
              <a:spcBef>
                <a:spcPct val="0"/>
              </a:spcBef>
              <a:buFontTx/>
              <a:buNone/>
            </a:pPr>
            <a:r>
              <a:rPr lang="fr-FR" altLang="en-US" sz="2400">
                <a:solidFill>
                  <a:srgbClr val="000000"/>
                </a:solidFill>
                <a:latin typeface="Trebuchet MS" panose="020B0603020202020204" pitchFamily="34" charset="0"/>
                <a:sym typeface="Trebuchet MS" panose="020B0603020202020204" pitchFamily="34" charset="0"/>
              </a:rPr>
              <a:t>69e02e18...</a:t>
            </a:r>
          </a:p>
          <a:p>
            <a:pPr eaLnBrk="1" hangingPunct="1">
              <a:spcBef>
                <a:spcPct val="0"/>
              </a:spcBef>
              <a:buFontTx/>
              <a:buNone/>
            </a:pPr>
            <a:r>
              <a:rPr lang="fr-FR" altLang="en-US" sz="2400">
                <a:solidFill>
                  <a:srgbClr val="000000"/>
                </a:solidFill>
                <a:latin typeface="Trebuchet MS" panose="020B0603020202020204" pitchFamily="34" charset="0"/>
                <a:sym typeface="Trebuchet MS" panose="020B0603020202020204" pitchFamily="34" charset="0"/>
              </a:rPr>
              <a:t>OP_EQUALVERIFY OP_CHECKSIG</a:t>
            </a:r>
            <a:endParaRPr lang="fr-FR" altLang="en-US" sz="2400">
              <a:latin typeface="Trebuchet MS" panose="020B0603020202020204" pitchFamily="34" charset="0"/>
              <a:sym typeface="Trebuchet MS" panose="020B0603020202020204" pitchFamily="34" charset="0"/>
            </a:endParaRPr>
          </a:p>
        </p:txBody>
      </p:sp>
      <p:sp>
        <p:nvSpPr>
          <p:cNvPr id="52227" name="Google Shape;190;p21">
            <a:extLst>
              <a:ext uri="{FF2B5EF4-FFF2-40B4-BE49-F238E27FC236}">
                <a16:creationId xmlns:a16="http://schemas.microsoft.com/office/drawing/2014/main" id="{4D7EA909-0257-EABA-6147-89DDC902EBE5}"/>
              </a:ext>
            </a:extLst>
          </p:cNvPr>
          <p:cNvSpPr txBox="1">
            <a:spLocks noChangeArrowheads="1"/>
          </p:cNvSpPr>
          <p:nvPr/>
        </p:nvSpPr>
        <p:spPr bwMode="auto">
          <a:xfrm>
            <a:off x="1897063" y="1635125"/>
            <a:ext cx="7094537" cy="2244725"/>
          </a:xfrm>
          <a:prstGeom prst="rect">
            <a:avLst/>
          </a:prstGeom>
          <a:solidFill>
            <a:srgbClr val="D5A6B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2400">
                <a:solidFill>
                  <a:srgbClr val="000000"/>
                </a:solidFill>
                <a:latin typeface="Trebuchet MS" panose="020B0603020202020204" pitchFamily="34" charset="0"/>
                <a:sym typeface="Trebuchet MS" panose="020B0603020202020204" pitchFamily="34" charset="0"/>
              </a:rPr>
              <a:t>30440220...</a:t>
            </a:r>
          </a:p>
          <a:p>
            <a:pPr eaLnBrk="1" hangingPunct="1">
              <a:spcBef>
                <a:spcPct val="0"/>
              </a:spcBef>
              <a:buFontTx/>
              <a:buNone/>
            </a:pPr>
            <a:r>
              <a:rPr lang="fr-FR" altLang="en-US" sz="2400">
                <a:solidFill>
                  <a:srgbClr val="000000"/>
                </a:solidFill>
                <a:latin typeface="Trebuchet MS" panose="020B0603020202020204" pitchFamily="34" charset="0"/>
                <a:sym typeface="Trebuchet MS" panose="020B0603020202020204" pitchFamily="34" charset="0"/>
              </a:rPr>
              <a:t>0467d2c9...</a:t>
            </a:r>
            <a:endParaRPr lang="fr-FR" altLang="en-US" sz="2400">
              <a:latin typeface="Trebuchet MS" panose="020B0603020202020204" pitchFamily="34" charset="0"/>
              <a:sym typeface="Trebuchet MS" panose="020B0603020202020204" pitchFamily="34" charset="0"/>
            </a:endParaRPr>
          </a:p>
        </p:txBody>
      </p:sp>
      <p:sp>
        <p:nvSpPr>
          <p:cNvPr id="191" name="Google Shape;191;p21">
            <a:extLst>
              <a:ext uri="{FF2B5EF4-FFF2-40B4-BE49-F238E27FC236}">
                <a16:creationId xmlns:a16="http://schemas.microsoft.com/office/drawing/2014/main" id="{0BC3DAD0-6B38-F0A9-5380-4725B5B74538}"/>
              </a:ext>
            </a:extLst>
          </p:cNvPr>
          <p:cNvSpPr>
            <a:spLocks/>
          </p:cNvSpPr>
          <p:nvPr/>
        </p:nvSpPr>
        <p:spPr bwMode="auto">
          <a:xfrm>
            <a:off x="1435100" y="1724025"/>
            <a:ext cx="369888" cy="2155825"/>
          </a:xfrm>
          <a:prstGeom prst="leftBrace">
            <a:avLst>
              <a:gd name="adj1" fmla="val 8365"/>
              <a:gd name="adj2" fmla="val 48606"/>
            </a:avLst>
          </a:prstGeom>
          <a:noFill/>
          <a:ln w="1905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2" name="Google Shape;192;p21">
            <a:extLst>
              <a:ext uri="{FF2B5EF4-FFF2-40B4-BE49-F238E27FC236}">
                <a16:creationId xmlns:a16="http://schemas.microsoft.com/office/drawing/2014/main" id="{B5E97590-EA4C-B43E-FC68-36BA30F69B82}"/>
              </a:ext>
            </a:extLst>
          </p:cNvPr>
          <p:cNvSpPr>
            <a:spLocks/>
          </p:cNvSpPr>
          <p:nvPr/>
        </p:nvSpPr>
        <p:spPr bwMode="auto">
          <a:xfrm>
            <a:off x="1435100" y="3970338"/>
            <a:ext cx="369888" cy="2155825"/>
          </a:xfrm>
          <a:prstGeom prst="leftBrace">
            <a:avLst>
              <a:gd name="adj1" fmla="val 8365"/>
              <a:gd name="adj2" fmla="val 48606"/>
            </a:avLst>
          </a:prstGeom>
          <a:noFill/>
          <a:ln w="1905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fr-FR" altLang="en-US" sz="2800"/>
          </a:p>
        </p:txBody>
      </p:sp>
      <p:sp>
        <p:nvSpPr>
          <p:cNvPr id="193" name="Google Shape;193;p21">
            <a:extLst>
              <a:ext uri="{FF2B5EF4-FFF2-40B4-BE49-F238E27FC236}">
                <a16:creationId xmlns:a16="http://schemas.microsoft.com/office/drawing/2014/main" id="{566B9982-9C74-7E56-3187-9303BDB2D6B3}"/>
              </a:ext>
            </a:extLst>
          </p:cNvPr>
          <p:cNvSpPr txBox="1">
            <a:spLocks noChangeArrowheads="1"/>
          </p:cNvSpPr>
          <p:nvPr/>
        </p:nvSpPr>
        <p:spPr bwMode="auto">
          <a:xfrm>
            <a:off x="119063" y="2520950"/>
            <a:ext cx="1176337"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t>scriptSig</a:t>
            </a:r>
          </a:p>
        </p:txBody>
      </p:sp>
      <p:sp>
        <p:nvSpPr>
          <p:cNvPr id="194" name="Google Shape;194;p21">
            <a:extLst>
              <a:ext uri="{FF2B5EF4-FFF2-40B4-BE49-F238E27FC236}">
                <a16:creationId xmlns:a16="http://schemas.microsoft.com/office/drawing/2014/main" id="{6306257A-8CB6-380A-A98C-428C5D61D4F6}"/>
              </a:ext>
            </a:extLst>
          </p:cNvPr>
          <p:cNvSpPr txBox="1">
            <a:spLocks noChangeArrowheads="1"/>
          </p:cNvSpPr>
          <p:nvPr/>
        </p:nvSpPr>
        <p:spPr bwMode="auto">
          <a:xfrm>
            <a:off x="0" y="4721225"/>
            <a:ext cx="1692275"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800"/>
              <a:t>scriptPubKey</a:t>
            </a:r>
          </a:p>
        </p:txBody>
      </p:sp>
      <p:sp>
        <p:nvSpPr>
          <p:cNvPr id="195" name="Google Shape;195;p21">
            <a:extLst>
              <a:ext uri="{FF2B5EF4-FFF2-40B4-BE49-F238E27FC236}">
                <a16:creationId xmlns:a16="http://schemas.microsoft.com/office/drawing/2014/main" id="{FF960874-3D13-AC10-1111-63E67F684146}"/>
              </a:ext>
            </a:extLst>
          </p:cNvPr>
          <p:cNvSpPr>
            <a:spLocks noChangeArrowheads="1"/>
          </p:cNvSpPr>
          <p:nvPr/>
        </p:nvSpPr>
        <p:spPr bwMode="auto">
          <a:xfrm>
            <a:off x="2274888" y="6223000"/>
            <a:ext cx="6265862" cy="565150"/>
          </a:xfrm>
          <a:prstGeom prst="roundRect">
            <a:avLst>
              <a:gd name="adj" fmla="val 16667"/>
            </a:avLst>
          </a:prstGeom>
          <a:solidFill>
            <a:srgbClr val="6AA84F"/>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1800" b="1">
                <a:latin typeface="Trebuchet MS" panose="020B0603020202020204" pitchFamily="34" charset="0"/>
                <a:sym typeface="Trebuchet MS" panose="020B0603020202020204" pitchFamily="34" charset="0"/>
              </a:rPr>
              <a:t>TO VERIFY</a:t>
            </a:r>
            <a:r>
              <a:rPr lang="fr-FR" altLang="en-US" sz="1800">
                <a:latin typeface="Trebuchet MS" panose="020B0603020202020204" pitchFamily="34" charset="0"/>
                <a:sym typeface="Trebuchet MS" panose="020B0603020202020204" pitchFamily="34" charset="0"/>
              </a:rPr>
              <a:t>: Concatenated script must execute completely with no errors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animEffect transition="in" filter="fade">
                                      <p:cBhvr>
                                        <p:cTn id="7" dur="1000"/>
                                        <p:tgtEl>
                                          <p:spTgt spid="191"/>
                                        </p:tgtEl>
                                      </p:cBhvr>
                                    </p:animEffect>
                                  </p:childTnLst>
                                </p:cTn>
                              </p:par>
                              <p:par>
                                <p:cTn id="8" presetID="10" presetClass="entr" presetSubtype="0" fill="hold" nodeType="withEffect">
                                  <p:stCondLst>
                                    <p:cond delay="0"/>
                                  </p:stCondLst>
                                  <p:childTnLst>
                                    <p:set>
                                      <p:cBhvr>
                                        <p:cTn id="9" dur="1" fill="hold">
                                          <p:stCondLst>
                                            <p:cond delay="0"/>
                                          </p:stCondLst>
                                        </p:cTn>
                                        <p:tgtEl>
                                          <p:spTgt spid="192"/>
                                        </p:tgtEl>
                                        <p:attrNameLst>
                                          <p:attrName>style.visibility</p:attrName>
                                        </p:attrNameLst>
                                      </p:cBhvr>
                                      <p:to>
                                        <p:strVal val="visible"/>
                                      </p:to>
                                    </p:set>
                                    <p:animEffect transition="in" filter="fade">
                                      <p:cBhvr>
                                        <p:cTn id="10" dur="1000"/>
                                        <p:tgtEl>
                                          <p:spTgt spid="192"/>
                                        </p:tgtEl>
                                      </p:cBhvr>
                                    </p:animEffect>
                                  </p:childTnLst>
                                </p:cTn>
                              </p:par>
                              <p:par>
                                <p:cTn id="11" presetID="10" presetClass="entr" presetSubtype="0" fill="hold" nodeType="withEffect">
                                  <p:stCondLst>
                                    <p:cond delay="0"/>
                                  </p:stCondLst>
                                  <p:childTnLst>
                                    <p:set>
                                      <p:cBhvr>
                                        <p:cTn id="12" dur="1" fill="hold">
                                          <p:stCondLst>
                                            <p:cond delay="0"/>
                                          </p:stCondLst>
                                        </p:cTn>
                                        <p:tgtEl>
                                          <p:spTgt spid="193"/>
                                        </p:tgtEl>
                                        <p:attrNameLst>
                                          <p:attrName>style.visibility</p:attrName>
                                        </p:attrNameLst>
                                      </p:cBhvr>
                                      <p:to>
                                        <p:strVal val="visible"/>
                                      </p:to>
                                    </p:set>
                                    <p:animEffect transition="in" filter="fade">
                                      <p:cBhvr>
                                        <p:cTn id="13" dur="1000"/>
                                        <p:tgtEl>
                                          <p:spTgt spid="193"/>
                                        </p:tgtEl>
                                      </p:cBhvr>
                                    </p:animEffect>
                                  </p:childTnLst>
                                </p:cTn>
                              </p:par>
                              <p:par>
                                <p:cTn id="14" presetID="10" presetClass="entr" presetSubtype="0" fill="hold" nodeType="withEffect">
                                  <p:stCondLst>
                                    <p:cond delay="0"/>
                                  </p:stCondLst>
                                  <p:childTnLst>
                                    <p:set>
                                      <p:cBhvr>
                                        <p:cTn id="15" dur="1" fill="hold">
                                          <p:stCondLst>
                                            <p:cond delay="0"/>
                                          </p:stCondLst>
                                        </p:cTn>
                                        <p:tgtEl>
                                          <p:spTgt spid="194"/>
                                        </p:tgtEl>
                                        <p:attrNameLst>
                                          <p:attrName>style.visibility</p:attrName>
                                        </p:attrNameLst>
                                      </p:cBhvr>
                                      <p:to>
                                        <p:strVal val="visible"/>
                                      </p:to>
                                    </p:set>
                                    <p:animEffect transition="in" filter="fade">
                                      <p:cBhvr>
                                        <p:cTn id="16" dur="1000"/>
                                        <p:tgtEl>
                                          <p:spTgt spid="19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195"/>
                                        </p:tgtEl>
                                        <p:attrNameLst>
                                          <p:attrName>style.visibility</p:attrName>
                                        </p:attrNameLst>
                                      </p:cBhvr>
                                      <p:to>
                                        <p:strVal val="visible"/>
                                      </p:to>
                                    </p:set>
                                    <p:animEffect transition="in" filter="fade">
                                      <p:cBhvr>
                                        <p:cTn id="21" dur="10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Google Shape;210;p23">
            <a:extLst>
              <a:ext uri="{FF2B5EF4-FFF2-40B4-BE49-F238E27FC236}">
                <a16:creationId xmlns:a16="http://schemas.microsoft.com/office/drawing/2014/main" id="{EED5961D-CD92-67C9-28AD-AFB867A3DA87}"/>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t>Bitcoin script execution example</a:t>
            </a:r>
            <a:endParaRPr lang="fr-FR" altLang="en-US" i="1"/>
          </a:p>
        </p:txBody>
      </p:sp>
      <p:sp>
        <p:nvSpPr>
          <p:cNvPr id="54274" name="Google Shape;211;p23">
            <a:extLst>
              <a:ext uri="{FF2B5EF4-FFF2-40B4-BE49-F238E27FC236}">
                <a16:creationId xmlns:a16="http://schemas.microsoft.com/office/drawing/2014/main" id="{B0F8B6F6-BBE8-2ACB-2900-6159F0F95E2C}"/>
              </a:ext>
            </a:extLst>
          </p:cNvPr>
          <p:cNvSpPr txBox="1">
            <a:spLocks noChangeArrowheads="1"/>
          </p:cNvSpPr>
          <p:nvPr/>
        </p:nvSpPr>
        <p:spPr bwMode="auto">
          <a:xfrm>
            <a:off x="0" y="5878513"/>
            <a:ext cx="8953500" cy="611187"/>
          </a:xfrm>
          <a:prstGeom prst="rect">
            <a:avLst/>
          </a:prstGeom>
          <a:solidFill>
            <a:srgbClr val="B6D7A8"/>
          </a:solidFill>
          <a:ln w="9525">
            <a:solidFill>
              <a:srgbClr val="000000"/>
            </a:solidFill>
            <a:round/>
            <a:headEnd type="none" w="sm" len="sm"/>
            <a:tailEnd type="none" w="sm" len="sm"/>
          </a:ln>
        </p:spPr>
        <p:txBody>
          <a:bodyPr lIns="91425" tIns="91425" rIns="91425" bIns="91425"/>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500" b="1">
                <a:solidFill>
                  <a:srgbClr val="000000"/>
                </a:solidFill>
                <a:latin typeface="Courier New" panose="02070309020205020404" pitchFamily="49" charset="0"/>
                <a:sym typeface="Courier New" panose="02070309020205020404" pitchFamily="49" charset="0"/>
              </a:rPr>
              <a:t>&lt;sig&gt; &lt;pubKey&gt; OP_DUP OP_HASH160 &lt;pubKeyHash?&gt; OP_EQUALVERIFY OP_CHECKSIG</a:t>
            </a:r>
            <a:endParaRPr lang="fr-FR" altLang="en-US" sz="1500"/>
          </a:p>
        </p:txBody>
      </p:sp>
      <p:cxnSp>
        <p:nvCxnSpPr>
          <p:cNvPr id="212" name="Google Shape;212;p23">
            <a:extLst>
              <a:ext uri="{FF2B5EF4-FFF2-40B4-BE49-F238E27FC236}">
                <a16:creationId xmlns:a16="http://schemas.microsoft.com/office/drawing/2014/main" id="{15E25B7C-AC22-7C30-FA27-33A2D3DF300B}"/>
              </a:ext>
            </a:extLst>
          </p:cNvPr>
          <p:cNvCxnSpPr>
            <a:cxnSpLocks noChangeShapeType="1"/>
          </p:cNvCxnSpPr>
          <p:nvPr/>
        </p:nvCxnSpPr>
        <p:spPr bwMode="auto">
          <a:xfrm>
            <a:off x="373063" y="5102225"/>
            <a:ext cx="0" cy="661988"/>
          </a:xfrm>
          <a:prstGeom prst="straightConnector1">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3" name="Google Shape;213;p23">
            <a:extLst>
              <a:ext uri="{FF2B5EF4-FFF2-40B4-BE49-F238E27FC236}">
                <a16:creationId xmlns:a16="http://schemas.microsoft.com/office/drawing/2014/main" id="{78F11830-EC4A-5D94-20D8-D0A0E1FC02C8}"/>
              </a:ext>
            </a:extLst>
          </p:cNvPr>
          <p:cNvCxnSpPr>
            <a:cxnSpLocks noChangeShapeType="1"/>
          </p:cNvCxnSpPr>
          <p:nvPr/>
        </p:nvCxnSpPr>
        <p:spPr bwMode="auto">
          <a:xfrm>
            <a:off x="1222375" y="5102225"/>
            <a:ext cx="0" cy="661988"/>
          </a:xfrm>
          <a:prstGeom prst="straightConnector1">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4" name="Google Shape;214;p23">
            <a:extLst>
              <a:ext uri="{FF2B5EF4-FFF2-40B4-BE49-F238E27FC236}">
                <a16:creationId xmlns:a16="http://schemas.microsoft.com/office/drawing/2014/main" id="{8279ACA1-A886-82AC-6EA1-B06A7934919F}"/>
              </a:ext>
            </a:extLst>
          </p:cNvPr>
          <p:cNvCxnSpPr>
            <a:cxnSpLocks noChangeShapeType="1"/>
          </p:cNvCxnSpPr>
          <p:nvPr/>
        </p:nvCxnSpPr>
        <p:spPr bwMode="auto">
          <a:xfrm>
            <a:off x="2290763" y="5102225"/>
            <a:ext cx="0" cy="661988"/>
          </a:xfrm>
          <a:prstGeom prst="straightConnector1">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5" name="Google Shape;215;p23">
            <a:extLst>
              <a:ext uri="{FF2B5EF4-FFF2-40B4-BE49-F238E27FC236}">
                <a16:creationId xmlns:a16="http://schemas.microsoft.com/office/drawing/2014/main" id="{39768298-2D58-093E-9B6E-F958828ABFAD}"/>
              </a:ext>
            </a:extLst>
          </p:cNvPr>
          <p:cNvCxnSpPr>
            <a:cxnSpLocks noChangeShapeType="1"/>
          </p:cNvCxnSpPr>
          <p:nvPr/>
        </p:nvCxnSpPr>
        <p:spPr bwMode="auto">
          <a:xfrm>
            <a:off x="3330575" y="5102225"/>
            <a:ext cx="0" cy="661988"/>
          </a:xfrm>
          <a:prstGeom prst="straightConnector1">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6" name="Google Shape;216;p23">
            <a:extLst>
              <a:ext uri="{FF2B5EF4-FFF2-40B4-BE49-F238E27FC236}">
                <a16:creationId xmlns:a16="http://schemas.microsoft.com/office/drawing/2014/main" id="{C9B26EEC-846C-4EC1-7502-1FA3EB150F13}"/>
              </a:ext>
            </a:extLst>
          </p:cNvPr>
          <p:cNvCxnSpPr>
            <a:cxnSpLocks noChangeShapeType="1"/>
          </p:cNvCxnSpPr>
          <p:nvPr/>
        </p:nvCxnSpPr>
        <p:spPr bwMode="auto">
          <a:xfrm>
            <a:off x="4476750" y="5102225"/>
            <a:ext cx="0" cy="661988"/>
          </a:xfrm>
          <a:prstGeom prst="straightConnector1">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7" name="Google Shape;217;p23">
            <a:extLst>
              <a:ext uri="{FF2B5EF4-FFF2-40B4-BE49-F238E27FC236}">
                <a16:creationId xmlns:a16="http://schemas.microsoft.com/office/drawing/2014/main" id="{7460E210-17A2-B3DD-882E-333776D7BCE4}"/>
              </a:ext>
            </a:extLst>
          </p:cNvPr>
          <p:cNvCxnSpPr>
            <a:cxnSpLocks noChangeShapeType="1"/>
          </p:cNvCxnSpPr>
          <p:nvPr/>
        </p:nvCxnSpPr>
        <p:spPr bwMode="auto">
          <a:xfrm>
            <a:off x="6308725" y="5102225"/>
            <a:ext cx="0" cy="661988"/>
          </a:xfrm>
          <a:prstGeom prst="straightConnector1">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8" name="Google Shape;218;p23">
            <a:extLst>
              <a:ext uri="{FF2B5EF4-FFF2-40B4-BE49-F238E27FC236}">
                <a16:creationId xmlns:a16="http://schemas.microsoft.com/office/drawing/2014/main" id="{756B81DF-1B37-0FB4-2F70-D37EE26ECD90}"/>
              </a:ext>
            </a:extLst>
          </p:cNvPr>
          <p:cNvCxnSpPr>
            <a:cxnSpLocks noChangeShapeType="1"/>
          </p:cNvCxnSpPr>
          <p:nvPr/>
        </p:nvCxnSpPr>
        <p:spPr bwMode="auto">
          <a:xfrm>
            <a:off x="8051800" y="5102225"/>
            <a:ext cx="0" cy="661988"/>
          </a:xfrm>
          <a:prstGeom prst="straightConnector1">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19" name="Google Shape;219;p23">
            <a:extLst>
              <a:ext uri="{FF2B5EF4-FFF2-40B4-BE49-F238E27FC236}">
                <a16:creationId xmlns:a16="http://schemas.microsoft.com/office/drawing/2014/main" id="{99E57273-1705-69FE-E59B-2E51FE4301D6}"/>
              </a:ext>
            </a:extLst>
          </p:cNvPr>
          <p:cNvSpPr>
            <a:spLocks noChangeArrowheads="1"/>
          </p:cNvSpPr>
          <p:nvPr/>
        </p:nvSpPr>
        <p:spPr bwMode="auto">
          <a:xfrm>
            <a:off x="2843213" y="3841750"/>
            <a:ext cx="2841625" cy="631825"/>
          </a:xfrm>
          <a:prstGeom prst="rect">
            <a:avLst/>
          </a:prstGeom>
          <a:solidFill>
            <a:srgbClr val="6AA84F"/>
          </a:solidFill>
          <a:ln w="19050">
            <a:solidFill>
              <a:srgbClr val="000000"/>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b="1">
                <a:latin typeface="Courier New" panose="02070309020205020404" pitchFamily="49" charset="0"/>
                <a:sym typeface="Courier New" panose="02070309020205020404" pitchFamily="49" charset="0"/>
              </a:rPr>
              <a:t>&lt;sig&gt;</a:t>
            </a:r>
          </a:p>
        </p:txBody>
      </p:sp>
      <p:sp>
        <p:nvSpPr>
          <p:cNvPr id="220" name="Google Shape;220;p23">
            <a:extLst>
              <a:ext uri="{FF2B5EF4-FFF2-40B4-BE49-F238E27FC236}">
                <a16:creationId xmlns:a16="http://schemas.microsoft.com/office/drawing/2014/main" id="{0C5A2B53-F95D-EB67-2E09-2555038FBAFF}"/>
              </a:ext>
            </a:extLst>
          </p:cNvPr>
          <p:cNvSpPr txBox="1"/>
          <p:nvPr/>
        </p:nvSpPr>
        <p:spPr>
          <a:xfrm>
            <a:off x="3633425" y="1334233"/>
            <a:ext cx="1137600" cy="2735200"/>
          </a:xfrm>
          <a:prstGeom prst="rect">
            <a:avLst/>
          </a:prstGeom>
          <a:solidFill>
            <a:srgbClr val="FFFFFF"/>
          </a:solidFill>
          <a:ln>
            <a:noFill/>
          </a:ln>
        </p:spPr>
        <p:txBody>
          <a:bodyPr spcFirstLastPara="1" lIns="91425" tIns="91425" rIns="91425" bIns="91425" anchor="ctr"/>
          <a:lstStyle/>
          <a:p>
            <a:pPr eaLnBrk="1" hangingPunct="1">
              <a:spcBef>
                <a:spcPts val="0"/>
              </a:spcBef>
              <a:spcAft>
                <a:spcPts val="0"/>
              </a:spcAft>
              <a:defRPr/>
            </a:pPr>
            <a:r>
              <a:rPr lang="en" sz="9600" b="1">
                <a:solidFill>
                  <a:srgbClr val="274E13"/>
                </a:solidFill>
                <a:highlight>
                  <a:srgbClr val="F9F9F9"/>
                </a:highlight>
                <a:latin typeface="Arial" charset="0"/>
                <a:ea typeface="ＭＳ Ｐゴシック" charset="0"/>
                <a:cs typeface="ＭＳ Ｐゴシック" charset="0"/>
              </a:rPr>
              <a:t>✓</a:t>
            </a:r>
            <a:endParaRPr sz="9600" b="1">
              <a:solidFill>
                <a:srgbClr val="274E13"/>
              </a:solidFill>
              <a:latin typeface="Arial" charset="0"/>
              <a:ea typeface="ＭＳ Ｐゴシック" charset="0"/>
              <a:cs typeface="ＭＳ Ｐゴシック" charset="0"/>
            </a:endParaRPr>
          </a:p>
        </p:txBody>
      </p:sp>
      <p:sp>
        <p:nvSpPr>
          <p:cNvPr id="221" name="Google Shape;221;p23">
            <a:extLst>
              <a:ext uri="{FF2B5EF4-FFF2-40B4-BE49-F238E27FC236}">
                <a16:creationId xmlns:a16="http://schemas.microsoft.com/office/drawing/2014/main" id="{C9908E19-F7A7-A63E-04C1-ADE3246D644F}"/>
              </a:ext>
            </a:extLst>
          </p:cNvPr>
          <p:cNvSpPr>
            <a:spLocks noChangeArrowheads="1"/>
          </p:cNvSpPr>
          <p:nvPr/>
        </p:nvSpPr>
        <p:spPr bwMode="auto">
          <a:xfrm>
            <a:off x="2843213" y="3209925"/>
            <a:ext cx="2841625" cy="631825"/>
          </a:xfrm>
          <a:prstGeom prst="rect">
            <a:avLst/>
          </a:prstGeom>
          <a:solidFill>
            <a:srgbClr val="6AA84F"/>
          </a:solidFill>
          <a:ln w="19050">
            <a:solidFill>
              <a:srgbClr val="000000"/>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b="1">
                <a:latin typeface="Courier New" panose="02070309020205020404" pitchFamily="49" charset="0"/>
                <a:sym typeface="Courier New" panose="02070309020205020404" pitchFamily="49" charset="0"/>
              </a:rPr>
              <a:t>&lt;pubKey&gt;</a:t>
            </a:r>
          </a:p>
        </p:txBody>
      </p:sp>
      <p:sp>
        <p:nvSpPr>
          <p:cNvPr id="222" name="Google Shape;222;p23">
            <a:extLst>
              <a:ext uri="{FF2B5EF4-FFF2-40B4-BE49-F238E27FC236}">
                <a16:creationId xmlns:a16="http://schemas.microsoft.com/office/drawing/2014/main" id="{F91148BB-15A6-0796-22B4-C6AB5749DAFD}"/>
              </a:ext>
            </a:extLst>
          </p:cNvPr>
          <p:cNvSpPr>
            <a:spLocks noChangeArrowheads="1"/>
          </p:cNvSpPr>
          <p:nvPr/>
        </p:nvSpPr>
        <p:spPr bwMode="auto">
          <a:xfrm>
            <a:off x="2843213" y="2576513"/>
            <a:ext cx="2841625" cy="633412"/>
          </a:xfrm>
          <a:prstGeom prst="rect">
            <a:avLst/>
          </a:prstGeom>
          <a:solidFill>
            <a:srgbClr val="6AA84F"/>
          </a:solidFill>
          <a:ln w="19050">
            <a:solidFill>
              <a:srgbClr val="000000"/>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b="1">
                <a:latin typeface="Courier New" panose="02070309020205020404" pitchFamily="49" charset="0"/>
                <a:sym typeface="Courier New" panose="02070309020205020404" pitchFamily="49" charset="0"/>
              </a:rPr>
              <a:t>&lt;pubKey&gt;</a:t>
            </a:r>
          </a:p>
        </p:txBody>
      </p:sp>
      <p:sp>
        <p:nvSpPr>
          <p:cNvPr id="223" name="Google Shape;223;p23">
            <a:extLst>
              <a:ext uri="{FF2B5EF4-FFF2-40B4-BE49-F238E27FC236}">
                <a16:creationId xmlns:a16="http://schemas.microsoft.com/office/drawing/2014/main" id="{DC55B8FF-F23F-2943-80B0-38EFD822C437}"/>
              </a:ext>
            </a:extLst>
          </p:cNvPr>
          <p:cNvSpPr>
            <a:spLocks noChangeArrowheads="1"/>
          </p:cNvSpPr>
          <p:nvPr/>
        </p:nvSpPr>
        <p:spPr bwMode="auto">
          <a:xfrm>
            <a:off x="2843213" y="1944688"/>
            <a:ext cx="2841625" cy="631825"/>
          </a:xfrm>
          <a:prstGeom prst="rect">
            <a:avLst/>
          </a:prstGeom>
          <a:solidFill>
            <a:srgbClr val="6AA84F"/>
          </a:solidFill>
          <a:ln w="19050">
            <a:solidFill>
              <a:srgbClr val="000000"/>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b="1">
                <a:latin typeface="Courier New" panose="02070309020205020404" pitchFamily="49" charset="0"/>
                <a:sym typeface="Courier New" panose="02070309020205020404" pitchFamily="49" charset="0"/>
              </a:rPr>
              <a:t>&lt;pubKeyHash?&gt;</a:t>
            </a:r>
          </a:p>
        </p:txBody>
      </p:sp>
      <p:sp>
        <p:nvSpPr>
          <p:cNvPr id="224" name="Google Shape;224;p23">
            <a:extLst>
              <a:ext uri="{FF2B5EF4-FFF2-40B4-BE49-F238E27FC236}">
                <a16:creationId xmlns:a16="http://schemas.microsoft.com/office/drawing/2014/main" id="{1EE21814-F1FC-8ADD-2F74-B88896799E56}"/>
              </a:ext>
            </a:extLst>
          </p:cNvPr>
          <p:cNvSpPr>
            <a:spLocks noChangeArrowheads="1"/>
          </p:cNvSpPr>
          <p:nvPr/>
        </p:nvSpPr>
        <p:spPr bwMode="auto">
          <a:xfrm>
            <a:off x="2843213" y="2581275"/>
            <a:ext cx="2841625" cy="633413"/>
          </a:xfrm>
          <a:prstGeom prst="rect">
            <a:avLst/>
          </a:prstGeom>
          <a:solidFill>
            <a:srgbClr val="6AA84F"/>
          </a:solidFill>
          <a:ln w="19050">
            <a:solidFill>
              <a:srgbClr val="000000"/>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b="1">
                <a:latin typeface="Courier New" panose="02070309020205020404" pitchFamily="49" charset="0"/>
                <a:sym typeface="Courier New" panose="02070309020205020404" pitchFamily="49" charset="0"/>
              </a:rPr>
              <a:t>&lt;pubKeyHash&gt;</a:t>
            </a:r>
          </a:p>
        </p:txBody>
      </p:sp>
      <p:sp>
        <p:nvSpPr>
          <p:cNvPr id="225" name="Google Shape;225;p23">
            <a:extLst>
              <a:ext uri="{FF2B5EF4-FFF2-40B4-BE49-F238E27FC236}">
                <a16:creationId xmlns:a16="http://schemas.microsoft.com/office/drawing/2014/main" id="{8F40E729-4116-CE70-E0C1-0950A32FF948}"/>
              </a:ext>
            </a:extLst>
          </p:cNvPr>
          <p:cNvSpPr>
            <a:spLocks noChangeArrowheads="1"/>
          </p:cNvSpPr>
          <p:nvPr/>
        </p:nvSpPr>
        <p:spPr bwMode="auto">
          <a:xfrm>
            <a:off x="2843213" y="3841750"/>
            <a:ext cx="2841625" cy="631825"/>
          </a:xfrm>
          <a:prstGeom prst="rect">
            <a:avLst/>
          </a:prstGeom>
          <a:solidFill>
            <a:srgbClr val="6AA84F"/>
          </a:solidFill>
          <a:ln w="19050">
            <a:solidFill>
              <a:srgbClr val="000000"/>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fr-FR" altLang="en-US" sz="2400" b="1">
                <a:latin typeface="Courier New" panose="02070309020205020404" pitchFamily="49" charset="0"/>
                <a:sym typeface="Courier New" panose="02070309020205020404" pitchFamily="49" charset="0"/>
              </a:rPr>
              <a:t>true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12"/>
                                        </p:tgtEl>
                                        <p:attrNameLst>
                                          <p:attrName>style.visibility</p:attrName>
                                        </p:attrNameLst>
                                      </p:cBhvr>
                                      <p:to>
                                        <p:strVal val="visible"/>
                                      </p:to>
                                    </p:set>
                                    <p:animEffect transition="in" filter="fade">
                                      <p:cBhvr>
                                        <p:cTn id="7" dur="1000"/>
                                        <p:tgtEl>
                                          <p:spTgt spid="2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19"/>
                                        </p:tgtEl>
                                        <p:attrNameLst>
                                          <p:attrName>style.visibility</p:attrName>
                                        </p:attrNameLst>
                                      </p:cBhvr>
                                      <p:to>
                                        <p:strVal val="visible"/>
                                      </p:to>
                                    </p:set>
                                    <p:animEffect transition="in" filter="fade">
                                      <p:cBhvr>
                                        <p:cTn id="12" dur="1000"/>
                                        <p:tgtEl>
                                          <p:spTgt spid="2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nodeType="clickEffect">
                                  <p:stCondLst>
                                    <p:cond delay="0"/>
                                  </p:stCondLst>
                                  <p:childTnLst>
                                    <p:animEffect transition="out" filter="fade">
                                      <p:cBhvr>
                                        <p:cTn id="16" dur="1000"/>
                                        <p:tgtEl>
                                          <p:spTgt spid="212"/>
                                        </p:tgtEl>
                                      </p:cBhvr>
                                    </p:animEffect>
                                    <p:set>
                                      <p:cBhvr>
                                        <p:cTn id="17" dur="1" fill="hold">
                                          <p:stCondLst>
                                            <p:cond delay="1000"/>
                                          </p:stCondLst>
                                        </p:cTn>
                                        <p:tgtEl>
                                          <p:spTgt spid="212"/>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213"/>
                                        </p:tgtEl>
                                        <p:attrNameLst>
                                          <p:attrName>style.visibility</p:attrName>
                                        </p:attrNameLst>
                                      </p:cBhvr>
                                      <p:to>
                                        <p:strVal val="visible"/>
                                      </p:to>
                                    </p:set>
                                    <p:animEffect transition="in" filter="fade">
                                      <p:cBhvr>
                                        <p:cTn id="20" dur="1000"/>
                                        <p:tgtEl>
                                          <p:spTgt spid="2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221"/>
                                        </p:tgtEl>
                                        <p:attrNameLst>
                                          <p:attrName>style.visibility</p:attrName>
                                        </p:attrNameLst>
                                      </p:cBhvr>
                                      <p:to>
                                        <p:strVal val="visible"/>
                                      </p:to>
                                    </p:set>
                                    <p:animEffect transition="in" filter="fade">
                                      <p:cBhvr>
                                        <p:cTn id="25" dur="1000"/>
                                        <p:tgtEl>
                                          <p:spTgt spid="22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xit" presetSubtype="0" fill="hold" nodeType="clickEffect">
                                  <p:stCondLst>
                                    <p:cond delay="0"/>
                                  </p:stCondLst>
                                  <p:childTnLst>
                                    <p:animEffect transition="out" filter="fade">
                                      <p:cBhvr>
                                        <p:cTn id="29" dur="1000"/>
                                        <p:tgtEl>
                                          <p:spTgt spid="213"/>
                                        </p:tgtEl>
                                      </p:cBhvr>
                                    </p:animEffect>
                                    <p:set>
                                      <p:cBhvr>
                                        <p:cTn id="30" dur="1" fill="hold">
                                          <p:stCondLst>
                                            <p:cond delay="1000"/>
                                          </p:stCondLst>
                                        </p:cTn>
                                        <p:tgtEl>
                                          <p:spTgt spid="213"/>
                                        </p:tgtEl>
                                        <p:attrNameLst>
                                          <p:attrName>style.visibility</p:attrName>
                                        </p:attrNameLst>
                                      </p:cBhvr>
                                      <p:to>
                                        <p:strVal val="hidden"/>
                                      </p:to>
                                    </p:set>
                                  </p:childTnLst>
                                </p:cTn>
                              </p:par>
                              <p:par>
                                <p:cTn id="31" presetID="10" presetClass="entr" presetSubtype="0" fill="hold" nodeType="withEffect">
                                  <p:stCondLst>
                                    <p:cond delay="0"/>
                                  </p:stCondLst>
                                  <p:childTnLst>
                                    <p:set>
                                      <p:cBhvr>
                                        <p:cTn id="32" dur="1" fill="hold">
                                          <p:stCondLst>
                                            <p:cond delay="0"/>
                                          </p:stCondLst>
                                        </p:cTn>
                                        <p:tgtEl>
                                          <p:spTgt spid="214"/>
                                        </p:tgtEl>
                                        <p:attrNameLst>
                                          <p:attrName>style.visibility</p:attrName>
                                        </p:attrNameLst>
                                      </p:cBhvr>
                                      <p:to>
                                        <p:strVal val="visible"/>
                                      </p:to>
                                    </p:set>
                                    <p:animEffect transition="in" filter="fade">
                                      <p:cBhvr>
                                        <p:cTn id="33" dur="1000"/>
                                        <p:tgtEl>
                                          <p:spTgt spid="21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222"/>
                                        </p:tgtEl>
                                        <p:attrNameLst>
                                          <p:attrName>style.visibility</p:attrName>
                                        </p:attrNameLst>
                                      </p:cBhvr>
                                      <p:to>
                                        <p:strVal val="visible"/>
                                      </p:to>
                                    </p:set>
                                    <p:animEffect transition="in" filter="fade">
                                      <p:cBhvr>
                                        <p:cTn id="38" dur="1000"/>
                                        <p:tgtEl>
                                          <p:spTgt spid="22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xit" presetSubtype="0" fill="hold" nodeType="clickEffect">
                                  <p:stCondLst>
                                    <p:cond delay="0"/>
                                  </p:stCondLst>
                                  <p:childTnLst>
                                    <p:animEffect transition="out" filter="fade">
                                      <p:cBhvr>
                                        <p:cTn id="42" dur="1000"/>
                                        <p:tgtEl>
                                          <p:spTgt spid="214"/>
                                        </p:tgtEl>
                                      </p:cBhvr>
                                    </p:animEffect>
                                    <p:set>
                                      <p:cBhvr>
                                        <p:cTn id="43" dur="1" fill="hold">
                                          <p:stCondLst>
                                            <p:cond delay="1000"/>
                                          </p:stCondLst>
                                        </p:cTn>
                                        <p:tgtEl>
                                          <p:spTgt spid="214"/>
                                        </p:tgtEl>
                                        <p:attrNameLst>
                                          <p:attrName>style.visibility</p:attrName>
                                        </p:attrNameLst>
                                      </p:cBhvr>
                                      <p:to>
                                        <p:strVal val="hidden"/>
                                      </p:to>
                                    </p:set>
                                  </p:childTnLst>
                                </p:cTn>
                              </p:par>
                              <p:par>
                                <p:cTn id="44" presetID="10" presetClass="entr" presetSubtype="0" fill="hold" nodeType="withEffect">
                                  <p:stCondLst>
                                    <p:cond delay="0"/>
                                  </p:stCondLst>
                                  <p:childTnLst>
                                    <p:set>
                                      <p:cBhvr>
                                        <p:cTn id="45" dur="1" fill="hold">
                                          <p:stCondLst>
                                            <p:cond delay="0"/>
                                          </p:stCondLst>
                                        </p:cTn>
                                        <p:tgtEl>
                                          <p:spTgt spid="215"/>
                                        </p:tgtEl>
                                        <p:attrNameLst>
                                          <p:attrName>style.visibility</p:attrName>
                                        </p:attrNameLst>
                                      </p:cBhvr>
                                      <p:to>
                                        <p:strVal val="visible"/>
                                      </p:to>
                                    </p:set>
                                    <p:animEffect transition="in" filter="fade">
                                      <p:cBhvr>
                                        <p:cTn id="46" dur="1000"/>
                                        <p:tgtEl>
                                          <p:spTgt spid="21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0" presetClass="entr" presetSubtype="0" fill="hold" nodeType="clickEffect">
                                  <p:stCondLst>
                                    <p:cond delay="0"/>
                                  </p:stCondLst>
                                  <p:childTnLst>
                                    <p:set>
                                      <p:cBhvr>
                                        <p:cTn id="50" dur="1" fill="hold">
                                          <p:stCondLst>
                                            <p:cond delay="0"/>
                                          </p:stCondLst>
                                        </p:cTn>
                                        <p:tgtEl>
                                          <p:spTgt spid="224"/>
                                        </p:tgtEl>
                                        <p:attrNameLst>
                                          <p:attrName>style.visibility</p:attrName>
                                        </p:attrNameLst>
                                      </p:cBhvr>
                                      <p:to>
                                        <p:strVal val="visible"/>
                                      </p:to>
                                    </p:set>
                                    <p:animEffect transition="in" filter="fade">
                                      <p:cBhvr>
                                        <p:cTn id="51" dur="1000"/>
                                        <p:tgtEl>
                                          <p:spTgt spid="224"/>
                                        </p:tgtEl>
                                      </p:cBhvr>
                                    </p:animEffect>
                                  </p:childTnLst>
                                </p:cTn>
                              </p:par>
                              <p:par>
                                <p:cTn id="52" presetID="10" presetClass="exit" presetSubtype="0" fill="hold" nodeType="withEffect">
                                  <p:stCondLst>
                                    <p:cond delay="0"/>
                                  </p:stCondLst>
                                  <p:childTnLst>
                                    <p:animEffect transition="out" filter="fade">
                                      <p:cBhvr>
                                        <p:cTn id="53" dur="1000"/>
                                        <p:tgtEl>
                                          <p:spTgt spid="222"/>
                                        </p:tgtEl>
                                      </p:cBhvr>
                                    </p:animEffect>
                                    <p:set>
                                      <p:cBhvr>
                                        <p:cTn id="54" dur="1" fill="hold">
                                          <p:stCondLst>
                                            <p:cond delay="1000"/>
                                          </p:stCondLst>
                                        </p:cTn>
                                        <p:tgtEl>
                                          <p:spTgt spid="222"/>
                                        </p:tgtEl>
                                        <p:attrNameLst>
                                          <p:attrName>style.visibility</p:attrName>
                                        </p:attrNameLst>
                                      </p:cBhvr>
                                      <p:to>
                                        <p:strVal val="hidden"/>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0" presetClass="exit" presetSubtype="0" fill="hold" nodeType="clickEffect">
                                  <p:stCondLst>
                                    <p:cond delay="0"/>
                                  </p:stCondLst>
                                  <p:childTnLst>
                                    <p:animEffect transition="out" filter="fade">
                                      <p:cBhvr>
                                        <p:cTn id="58" dur="1000"/>
                                        <p:tgtEl>
                                          <p:spTgt spid="215"/>
                                        </p:tgtEl>
                                      </p:cBhvr>
                                    </p:animEffect>
                                    <p:set>
                                      <p:cBhvr>
                                        <p:cTn id="59" dur="1" fill="hold">
                                          <p:stCondLst>
                                            <p:cond delay="1000"/>
                                          </p:stCondLst>
                                        </p:cTn>
                                        <p:tgtEl>
                                          <p:spTgt spid="215"/>
                                        </p:tgtEl>
                                        <p:attrNameLst>
                                          <p:attrName>style.visibility</p:attrName>
                                        </p:attrNameLst>
                                      </p:cBhvr>
                                      <p:to>
                                        <p:strVal val="hidden"/>
                                      </p:to>
                                    </p:set>
                                  </p:childTnLst>
                                </p:cTn>
                              </p:par>
                              <p:par>
                                <p:cTn id="60" presetID="10" presetClass="entr" presetSubtype="0" fill="hold" nodeType="withEffect">
                                  <p:stCondLst>
                                    <p:cond delay="0"/>
                                  </p:stCondLst>
                                  <p:childTnLst>
                                    <p:set>
                                      <p:cBhvr>
                                        <p:cTn id="61" dur="1" fill="hold">
                                          <p:stCondLst>
                                            <p:cond delay="0"/>
                                          </p:stCondLst>
                                        </p:cTn>
                                        <p:tgtEl>
                                          <p:spTgt spid="216"/>
                                        </p:tgtEl>
                                        <p:attrNameLst>
                                          <p:attrName>style.visibility</p:attrName>
                                        </p:attrNameLst>
                                      </p:cBhvr>
                                      <p:to>
                                        <p:strVal val="visible"/>
                                      </p:to>
                                    </p:set>
                                    <p:animEffect transition="in" filter="fade">
                                      <p:cBhvr>
                                        <p:cTn id="62" dur="1000"/>
                                        <p:tgtEl>
                                          <p:spTgt spid="21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nodeType="clickEffect">
                                  <p:stCondLst>
                                    <p:cond delay="0"/>
                                  </p:stCondLst>
                                  <p:childTnLst>
                                    <p:set>
                                      <p:cBhvr>
                                        <p:cTn id="66" dur="1" fill="hold">
                                          <p:stCondLst>
                                            <p:cond delay="0"/>
                                          </p:stCondLst>
                                        </p:cTn>
                                        <p:tgtEl>
                                          <p:spTgt spid="223"/>
                                        </p:tgtEl>
                                        <p:attrNameLst>
                                          <p:attrName>style.visibility</p:attrName>
                                        </p:attrNameLst>
                                      </p:cBhvr>
                                      <p:to>
                                        <p:strVal val="visible"/>
                                      </p:to>
                                    </p:set>
                                    <p:animEffect transition="in" filter="fade">
                                      <p:cBhvr>
                                        <p:cTn id="67" dur="1000"/>
                                        <p:tgtEl>
                                          <p:spTgt spid="22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xit" presetSubtype="0" fill="hold" nodeType="clickEffect">
                                  <p:stCondLst>
                                    <p:cond delay="0"/>
                                  </p:stCondLst>
                                  <p:childTnLst>
                                    <p:animEffect transition="out" filter="fade">
                                      <p:cBhvr>
                                        <p:cTn id="71" dur="1000"/>
                                        <p:tgtEl>
                                          <p:spTgt spid="216"/>
                                        </p:tgtEl>
                                      </p:cBhvr>
                                    </p:animEffect>
                                    <p:set>
                                      <p:cBhvr>
                                        <p:cTn id="72" dur="1" fill="hold">
                                          <p:stCondLst>
                                            <p:cond delay="1000"/>
                                          </p:stCondLst>
                                        </p:cTn>
                                        <p:tgtEl>
                                          <p:spTgt spid="216"/>
                                        </p:tgtEl>
                                        <p:attrNameLst>
                                          <p:attrName>style.visibility</p:attrName>
                                        </p:attrNameLst>
                                      </p:cBhvr>
                                      <p:to>
                                        <p:strVal val="hidden"/>
                                      </p:to>
                                    </p:set>
                                  </p:childTnLst>
                                </p:cTn>
                              </p:par>
                              <p:par>
                                <p:cTn id="73" presetID="10" presetClass="entr" presetSubtype="0" fill="hold" nodeType="withEffect">
                                  <p:stCondLst>
                                    <p:cond delay="0"/>
                                  </p:stCondLst>
                                  <p:childTnLst>
                                    <p:set>
                                      <p:cBhvr>
                                        <p:cTn id="74" dur="1" fill="hold">
                                          <p:stCondLst>
                                            <p:cond delay="0"/>
                                          </p:stCondLst>
                                        </p:cTn>
                                        <p:tgtEl>
                                          <p:spTgt spid="217"/>
                                        </p:tgtEl>
                                        <p:attrNameLst>
                                          <p:attrName>style.visibility</p:attrName>
                                        </p:attrNameLst>
                                      </p:cBhvr>
                                      <p:to>
                                        <p:strVal val="visible"/>
                                      </p:to>
                                    </p:set>
                                    <p:animEffect transition="in" filter="fade">
                                      <p:cBhvr>
                                        <p:cTn id="75" dur="1000"/>
                                        <p:tgtEl>
                                          <p:spTgt spid="217"/>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0" presetClass="exit" presetSubtype="0" fill="hold" nodeType="clickEffect">
                                  <p:stCondLst>
                                    <p:cond delay="0"/>
                                  </p:stCondLst>
                                  <p:childTnLst>
                                    <p:animEffect transition="out" filter="fade">
                                      <p:cBhvr>
                                        <p:cTn id="79" dur="1000"/>
                                        <p:tgtEl>
                                          <p:spTgt spid="224"/>
                                        </p:tgtEl>
                                      </p:cBhvr>
                                    </p:animEffect>
                                    <p:set>
                                      <p:cBhvr>
                                        <p:cTn id="80" dur="1" fill="hold">
                                          <p:stCondLst>
                                            <p:cond delay="1000"/>
                                          </p:stCondLst>
                                        </p:cTn>
                                        <p:tgtEl>
                                          <p:spTgt spid="224"/>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1000"/>
                                        <p:tgtEl>
                                          <p:spTgt spid="223"/>
                                        </p:tgtEl>
                                      </p:cBhvr>
                                    </p:animEffect>
                                    <p:set>
                                      <p:cBhvr>
                                        <p:cTn id="83" dur="1" fill="hold">
                                          <p:stCondLst>
                                            <p:cond delay="1000"/>
                                          </p:stCondLst>
                                        </p:cTn>
                                        <p:tgtEl>
                                          <p:spTgt spid="223"/>
                                        </p:tgtEl>
                                        <p:attrNameLst>
                                          <p:attrName>style.visibility</p:attrName>
                                        </p:attrNameLst>
                                      </p:cBhvr>
                                      <p:to>
                                        <p:strVal val="hidden"/>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0" presetClass="exit" presetSubtype="0" fill="hold" nodeType="clickEffect">
                                  <p:stCondLst>
                                    <p:cond delay="0"/>
                                  </p:stCondLst>
                                  <p:childTnLst>
                                    <p:animEffect transition="out" filter="fade">
                                      <p:cBhvr>
                                        <p:cTn id="87" dur="1000"/>
                                        <p:tgtEl>
                                          <p:spTgt spid="217"/>
                                        </p:tgtEl>
                                      </p:cBhvr>
                                    </p:animEffect>
                                    <p:set>
                                      <p:cBhvr>
                                        <p:cTn id="88" dur="1" fill="hold">
                                          <p:stCondLst>
                                            <p:cond delay="1000"/>
                                          </p:stCondLst>
                                        </p:cTn>
                                        <p:tgtEl>
                                          <p:spTgt spid="217"/>
                                        </p:tgtEl>
                                        <p:attrNameLst>
                                          <p:attrName>style.visibility</p:attrName>
                                        </p:attrNameLst>
                                      </p:cBhvr>
                                      <p:to>
                                        <p:strVal val="hidden"/>
                                      </p:to>
                                    </p:set>
                                  </p:childTnLst>
                                </p:cTn>
                              </p:par>
                              <p:par>
                                <p:cTn id="89" presetID="10" presetClass="entr" presetSubtype="0" fill="hold" nodeType="withEffect">
                                  <p:stCondLst>
                                    <p:cond delay="0"/>
                                  </p:stCondLst>
                                  <p:childTnLst>
                                    <p:set>
                                      <p:cBhvr>
                                        <p:cTn id="90" dur="1" fill="hold">
                                          <p:stCondLst>
                                            <p:cond delay="0"/>
                                          </p:stCondLst>
                                        </p:cTn>
                                        <p:tgtEl>
                                          <p:spTgt spid="218"/>
                                        </p:tgtEl>
                                        <p:attrNameLst>
                                          <p:attrName>style.visibility</p:attrName>
                                        </p:attrNameLst>
                                      </p:cBhvr>
                                      <p:to>
                                        <p:strVal val="visible"/>
                                      </p:to>
                                    </p:set>
                                    <p:animEffect transition="in" filter="fade">
                                      <p:cBhvr>
                                        <p:cTn id="91" dur="1000"/>
                                        <p:tgtEl>
                                          <p:spTgt spid="218"/>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0" presetClass="exit" presetSubtype="0" fill="hold" nodeType="clickEffect">
                                  <p:stCondLst>
                                    <p:cond delay="0"/>
                                  </p:stCondLst>
                                  <p:childTnLst>
                                    <p:animEffect transition="out" filter="fade">
                                      <p:cBhvr>
                                        <p:cTn id="95" dur="1000"/>
                                        <p:tgtEl>
                                          <p:spTgt spid="221"/>
                                        </p:tgtEl>
                                      </p:cBhvr>
                                    </p:animEffect>
                                    <p:set>
                                      <p:cBhvr>
                                        <p:cTn id="96" dur="1" fill="hold">
                                          <p:stCondLst>
                                            <p:cond delay="1000"/>
                                          </p:stCondLst>
                                        </p:cTn>
                                        <p:tgtEl>
                                          <p:spTgt spid="221"/>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1000"/>
                                        <p:tgtEl>
                                          <p:spTgt spid="219"/>
                                        </p:tgtEl>
                                      </p:cBhvr>
                                    </p:animEffect>
                                    <p:set>
                                      <p:cBhvr>
                                        <p:cTn id="99" dur="1" fill="hold">
                                          <p:stCondLst>
                                            <p:cond delay="1000"/>
                                          </p:stCondLst>
                                        </p:cTn>
                                        <p:tgtEl>
                                          <p:spTgt spid="219"/>
                                        </p:tgtEl>
                                        <p:attrNameLst>
                                          <p:attrName>style.visibility</p:attrName>
                                        </p:attrNameLst>
                                      </p:cBhvr>
                                      <p:to>
                                        <p:strVal val="hidden"/>
                                      </p:to>
                                    </p:set>
                                  </p:childTnLst>
                                </p:cTn>
                              </p:par>
                            </p:childTnLst>
                          </p:cTn>
                        </p:par>
                        <p:par>
                          <p:cTn id="100" fill="hold" nodeType="afterGroup">
                            <p:stCondLst>
                              <p:cond delay="1000"/>
                            </p:stCondLst>
                            <p:childTnLst>
                              <p:par>
                                <p:cTn id="101" presetID="10" presetClass="entr" presetSubtype="0" fill="hold" nodeType="afterEffect">
                                  <p:stCondLst>
                                    <p:cond delay="0"/>
                                  </p:stCondLst>
                                  <p:childTnLst>
                                    <p:set>
                                      <p:cBhvr>
                                        <p:cTn id="102" dur="1" fill="hold">
                                          <p:stCondLst>
                                            <p:cond delay="0"/>
                                          </p:stCondLst>
                                        </p:cTn>
                                        <p:tgtEl>
                                          <p:spTgt spid="225"/>
                                        </p:tgtEl>
                                        <p:attrNameLst>
                                          <p:attrName>style.visibility</p:attrName>
                                        </p:attrNameLst>
                                      </p:cBhvr>
                                      <p:to>
                                        <p:strVal val="visible"/>
                                      </p:to>
                                    </p:set>
                                    <p:animEffect transition="in" filter="fade">
                                      <p:cBhvr>
                                        <p:cTn id="103" dur="1000"/>
                                        <p:tgtEl>
                                          <p:spTgt spid="225"/>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0" presetClass="exit" presetSubtype="0" fill="hold" nodeType="clickEffect">
                                  <p:stCondLst>
                                    <p:cond delay="0"/>
                                  </p:stCondLst>
                                  <p:childTnLst>
                                    <p:animEffect transition="out" filter="fade">
                                      <p:cBhvr>
                                        <p:cTn id="107" dur="1000"/>
                                        <p:tgtEl>
                                          <p:spTgt spid="218"/>
                                        </p:tgtEl>
                                      </p:cBhvr>
                                    </p:animEffect>
                                    <p:set>
                                      <p:cBhvr>
                                        <p:cTn id="108" dur="1" fill="hold">
                                          <p:stCondLst>
                                            <p:cond delay="1000"/>
                                          </p:stCondLst>
                                        </p:cTn>
                                        <p:tgtEl>
                                          <p:spTgt spid="218"/>
                                        </p:tgtEl>
                                        <p:attrNameLst>
                                          <p:attrName>style.visibility</p:attrName>
                                        </p:attrNameLst>
                                      </p:cBhvr>
                                      <p:to>
                                        <p:strVal val="hidden"/>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0" presetClass="entr" presetSubtype="0" fill="hold" nodeType="clickEffect">
                                  <p:stCondLst>
                                    <p:cond delay="0"/>
                                  </p:stCondLst>
                                  <p:childTnLst>
                                    <p:set>
                                      <p:cBhvr>
                                        <p:cTn id="112" dur="1" fill="hold">
                                          <p:stCondLst>
                                            <p:cond delay="0"/>
                                          </p:stCondLst>
                                        </p:cTn>
                                        <p:tgtEl>
                                          <p:spTgt spid="220"/>
                                        </p:tgtEl>
                                        <p:attrNameLst>
                                          <p:attrName>style.visibility</p:attrName>
                                        </p:attrNameLst>
                                      </p:cBhvr>
                                      <p:to>
                                        <p:strVal val="visible"/>
                                      </p:to>
                                    </p:set>
                                    <p:animEffect transition="in" filter="fade">
                                      <p:cBhvr>
                                        <p:cTn id="113" dur="10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re 3">
            <a:extLst>
              <a:ext uri="{FF2B5EF4-FFF2-40B4-BE49-F238E27FC236}">
                <a16:creationId xmlns:a16="http://schemas.microsoft.com/office/drawing/2014/main" id="{21195289-1DB7-8249-1B10-155C63E5A72F}"/>
              </a:ext>
            </a:extLst>
          </p:cNvPr>
          <p:cNvSpPr>
            <a:spLocks noGrp="1" noChangeArrowheads="1"/>
          </p:cNvSpPr>
          <p:nvPr>
            <p:ph type="title"/>
          </p:nvPr>
        </p:nvSpPr>
        <p:spPr>
          <a:xfrm>
            <a:off x="304800" y="2667000"/>
            <a:ext cx="8229600" cy="685800"/>
          </a:xfrm>
        </p:spPr>
        <p:txBody>
          <a:bodyPr/>
          <a:lstStyle/>
          <a:p>
            <a:r>
              <a:rPr lang="fr-FR" altLang="en-US" sz="3200"/>
              <a:t>Who and How Executes Smart Contracts?</a:t>
            </a:r>
          </a:p>
        </p:txBody>
      </p:sp>
      <p:sp>
        <p:nvSpPr>
          <p:cNvPr id="2" name="Slide Number Placeholder 1">
            <a:extLst>
              <a:ext uri="{FF2B5EF4-FFF2-40B4-BE49-F238E27FC236}">
                <a16:creationId xmlns:a16="http://schemas.microsoft.com/office/drawing/2014/main" id="{98B565A1-7BD0-143D-FC03-146984D42805}"/>
              </a:ext>
            </a:extLst>
          </p:cNvPr>
          <p:cNvSpPr>
            <a:spLocks noGrp="1"/>
          </p:cNvSpPr>
          <p:nvPr>
            <p:ph type="sldNum" sz="quarter" idx="12"/>
          </p:nvPr>
        </p:nvSpPr>
        <p:spPr/>
        <p:txBody>
          <a:bodyPr/>
          <a:lstStyle/>
          <a:p>
            <a:fld id="{8F2B19E1-DC2B-41DB-9288-FDB54A98A349}" type="slidenum">
              <a:rPr lang="en-US" altLang="en-US" smtClean="0"/>
              <a:pPr/>
              <a:t>34</a:t>
            </a:fld>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re 1">
            <a:extLst>
              <a:ext uri="{FF2B5EF4-FFF2-40B4-BE49-F238E27FC236}">
                <a16:creationId xmlns:a16="http://schemas.microsoft.com/office/drawing/2014/main" id="{FA75506C-7C87-68BF-06B6-C179ADFEDC9C}"/>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sz="3200"/>
              <a:t>Where are Smart Contracts deployed?	</a:t>
            </a:r>
          </a:p>
        </p:txBody>
      </p:sp>
      <p:sp>
        <p:nvSpPr>
          <p:cNvPr id="57346" name="Espace réservé du texte 2">
            <a:extLst>
              <a:ext uri="{FF2B5EF4-FFF2-40B4-BE49-F238E27FC236}">
                <a16:creationId xmlns:a16="http://schemas.microsoft.com/office/drawing/2014/main" id="{9304A22F-3C3F-7515-E96F-0D897F07A8B2}"/>
              </a:ext>
            </a:extLst>
          </p:cNvPr>
          <p:cNvSpPr>
            <a:spLocks noGrp="1" noChangeArrowheads="1"/>
          </p:cNvSpPr>
          <p:nvPr>
            <p:ph type="body" idx="1"/>
          </p:nvPr>
        </p:nvSpPr>
        <p:spPr>
          <a:xfrm>
            <a:off x="457200" y="1600200"/>
            <a:ext cx="8229600" cy="4967288"/>
          </a:xfrm>
        </p:spPr>
        <p:txBody>
          <a:bodyPr/>
          <a:lstStyle/>
          <a:p>
            <a:pPr>
              <a:spcAft>
                <a:spcPct val="0"/>
              </a:spcAft>
              <a:buSzTx/>
            </a:pPr>
            <a:r>
              <a:rPr lang="fr-FR" altLang="en-US"/>
              <a:t>On the Ethereum blockchain and they have an address as well!</a:t>
            </a:r>
          </a:p>
          <a:p>
            <a:pPr>
              <a:spcAft>
                <a:spcPct val="0"/>
              </a:spcAft>
              <a:buSzTx/>
            </a:pPr>
            <a:r>
              <a:rPr lang="fr-FR" altLang="en-US"/>
              <a:t>A contract can be executed by making any network transaction to its address.</a:t>
            </a:r>
          </a:p>
          <a:p>
            <a:pPr>
              <a:spcAft>
                <a:spcPct val="0"/>
              </a:spcAft>
              <a:buSzTx/>
            </a:pPr>
            <a:endParaRPr lang="fr-FR" altLang="en-US"/>
          </a:p>
          <a:p>
            <a:pPr>
              <a:spcAft>
                <a:spcPct val="0"/>
              </a:spcAft>
              <a:buSzTx/>
            </a:pPr>
            <a:endParaRPr lang="fr-FR" altLang="en-US"/>
          </a:p>
          <a:p>
            <a:pPr>
              <a:spcAft>
                <a:spcPct val="0"/>
              </a:spcAft>
              <a:buSzTx/>
            </a:pPr>
            <a:endParaRPr lang="fr-F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re 1">
            <a:extLst>
              <a:ext uri="{FF2B5EF4-FFF2-40B4-BE49-F238E27FC236}">
                <a16:creationId xmlns:a16="http://schemas.microsoft.com/office/drawing/2014/main" id="{34A17729-3416-33D1-CDA4-64CA896F9F51}"/>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sz="3200"/>
              <a:t>Who executes Smart Contracts?</a:t>
            </a:r>
          </a:p>
        </p:txBody>
      </p:sp>
      <p:sp>
        <p:nvSpPr>
          <p:cNvPr id="58370" name="Espace réservé du texte 2">
            <a:extLst>
              <a:ext uri="{FF2B5EF4-FFF2-40B4-BE49-F238E27FC236}">
                <a16:creationId xmlns:a16="http://schemas.microsoft.com/office/drawing/2014/main" id="{C72F2EE0-205B-1E6F-56F0-3C5BC94C5F03}"/>
              </a:ext>
            </a:extLst>
          </p:cNvPr>
          <p:cNvSpPr>
            <a:spLocks noGrp="1" noChangeArrowheads="1"/>
          </p:cNvSpPr>
          <p:nvPr>
            <p:ph type="body" idx="1"/>
          </p:nvPr>
        </p:nvSpPr>
        <p:spPr>
          <a:xfrm>
            <a:off x="457200" y="1600200"/>
            <a:ext cx="8229600" cy="4967288"/>
          </a:xfrm>
        </p:spPr>
        <p:txBody>
          <a:bodyPr/>
          <a:lstStyle/>
          <a:p>
            <a:pPr>
              <a:spcAft>
                <a:spcPct val="0"/>
              </a:spcAft>
              <a:buSzTx/>
            </a:pPr>
            <a:r>
              <a:rPr lang="fr-FR" altLang="en-US" sz="2400"/>
              <a:t>In our example, contract once deployed lives in the blockchain. </a:t>
            </a:r>
          </a:p>
          <a:p>
            <a:pPr>
              <a:spcAft>
                <a:spcPct val="0"/>
              </a:spcAft>
              <a:buSzTx/>
            </a:pPr>
            <a:endParaRPr lang="fr-FR" altLang="en-US" sz="2400"/>
          </a:p>
          <a:p>
            <a:pPr>
              <a:spcAft>
                <a:spcPct val="0"/>
              </a:spcAft>
              <a:buSzTx/>
            </a:pPr>
            <a:r>
              <a:rPr lang="fr-FR" altLang="en-US" sz="2400"/>
              <a:t>It is executed when Alex makes a transaction. The contract may call other contracts. The resulting state is saved in the blockchain.</a:t>
            </a:r>
          </a:p>
          <a:p>
            <a:pPr>
              <a:spcAft>
                <a:spcPct val="0"/>
              </a:spcAft>
              <a:buSzTx/>
            </a:pPr>
            <a:endParaRPr lang="fr-FR" altLang="en-US"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Image 3">
            <a:extLst>
              <a:ext uri="{FF2B5EF4-FFF2-40B4-BE49-F238E27FC236}">
                <a16:creationId xmlns:a16="http://schemas.microsoft.com/office/drawing/2014/main" id="{F48CCDD3-24D4-D860-2C02-C96881370022}"/>
              </a:ext>
            </a:extLst>
          </p:cNvPr>
          <p:cNvPicPr>
            <a:picLocks noChangeAspect="1"/>
          </p:cNvPicPr>
          <p:nvPr/>
        </p:nvPicPr>
        <p:blipFill>
          <a:blip r:embed="rId2">
            <a:extLst>
              <a:ext uri="{28A0092B-C50C-407E-A947-70E740481C1C}">
                <a14:useLocalDpi xmlns:a14="http://schemas.microsoft.com/office/drawing/2010/main" val="0"/>
              </a:ext>
            </a:extLst>
          </a:blip>
          <a:srcRect l="13487" t="-392" r="13618" b="392"/>
          <a:stretch>
            <a:fillRect/>
          </a:stretch>
        </p:blipFill>
        <p:spPr bwMode="auto">
          <a:xfrm>
            <a:off x="152400" y="1066800"/>
            <a:ext cx="894715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re 1">
            <a:extLst>
              <a:ext uri="{FF2B5EF4-FFF2-40B4-BE49-F238E27FC236}">
                <a16:creationId xmlns:a16="http://schemas.microsoft.com/office/drawing/2014/main" id="{05650071-EEF3-4E6A-1DE4-23E4B224C9FC}"/>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sz="3200"/>
              <a:t>Who executes Smart Contracts?</a:t>
            </a:r>
          </a:p>
        </p:txBody>
      </p:sp>
      <p:sp>
        <p:nvSpPr>
          <p:cNvPr id="60418" name="Espace réservé du texte 2">
            <a:extLst>
              <a:ext uri="{FF2B5EF4-FFF2-40B4-BE49-F238E27FC236}">
                <a16:creationId xmlns:a16="http://schemas.microsoft.com/office/drawing/2014/main" id="{2B6702B7-9441-1C7D-DE46-F65182A267B1}"/>
              </a:ext>
            </a:extLst>
          </p:cNvPr>
          <p:cNvSpPr>
            <a:spLocks noGrp="1" noChangeArrowheads="1"/>
          </p:cNvSpPr>
          <p:nvPr>
            <p:ph type="body" idx="1"/>
          </p:nvPr>
        </p:nvSpPr>
        <p:spPr>
          <a:xfrm>
            <a:off x="457200" y="1600200"/>
            <a:ext cx="8229600" cy="4967288"/>
          </a:xfrm>
        </p:spPr>
        <p:txBody>
          <a:bodyPr/>
          <a:lstStyle/>
          <a:p>
            <a:pPr>
              <a:spcAft>
                <a:spcPct val="0"/>
              </a:spcAft>
              <a:buSzTx/>
            </a:pPr>
            <a:r>
              <a:rPr lang="fr-FR" altLang="en-US" sz="2400"/>
              <a:t>Who executes the smart contract? </a:t>
            </a:r>
          </a:p>
          <a:p>
            <a:pPr>
              <a:spcAft>
                <a:spcPct val="0"/>
              </a:spcAft>
              <a:buSzTx/>
            </a:pPr>
            <a:r>
              <a:rPr lang="fr-FR" altLang="en-US" sz="2400"/>
              <a:t>We know, who validates the bitcoin transactions? </a:t>
            </a:r>
          </a:p>
          <a:p>
            <a:pPr>
              <a:spcAft>
                <a:spcPct val="0"/>
              </a:spcAft>
              <a:buSzTx/>
              <a:buFontTx/>
              <a:buNone/>
            </a:pPr>
            <a:endParaRPr lang="fr-FR" altLang="en-US" sz="2400"/>
          </a:p>
          <a:p>
            <a:pPr>
              <a:spcAft>
                <a:spcPct val="0"/>
              </a:spcAft>
              <a:buSzTx/>
            </a:pPr>
            <a:endParaRPr lang="fr-FR" altLang="en-US" sz="2400"/>
          </a:p>
          <a:p>
            <a:pPr>
              <a:spcAft>
                <a:spcPct val="0"/>
              </a:spcAft>
              <a:buSzTx/>
              <a:buFontTx/>
              <a:buNone/>
            </a:pPr>
            <a:endParaRPr lang="fr-FR" alt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re 1">
            <a:extLst>
              <a:ext uri="{FF2B5EF4-FFF2-40B4-BE49-F238E27FC236}">
                <a16:creationId xmlns:a16="http://schemas.microsoft.com/office/drawing/2014/main" id="{D8213582-83B0-E366-E5D8-557473F747EF}"/>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sz="3200"/>
              <a:t>How Smart Contracts are executed?</a:t>
            </a:r>
          </a:p>
        </p:txBody>
      </p:sp>
      <p:sp>
        <p:nvSpPr>
          <p:cNvPr id="61442" name="Espace réservé du texte 2">
            <a:extLst>
              <a:ext uri="{FF2B5EF4-FFF2-40B4-BE49-F238E27FC236}">
                <a16:creationId xmlns:a16="http://schemas.microsoft.com/office/drawing/2014/main" id="{75675E90-E4C2-87B3-EA01-8F2911FA2FDA}"/>
              </a:ext>
            </a:extLst>
          </p:cNvPr>
          <p:cNvSpPr>
            <a:spLocks noGrp="1" noChangeArrowheads="1"/>
          </p:cNvSpPr>
          <p:nvPr>
            <p:ph type="body" idx="1"/>
          </p:nvPr>
        </p:nvSpPr>
        <p:spPr>
          <a:xfrm>
            <a:off x="457200" y="1600200"/>
            <a:ext cx="8229600" cy="4967288"/>
          </a:xfrm>
        </p:spPr>
        <p:txBody>
          <a:bodyPr/>
          <a:lstStyle/>
          <a:p>
            <a:pPr>
              <a:spcAft>
                <a:spcPct val="0"/>
              </a:spcAft>
              <a:buSzTx/>
            </a:pPr>
            <a:r>
              <a:rPr lang="fr-FR" altLang="en-US" sz="2000" dirty="0"/>
              <a:t>How the Bitcoin scripts are </a:t>
            </a:r>
            <a:r>
              <a:rPr lang="fr-FR" altLang="en-US" sz="2000" dirty="0" err="1"/>
              <a:t>executed</a:t>
            </a:r>
            <a:r>
              <a:rPr lang="fr-FR" altLang="en-US" sz="2000" dirty="0"/>
              <a:t>?</a:t>
            </a:r>
          </a:p>
          <a:p>
            <a:pPr>
              <a:spcAft>
                <a:spcPct val="0"/>
              </a:spcAft>
              <a:buSzTx/>
            </a:pPr>
            <a:r>
              <a:rPr lang="fr-FR" altLang="en-US" sz="2000" dirty="0" err="1"/>
              <a:t>Recall</a:t>
            </a:r>
            <a:r>
              <a:rPr lang="fr-FR" altLang="en-US" sz="2000" dirty="0"/>
              <a:t>, </a:t>
            </a:r>
            <a:r>
              <a:rPr lang="fr-FR" altLang="en-US" sz="2000" dirty="0" err="1"/>
              <a:t>it</a:t>
            </a:r>
            <a:r>
              <a:rPr lang="fr-FR" altLang="en-US" sz="2000" dirty="0"/>
              <a:t> </a:t>
            </a:r>
            <a:r>
              <a:rPr lang="fr-FR" altLang="en-US" sz="2000" dirty="0" err="1"/>
              <a:t>is</a:t>
            </a:r>
            <a:r>
              <a:rPr lang="fr-FR" altLang="en-US" sz="2000" dirty="0"/>
              <a:t> a stack </a:t>
            </a:r>
            <a:r>
              <a:rPr lang="fr-FR" altLang="en-US" sz="2000" dirty="0" err="1"/>
              <a:t>based</a:t>
            </a:r>
            <a:r>
              <a:rPr lang="fr-FR" altLang="en-US" sz="2000" dirty="0"/>
              <a:t> </a:t>
            </a:r>
            <a:r>
              <a:rPr lang="fr-FR" altLang="en-US" sz="2000" dirty="0" err="1"/>
              <a:t>language</a:t>
            </a:r>
            <a:r>
              <a:rPr lang="fr-FR" altLang="en-US" sz="2000" dirty="0"/>
              <a:t> </a:t>
            </a:r>
          </a:p>
          <a:p>
            <a:pPr>
              <a:spcAft>
                <a:spcPct val="0"/>
              </a:spcAft>
              <a:buSzTx/>
            </a:pPr>
            <a:endParaRPr lang="fr-FR" altLang="en-US" sz="2000" dirty="0"/>
          </a:p>
          <a:p>
            <a:pPr>
              <a:spcAft>
                <a:spcPct val="0"/>
              </a:spcAft>
              <a:buSzTx/>
            </a:pPr>
            <a:r>
              <a:rPr lang="fr-FR" altLang="en-US" sz="2000" dirty="0"/>
              <a:t>For a </a:t>
            </a:r>
            <a:r>
              <a:rPr lang="fr-FR" altLang="en-US" sz="2000" dirty="0" err="1"/>
              <a:t>turing</a:t>
            </a:r>
            <a:r>
              <a:rPr lang="fr-FR" altLang="en-US" sz="2000" dirty="0"/>
              <a:t> </a:t>
            </a:r>
            <a:r>
              <a:rPr lang="fr-FR" altLang="en-US" sz="2000" dirty="0" err="1"/>
              <a:t>complete</a:t>
            </a:r>
            <a:r>
              <a:rPr lang="fr-FR" altLang="en-US" sz="2000" dirty="0"/>
              <a:t> </a:t>
            </a:r>
            <a:r>
              <a:rPr lang="fr-FR" altLang="en-US" sz="2000" dirty="0" err="1"/>
              <a:t>language</a:t>
            </a:r>
            <a:r>
              <a:rPr lang="fr-FR" altLang="en-US" sz="2000" dirty="0"/>
              <a:t>, </a:t>
            </a:r>
            <a:r>
              <a:rPr lang="fr-FR" altLang="en-US" sz="2000" dirty="0" err="1"/>
              <a:t>we</a:t>
            </a:r>
            <a:r>
              <a:rPr lang="fr-FR" altLang="en-US" sz="2000" dirty="0"/>
              <a:t> </a:t>
            </a:r>
            <a:r>
              <a:rPr lang="fr-FR" altLang="en-US" sz="2000" dirty="0" err="1"/>
              <a:t>need</a:t>
            </a:r>
            <a:r>
              <a:rPr lang="fr-FR" altLang="en-US" sz="2000" dirty="0"/>
              <a:t> a lot more </a:t>
            </a:r>
            <a:r>
              <a:rPr lang="fr-FR" altLang="en-US" sz="2000" dirty="0" err="1"/>
              <a:t>than</a:t>
            </a:r>
            <a:r>
              <a:rPr lang="fr-FR" altLang="en-US" sz="2000" dirty="0"/>
              <a:t> </a:t>
            </a:r>
            <a:r>
              <a:rPr lang="fr-FR" altLang="en-US" sz="2000" dirty="0" err="1"/>
              <a:t>that</a:t>
            </a:r>
            <a:r>
              <a:rPr lang="fr-FR" altLang="en-US" sz="2000" dirty="0"/>
              <a:t>. </a:t>
            </a:r>
          </a:p>
          <a:p>
            <a:pPr>
              <a:spcAft>
                <a:spcPct val="0"/>
              </a:spcAft>
              <a:buSzTx/>
            </a:pPr>
            <a:r>
              <a:rPr lang="fr-FR" altLang="en-US" sz="2000" dirty="0" err="1"/>
              <a:t>Ethereum</a:t>
            </a:r>
            <a:r>
              <a:rPr lang="fr-FR" altLang="en-US" sz="2000" dirty="0"/>
              <a:t> uses EVM (</a:t>
            </a:r>
            <a:r>
              <a:rPr lang="fr-FR" altLang="en-US" sz="2000" dirty="0" err="1"/>
              <a:t>Ethereum</a:t>
            </a:r>
            <a:r>
              <a:rPr lang="fr-FR" altLang="en-US" sz="2000" dirty="0"/>
              <a:t> Virtual Machine).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re 1">
            <a:extLst>
              <a:ext uri="{FF2B5EF4-FFF2-40B4-BE49-F238E27FC236}">
                <a16:creationId xmlns:a16="http://schemas.microsoft.com/office/drawing/2014/main" id="{7C006227-AB54-712A-0311-6F504555D067}"/>
              </a:ext>
            </a:extLst>
          </p:cNvPr>
          <p:cNvSpPr>
            <a:spLocks noGrp="1" noChangeArrowheads="1"/>
          </p:cNvSpPr>
          <p:nvPr>
            <p:ph type="title"/>
          </p:nvPr>
        </p:nvSpPr>
        <p:spPr/>
        <p:txBody>
          <a:bodyPr/>
          <a:lstStyle/>
          <a:p>
            <a:r>
              <a:rPr lang="fr-FR" altLang="en-US"/>
              <a:t>Ethereum and Turing Completeness </a:t>
            </a:r>
          </a:p>
        </p:txBody>
      </p:sp>
      <p:sp>
        <p:nvSpPr>
          <p:cNvPr id="62466" name="Espace réservé du contenu 2">
            <a:extLst>
              <a:ext uri="{FF2B5EF4-FFF2-40B4-BE49-F238E27FC236}">
                <a16:creationId xmlns:a16="http://schemas.microsoft.com/office/drawing/2014/main" id="{EF6DAF9D-1B6D-A598-6AB2-C9CA8E3E8AE2}"/>
              </a:ext>
            </a:extLst>
          </p:cNvPr>
          <p:cNvSpPr>
            <a:spLocks noGrp="1" noChangeArrowheads="1"/>
          </p:cNvSpPr>
          <p:nvPr>
            <p:ph idx="1"/>
          </p:nvPr>
        </p:nvSpPr>
        <p:spPr/>
        <p:txBody>
          <a:bodyPr/>
          <a:lstStyle/>
          <a:p>
            <a:r>
              <a:rPr lang="fr-FR" altLang="en-US" sz="2800"/>
              <a:t>Ethereum, they say, unlike Bitcoin, is Turing complete. What exactly does that mean? </a:t>
            </a:r>
          </a:p>
          <a:p>
            <a:endParaRPr lang="fr-FR" altLang="en-US" sz="2800"/>
          </a:p>
          <a:p>
            <a:endParaRPr lang="fr-FR" altLang="en-US" sz="2800"/>
          </a:p>
          <a:p>
            <a:r>
              <a:rPr lang="fr-FR" altLang="en-US" sz="2800"/>
              <a:t>Turing completeness is very easy to achieve</a:t>
            </a:r>
          </a:p>
          <a:p>
            <a:r>
              <a:rPr lang="fr-FR" altLang="en-US" sz="2800"/>
              <a:t>However, it is very dangerous, particularly in open access systems like public blockchains, because of the halting problem. </a:t>
            </a:r>
          </a:p>
          <a:p>
            <a:endParaRPr lang="fr-FR" altLang="en-US" sz="2800"/>
          </a:p>
          <a:p>
            <a:endParaRPr lang="fr-FR" altLang="en-US" sz="2800"/>
          </a:p>
          <a:p>
            <a:endParaRPr lang="fr-FR" altLang="en-US" sz="2800"/>
          </a:p>
        </p:txBody>
      </p:sp>
      <p:sp>
        <p:nvSpPr>
          <p:cNvPr id="2" name="Slide Number Placeholder 1">
            <a:extLst>
              <a:ext uri="{FF2B5EF4-FFF2-40B4-BE49-F238E27FC236}">
                <a16:creationId xmlns:a16="http://schemas.microsoft.com/office/drawing/2014/main" id="{5079A315-24E6-0F0C-8AC4-C4576FBB361E}"/>
              </a:ext>
            </a:extLst>
          </p:cNvPr>
          <p:cNvSpPr>
            <a:spLocks noGrp="1"/>
          </p:cNvSpPr>
          <p:nvPr>
            <p:ph type="sldNum" sz="quarter" idx="12"/>
          </p:nvPr>
        </p:nvSpPr>
        <p:spPr/>
        <p:txBody>
          <a:bodyPr/>
          <a:lstStyle/>
          <a:p>
            <a:fld id="{F9104BDA-D44F-4B11-86E7-6A4BB78558E2}" type="slidenum">
              <a:rPr lang="en-US" altLang="en-US" smtClean="0"/>
              <a:pPr/>
              <a:t>40</a:t>
            </a:fld>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re 1">
            <a:extLst>
              <a:ext uri="{FF2B5EF4-FFF2-40B4-BE49-F238E27FC236}">
                <a16:creationId xmlns:a16="http://schemas.microsoft.com/office/drawing/2014/main" id="{B3854828-F750-D189-88AD-FC7164BC6FAF}"/>
              </a:ext>
            </a:extLst>
          </p:cNvPr>
          <p:cNvSpPr>
            <a:spLocks noGrp="1" noChangeArrowheads="1"/>
          </p:cNvSpPr>
          <p:nvPr>
            <p:ph type="title"/>
          </p:nvPr>
        </p:nvSpPr>
        <p:spPr/>
        <p:txBody>
          <a:bodyPr/>
          <a:lstStyle/>
          <a:p>
            <a:r>
              <a:rPr lang="fr-FR" altLang="en-US"/>
              <a:t>Turing Completeness as a </a:t>
            </a:r>
            <a:r>
              <a:rPr lang="fr-FR" altLang="fr-FR"/>
              <a:t>“</a:t>
            </a:r>
            <a:r>
              <a:rPr lang="fr-FR" altLang="ja-JP"/>
              <a:t>Feature</a:t>
            </a:r>
            <a:r>
              <a:rPr lang="fr-FR" altLang="fr-FR"/>
              <a:t>”</a:t>
            </a:r>
            <a:r>
              <a:rPr lang="fr-FR" altLang="ja-JP"/>
              <a:t> </a:t>
            </a:r>
            <a:endParaRPr lang="fr-FR" altLang="en-US"/>
          </a:p>
        </p:txBody>
      </p:sp>
      <p:sp>
        <p:nvSpPr>
          <p:cNvPr id="63490" name="Espace réservé du contenu 2">
            <a:extLst>
              <a:ext uri="{FF2B5EF4-FFF2-40B4-BE49-F238E27FC236}">
                <a16:creationId xmlns:a16="http://schemas.microsoft.com/office/drawing/2014/main" id="{C404A7A3-9A16-555B-2337-9B2A0EE26293}"/>
              </a:ext>
            </a:extLst>
          </p:cNvPr>
          <p:cNvSpPr>
            <a:spLocks noGrp="1" noChangeArrowheads="1"/>
          </p:cNvSpPr>
          <p:nvPr>
            <p:ph idx="1"/>
          </p:nvPr>
        </p:nvSpPr>
        <p:spPr/>
        <p:txBody>
          <a:bodyPr/>
          <a:lstStyle/>
          <a:p>
            <a:endParaRPr lang="fr-FR" altLang="en-US" sz="2400"/>
          </a:p>
          <a:p>
            <a:r>
              <a:rPr lang="fr-FR" altLang="en-US" sz="2400"/>
              <a:t>The halting problem is the problem of determining, from a description of an arbitrary computer program and an input, whether the program will finish running, or continue to run forever.</a:t>
            </a:r>
          </a:p>
          <a:p>
            <a:endParaRPr lang="fr-FR" altLang="en-US" sz="2400"/>
          </a:p>
          <a:p>
            <a:r>
              <a:rPr lang="fr-FR" altLang="en-US" sz="2400"/>
              <a:t>So can it be solved?</a:t>
            </a:r>
          </a:p>
          <a:p>
            <a:endParaRPr lang="fr-FR" altLang="en-US" sz="2400"/>
          </a:p>
        </p:txBody>
      </p:sp>
      <p:sp>
        <p:nvSpPr>
          <p:cNvPr id="2" name="Slide Number Placeholder 1">
            <a:extLst>
              <a:ext uri="{FF2B5EF4-FFF2-40B4-BE49-F238E27FC236}">
                <a16:creationId xmlns:a16="http://schemas.microsoft.com/office/drawing/2014/main" id="{6E51C1F1-A934-FA11-A7F2-3140ADBC5E4B}"/>
              </a:ext>
            </a:extLst>
          </p:cNvPr>
          <p:cNvSpPr>
            <a:spLocks noGrp="1"/>
          </p:cNvSpPr>
          <p:nvPr>
            <p:ph type="sldNum" sz="quarter" idx="12"/>
          </p:nvPr>
        </p:nvSpPr>
        <p:spPr/>
        <p:txBody>
          <a:bodyPr/>
          <a:lstStyle/>
          <a:p>
            <a:fld id="{F9104BDA-D44F-4B11-86E7-6A4BB78558E2}" type="slidenum">
              <a:rPr lang="en-US" altLang="en-US" smtClean="0"/>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re 1">
            <a:extLst>
              <a:ext uri="{FF2B5EF4-FFF2-40B4-BE49-F238E27FC236}">
                <a16:creationId xmlns:a16="http://schemas.microsoft.com/office/drawing/2014/main" id="{0B4516C8-50D3-D7C3-4554-A100E28DF0B1}"/>
              </a:ext>
            </a:extLst>
          </p:cNvPr>
          <p:cNvSpPr>
            <a:spLocks noGrp="1" noChangeArrowheads="1"/>
          </p:cNvSpPr>
          <p:nvPr>
            <p:ph type="title"/>
          </p:nvPr>
        </p:nvSpPr>
        <p:spPr/>
        <p:txBody>
          <a:bodyPr/>
          <a:lstStyle/>
          <a:p>
            <a:r>
              <a:rPr lang="fr-FR" altLang="en-US"/>
              <a:t>Implications of Turing Completeness </a:t>
            </a:r>
          </a:p>
        </p:txBody>
      </p:sp>
      <p:sp>
        <p:nvSpPr>
          <p:cNvPr id="64514" name="Espace réservé du contenu 2">
            <a:extLst>
              <a:ext uri="{FF2B5EF4-FFF2-40B4-BE49-F238E27FC236}">
                <a16:creationId xmlns:a16="http://schemas.microsoft.com/office/drawing/2014/main" id="{716A00B5-120B-51FA-3E96-67320A9E0F35}"/>
              </a:ext>
            </a:extLst>
          </p:cNvPr>
          <p:cNvSpPr>
            <a:spLocks noGrp="1" noChangeArrowheads="1"/>
          </p:cNvSpPr>
          <p:nvPr>
            <p:ph idx="1"/>
          </p:nvPr>
        </p:nvSpPr>
        <p:spPr/>
        <p:txBody>
          <a:bodyPr/>
          <a:lstStyle/>
          <a:p>
            <a:r>
              <a:rPr lang="fr-FR" altLang="en-US" sz="2400"/>
              <a:t>Turing proved that you cannot predict whether a program will terminate by simulating it on a computer. </a:t>
            </a:r>
          </a:p>
          <a:p>
            <a:endParaRPr lang="fr-FR" altLang="en-US" sz="2400"/>
          </a:p>
          <a:p>
            <a:r>
              <a:rPr lang="fr-FR" altLang="en-US" sz="2400"/>
              <a:t>In simple terms, we cannot predict the path of a program without running it. </a:t>
            </a:r>
          </a:p>
          <a:p>
            <a:endParaRPr lang="fr-FR" altLang="en-US" sz="2400"/>
          </a:p>
        </p:txBody>
      </p:sp>
      <p:sp>
        <p:nvSpPr>
          <p:cNvPr id="2" name="Slide Number Placeholder 1">
            <a:extLst>
              <a:ext uri="{FF2B5EF4-FFF2-40B4-BE49-F238E27FC236}">
                <a16:creationId xmlns:a16="http://schemas.microsoft.com/office/drawing/2014/main" id="{A4E0CD0B-4300-FF3A-74B3-7A2BBE908116}"/>
              </a:ext>
            </a:extLst>
          </p:cNvPr>
          <p:cNvSpPr>
            <a:spLocks noGrp="1"/>
          </p:cNvSpPr>
          <p:nvPr>
            <p:ph type="sldNum" sz="quarter" idx="12"/>
          </p:nvPr>
        </p:nvSpPr>
        <p:spPr/>
        <p:txBody>
          <a:bodyPr/>
          <a:lstStyle/>
          <a:p>
            <a:fld id="{F9104BDA-D44F-4B11-86E7-6A4BB78558E2}" type="slidenum">
              <a:rPr lang="en-US" altLang="en-US" smtClean="0"/>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re 1">
            <a:extLst>
              <a:ext uri="{FF2B5EF4-FFF2-40B4-BE49-F238E27FC236}">
                <a16:creationId xmlns:a16="http://schemas.microsoft.com/office/drawing/2014/main" id="{0B45EF69-73BC-E3B5-5AEE-5895C862272A}"/>
              </a:ext>
            </a:extLst>
          </p:cNvPr>
          <p:cNvSpPr>
            <a:spLocks noGrp="1" noChangeArrowheads="1"/>
          </p:cNvSpPr>
          <p:nvPr>
            <p:ph type="title"/>
          </p:nvPr>
        </p:nvSpPr>
        <p:spPr/>
        <p:txBody>
          <a:bodyPr/>
          <a:lstStyle/>
          <a:p>
            <a:r>
              <a:rPr lang="fr-FR" altLang="en-US"/>
              <a:t>Turing Completeness as a </a:t>
            </a:r>
            <a:r>
              <a:rPr lang="fr-FR" altLang="fr-FR"/>
              <a:t>“</a:t>
            </a:r>
            <a:r>
              <a:rPr lang="fr-FR" altLang="ja-JP"/>
              <a:t>Feature</a:t>
            </a:r>
            <a:r>
              <a:rPr lang="fr-FR" altLang="fr-FR"/>
              <a:t>”</a:t>
            </a:r>
            <a:r>
              <a:rPr lang="fr-FR" altLang="ja-JP"/>
              <a:t> </a:t>
            </a:r>
            <a:endParaRPr lang="fr-FR" altLang="en-US"/>
          </a:p>
        </p:txBody>
      </p:sp>
      <p:sp>
        <p:nvSpPr>
          <p:cNvPr id="65538" name="Espace réservé du contenu 2">
            <a:extLst>
              <a:ext uri="{FF2B5EF4-FFF2-40B4-BE49-F238E27FC236}">
                <a16:creationId xmlns:a16="http://schemas.microsoft.com/office/drawing/2014/main" id="{0D987BB2-582D-DF8B-D69B-1AF23B90D8F9}"/>
              </a:ext>
            </a:extLst>
          </p:cNvPr>
          <p:cNvSpPr>
            <a:spLocks noGrp="1" noChangeArrowheads="1"/>
          </p:cNvSpPr>
          <p:nvPr>
            <p:ph idx="1"/>
          </p:nvPr>
        </p:nvSpPr>
        <p:spPr/>
        <p:txBody>
          <a:bodyPr/>
          <a:lstStyle/>
          <a:p>
            <a:r>
              <a:rPr lang="fr-FR" altLang="en-US" sz="2000"/>
              <a:t>The fact that Ethereum is Turing complete means that any program of any complexity can be computed by Ethereum. </a:t>
            </a:r>
          </a:p>
          <a:p>
            <a:pPr>
              <a:buFontTx/>
              <a:buNone/>
            </a:pPr>
            <a:endParaRPr lang="fr-FR" altLang="en-US" sz="2000"/>
          </a:p>
          <a:p>
            <a:r>
              <a:rPr lang="fr-FR" altLang="en-US" sz="2000"/>
              <a:t>Turing-complete systems can run in </a:t>
            </a:r>
            <a:r>
              <a:rPr lang="fr-FR" altLang="fr-FR" sz="2000"/>
              <a:t>“</a:t>
            </a:r>
            <a:r>
              <a:rPr lang="fr-FR" altLang="ja-JP" sz="2000"/>
              <a:t>infinite loops,</a:t>
            </a:r>
            <a:r>
              <a:rPr lang="fr-FR" altLang="fr-FR" sz="2000"/>
              <a:t>”</a:t>
            </a:r>
            <a:r>
              <a:rPr lang="fr-FR" altLang="ja-JP" sz="2000"/>
              <a:t> a term used to describe a program that does not terminate. </a:t>
            </a:r>
          </a:p>
          <a:p>
            <a:endParaRPr lang="fr-FR" altLang="en-US" sz="2000"/>
          </a:p>
          <a:p>
            <a:r>
              <a:rPr lang="fr-FR" altLang="en-US" sz="2000"/>
              <a:t>It is trivial to create a program that runs a loop that never ends. </a:t>
            </a:r>
          </a:p>
        </p:txBody>
      </p:sp>
      <p:sp>
        <p:nvSpPr>
          <p:cNvPr id="2" name="Slide Number Placeholder 1">
            <a:extLst>
              <a:ext uri="{FF2B5EF4-FFF2-40B4-BE49-F238E27FC236}">
                <a16:creationId xmlns:a16="http://schemas.microsoft.com/office/drawing/2014/main" id="{5A0FC7EB-8224-E9EF-0AA3-5EE356642D7C}"/>
              </a:ext>
            </a:extLst>
          </p:cNvPr>
          <p:cNvSpPr>
            <a:spLocks noGrp="1"/>
          </p:cNvSpPr>
          <p:nvPr>
            <p:ph type="sldNum" sz="quarter" idx="12"/>
          </p:nvPr>
        </p:nvSpPr>
        <p:spPr/>
        <p:txBody>
          <a:bodyPr/>
          <a:lstStyle/>
          <a:p>
            <a:fld id="{F9104BDA-D44F-4B11-86E7-6A4BB78558E2}" type="slidenum">
              <a:rPr lang="en-US" altLang="en-US" smtClean="0"/>
              <a:pPr/>
              <a:t>43</a:t>
            </a:fld>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re 1">
            <a:extLst>
              <a:ext uri="{FF2B5EF4-FFF2-40B4-BE49-F238E27FC236}">
                <a16:creationId xmlns:a16="http://schemas.microsoft.com/office/drawing/2014/main" id="{63CAAF9C-D59F-E426-E09E-A5E1C50006ED}"/>
              </a:ext>
            </a:extLst>
          </p:cNvPr>
          <p:cNvSpPr>
            <a:spLocks noGrp="1" noChangeArrowheads="1"/>
          </p:cNvSpPr>
          <p:nvPr>
            <p:ph type="title"/>
          </p:nvPr>
        </p:nvSpPr>
        <p:spPr/>
        <p:txBody>
          <a:bodyPr/>
          <a:lstStyle/>
          <a:p>
            <a:r>
              <a:rPr lang="fr-FR" altLang="en-US"/>
              <a:t>Implications of Turing Completeness </a:t>
            </a:r>
          </a:p>
        </p:txBody>
      </p:sp>
      <p:sp>
        <p:nvSpPr>
          <p:cNvPr id="66562" name="Espace réservé du contenu 2">
            <a:extLst>
              <a:ext uri="{FF2B5EF4-FFF2-40B4-BE49-F238E27FC236}">
                <a16:creationId xmlns:a16="http://schemas.microsoft.com/office/drawing/2014/main" id="{8DC72D4D-743E-CC92-A7CC-E34542966B84}"/>
              </a:ext>
            </a:extLst>
          </p:cNvPr>
          <p:cNvSpPr>
            <a:spLocks noGrp="1" noChangeArrowheads="1"/>
          </p:cNvSpPr>
          <p:nvPr>
            <p:ph idx="1"/>
          </p:nvPr>
        </p:nvSpPr>
        <p:spPr/>
        <p:txBody>
          <a:bodyPr/>
          <a:lstStyle/>
          <a:p>
            <a:r>
              <a:rPr lang="fr-FR" altLang="en-US" sz="2400"/>
              <a:t>But unintended never-ending loops can arise without warning, due to complex interactions between the starting conditions and the code. </a:t>
            </a:r>
          </a:p>
          <a:p>
            <a:endParaRPr lang="fr-FR" altLang="en-US" sz="2400"/>
          </a:p>
          <a:p>
            <a:endParaRPr lang="fr-FR" altLang="en-US" sz="2400"/>
          </a:p>
          <a:p>
            <a:r>
              <a:rPr lang="fr-FR" altLang="en-US" sz="2400"/>
              <a:t>In Ethereum, this poses a challenge: every participating node (client) must validate every transaction, running any smart contracts it calls. </a:t>
            </a:r>
          </a:p>
        </p:txBody>
      </p:sp>
      <p:sp>
        <p:nvSpPr>
          <p:cNvPr id="2" name="Slide Number Placeholder 1">
            <a:extLst>
              <a:ext uri="{FF2B5EF4-FFF2-40B4-BE49-F238E27FC236}">
                <a16:creationId xmlns:a16="http://schemas.microsoft.com/office/drawing/2014/main" id="{D345EDC0-6CFA-E958-6F1C-9E0BEBFB8B22}"/>
              </a:ext>
            </a:extLst>
          </p:cNvPr>
          <p:cNvSpPr>
            <a:spLocks noGrp="1"/>
          </p:cNvSpPr>
          <p:nvPr>
            <p:ph type="sldNum" sz="quarter" idx="12"/>
          </p:nvPr>
        </p:nvSpPr>
        <p:spPr/>
        <p:txBody>
          <a:bodyPr/>
          <a:lstStyle/>
          <a:p>
            <a:fld id="{F9104BDA-D44F-4B11-86E7-6A4BB78558E2}" type="slidenum">
              <a:rPr lang="en-US" altLang="en-US" smtClean="0"/>
              <a:pPr/>
              <a:t>44</a:t>
            </a:fld>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re 1">
            <a:extLst>
              <a:ext uri="{FF2B5EF4-FFF2-40B4-BE49-F238E27FC236}">
                <a16:creationId xmlns:a16="http://schemas.microsoft.com/office/drawing/2014/main" id="{9EADD502-B70E-AC45-6CE1-C8D85E254FD3}"/>
              </a:ext>
            </a:extLst>
          </p:cNvPr>
          <p:cNvSpPr>
            <a:spLocks noGrp="1" noChangeArrowheads="1"/>
          </p:cNvSpPr>
          <p:nvPr>
            <p:ph type="title"/>
          </p:nvPr>
        </p:nvSpPr>
        <p:spPr/>
        <p:txBody>
          <a:bodyPr/>
          <a:lstStyle/>
          <a:p>
            <a:r>
              <a:rPr lang="fr-FR" altLang="en-US"/>
              <a:t>Implications of Turing Completeness </a:t>
            </a:r>
          </a:p>
        </p:txBody>
      </p:sp>
      <p:sp>
        <p:nvSpPr>
          <p:cNvPr id="67586" name="Espace réservé du contenu 2">
            <a:extLst>
              <a:ext uri="{FF2B5EF4-FFF2-40B4-BE49-F238E27FC236}">
                <a16:creationId xmlns:a16="http://schemas.microsoft.com/office/drawing/2014/main" id="{915C79D1-F76B-6D15-0E95-31455D98091A}"/>
              </a:ext>
            </a:extLst>
          </p:cNvPr>
          <p:cNvSpPr>
            <a:spLocks noGrp="1" noChangeArrowheads="1"/>
          </p:cNvSpPr>
          <p:nvPr>
            <p:ph idx="1"/>
          </p:nvPr>
        </p:nvSpPr>
        <p:spPr/>
        <p:txBody>
          <a:bodyPr/>
          <a:lstStyle/>
          <a:p>
            <a:r>
              <a:rPr lang="fr-FR" altLang="en-US" sz="2400"/>
              <a:t>Whether by accident or on purpose, a smart contract can be created such that it runs forever when a node attempts to validate it. </a:t>
            </a:r>
          </a:p>
          <a:p>
            <a:endParaRPr lang="fr-FR" altLang="en-US" sz="2400"/>
          </a:p>
          <a:p>
            <a:endParaRPr lang="fr-FR" altLang="en-US" sz="2400"/>
          </a:p>
          <a:p>
            <a:r>
              <a:rPr lang="fr-FR" altLang="en-US" sz="2400"/>
              <a:t>This is effectively a DoS attack. </a:t>
            </a:r>
          </a:p>
        </p:txBody>
      </p:sp>
      <p:sp>
        <p:nvSpPr>
          <p:cNvPr id="2" name="Slide Number Placeholder 1">
            <a:extLst>
              <a:ext uri="{FF2B5EF4-FFF2-40B4-BE49-F238E27FC236}">
                <a16:creationId xmlns:a16="http://schemas.microsoft.com/office/drawing/2014/main" id="{61F29E54-EC79-CCF8-1ED8-81AB635A9322}"/>
              </a:ext>
            </a:extLst>
          </p:cNvPr>
          <p:cNvSpPr>
            <a:spLocks noGrp="1"/>
          </p:cNvSpPr>
          <p:nvPr>
            <p:ph type="sldNum" sz="quarter" idx="12"/>
          </p:nvPr>
        </p:nvSpPr>
        <p:spPr/>
        <p:txBody>
          <a:bodyPr/>
          <a:lstStyle/>
          <a:p>
            <a:fld id="{F9104BDA-D44F-4B11-86E7-6A4BB78558E2}" type="slidenum">
              <a:rPr lang="en-US" altLang="en-US" smtClean="0"/>
              <a:pPr/>
              <a:t>45</a:t>
            </a:fld>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re 1">
            <a:extLst>
              <a:ext uri="{FF2B5EF4-FFF2-40B4-BE49-F238E27FC236}">
                <a16:creationId xmlns:a16="http://schemas.microsoft.com/office/drawing/2014/main" id="{5C9707CF-D300-54E7-3336-E8612C38B3D6}"/>
              </a:ext>
            </a:extLst>
          </p:cNvPr>
          <p:cNvSpPr>
            <a:spLocks noGrp="1" noChangeArrowheads="1"/>
          </p:cNvSpPr>
          <p:nvPr>
            <p:ph type="title"/>
          </p:nvPr>
        </p:nvSpPr>
        <p:spPr/>
        <p:txBody>
          <a:bodyPr/>
          <a:lstStyle/>
          <a:p>
            <a:r>
              <a:rPr lang="fr-FR" altLang="en-US"/>
              <a:t>What can be done then?</a:t>
            </a:r>
          </a:p>
        </p:txBody>
      </p:sp>
      <p:sp>
        <p:nvSpPr>
          <p:cNvPr id="68610" name="Espace réservé du contenu 2">
            <a:extLst>
              <a:ext uri="{FF2B5EF4-FFF2-40B4-BE49-F238E27FC236}">
                <a16:creationId xmlns:a16="http://schemas.microsoft.com/office/drawing/2014/main" id="{F30A04E0-78E3-F80D-7B7B-8B0E4B66BCCC}"/>
              </a:ext>
            </a:extLst>
          </p:cNvPr>
          <p:cNvSpPr>
            <a:spLocks noGrp="1" noChangeArrowheads="1"/>
          </p:cNvSpPr>
          <p:nvPr>
            <p:ph idx="1"/>
          </p:nvPr>
        </p:nvSpPr>
        <p:spPr/>
        <p:txBody>
          <a:bodyPr/>
          <a:lstStyle/>
          <a:p>
            <a:r>
              <a:rPr lang="fr-FR" altLang="en-US" sz="2400"/>
              <a:t>In a world computer, a program that abuses resources gets to abuse the world</a:t>
            </a:r>
            <a:r>
              <a:rPr lang="fr-FR" altLang="fr-FR" sz="2400"/>
              <a:t>’</a:t>
            </a:r>
            <a:r>
              <a:rPr lang="fr-FR" altLang="en-US" sz="2400"/>
              <a:t>s resources. </a:t>
            </a:r>
          </a:p>
          <a:p>
            <a:endParaRPr lang="fr-FR" altLang="en-US" sz="2400"/>
          </a:p>
          <a:p>
            <a:r>
              <a:rPr lang="fr-FR" altLang="en-US" sz="2400"/>
              <a:t>How does Ethereum constrain the resources used by a smart contract if it cannot predict resource use in advance? </a:t>
            </a:r>
          </a:p>
          <a:p>
            <a:endParaRPr lang="fr-FR" altLang="en-US" sz="2400"/>
          </a:p>
          <a:p>
            <a:endParaRPr lang="fr-FR" altLang="en-US" sz="2400"/>
          </a:p>
        </p:txBody>
      </p:sp>
      <p:sp>
        <p:nvSpPr>
          <p:cNvPr id="2" name="Slide Number Placeholder 1">
            <a:extLst>
              <a:ext uri="{FF2B5EF4-FFF2-40B4-BE49-F238E27FC236}">
                <a16:creationId xmlns:a16="http://schemas.microsoft.com/office/drawing/2014/main" id="{BBF54E1D-FB04-F910-D6BB-A7779F1C25D7}"/>
              </a:ext>
            </a:extLst>
          </p:cNvPr>
          <p:cNvSpPr>
            <a:spLocks noGrp="1"/>
          </p:cNvSpPr>
          <p:nvPr>
            <p:ph type="sldNum" sz="quarter" idx="12"/>
          </p:nvPr>
        </p:nvSpPr>
        <p:spPr/>
        <p:txBody>
          <a:bodyPr/>
          <a:lstStyle/>
          <a:p>
            <a:fld id="{F9104BDA-D44F-4B11-86E7-6A4BB78558E2}" type="slidenum">
              <a:rPr lang="en-US" altLang="en-US" smtClean="0"/>
              <a:pPr/>
              <a:t>46</a:t>
            </a:fld>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re 1">
            <a:extLst>
              <a:ext uri="{FF2B5EF4-FFF2-40B4-BE49-F238E27FC236}">
                <a16:creationId xmlns:a16="http://schemas.microsoft.com/office/drawing/2014/main" id="{A4C67B93-06BE-A357-DAAF-ADC075AA5511}"/>
              </a:ext>
            </a:extLst>
          </p:cNvPr>
          <p:cNvSpPr>
            <a:spLocks noGrp="1" noChangeArrowheads="1"/>
          </p:cNvSpPr>
          <p:nvPr>
            <p:ph type="title"/>
          </p:nvPr>
        </p:nvSpPr>
        <p:spPr/>
        <p:txBody>
          <a:bodyPr/>
          <a:lstStyle/>
          <a:p>
            <a:r>
              <a:rPr lang="fr-FR" altLang="en-US"/>
              <a:t>Transaction Gas</a:t>
            </a:r>
          </a:p>
        </p:txBody>
      </p:sp>
      <p:sp>
        <p:nvSpPr>
          <p:cNvPr id="69634" name="Espace réservé du contenu 2">
            <a:extLst>
              <a:ext uri="{FF2B5EF4-FFF2-40B4-BE49-F238E27FC236}">
                <a16:creationId xmlns:a16="http://schemas.microsoft.com/office/drawing/2014/main" id="{9AE3CABC-73CC-572F-372F-2482CC840677}"/>
              </a:ext>
            </a:extLst>
          </p:cNvPr>
          <p:cNvSpPr>
            <a:spLocks noGrp="1" noChangeArrowheads="1"/>
          </p:cNvSpPr>
          <p:nvPr>
            <p:ph idx="1"/>
          </p:nvPr>
        </p:nvSpPr>
        <p:spPr/>
        <p:txBody>
          <a:bodyPr/>
          <a:lstStyle/>
          <a:p>
            <a:r>
              <a:rPr lang="fr-FR" altLang="en-US" sz="2000"/>
              <a:t>Ethereum introduces a metering mechanism called </a:t>
            </a:r>
            <a:r>
              <a:rPr lang="fr-FR" altLang="en-US" sz="2000" i="1"/>
              <a:t>gas</a:t>
            </a:r>
            <a:r>
              <a:rPr lang="fr-FR" altLang="en-US" sz="2000"/>
              <a:t>. As the EVM executes a smart contract, it carefully accounts for every instruction (computation, data access, etc.). </a:t>
            </a:r>
          </a:p>
          <a:p>
            <a:endParaRPr lang="fr-FR" altLang="en-US" sz="2000"/>
          </a:p>
          <a:p>
            <a:r>
              <a:rPr lang="fr-FR" altLang="en-US" sz="2000"/>
              <a:t>Each instruction has a predetermined cost in units of gas. </a:t>
            </a:r>
          </a:p>
          <a:p>
            <a:endParaRPr lang="fr-FR" altLang="en-US" sz="2000"/>
          </a:p>
          <a:p>
            <a:r>
              <a:rPr lang="fr-FR" altLang="en-US" sz="2000"/>
              <a:t>When a transaction triggers the execution of a smart contract, it must include an amount of gas that sets the upper limit of what can be consumed running the smart contract. </a:t>
            </a:r>
          </a:p>
          <a:p>
            <a:endParaRPr lang="fr-FR" altLang="en-US" sz="2000"/>
          </a:p>
        </p:txBody>
      </p:sp>
      <p:sp>
        <p:nvSpPr>
          <p:cNvPr id="2" name="Slide Number Placeholder 1">
            <a:extLst>
              <a:ext uri="{FF2B5EF4-FFF2-40B4-BE49-F238E27FC236}">
                <a16:creationId xmlns:a16="http://schemas.microsoft.com/office/drawing/2014/main" id="{4F886548-7B26-E4FA-FD96-C3A83C2FC367}"/>
              </a:ext>
            </a:extLst>
          </p:cNvPr>
          <p:cNvSpPr>
            <a:spLocks noGrp="1"/>
          </p:cNvSpPr>
          <p:nvPr>
            <p:ph type="sldNum" sz="quarter" idx="12"/>
          </p:nvPr>
        </p:nvSpPr>
        <p:spPr/>
        <p:txBody>
          <a:bodyPr/>
          <a:lstStyle/>
          <a:p>
            <a:fld id="{F9104BDA-D44F-4B11-86E7-6A4BB78558E2}" type="slidenum">
              <a:rPr lang="en-US" altLang="en-US" smtClean="0"/>
              <a:pPr/>
              <a:t>47</a:t>
            </a:fld>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re 1">
            <a:extLst>
              <a:ext uri="{FF2B5EF4-FFF2-40B4-BE49-F238E27FC236}">
                <a16:creationId xmlns:a16="http://schemas.microsoft.com/office/drawing/2014/main" id="{36ABA0C8-10FE-6A30-B8D5-EF4448F145F3}"/>
              </a:ext>
            </a:extLst>
          </p:cNvPr>
          <p:cNvSpPr>
            <a:spLocks noGrp="1" noChangeArrowheads="1"/>
          </p:cNvSpPr>
          <p:nvPr>
            <p:ph type="title"/>
          </p:nvPr>
        </p:nvSpPr>
        <p:spPr/>
        <p:txBody>
          <a:bodyPr/>
          <a:lstStyle/>
          <a:p>
            <a:r>
              <a:rPr lang="fr-FR" altLang="en-US"/>
              <a:t>Implications of Turing Completeness </a:t>
            </a:r>
          </a:p>
        </p:txBody>
      </p:sp>
      <p:sp>
        <p:nvSpPr>
          <p:cNvPr id="70658" name="Espace réservé du contenu 2">
            <a:extLst>
              <a:ext uri="{FF2B5EF4-FFF2-40B4-BE49-F238E27FC236}">
                <a16:creationId xmlns:a16="http://schemas.microsoft.com/office/drawing/2014/main" id="{3F4480EF-49D9-3880-9B3C-7D36D1260C6C}"/>
              </a:ext>
            </a:extLst>
          </p:cNvPr>
          <p:cNvSpPr>
            <a:spLocks noGrp="1" noChangeArrowheads="1"/>
          </p:cNvSpPr>
          <p:nvPr>
            <p:ph idx="1"/>
          </p:nvPr>
        </p:nvSpPr>
        <p:spPr/>
        <p:txBody>
          <a:bodyPr/>
          <a:lstStyle/>
          <a:p>
            <a:r>
              <a:rPr lang="fr-FR" altLang="en-US" sz="2400"/>
              <a:t>The EVM will terminate execution if the amount of gas consumed by computation exceeds the gas available in the transaction. </a:t>
            </a:r>
          </a:p>
          <a:p>
            <a:endParaRPr lang="fr-FR" altLang="en-US" sz="2400"/>
          </a:p>
          <a:p>
            <a:r>
              <a:rPr lang="fr-FR" altLang="en-US" sz="2400"/>
              <a:t>Gas is the mechanism Ethereum uses to allow Turing-complete computation while limiting the resources that any program can consume. </a:t>
            </a:r>
          </a:p>
          <a:p>
            <a:endParaRPr lang="fr-FR" altLang="en-US" sz="2400"/>
          </a:p>
        </p:txBody>
      </p:sp>
      <p:sp>
        <p:nvSpPr>
          <p:cNvPr id="2" name="Slide Number Placeholder 1">
            <a:extLst>
              <a:ext uri="{FF2B5EF4-FFF2-40B4-BE49-F238E27FC236}">
                <a16:creationId xmlns:a16="http://schemas.microsoft.com/office/drawing/2014/main" id="{CCD329F3-0AC7-F349-7FFE-98923E1FFE7A}"/>
              </a:ext>
            </a:extLst>
          </p:cNvPr>
          <p:cNvSpPr>
            <a:spLocks noGrp="1"/>
          </p:cNvSpPr>
          <p:nvPr>
            <p:ph type="sldNum" sz="quarter" idx="12"/>
          </p:nvPr>
        </p:nvSpPr>
        <p:spPr/>
        <p:txBody>
          <a:bodyPr/>
          <a:lstStyle/>
          <a:p>
            <a:fld id="{F9104BDA-D44F-4B11-86E7-6A4BB78558E2}" type="slidenum">
              <a:rPr lang="en-US" altLang="en-US" smtClean="0"/>
              <a:pPr/>
              <a:t>48</a:t>
            </a:fld>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re 1">
            <a:extLst>
              <a:ext uri="{FF2B5EF4-FFF2-40B4-BE49-F238E27FC236}">
                <a16:creationId xmlns:a16="http://schemas.microsoft.com/office/drawing/2014/main" id="{714121A2-813B-00D4-5A20-A992DB3D7A4D}"/>
              </a:ext>
            </a:extLst>
          </p:cNvPr>
          <p:cNvSpPr>
            <a:spLocks noGrp="1" noChangeArrowheads="1"/>
          </p:cNvSpPr>
          <p:nvPr>
            <p:ph type="title"/>
          </p:nvPr>
        </p:nvSpPr>
        <p:spPr/>
        <p:txBody>
          <a:bodyPr/>
          <a:lstStyle/>
          <a:p>
            <a:r>
              <a:rPr lang="fr-FR" altLang="en-US"/>
              <a:t>Who developed Ethereum?</a:t>
            </a:r>
          </a:p>
        </p:txBody>
      </p:sp>
      <p:sp>
        <p:nvSpPr>
          <p:cNvPr id="71682" name="Espace réservé du contenu 2">
            <a:extLst>
              <a:ext uri="{FF2B5EF4-FFF2-40B4-BE49-F238E27FC236}">
                <a16:creationId xmlns:a16="http://schemas.microsoft.com/office/drawing/2014/main" id="{408D218C-13AE-4B7C-08C7-3E26BAF700B6}"/>
              </a:ext>
            </a:extLst>
          </p:cNvPr>
          <p:cNvSpPr>
            <a:spLocks noGrp="1" noChangeArrowheads="1"/>
          </p:cNvSpPr>
          <p:nvPr>
            <p:ph idx="1"/>
          </p:nvPr>
        </p:nvSpPr>
        <p:spPr/>
        <p:txBody>
          <a:bodyPr/>
          <a:lstStyle/>
          <a:p>
            <a:r>
              <a:rPr lang="fr-FR" altLang="en-US" sz="2800"/>
              <a:t>Satoshi Nakamoto? No </a:t>
            </a:r>
            <a:r>
              <a:rPr lang="fr-FR" altLang="en-US" sz="2800">
                <a:sym typeface="Wingdings" panose="05000000000000000000" pitchFamily="2" charset="2"/>
              </a:rPr>
              <a:t></a:t>
            </a:r>
            <a:endParaRPr lang="fr-FR" altLang="en-US" sz="2800"/>
          </a:p>
        </p:txBody>
      </p:sp>
      <p:pic>
        <p:nvPicPr>
          <p:cNvPr id="71683" name="Image 3" descr="images.jpeg">
            <a:extLst>
              <a:ext uri="{FF2B5EF4-FFF2-40B4-BE49-F238E27FC236}">
                <a16:creationId xmlns:a16="http://schemas.microsoft.com/office/drawing/2014/main" id="{F3AAD298-C368-8E80-548C-B784CC7E58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895600"/>
            <a:ext cx="500697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A52C67F3-E4F2-A869-E458-2A394D8A57F3}"/>
              </a:ext>
            </a:extLst>
          </p:cNvPr>
          <p:cNvSpPr>
            <a:spLocks noGrp="1"/>
          </p:cNvSpPr>
          <p:nvPr>
            <p:ph type="sldNum" sz="quarter" idx="12"/>
          </p:nvPr>
        </p:nvSpPr>
        <p:spPr/>
        <p:txBody>
          <a:bodyPr/>
          <a:lstStyle/>
          <a:p>
            <a:fld id="{F9104BDA-D44F-4B11-86E7-6A4BB78558E2}" type="slidenum">
              <a:rPr lang="en-US" altLang="en-US" smtClean="0"/>
              <a:pPr/>
              <a:t>49</a:t>
            </a:fld>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re 1">
            <a:extLst>
              <a:ext uri="{FF2B5EF4-FFF2-40B4-BE49-F238E27FC236}">
                <a16:creationId xmlns:a16="http://schemas.microsoft.com/office/drawing/2014/main" id="{F6D3C935-A112-76A6-B95A-0D78D1AB0753}"/>
              </a:ext>
            </a:extLst>
          </p:cNvPr>
          <p:cNvSpPr>
            <a:spLocks noGrp="1" noChangeArrowheads="1"/>
          </p:cNvSpPr>
          <p:nvPr>
            <p:ph type="title"/>
          </p:nvPr>
        </p:nvSpPr>
        <p:spPr/>
        <p:txBody>
          <a:bodyPr/>
          <a:lstStyle/>
          <a:p>
            <a:r>
              <a:rPr lang="fr-FR" altLang="en-US"/>
              <a:t>Who developed Ethereum?</a:t>
            </a:r>
          </a:p>
        </p:txBody>
      </p:sp>
      <p:sp>
        <p:nvSpPr>
          <p:cNvPr id="3" name="Espace réservé du contenu 2">
            <a:extLst>
              <a:ext uri="{FF2B5EF4-FFF2-40B4-BE49-F238E27FC236}">
                <a16:creationId xmlns:a16="http://schemas.microsoft.com/office/drawing/2014/main" id="{1D3E89B3-222A-73AA-8A6C-56236E5C3069}"/>
              </a:ext>
            </a:extLst>
          </p:cNvPr>
          <p:cNvSpPr>
            <a:spLocks noGrp="1"/>
          </p:cNvSpPr>
          <p:nvPr>
            <p:ph idx="1"/>
          </p:nvPr>
        </p:nvSpPr>
        <p:spPr/>
        <p:txBody>
          <a:bodyPr/>
          <a:lstStyle/>
          <a:p>
            <a:pPr>
              <a:defRPr/>
            </a:pPr>
            <a:r>
              <a:rPr lang="fr-FR" sz="2400" dirty="0" err="1"/>
              <a:t>Fortunately</a:t>
            </a:r>
            <a:r>
              <a:rPr lang="fr-FR" sz="2400" dirty="0"/>
              <a:t>, </a:t>
            </a:r>
            <a:r>
              <a:rPr lang="fr-FR" sz="2400" dirty="0" err="1"/>
              <a:t>this</a:t>
            </a:r>
            <a:r>
              <a:rPr lang="fr-FR" sz="2400" dirty="0"/>
              <a:t> time </a:t>
            </a:r>
            <a:r>
              <a:rPr lang="fr-FR" sz="2400" dirty="0" err="1"/>
              <a:t>we</a:t>
            </a:r>
            <a:r>
              <a:rPr lang="fr-FR" sz="2400" dirty="0"/>
              <a:t> have </a:t>
            </a:r>
            <a:r>
              <a:rPr lang="fr-FR" sz="2400" dirty="0" err="1"/>
              <a:t>someone</a:t>
            </a:r>
            <a:r>
              <a:rPr lang="fr-FR" sz="2400" dirty="0"/>
              <a:t> to </a:t>
            </a:r>
            <a:r>
              <a:rPr lang="fr-FR" sz="2400" dirty="0" err="1"/>
              <a:t>thank</a:t>
            </a:r>
            <a:r>
              <a:rPr lang="fr-FR" sz="2400" dirty="0"/>
              <a:t>!</a:t>
            </a:r>
          </a:p>
          <a:p>
            <a:pPr>
              <a:defRPr/>
            </a:pPr>
            <a:endParaRPr lang="fr-FR" sz="2400" dirty="0"/>
          </a:p>
          <a:p>
            <a:pPr marL="0" indent="0">
              <a:buFontTx/>
              <a:buNone/>
              <a:defRPr/>
            </a:pPr>
            <a:endParaRPr lang="fr-FR" sz="2400" dirty="0"/>
          </a:p>
          <a:p>
            <a:pPr marL="0" indent="0">
              <a:buFontTx/>
              <a:buNone/>
              <a:defRPr/>
            </a:pPr>
            <a:endParaRPr lang="fr-FR" sz="2400" dirty="0"/>
          </a:p>
          <a:p>
            <a:pPr>
              <a:defRPr/>
            </a:pPr>
            <a:endParaRPr lang="fr-FR" sz="2400" dirty="0"/>
          </a:p>
          <a:p>
            <a:pPr>
              <a:defRPr/>
            </a:pPr>
            <a:endParaRPr lang="fr-FR" sz="2400" dirty="0"/>
          </a:p>
          <a:p>
            <a:pPr>
              <a:defRPr/>
            </a:pPr>
            <a:endParaRPr lang="fr-FR" sz="2400" dirty="0"/>
          </a:p>
          <a:p>
            <a:pPr>
              <a:defRPr/>
            </a:pPr>
            <a:r>
              <a:rPr lang="fr-FR" sz="2400" dirty="0" err="1"/>
              <a:t>Vitalik</a:t>
            </a:r>
            <a:r>
              <a:rPr lang="fr-FR" sz="2400" dirty="0"/>
              <a:t> </a:t>
            </a:r>
            <a:r>
              <a:rPr lang="fr-FR" sz="2400" dirty="0" err="1"/>
              <a:t>Buterin</a:t>
            </a:r>
            <a:r>
              <a:rPr lang="fr-FR" sz="2400" dirty="0"/>
              <a:t>, Gavin Wood, Joseph Lubin</a:t>
            </a:r>
          </a:p>
        </p:txBody>
      </p:sp>
      <p:pic>
        <p:nvPicPr>
          <p:cNvPr id="72707" name="Image 3">
            <a:extLst>
              <a:ext uri="{FF2B5EF4-FFF2-40B4-BE49-F238E27FC236}">
                <a16:creationId xmlns:a16="http://schemas.microsoft.com/office/drawing/2014/main" id="{B7E4D090-E33E-C5AF-C5D7-4C6D2693863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362200"/>
            <a:ext cx="3886200"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4082B40-2A3A-C09B-9979-308E1C9545B6}"/>
              </a:ext>
            </a:extLst>
          </p:cNvPr>
          <p:cNvSpPr>
            <a:spLocks noGrp="1"/>
          </p:cNvSpPr>
          <p:nvPr>
            <p:ph type="sldNum" sz="quarter" idx="12"/>
          </p:nvPr>
        </p:nvSpPr>
        <p:spPr/>
        <p:txBody>
          <a:bodyPr/>
          <a:lstStyle/>
          <a:p>
            <a:fld id="{F9104BDA-D44F-4B11-86E7-6A4BB78558E2}" type="slidenum">
              <a:rPr lang="en-US" altLang="en-US" smtClean="0"/>
              <a:pPr/>
              <a:t>50</a:t>
            </a:fld>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re 1">
            <a:extLst>
              <a:ext uri="{FF2B5EF4-FFF2-40B4-BE49-F238E27FC236}">
                <a16:creationId xmlns:a16="http://schemas.microsoft.com/office/drawing/2014/main" id="{97C26FF8-8B39-05A1-9EBE-9A65F2970544}"/>
              </a:ext>
            </a:extLst>
          </p:cNvPr>
          <p:cNvSpPr>
            <a:spLocks noGrp="1" noChangeArrowheads="1"/>
          </p:cNvSpPr>
          <p:nvPr>
            <p:ph type="title"/>
          </p:nvPr>
        </p:nvSpPr>
        <p:spPr/>
        <p:txBody>
          <a:bodyPr/>
          <a:lstStyle/>
          <a:p>
            <a:r>
              <a:rPr lang="fr-FR" altLang="en-US"/>
              <a:t>Who developed Ethereum?</a:t>
            </a:r>
          </a:p>
        </p:txBody>
      </p:sp>
      <p:sp>
        <p:nvSpPr>
          <p:cNvPr id="3" name="Espace réservé du contenu 2">
            <a:extLst>
              <a:ext uri="{FF2B5EF4-FFF2-40B4-BE49-F238E27FC236}">
                <a16:creationId xmlns:a16="http://schemas.microsoft.com/office/drawing/2014/main" id="{B01F9C45-563C-4BE6-0ABE-10B4AF5B7453}"/>
              </a:ext>
            </a:extLst>
          </p:cNvPr>
          <p:cNvSpPr>
            <a:spLocks noGrp="1"/>
          </p:cNvSpPr>
          <p:nvPr>
            <p:ph idx="1"/>
          </p:nvPr>
        </p:nvSpPr>
        <p:spPr/>
        <p:txBody>
          <a:bodyPr/>
          <a:lstStyle/>
          <a:p>
            <a:pPr>
              <a:defRPr/>
            </a:pPr>
            <a:r>
              <a:rPr lang="fr-FR" sz="2400" dirty="0"/>
              <a:t>How </a:t>
            </a:r>
            <a:r>
              <a:rPr lang="fr-FR" sz="2400" dirty="0" err="1"/>
              <a:t>many</a:t>
            </a:r>
            <a:r>
              <a:rPr lang="fr-FR" sz="2400" dirty="0"/>
              <a:t> Ethers </a:t>
            </a:r>
            <a:r>
              <a:rPr lang="fr-FR" sz="2400" dirty="0" err="1"/>
              <a:t>he</a:t>
            </a:r>
            <a:r>
              <a:rPr lang="fr-FR" sz="2400" dirty="0"/>
              <a:t> </a:t>
            </a:r>
            <a:r>
              <a:rPr lang="fr-FR" sz="2400" dirty="0" err="1"/>
              <a:t>owns</a:t>
            </a:r>
            <a:r>
              <a:rPr lang="fr-FR" sz="2400" dirty="0"/>
              <a:t> ? </a:t>
            </a:r>
            <a:r>
              <a:rPr lang="fr-FR" sz="2400" dirty="0">
                <a:sym typeface="Wingdings"/>
              </a:rPr>
              <a:t></a:t>
            </a:r>
            <a:endParaRPr lang="fr-FR" sz="2400" dirty="0"/>
          </a:p>
          <a:p>
            <a:pPr>
              <a:defRPr/>
            </a:pPr>
            <a:endParaRPr lang="fr-FR" sz="2400" dirty="0"/>
          </a:p>
          <a:p>
            <a:pPr marL="0" indent="0">
              <a:buFontTx/>
              <a:buNone/>
              <a:defRPr/>
            </a:pPr>
            <a:endParaRPr lang="fr-FR" sz="2400" dirty="0"/>
          </a:p>
          <a:p>
            <a:pPr marL="0" indent="0">
              <a:buFontTx/>
              <a:buNone/>
              <a:defRPr/>
            </a:pPr>
            <a:endParaRPr lang="fr-FR" sz="2400" dirty="0"/>
          </a:p>
          <a:p>
            <a:pPr>
              <a:defRPr/>
            </a:pPr>
            <a:endParaRPr lang="fr-FR" sz="2400" dirty="0"/>
          </a:p>
          <a:p>
            <a:pPr>
              <a:defRPr/>
            </a:pPr>
            <a:endParaRPr lang="fr-FR" sz="2400" dirty="0"/>
          </a:p>
          <a:p>
            <a:pPr marL="0" indent="0">
              <a:buFontTx/>
              <a:buNone/>
              <a:defRPr/>
            </a:pPr>
            <a:endParaRPr lang="fr-FR" sz="2400" dirty="0"/>
          </a:p>
        </p:txBody>
      </p:sp>
      <p:pic>
        <p:nvPicPr>
          <p:cNvPr id="73731" name="Image 4" descr="Screenshot 2019-10-22 at 10.06.55 AM.pdf">
            <a:extLst>
              <a:ext uri="{FF2B5EF4-FFF2-40B4-BE49-F238E27FC236}">
                <a16:creationId xmlns:a16="http://schemas.microsoft.com/office/drawing/2014/main" id="{99809328-2DF8-64F7-1D8B-DE42467322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362200"/>
            <a:ext cx="5942013" cy="224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FFB1670-6F26-78CC-9109-370F0A024FD0}"/>
              </a:ext>
            </a:extLst>
          </p:cNvPr>
          <p:cNvSpPr>
            <a:spLocks noGrp="1"/>
          </p:cNvSpPr>
          <p:nvPr>
            <p:ph type="sldNum" sz="quarter" idx="12"/>
          </p:nvPr>
        </p:nvSpPr>
        <p:spPr/>
        <p:txBody>
          <a:bodyPr/>
          <a:lstStyle/>
          <a:p>
            <a:fld id="{F9104BDA-D44F-4B11-86E7-6A4BB78558E2}" type="slidenum">
              <a:rPr lang="en-US" altLang="en-US" smtClean="0"/>
              <a:pPr/>
              <a:t>51</a:t>
            </a:fld>
            <a:endParaRPr lang="en-US"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re 1">
            <a:extLst>
              <a:ext uri="{FF2B5EF4-FFF2-40B4-BE49-F238E27FC236}">
                <a16:creationId xmlns:a16="http://schemas.microsoft.com/office/drawing/2014/main" id="{718DAC92-6CAD-66C0-A5C5-9C934237109E}"/>
              </a:ext>
            </a:extLst>
          </p:cNvPr>
          <p:cNvSpPr>
            <a:spLocks noGrp="1" noChangeArrowheads="1"/>
          </p:cNvSpPr>
          <p:nvPr>
            <p:ph type="title"/>
          </p:nvPr>
        </p:nvSpPr>
        <p:spPr/>
        <p:txBody>
          <a:bodyPr/>
          <a:lstStyle/>
          <a:p>
            <a:r>
              <a:rPr lang="fr-FR" altLang="en-US"/>
              <a:t>Ethereum Pre-mining</a:t>
            </a:r>
          </a:p>
        </p:txBody>
      </p:sp>
      <p:pic>
        <p:nvPicPr>
          <p:cNvPr id="74754" name="Image 4" descr="Screenshot 2019-10-22 at 10.16.33 AM.pdf">
            <a:extLst>
              <a:ext uri="{FF2B5EF4-FFF2-40B4-BE49-F238E27FC236}">
                <a16:creationId xmlns:a16="http://schemas.microsoft.com/office/drawing/2014/main" id="{6A07A2F4-DC5C-0E6E-F1BC-C238E016483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447800"/>
            <a:ext cx="6335713" cy="522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225EF94-C5C7-B959-7B47-7774CD801076}"/>
              </a:ext>
            </a:extLst>
          </p:cNvPr>
          <p:cNvSpPr>
            <a:spLocks noGrp="1"/>
          </p:cNvSpPr>
          <p:nvPr>
            <p:ph type="sldNum" sz="quarter" idx="12"/>
          </p:nvPr>
        </p:nvSpPr>
        <p:spPr/>
        <p:txBody>
          <a:bodyPr/>
          <a:lstStyle/>
          <a:p>
            <a:fld id="{F9104BDA-D44F-4B11-86E7-6A4BB78558E2}" type="slidenum">
              <a:rPr lang="en-US" altLang="en-US" smtClean="0"/>
              <a:pPr/>
              <a:t>52</a:t>
            </a:fld>
            <a:endParaRPr lang="en-US" altLang="en-US"/>
          </a:p>
        </p:txBody>
      </p:sp>
    </p:spTree>
  </p:cSld>
  <p:clrMapOvr>
    <a:masterClrMapping/>
  </p:clrMapOvr>
</p:sld>
</file>

<file path=ppt/theme/theme1.xml><?xml version="1.0" encoding="utf-8"?>
<a:theme xmlns:a="http://schemas.openxmlformats.org/drawingml/2006/main" name="Lecture6 (Number System)">
  <a:themeElements>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cture6 (Number System)">
      <a:majorFont>
        <a:latin typeface="Trebuchet MS"/>
        <a:ea typeface="ＭＳ Ｐゴシック"/>
        <a:cs typeface=""/>
      </a:majorFont>
      <a:minorFont>
        <a:latin typeface="Arial"/>
        <a:ea typeface="ＭＳ Ｐゴシック"/>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cture6 (Number Syste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cture6 (Number Syste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cture6 (Number Syste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cture6 (Number Syste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cture6 (Number Syste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cture6 (Number Syste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cture6 (Number Syste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cture6 (Number Syste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cture6 (Number Syste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cture6 (Number Syste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cture6 (Number Syste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32340</TotalTime>
  <Words>2269</Words>
  <Application>Microsoft Office PowerPoint</Application>
  <PresentationFormat>On-screen Show (4:3)</PresentationFormat>
  <Paragraphs>326</Paragraphs>
  <Slides>52</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ＭＳ Ｐゴシック</vt:lpstr>
      <vt:lpstr>Trebuchet MS</vt:lpstr>
      <vt:lpstr>Gill Sans MT</vt:lpstr>
      <vt:lpstr>Times New Roman</vt:lpstr>
      <vt:lpstr>Tahoma</vt:lpstr>
      <vt:lpstr>Symbol</vt:lpstr>
      <vt:lpstr>Wingdings</vt:lpstr>
      <vt:lpstr>Courier New</vt:lpstr>
      <vt:lpstr>Lecture6 (Number System)</vt:lpstr>
      <vt:lpstr>Lecture 12  Introduction to Ethereum</vt:lpstr>
      <vt:lpstr>Do not distribute ...</vt:lpstr>
      <vt:lpstr>What is Blockchain? </vt:lpstr>
      <vt:lpstr>What is a State Machine? </vt:lpstr>
      <vt:lpstr>PowerPoint Presentation</vt:lpstr>
      <vt:lpstr>Why back to CNet?</vt:lpstr>
      <vt:lpstr>What is Blockchain?</vt:lpstr>
      <vt:lpstr>What is Blockchain?</vt:lpstr>
      <vt:lpstr>What about bitcoin blockchain?</vt:lpstr>
      <vt:lpstr>What about bitcoin’s blockchain?</vt:lpstr>
      <vt:lpstr>How this can be generalized? </vt:lpstr>
      <vt:lpstr>PowerPoint Presentation</vt:lpstr>
      <vt:lpstr>Ethereum: A General-Purpose Blockchain </vt:lpstr>
      <vt:lpstr>Ethereum: A General-Purpose Blockchain </vt:lpstr>
      <vt:lpstr>PowerPoint Presentation</vt:lpstr>
      <vt:lpstr>The need for agreements</vt:lpstr>
      <vt:lpstr>The need for agreements</vt:lpstr>
      <vt:lpstr>PowerPoint Presentation</vt:lpstr>
      <vt:lpstr>Alex and the smart contract</vt:lpstr>
      <vt:lpstr>Alex and Kate</vt:lpstr>
      <vt:lpstr>Alex and Kate</vt:lpstr>
      <vt:lpstr>PowerPoint Presentation</vt:lpstr>
      <vt:lpstr>What can be done?</vt:lpstr>
      <vt:lpstr>PowerPoint Presentation</vt:lpstr>
      <vt:lpstr>A Smart Contract?</vt:lpstr>
      <vt:lpstr>Example 1: Escrow transactions</vt:lpstr>
      <vt:lpstr>Bitcoin scripts in practice</vt:lpstr>
      <vt:lpstr>Smart Contracts - Ethereum</vt:lpstr>
      <vt:lpstr>Smart Contracts - Ethereum</vt:lpstr>
      <vt:lpstr>Who and How Executes Smart Contracts?</vt:lpstr>
      <vt:lpstr>How bitcoin scripts are executed?</vt:lpstr>
      <vt:lpstr>Input “addresses” are also scripts</vt:lpstr>
      <vt:lpstr>Bitcoin script execution example</vt:lpstr>
      <vt:lpstr>Who and How Executes Smart Contracts?</vt:lpstr>
      <vt:lpstr>Where are Smart Contracts deployed? </vt:lpstr>
      <vt:lpstr>Who executes Smart Contracts?</vt:lpstr>
      <vt:lpstr>PowerPoint Presentation</vt:lpstr>
      <vt:lpstr>Who executes Smart Contracts?</vt:lpstr>
      <vt:lpstr>How Smart Contracts are executed?</vt:lpstr>
      <vt:lpstr>Ethereum and Turing Completeness </vt:lpstr>
      <vt:lpstr>Turing Completeness as a “Feature” </vt:lpstr>
      <vt:lpstr>Implications of Turing Completeness </vt:lpstr>
      <vt:lpstr>Turing Completeness as a “Feature” </vt:lpstr>
      <vt:lpstr>Implications of Turing Completeness </vt:lpstr>
      <vt:lpstr>Implications of Turing Completeness </vt:lpstr>
      <vt:lpstr>What can be done then?</vt:lpstr>
      <vt:lpstr>Transaction Gas</vt:lpstr>
      <vt:lpstr>Implications of Turing Completeness </vt:lpstr>
      <vt:lpstr>Who developed Ethereum?</vt:lpstr>
      <vt:lpstr>Who developed Ethereum?</vt:lpstr>
      <vt:lpstr>Who developed Ethereum?</vt:lpstr>
      <vt:lpstr>Ethereum Pre-mining</vt:lpstr>
    </vt:vector>
  </TitlesOfParts>
  <Manager/>
  <Company>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Ehtesham Zahoor</dc:creator>
  <cp:keywords/>
  <dc:description/>
  <cp:lastModifiedBy>Asif Muhammad</cp:lastModifiedBy>
  <cp:revision>994</cp:revision>
  <dcterms:created xsi:type="dcterms:W3CDTF">2006-05-16T22:38:36Z</dcterms:created>
  <dcterms:modified xsi:type="dcterms:W3CDTF">2023-10-18T12:04:03Z</dcterms:modified>
  <cp:category/>
</cp:coreProperties>
</file>