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embeddedFontLst>
    <p:embeddedFont>
      <p:font typeface="Economica" panose="020B0604020202020204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17ed2f42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17ed2f42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717ed2f42c_0_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17ed2f42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17ed2f42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717ed2f42c_0_1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a4f24f97f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a4f24f97f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a4f24f97fb_0_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a4f24f97f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a4f24f97f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a4f24f97fb_0_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4f24f97f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4f24f97f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a4f24f97fb_0_1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4f24f97f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a4f24f97f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a4f24f97fb_0_2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a4f24f97f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a4f24f97fb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a4f24f97fb_0_2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a4f24f97f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a4f24f97fb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a4f24f97fb_0_3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a4f24f97f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a4f24f97fb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a4f24f97fb_0_4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17ed2f42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17ed2f42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717ed2f42c_0_1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4f24f97fb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4f24f97fb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a4f24f97fb_0_5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4f24f97f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4f24f97f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a4f24f97fb_0_6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a4f24f97fb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a4f24f97fb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a4f24f97fb_0_6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a4f24f97f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a4f24f97f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a4f24f97fb_0_7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a4f24f97fb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a4f24f97fb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a4f24f97fb_0_8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a4f24f97fb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a4f24f97fb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a4f24f97fb_0_8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a4f24f97f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a4f24f97fb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a4f24f97fb_0_9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a4f24f97fb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a4f24f97fb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a4f24f97fb_0_10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a4f24f97f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a4f24f97fb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a4f24f97fb_0_10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a4f24f97fb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a4f24f97fb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a4f24f97fb_0_11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a4f24f97fb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a4f24f97fb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a4f24f97fb_0_12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4f24f97fb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4f24f97fb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4f24f97fb_0_12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3" name="Google Shape;25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2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p4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ctrTitle"/>
          </p:nvPr>
        </p:nvSpPr>
        <p:spPr>
          <a:xfrm>
            <a:off x="2869375" y="1183554"/>
            <a:ext cx="6274625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600" dirty="0"/>
              <a:t>Blockchain Evolution &amp; Challenges</a:t>
            </a:r>
            <a:endParaRPr sz="4600"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1673087" y="4607646"/>
            <a:ext cx="4114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D2FA42E-0317-402D-F7FB-889DEF7F9702}"/>
              </a:ext>
            </a:extLst>
          </p:cNvPr>
          <p:cNvSpPr txBox="1">
            <a:spLocks noChangeArrowheads="1"/>
          </p:cNvSpPr>
          <p:nvPr/>
        </p:nvSpPr>
        <p:spPr>
          <a:xfrm>
            <a:off x="7197" y="4960361"/>
            <a:ext cx="4114800" cy="1269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l">
              <a:lnSpc>
                <a:spcPct val="90000"/>
              </a:lnSpc>
              <a:defRPr/>
            </a:pPr>
            <a:endParaRPr lang="en-US" altLang="zh-TW" sz="15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600"/>
              <a:t>Outline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Blockchain Versions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Technical Challenges 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Policy and System Challenges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Platform Challenges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Consensus Algorithm Challenges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3000" dirty="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Blockchain Versions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1.0: Currency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2.0: Smart Contracts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3.0: DApps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4.0: Blockchain for Industry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Blockchain 1.0: Currency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implementation of distributed ledger technology (DLT) led to its first and obvious application: cryptocurrencies.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allows financial transactions based on blockchain technology or DLT to be executed with Bitcoin being the most prominent example in this segment.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It is being used as </a:t>
            </a:r>
            <a:r>
              <a:rPr lang="en-US" sz="26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“cash for the Internet”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, a digital payment system and can be seen as the enabler of an </a:t>
            </a:r>
            <a:r>
              <a:rPr lang="en-US" sz="26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“Internet of Money”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Blockchain 2.0: Smart Contract</a:t>
            </a: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Smart Contracts are the small computer programs that “live” in the blockchain.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They are autonomous computer programs that execute automatically and conditions defined beforehand such as the facilitation, verification or enforcement of the performance of a contract.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One big advantage this technology offers, is the blockchain making it impossible to tamper or hack Smart Contracts.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Smart Contracts reduce the cost of verification, execution, arbitration and fraud prevention and allow transparent contract definition.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Ethereum Blockchain implements the most efficient and easy to use smart contracts.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3450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Ethereum Smart Contract Wizard</a:t>
            </a:r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4325"/>
            <a:ext cx="9144002" cy="54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Blockchain 3.0: DApps</a:t>
            </a:r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500"/>
              <a:buFont typeface="Economica"/>
              <a:buChar char="●"/>
            </a:pPr>
            <a:r>
              <a:rPr lang="en-US" sz="25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DApp is an abbreviated form for </a:t>
            </a:r>
            <a:r>
              <a:rPr lang="en-US" sz="25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decentralized application</a:t>
            </a:r>
            <a:r>
              <a:rPr lang="en-US" sz="25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avoiding centralized infrastructure. </a:t>
            </a:r>
            <a:endParaRPr sz="25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500"/>
              <a:buFont typeface="Economica"/>
              <a:buChar char="●"/>
            </a:pPr>
            <a:r>
              <a:rPr lang="en-US" sz="25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It uses decentralized storage and decentralized communication, so most DApps have their backend code running on a decentralized peer-to-peer network, i.e. a blockchain. </a:t>
            </a:r>
            <a:endParaRPr sz="25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500"/>
              <a:buFont typeface="Economica"/>
              <a:buChar char="●"/>
            </a:pPr>
            <a:r>
              <a:rPr lang="en-US" sz="25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contrast, a traditional app has its backend code running on centralized servers. </a:t>
            </a:r>
            <a:endParaRPr sz="25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500"/>
              <a:buFont typeface="Economica"/>
              <a:buChar char="●"/>
            </a:pPr>
            <a:r>
              <a:rPr lang="en-US" sz="25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DApp can have frontend code and user interfaces written in any language that can make calls to its backend, like a traditional App. </a:t>
            </a:r>
            <a:endParaRPr sz="25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7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500"/>
              <a:buFont typeface="Economica"/>
              <a:buChar char="●"/>
            </a:pPr>
            <a:r>
              <a:rPr lang="en-US" sz="25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But a DApp can have its frontend hosted on decentralized storages such as Ethereums Swarm.</a:t>
            </a:r>
            <a:endParaRPr sz="25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DApp = frontend + contracts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Apps vs. DApps</a:t>
            </a:r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3" y="1529725"/>
            <a:ext cx="9024318" cy="51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Blockchain 4.0: Blockchain for Industry </a:t>
            </a:r>
            <a:endParaRPr sz="4000"/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4.0 describes solutions and approaches that make blockchain technology usable to </a:t>
            </a:r>
            <a:r>
              <a:rPr lang="en-US" sz="26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Industry 4.0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demands.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Industry 4.0 includes short terms automation, enterprise resource planning, and integration of different execution systems.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Industrial 4.0 demands an increasing degree of trust and privacy protection — this is where blockchain is extremely useful by allowing business integration, cross-system business processes, etc.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4.0 means, making Blockchain 3.0 usable in real-life business scenarios.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Industry Revolutions</a:t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8914"/>
            <a:ext cx="9144000" cy="4804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425" y="0"/>
            <a:ext cx="6609362" cy="67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Blockchain Challenges</a:t>
            </a:r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Technical Challenges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Policy and System Challenges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Platform Challenges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Consensus Algorithm Challenges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Technical Challenges: Blockchain Technology</a:t>
            </a:r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Technology: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Does not refer to a specific technology or system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It is a hazy marketing concept to describe a set of solutions based on the distributed trust.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Refers to a set of solutions based on public ledger and consensus algorithms to establish a distributed trusted system of assets.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Main Characteristics: Provenance, Immutability, Consensus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Requires skill set of multiple domains and unconventional technologies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Technical Challenges: Performance Metrics</a:t>
            </a: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Scalability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Size of the Blockchain over time.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Number of Nodes.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Speed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 Latency: Time to add a Block to ledger.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Consensus Latency: Time to reach consensus on a new Block.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Throughput: Peak Number of Transactions per second.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Processing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Computational requirements of the solution to add blocks to the ledger.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Computational requirements and processing cost of a node.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Policy and System Challenges</a:t>
            </a: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Cultural Adoption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Integration Concerns &amp; Initial Cost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Uncertain Regulatory and Compliance Status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Identity, Security and Privacy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600"/>
              <a:buFont typeface="Economica"/>
              <a:buChar char="●"/>
            </a:pPr>
            <a:r>
              <a:rPr lang="en-US" sz="3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Standardization</a:t>
            </a:r>
            <a:endParaRPr sz="3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Policy and System Challenges: Cultural Adoption</a:t>
            </a:r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is a disruptive technology that moves </a:t>
            </a:r>
            <a:r>
              <a:rPr lang="en-US" sz="28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Trust</a:t>
            </a: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&amp; </a:t>
            </a:r>
            <a:r>
              <a:rPr lang="en-US" sz="28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Authority</a:t>
            </a: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from a centralized authority to a distributed network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Impact on business processes, organizational structure, governance model.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Acceptability or Resistance to the new approach from the users and operators in an organization or ecosystem.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Policy and System Challenges: Integration Concerns and Initial Cost</a:t>
            </a:r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Transition to a disruptive technology means significant changes or complete replacement of existing system.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Heavy initial cost for organizations to transition from centralized trusted framework to distributed trusted framework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Organizations need to strategize and do cost-benefit analysis before adopting new trust model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Policy and System Challenges: Uncertain Regulatory and Compliance Status</a:t>
            </a:r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Uncertain regulatory and compliance status has been the biggest concerns especially for cryptocurrencies like Bitcoin.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applications in an ecosystem need to work within its existing well-defined regulatory framework: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Ecosystems adopting Blockchain technology needs to understand the implications. For instance in case of breach-should the accountability be shared?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Compliance needs to move from the reporting system to a consensus model.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Policy and System Challenges: Identity, Security and Privacy</a:t>
            </a:r>
            <a:endParaRPr/>
          </a:p>
        </p:txBody>
      </p:sp>
      <p:sp>
        <p:nvSpPr>
          <p:cNvPr id="201" name="Google Shape;201;p32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Anonymity &amp; Security need differ across applications/ecosystems: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Cryptocurrencies</a:t>
            </a: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like Bitcoin offered limited anonymity-transactions are tied to wallet rather than to individuals.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Smart Contract applications</a:t>
            </a: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may require contacts and transactions to be linked to known identities.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Health industry</a:t>
            </a: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requires HIPAA standard compliance for protecting sensitive patient data.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Financial industry</a:t>
            </a: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needs support for PCI-DSS standard.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Ecosystems need confidence that its security and privacy needs are being met by new technology replacing its existing solutions.</a:t>
            </a:r>
            <a:endParaRPr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Policy and System Challenges: Standardization</a:t>
            </a:r>
            <a:endParaRPr/>
          </a:p>
        </p:txBody>
      </p:sp>
      <p:sp>
        <p:nvSpPr>
          <p:cNvPr id="208" name="Google Shape;208;p3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Lack of generally accepted definitions and standards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Every ecosystem needs to standardize a common approach to meet its specific needs: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Use Case Identification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 Data Format &amp; Structure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Security and Privacy requirements of dataset: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1371600" marR="0" lvl="2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■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For instance anonymity needs of health industry is going to be different than say financial industry.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Consensus Algorithm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Governance of Smart Contracts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Platform Challenges</a:t>
            </a:r>
            <a:endParaRPr/>
          </a:p>
        </p:txBody>
      </p:sp>
      <p:sp>
        <p:nvSpPr>
          <p:cNvPr id="215" name="Google Shape;215;p3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Cryptocurrency based Blockchain: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Ethereum or Bitcoin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Non-Cryptocurrency based Blockchain: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Hyperledger and Fabric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Platform Challenges: Ethereum</a:t>
            </a:r>
            <a:endParaRPr/>
          </a:p>
        </p:txBody>
      </p:sp>
      <p:sp>
        <p:nvSpPr>
          <p:cNvPr id="222" name="Google Shape;222;p3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Ethereum is an open source Blockchain based distributed computing platform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Ethereum Wallet allows users to hold and secure ether (cryptocurrency) and other crypto-assets built on the Ethereum Blockchain platform, as well as write, deploy and use smart contracts.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Users can also design and issue their own cryptocurrency/traceable token.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Platform Challenges: Hyperledger &amp; Fabric</a:t>
            </a:r>
            <a:endParaRPr/>
          </a:p>
        </p:txBody>
      </p:sp>
      <p:sp>
        <p:nvSpPr>
          <p:cNvPr id="229" name="Google Shape;229;p3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Hyperledger is an open source global collaboration hosted by The Linux Foundation to advance cross-industry Blockchain technologies.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Some business Blockchain frameworks hosted with Hyperledger: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Hyperledger Fabric:</a:t>
            </a: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Blockchain technology implementation intended to facilitate development of Blockchain applications or solutions.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Hyperledger Iroha:</a:t>
            </a: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distributed ledger for simple and easy incorporation into infrastructural projects.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Consensus Algorithm Challenges</a:t>
            </a:r>
            <a:endParaRPr/>
          </a:p>
        </p:txBody>
      </p:sp>
      <p:sp>
        <p:nvSpPr>
          <p:cNvPr id="236" name="Google Shape;236;p37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Proof of Work (PoW) Algorithm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PoW is a piece of data which is difficult to produce but easy for others to verify and which satisfies certain requirements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Proof of Stake (PoS) Algorithm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Asks miners to prove ownership of certain amount of cryptocurrency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Byzantine Fault-Tolerant Algorithms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Database replication protocol used in closed blockchain with limited number of nodes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Many variation of aforementioned consensus algorithms: the choice of appropriate consensus algorithm for any blockchain is a challenge!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Consensus Algorithm Challenges: Performance</a:t>
            </a:r>
            <a:endParaRPr/>
          </a:p>
        </p:txBody>
      </p:sp>
      <p:sp>
        <p:nvSpPr>
          <p:cNvPr id="243" name="Google Shape;243;p3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Limitations of PoW approach as used in Bitcoin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Consensus latency upto 1 hour (10 minutes for each block)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Throughput up to 7 transactions per second peak throughput with smallest 200-250 bytes transactions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Heavy power consumption-0.1 -10 GW (2014 figure).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As a comparison, leading global credit card companies can serve up to</a:t>
            </a:r>
            <a:b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</a:b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10,000 transactions/second (average 2000 transactions per second).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Smart Contract application is needed in many industrial applications with higher throughput and low latency requirements, which has pushed Blockchain back to the domain of database replication protocols (BFT)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Consensus Algorithm Challenges: Tradeoffs</a:t>
            </a:r>
            <a:endParaRPr/>
          </a:p>
        </p:txBody>
      </p:sp>
      <p:sp>
        <p:nvSpPr>
          <p:cNvPr id="250" name="Google Shape;250;p39"/>
          <p:cNvSpPr txBox="1">
            <a:spLocks noGrp="1"/>
          </p:cNvSpPr>
          <p:nvPr>
            <p:ph type="body" idx="1"/>
          </p:nvPr>
        </p:nvSpPr>
        <p:spPr>
          <a:xfrm>
            <a:off x="311700" y="15574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PoW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Low Throughput, Higher latency, Large Power Consumption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Large &amp; Open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Suitable for Cryptocurrency-based applications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PoS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Similar to PoW but Power Consumption Efficient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Complex to implement however could be made faster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BFT Variants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High Throughput and Lower Latency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Works best in Closed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Suitable for Enterprise Solutions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 Book</a:t>
            </a:r>
            <a:endParaRPr/>
          </a:p>
        </p:txBody>
      </p:sp>
      <p:sp>
        <p:nvSpPr>
          <p:cNvPr id="257" name="Google Shape;257;p4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600" b="1">
                <a:latin typeface="Economica"/>
                <a:ea typeface="Economica"/>
                <a:cs typeface="Economica"/>
                <a:sym typeface="Economica"/>
              </a:rPr>
              <a:t>Bitcoin and Cryptocurrency Technologies</a:t>
            </a:r>
            <a:endParaRPr sz="3600" b="1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 b="1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Authors: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Arvind Narayanan, Joseph Bonneau, Edward Felten, Andrew Miller, Steven Goldfeder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 b="1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Publisher: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Princeton University Press</a:t>
            </a:r>
            <a:endParaRPr sz="3000">
              <a:solidFill>
                <a:srgbClr val="577688"/>
              </a:solidFill>
              <a:highlight>
                <a:srgbClr val="F6FBFC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</Words>
  <Application>Microsoft Office PowerPoint</Application>
  <PresentationFormat>On-screen Show (4:3)</PresentationFormat>
  <Paragraphs>170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Calibri</vt:lpstr>
      <vt:lpstr>Economica</vt:lpstr>
      <vt:lpstr>Arial</vt:lpstr>
      <vt:lpstr>Open Sans</vt:lpstr>
      <vt:lpstr>Luxe</vt:lpstr>
      <vt:lpstr>Blockchain Evolution &amp; Challenges</vt:lpstr>
      <vt:lpstr>Outline</vt:lpstr>
      <vt:lpstr>Blockchain Versions</vt:lpstr>
      <vt:lpstr>Blockchain 1.0: Currency</vt:lpstr>
      <vt:lpstr>Blockchain 2.0: Smart Contract</vt:lpstr>
      <vt:lpstr>Ethereum Smart Contract Wizard</vt:lpstr>
      <vt:lpstr>Blockchain 3.0: DApps</vt:lpstr>
      <vt:lpstr>Apps vs. DApps</vt:lpstr>
      <vt:lpstr>Blockchain 4.0: Blockchain for Industry </vt:lpstr>
      <vt:lpstr>Industry Revolutions</vt:lpstr>
      <vt:lpstr>PowerPoint Presentation</vt:lpstr>
      <vt:lpstr>Blockchain Challenges</vt:lpstr>
      <vt:lpstr>Technical Challenges: Blockchain Technology</vt:lpstr>
      <vt:lpstr>Technical Challenges: Performance Metrics</vt:lpstr>
      <vt:lpstr>Policy and System Challenges</vt:lpstr>
      <vt:lpstr>Policy and System Challenges: Cultural Adoption</vt:lpstr>
      <vt:lpstr>Policy and System Challenges: Integration Concerns and Initial Cost</vt:lpstr>
      <vt:lpstr>Policy and System Challenges: Uncertain Regulatory and Compliance Status</vt:lpstr>
      <vt:lpstr>Policy and System Challenges: Identity, Security and Privacy</vt:lpstr>
      <vt:lpstr>Policy and System Challenges: Standardization</vt:lpstr>
      <vt:lpstr>Platform Challenges</vt:lpstr>
      <vt:lpstr>Platform Challenges: Ethereum</vt:lpstr>
      <vt:lpstr>Platform Challenges: Hyperledger &amp; Fabric</vt:lpstr>
      <vt:lpstr>Consensus Algorithm Challenges</vt:lpstr>
      <vt:lpstr>Consensus Algorithm Challenges: Performance</vt:lpstr>
      <vt:lpstr>Consensus Algorithm Challenges: Tradeoffs</vt:lpstr>
      <vt:lpstr>Reference 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Evolution &amp; Challenges</dc:title>
  <cp:lastModifiedBy>Mubariz Rehman</cp:lastModifiedBy>
  <cp:revision>2</cp:revision>
  <dcterms:modified xsi:type="dcterms:W3CDTF">2024-04-22T04:11:00Z</dcterms:modified>
</cp:coreProperties>
</file>