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18"/>
  </p:notesMasterIdLst>
  <p:sldIdLst>
    <p:sldId id="274" r:id="rId2"/>
    <p:sldId id="363" r:id="rId3"/>
    <p:sldId id="364" r:id="rId4"/>
    <p:sldId id="365" r:id="rId5"/>
    <p:sldId id="376" r:id="rId6"/>
    <p:sldId id="377" r:id="rId7"/>
    <p:sldId id="378" r:id="rId8"/>
    <p:sldId id="368" r:id="rId9"/>
    <p:sldId id="379" r:id="rId10"/>
    <p:sldId id="381" r:id="rId11"/>
    <p:sldId id="380" r:id="rId12"/>
    <p:sldId id="382" r:id="rId13"/>
    <p:sldId id="383" r:id="rId14"/>
    <p:sldId id="385" r:id="rId15"/>
    <p:sldId id="386" r:id="rId16"/>
    <p:sldId id="387" r:id="rId17"/>
  </p:sldIdLst>
  <p:sldSz cx="9144000" cy="6858000" type="screen4x3"/>
  <p:notesSz cx="6858000" cy="9144000"/>
  <p:defaultTex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53"/>
    <p:restoredTop sz="93800" autoAdjust="0"/>
  </p:normalViewPr>
  <p:slideViewPr>
    <p:cSldViewPr>
      <p:cViewPr varScale="1">
        <p:scale>
          <a:sx n="59" d="100"/>
          <a:sy n="59" d="100"/>
        </p:scale>
        <p:origin x="1620" y="66"/>
      </p:cViewPr>
      <p:guideLst>
        <p:guide orient="horz" pos="2160"/>
        <p:guide pos="2880"/>
      </p:guideLst>
    </p:cSldViewPr>
  </p:slid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f Muhammad" userId="6b0af2cb-2f76-400b-94d9-178b55ef4f85" providerId="ADAL" clId="{F66E9A97-18D7-47CE-91EA-AEFD37493539}"/>
    <pc:docChg chg="undo custSel modSld">
      <pc:chgData name="Asif Muhammad" userId="6b0af2cb-2f76-400b-94d9-178b55ef4f85" providerId="ADAL" clId="{F66E9A97-18D7-47CE-91EA-AEFD37493539}" dt="2023-10-24T04:36:46.784" v="29" actId="20577"/>
      <pc:docMkLst>
        <pc:docMk/>
      </pc:docMkLst>
      <pc:sldChg chg="modSp mod">
        <pc:chgData name="Asif Muhammad" userId="6b0af2cb-2f76-400b-94d9-178b55ef4f85" providerId="ADAL" clId="{F66E9A97-18D7-47CE-91EA-AEFD37493539}" dt="2023-10-14T13:00:04.817" v="6" actId="6549"/>
        <pc:sldMkLst>
          <pc:docMk/>
          <pc:sldMk cId="0" sldId="274"/>
        </pc:sldMkLst>
        <pc:spChg chg="mod">
          <ac:chgData name="Asif Muhammad" userId="6b0af2cb-2f76-400b-94d9-178b55ef4f85" providerId="ADAL" clId="{F66E9A97-18D7-47CE-91EA-AEFD37493539}" dt="2023-10-14T13:00:04.817" v="6" actId="6549"/>
          <ac:spMkLst>
            <pc:docMk/>
            <pc:sldMk cId="0" sldId="274"/>
            <ac:spMk id="72706" creationId="{23C4E095-2A9F-815D-B252-E5318D64BA70}"/>
          </ac:spMkLst>
        </pc:spChg>
      </pc:sldChg>
      <pc:sldChg chg="modNotesTx">
        <pc:chgData name="Asif Muhammad" userId="6b0af2cb-2f76-400b-94d9-178b55ef4f85" providerId="ADAL" clId="{F66E9A97-18D7-47CE-91EA-AEFD37493539}" dt="2023-10-22T05:55:08.687" v="17"/>
        <pc:sldMkLst>
          <pc:docMk/>
          <pc:sldMk cId="0" sldId="363"/>
        </pc:sldMkLst>
      </pc:sldChg>
      <pc:sldChg chg="modNotesTx">
        <pc:chgData name="Asif Muhammad" userId="6b0af2cb-2f76-400b-94d9-178b55ef4f85" providerId="ADAL" clId="{F66E9A97-18D7-47CE-91EA-AEFD37493539}" dt="2023-10-22T05:55:35.346" v="18"/>
        <pc:sldMkLst>
          <pc:docMk/>
          <pc:sldMk cId="0" sldId="364"/>
        </pc:sldMkLst>
      </pc:sldChg>
      <pc:sldChg chg="modNotesTx">
        <pc:chgData name="Asif Muhammad" userId="6b0af2cb-2f76-400b-94d9-178b55ef4f85" providerId="ADAL" clId="{F66E9A97-18D7-47CE-91EA-AEFD37493539}" dt="2023-10-22T05:55:50.430" v="19"/>
        <pc:sldMkLst>
          <pc:docMk/>
          <pc:sldMk cId="0" sldId="365"/>
        </pc:sldMkLst>
      </pc:sldChg>
      <pc:sldChg chg="modNotesTx">
        <pc:chgData name="Asif Muhammad" userId="6b0af2cb-2f76-400b-94d9-178b55ef4f85" providerId="ADAL" clId="{F66E9A97-18D7-47CE-91EA-AEFD37493539}" dt="2023-10-22T05:56:10.598" v="20"/>
        <pc:sldMkLst>
          <pc:docMk/>
          <pc:sldMk cId="0" sldId="376"/>
        </pc:sldMkLst>
      </pc:sldChg>
      <pc:sldChg chg="modNotesTx">
        <pc:chgData name="Asif Muhammad" userId="6b0af2cb-2f76-400b-94d9-178b55ef4f85" providerId="ADAL" clId="{F66E9A97-18D7-47CE-91EA-AEFD37493539}" dt="2023-10-22T05:56:26.668" v="21"/>
        <pc:sldMkLst>
          <pc:docMk/>
          <pc:sldMk cId="0" sldId="377"/>
        </pc:sldMkLst>
      </pc:sldChg>
      <pc:sldChg chg="modNotesTx">
        <pc:chgData name="Asif Muhammad" userId="6b0af2cb-2f76-400b-94d9-178b55ef4f85" providerId="ADAL" clId="{F66E9A97-18D7-47CE-91EA-AEFD37493539}" dt="2023-10-22T05:56:53.167" v="22"/>
        <pc:sldMkLst>
          <pc:docMk/>
          <pc:sldMk cId="0" sldId="378"/>
        </pc:sldMkLst>
      </pc:sldChg>
      <pc:sldChg chg="modSp mod modNotesTx">
        <pc:chgData name="Asif Muhammad" userId="6b0af2cb-2f76-400b-94d9-178b55ef4f85" providerId="ADAL" clId="{F66E9A97-18D7-47CE-91EA-AEFD37493539}" dt="2023-10-24T04:36:46.784" v="29" actId="20577"/>
        <pc:sldMkLst>
          <pc:docMk/>
          <pc:sldMk cId="0" sldId="379"/>
        </pc:sldMkLst>
        <pc:spChg chg="mod">
          <ac:chgData name="Asif Muhammad" userId="6b0af2cb-2f76-400b-94d9-178b55ef4f85" providerId="ADAL" clId="{F66E9A97-18D7-47CE-91EA-AEFD37493539}" dt="2023-10-24T04:36:46.784" v="29" actId="20577"/>
          <ac:spMkLst>
            <pc:docMk/>
            <pc:sldMk cId="0" sldId="379"/>
            <ac:spMk id="23554" creationId="{274D34DF-7184-E764-BA04-312FB10B681C}"/>
          </ac:spMkLst>
        </pc:spChg>
      </pc:sldChg>
      <pc:sldChg chg="modSp mod">
        <pc:chgData name="Asif Muhammad" userId="6b0af2cb-2f76-400b-94d9-178b55ef4f85" providerId="ADAL" clId="{F66E9A97-18D7-47CE-91EA-AEFD37493539}" dt="2023-10-22T05:49:29.252" v="14" actId="20577"/>
        <pc:sldMkLst>
          <pc:docMk/>
          <pc:sldMk cId="0" sldId="380"/>
        </pc:sldMkLst>
        <pc:spChg chg="mod">
          <ac:chgData name="Asif Muhammad" userId="6b0af2cb-2f76-400b-94d9-178b55ef4f85" providerId="ADAL" clId="{F66E9A97-18D7-47CE-91EA-AEFD37493539}" dt="2023-10-22T05:49:29.252" v="14" actId="20577"/>
          <ac:spMkLst>
            <pc:docMk/>
            <pc:sldMk cId="0" sldId="380"/>
            <ac:spMk id="25602" creationId="{68BBF6B0-B7E5-0006-1EB1-2D55903E7F90}"/>
          </ac:spMkLst>
        </pc:spChg>
      </pc:sldChg>
      <pc:sldChg chg="modSp mod modNotesTx">
        <pc:chgData name="Asif Muhammad" userId="6b0af2cb-2f76-400b-94d9-178b55ef4f85" providerId="ADAL" clId="{F66E9A97-18D7-47CE-91EA-AEFD37493539}" dt="2023-10-22T05:54:12.051" v="16"/>
        <pc:sldMkLst>
          <pc:docMk/>
          <pc:sldMk cId="0" sldId="381"/>
        </pc:sldMkLst>
        <pc:spChg chg="mod">
          <ac:chgData name="Asif Muhammad" userId="6b0af2cb-2f76-400b-94d9-178b55ef4f85" providerId="ADAL" clId="{F66E9A97-18D7-47CE-91EA-AEFD37493539}" dt="2023-10-22T05:20:23.104" v="10"/>
          <ac:spMkLst>
            <pc:docMk/>
            <pc:sldMk cId="0" sldId="381"/>
            <ac:spMk id="24578" creationId="{470E58A1-18FF-F5B6-643D-FB8AF2144156}"/>
          </ac:spMkLst>
        </pc:spChg>
      </pc:sldChg>
      <pc:sldChg chg="modSp mod modNotesTx">
        <pc:chgData name="Asif Muhammad" userId="6b0af2cb-2f76-400b-94d9-178b55ef4f85" providerId="ADAL" clId="{F66E9A97-18D7-47CE-91EA-AEFD37493539}" dt="2023-10-22T05:57:49.207" v="24" actId="6549"/>
        <pc:sldMkLst>
          <pc:docMk/>
          <pc:sldMk cId="0" sldId="382"/>
        </pc:sldMkLst>
        <pc:spChg chg="mod">
          <ac:chgData name="Asif Muhammad" userId="6b0af2cb-2f76-400b-94d9-178b55ef4f85" providerId="ADAL" clId="{F66E9A97-18D7-47CE-91EA-AEFD37493539}" dt="2023-10-22T05:57:49.207" v="24" actId="6549"/>
          <ac:spMkLst>
            <pc:docMk/>
            <pc:sldMk cId="0" sldId="382"/>
            <ac:spMk id="26626" creationId="{4AD5FC89-6F2C-13DC-F252-BC0B1C90F099}"/>
          </ac:spMkLst>
        </pc:spChg>
      </pc:sldChg>
      <pc:sldChg chg="modSp mod">
        <pc:chgData name="Asif Muhammad" userId="6b0af2cb-2f76-400b-94d9-178b55ef4f85" providerId="ADAL" clId="{F66E9A97-18D7-47CE-91EA-AEFD37493539}" dt="2023-10-22T05:58:49.841" v="25" actId="6549"/>
        <pc:sldMkLst>
          <pc:docMk/>
          <pc:sldMk cId="0" sldId="383"/>
        </pc:sldMkLst>
        <pc:spChg chg="mod">
          <ac:chgData name="Asif Muhammad" userId="6b0af2cb-2f76-400b-94d9-178b55ef4f85" providerId="ADAL" clId="{F66E9A97-18D7-47CE-91EA-AEFD37493539}" dt="2023-10-22T05:58:49.841" v="25" actId="6549"/>
          <ac:spMkLst>
            <pc:docMk/>
            <pc:sldMk cId="0" sldId="383"/>
            <ac:spMk id="27650" creationId="{18BB13F9-1E32-ACCF-B59C-6254686ECDE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EDFF2A7-4727-1DC6-3535-14EA099B5BB7}"/>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53251" name="Rectangle 3">
            <a:extLst>
              <a:ext uri="{FF2B5EF4-FFF2-40B4-BE49-F238E27FC236}">
                <a16:creationId xmlns:a16="http://schemas.microsoft.com/office/drawing/2014/main" id="{31480D3F-9C5E-76D9-0497-4B3C726CD2CE}"/>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mn-cs"/>
              </a:defRPr>
            </a:lvl1pPr>
          </a:lstStyle>
          <a:p>
            <a:pPr>
              <a:defRPr/>
            </a:pPr>
            <a:endParaRPr lang="en-US"/>
          </a:p>
        </p:txBody>
      </p:sp>
      <p:sp>
        <p:nvSpPr>
          <p:cNvPr id="13316" name="Rectangle 4">
            <a:extLst>
              <a:ext uri="{FF2B5EF4-FFF2-40B4-BE49-F238E27FC236}">
                <a16:creationId xmlns:a16="http://schemas.microsoft.com/office/drawing/2014/main" id="{33FFF43C-EC3A-B139-9347-C2D0946A9C2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a:extLst>
              <a:ext uri="{FF2B5EF4-FFF2-40B4-BE49-F238E27FC236}">
                <a16:creationId xmlns:a16="http://schemas.microsoft.com/office/drawing/2014/main" id="{7F91B46B-845B-1C6C-6998-426E78D13E10}"/>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3254" name="Rectangle 6">
            <a:extLst>
              <a:ext uri="{FF2B5EF4-FFF2-40B4-BE49-F238E27FC236}">
                <a16:creationId xmlns:a16="http://schemas.microsoft.com/office/drawing/2014/main" id="{9102CA0F-73F9-C722-9CF3-4F0F043B3357}"/>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53255" name="Rectangle 7">
            <a:extLst>
              <a:ext uri="{FF2B5EF4-FFF2-40B4-BE49-F238E27FC236}">
                <a16:creationId xmlns:a16="http://schemas.microsoft.com/office/drawing/2014/main" id="{D443AD70-02C7-6A6A-A2E1-187107DDCBCC}"/>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C5F6E639-2689-4976-9691-4FB9BFAEB3F5}"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a:extLst>
              <a:ext uri="{FF2B5EF4-FFF2-40B4-BE49-F238E27FC236}">
                <a16:creationId xmlns:a16="http://schemas.microsoft.com/office/drawing/2014/main" id="{30A29F89-4091-E997-0988-0AA18492E50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450774C2-CC3C-40BB-8D72-B8797F27239A}" type="slidenum">
              <a:rPr lang="en-US" altLang="en-US"/>
              <a:pPr>
                <a:spcBef>
                  <a:spcPct val="0"/>
                </a:spcBef>
              </a:pPr>
              <a:t>1</a:t>
            </a:fld>
            <a:endParaRPr lang="en-US" altLang="en-US"/>
          </a:p>
        </p:txBody>
      </p:sp>
      <p:sp>
        <p:nvSpPr>
          <p:cNvPr id="15362" name="Rectangle 2">
            <a:extLst>
              <a:ext uri="{FF2B5EF4-FFF2-40B4-BE49-F238E27FC236}">
                <a16:creationId xmlns:a16="http://schemas.microsoft.com/office/drawing/2014/main" id="{2A612D00-B89D-E9A0-80A1-D7C4543626FD}"/>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5709058F-F57F-CAC9-7D92-6001150B3223}"/>
              </a:ext>
            </a:extLst>
          </p:cNvPr>
          <p:cNvSpPr>
            <a:spLocks noGrp="1" noChangeArrowheads="1"/>
          </p:cNvSpPr>
          <p:nvPr>
            <p:ph type="body" idx="1"/>
          </p:nvPr>
        </p:nvSpPr>
        <p:spPr/>
        <p:txBody>
          <a:bodyPr/>
          <a:lstStyle/>
          <a:p>
            <a:pPr eaLnBrk="1" hangingPunct="1">
              <a:defRPr/>
            </a:pPr>
            <a:endParaRPr lang="fr-FR">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Network programming in Go is quite straightforward and efficient due to Go's built-in networking libraries and support for concurrent programming. In this guide, I'll introduce you to some fundamental concepts and provide examples to get you started with network programming in Go.</a:t>
            </a:r>
          </a:p>
          <a:p>
            <a:endParaRPr lang="en-GB" dirty="0"/>
          </a:p>
          <a:p>
            <a:r>
              <a:rPr lang="en-GB" dirty="0"/>
              <a:t>1. **Importing Necessary Packages:**</a:t>
            </a:r>
          </a:p>
          <a:p>
            <a:r>
              <a:rPr lang="en-GB" dirty="0"/>
              <a:t>   In Go, the standard library provides a robust set of packages for network programming. Import the required packages, such as `"net"` and `"</a:t>
            </a:r>
            <a:r>
              <a:rPr lang="en-GB" dirty="0" err="1"/>
              <a:t>fmt</a:t>
            </a:r>
            <a:r>
              <a:rPr lang="en-GB" dirty="0"/>
              <a:t>"`:</a:t>
            </a:r>
          </a:p>
          <a:p>
            <a:endParaRPr lang="en-GB" dirty="0"/>
          </a:p>
          <a:p>
            <a:r>
              <a:rPr lang="en-GB" dirty="0"/>
              <a:t>   ```go</a:t>
            </a:r>
          </a:p>
          <a:p>
            <a:r>
              <a:rPr lang="en-GB" dirty="0"/>
              <a:t>   import (</a:t>
            </a:r>
          </a:p>
          <a:p>
            <a:r>
              <a:rPr lang="en-GB" dirty="0"/>
              <a:t>       "</a:t>
            </a:r>
            <a:r>
              <a:rPr lang="en-GB" dirty="0" err="1"/>
              <a:t>fmt</a:t>
            </a:r>
            <a:r>
              <a:rPr lang="en-GB" dirty="0"/>
              <a:t>"</a:t>
            </a:r>
          </a:p>
          <a:p>
            <a:r>
              <a:rPr lang="en-GB" dirty="0"/>
              <a:t>       "net"</a:t>
            </a:r>
          </a:p>
          <a:p>
            <a:r>
              <a:rPr lang="en-GB" dirty="0"/>
              <a:t>   )</a:t>
            </a:r>
          </a:p>
          <a:p>
            <a:r>
              <a:rPr lang="en-GB" dirty="0"/>
              <a:t>   ```</a:t>
            </a:r>
          </a:p>
          <a:p>
            <a:endParaRPr lang="en-GB" dirty="0"/>
          </a:p>
          <a:p>
            <a:r>
              <a:rPr lang="en-GB" dirty="0"/>
              <a:t>2. **TCP Server:**</a:t>
            </a:r>
          </a:p>
          <a:p>
            <a:r>
              <a:rPr lang="en-GB" dirty="0"/>
              <a:t>   Let's start with a simple TCP server. The code below creates a TCP server that listens on a specified port and accepts incoming connections.</a:t>
            </a:r>
          </a:p>
          <a:p>
            <a:endParaRPr lang="en-GB" dirty="0"/>
          </a:p>
          <a:p>
            <a:r>
              <a:rPr lang="en-GB" dirty="0"/>
              <a:t>   ```go</a:t>
            </a:r>
          </a:p>
          <a:p>
            <a:r>
              <a:rPr lang="en-GB" dirty="0"/>
              <a:t>   </a:t>
            </a:r>
            <a:r>
              <a:rPr lang="en-GB" dirty="0" err="1"/>
              <a:t>func</a:t>
            </a:r>
            <a:r>
              <a:rPr lang="en-GB" dirty="0"/>
              <a:t> main() {</a:t>
            </a:r>
          </a:p>
          <a:p>
            <a:r>
              <a:rPr lang="en-GB" dirty="0"/>
              <a:t>       listener, err := </a:t>
            </a:r>
            <a:r>
              <a:rPr lang="en-GB" dirty="0" err="1"/>
              <a:t>net.Listen</a:t>
            </a:r>
            <a:r>
              <a:rPr lang="en-GB" dirty="0"/>
              <a:t>("</a:t>
            </a:r>
            <a:r>
              <a:rPr lang="en-GB" dirty="0" err="1"/>
              <a:t>tcp</a:t>
            </a:r>
            <a:r>
              <a:rPr lang="en-GB" dirty="0"/>
              <a:t>", ":8080")</a:t>
            </a:r>
          </a:p>
          <a:p>
            <a:r>
              <a:rPr lang="en-GB" dirty="0"/>
              <a:t>       if err != nil {</a:t>
            </a:r>
          </a:p>
          <a:p>
            <a:r>
              <a:rPr lang="en-GB" dirty="0"/>
              <a:t>           </a:t>
            </a:r>
            <a:r>
              <a:rPr lang="en-GB" dirty="0" err="1"/>
              <a:t>fmt.Println</a:t>
            </a:r>
            <a:r>
              <a:rPr lang="en-GB" dirty="0"/>
              <a:t>("Error:", err)</a:t>
            </a:r>
          </a:p>
          <a:p>
            <a:r>
              <a:rPr lang="en-GB" dirty="0"/>
              <a:t>           return</a:t>
            </a:r>
          </a:p>
          <a:p>
            <a:r>
              <a:rPr lang="en-GB" dirty="0"/>
              <a:t>       }</a:t>
            </a:r>
          </a:p>
          <a:p>
            <a:r>
              <a:rPr lang="en-GB" dirty="0"/>
              <a:t>       defer </a:t>
            </a:r>
            <a:r>
              <a:rPr lang="en-GB" dirty="0" err="1"/>
              <a:t>listener.Close</a:t>
            </a:r>
            <a:r>
              <a:rPr lang="en-GB" dirty="0"/>
              <a:t>()</a:t>
            </a:r>
          </a:p>
          <a:p>
            <a:endParaRPr lang="en-GB" dirty="0"/>
          </a:p>
          <a:p>
            <a:r>
              <a:rPr lang="en-GB" dirty="0"/>
              <a:t>       </a:t>
            </a:r>
            <a:r>
              <a:rPr lang="en-GB" dirty="0" err="1"/>
              <a:t>fmt.Println</a:t>
            </a:r>
            <a:r>
              <a:rPr lang="en-GB" dirty="0"/>
              <a:t>("Server is listening on port 8080")</a:t>
            </a:r>
          </a:p>
          <a:p>
            <a:endParaRPr lang="en-GB" dirty="0"/>
          </a:p>
          <a:p>
            <a:r>
              <a:rPr lang="en-GB" dirty="0"/>
              <a:t>       for {</a:t>
            </a:r>
          </a:p>
          <a:p>
            <a:r>
              <a:rPr lang="en-GB" dirty="0"/>
              <a:t>           conn, err := </a:t>
            </a:r>
            <a:r>
              <a:rPr lang="en-GB" dirty="0" err="1"/>
              <a:t>listener.Accept</a:t>
            </a:r>
            <a:r>
              <a:rPr lang="en-GB" dirty="0"/>
              <a:t>()</a:t>
            </a:r>
          </a:p>
          <a:p>
            <a:r>
              <a:rPr lang="en-GB" dirty="0"/>
              <a:t>           if err != nil {</a:t>
            </a:r>
          </a:p>
          <a:p>
            <a:r>
              <a:rPr lang="en-GB" dirty="0"/>
              <a:t>               </a:t>
            </a:r>
            <a:r>
              <a:rPr lang="en-GB" dirty="0" err="1"/>
              <a:t>fmt.Println</a:t>
            </a:r>
            <a:r>
              <a:rPr lang="en-GB" dirty="0"/>
              <a:t>("Error:", err)</a:t>
            </a:r>
          </a:p>
          <a:p>
            <a:r>
              <a:rPr lang="en-GB" dirty="0"/>
              <a:t>               continue</a:t>
            </a:r>
          </a:p>
          <a:p>
            <a:r>
              <a:rPr lang="en-GB" dirty="0"/>
              <a:t>           }</a:t>
            </a:r>
          </a:p>
          <a:p>
            <a:r>
              <a:rPr lang="en-GB" dirty="0"/>
              <a:t>           go </a:t>
            </a:r>
            <a:r>
              <a:rPr lang="en-GB" dirty="0" err="1"/>
              <a:t>handleClient</a:t>
            </a:r>
            <a:r>
              <a:rPr lang="en-GB" dirty="0"/>
              <a:t>(conn)</a:t>
            </a:r>
          </a:p>
          <a:p>
            <a:r>
              <a:rPr lang="en-GB" dirty="0"/>
              <a:t>       }</a:t>
            </a:r>
          </a:p>
          <a:p>
            <a:r>
              <a:rPr lang="en-GB" dirty="0"/>
              <a:t>   }</a:t>
            </a:r>
          </a:p>
          <a:p>
            <a:endParaRPr lang="en-GB" dirty="0"/>
          </a:p>
          <a:p>
            <a:r>
              <a:rPr lang="en-GB" dirty="0"/>
              <a:t>   </a:t>
            </a:r>
            <a:r>
              <a:rPr lang="en-GB" dirty="0" err="1"/>
              <a:t>func</a:t>
            </a:r>
            <a:r>
              <a:rPr lang="en-GB" dirty="0"/>
              <a:t> </a:t>
            </a:r>
            <a:r>
              <a:rPr lang="en-GB" dirty="0" err="1"/>
              <a:t>handleClient</a:t>
            </a:r>
            <a:r>
              <a:rPr lang="en-GB" dirty="0"/>
              <a:t>(conn </a:t>
            </a:r>
            <a:r>
              <a:rPr lang="en-GB" dirty="0" err="1"/>
              <a:t>net.Conn</a:t>
            </a:r>
            <a:r>
              <a:rPr lang="en-GB" dirty="0"/>
              <a:t>) {</a:t>
            </a:r>
          </a:p>
          <a:p>
            <a:r>
              <a:rPr lang="en-GB" dirty="0"/>
              <a:t>       defer </a:t>
            </a:r>
            <a:r>
              <a:rPr lang="en-GB" dirty="0" err="1"/>
              <a:t>conn.Close</a:t>
            </a:r>
            <a:r>
              <a:rPr lang="en-GB" dirty="0"/>
              <a:t>()</a:t>
            </a:r>
          </a:p>
          <a:p>
            <a:r>
              <a:rPr lang="en-GB" dirty="0"/>
              <a:t>       </a:t>
            </a:r>
            <a:r>
              <a:rPr lang="en-GB" dirty="0" err="1"/>
              <a:t>remoteAddr</a:t>
            </a:r>
            <a:r>
              <a:rPr lang="en-GB" dirty="0"/>
              <a:t> := </a:t>
            </a:r>
            <a:r>
              <a:rPr lang="en-GB" dirty="0" err="1"/>
              <a:t>conn.RemoteAddr</a:t>
            </a:r>
            <a:r>
              <a:rPr lang="en-GB" dirty="0"/>
              <a:t>()</a:t>
            </a:r>
          </a:p>
          <a:p>
            <a:r>
              <a:rPr lang="en-GB" dirty="0"/>
              <a:t>       </a:t>
            </a:r>
            <a:r>
              <a:rPr lang="en-GB" dirty="0" err="1"/>
              <a:t>fmt.Printf</a:t>
            </a:r>
            <a:r>
              <a:rPr lang="en-GB" dirty="0"/>
              <a:t>("Accepted connection from %s\n", </a:t>
            </a:r>
            <a:r>
              <a:rPr lang="en-GB" dirty="0" err="1"/>
              <a:t>remoteAddr</a:t>
            </a:r>
            <a:r>
              <a:rPr lang="en-GB" dirty="0"/>
              <a:t>)</a:t>
            </a:r>
          </a:p>
          <a:p>
            <a:endParaRPr lang="en-GB" dirty="0"/>
          </a:p>
          <a:p>
            <a:r>
              <a:rPr lang="en-GB" dirty="0"/>
              <a:t>       // Handle the client connection</a:t>
            </a:r>
          </a:p>
          <a:p>
            <a:r>
              <a:rPr lang="en-GB" dirty="0"/>
              <a:t>   }</a:t>
            </a:r>
          </a:p>
          <a:p>
            <a:r>
              <a:rPr lang="en-GB" dirty="0"/>
              <a:t>   ```</a:t>
            </a:r>
          </a:p>
          <a:p>
            <a:endParaRPr lang="en-GB" dirty="0"/>
          </a:p>
          <a:p>
            <a:r>
              <a:rPr lang="en-GB" dirty="0"/>
              <a:t>   In this code, we create a TCP server listening on port 8080. For each incoming connection, a new goroutine is started to handle the client.</a:t>
            </a:r>
          </a:p>
          <a:p>
            <a:endParaRPr lang="en-GB" dirty="0"/>
          </a:p>
          <a:p>
            <a:r>
              <a:rPr lang="en-GB" dirty="0"/>
              <a:t>3. **TCP Client:**</a:t>
            </a:r>
          </a:p>
          <a:p>
            <a:r>
              <a:rPr lang="en-GB" dirty="0"/>
              <a:t>   Now, let's create a simple TCP client that connects to the server. The client code is quite straightforward:</a:t>
            </a:r>
          </a:p>
          <a:p>
            <a:endParaRPr lang="en-GB" dirty="0"/>
          </a:p>
          <a:p>
            <a:r>
              <a:rPr lang="en-GB" dirty="0"/>
              <a:t>   ```go</a:t>
            </a:r>
          </a:p>
          <a:p>
            <a:r>
              <a:rPr lang="en-GB" dirty="0"/>
              <a:t>   </a:t>
            </a:r>
            <a:r>
              <a:rPr lang="en-GB" dirty="0" err="1"/>
              <a:t>func</a:t>
            </a:r>
            <a:r>
              <a:rPr lang="en-GB" dirty="0"/>
              <a:t> main() {</a:t>
            </a:r>
          </a:p>
          <a:p>
            <a:r>
              <a:rPr lang="en-GB" dirty="0"/>
              <a:t>       conn, err := </a:t>
            </a:r>
            <a:r>
              <a:rPr lang="en-GB" dirty="0" err="1"/>
              <a:t>net.Dial</a:t>
            </a:r>
            <a:r>
              <a:rPr lang="en-GB" dirty="0"/>
              <a:t>("</a:t>
            </a:r>
            <a:r>
              <a:rPr lang="en-GB" dirty="0" err="1"/>
              <a:t>tcp</a:t>
            </a:r>
            <a:r>
              <a:rPr lang="en-GB" dirty="0"/>
              <a:t>", "localhost:8080")</a:t>
            </a:r>
          </a:p>
          <a:p>
            <a:r>
              <a:rPr lang="en-GB" dirty="0"/>
              <a:t>       if err != nil {</a:t>
            </a:r>
          </a:p>
          <a:p>
            <a:r>
              <a:rPr lang="en-GB" dirty="0"/>
              <a:t>           </a:t>
            </a:r>
            <a:r>
              <a:rPr lang="en-GB" dirty="0" err="1"/>
              <a:t>fmt.Println</a:t>
            </a:r>
            <a:r>
              <a:rPr lang="en-GB" dirty="0"/>
              <a:t>("Error:", err)</a:t>
            </a:r>
          </a:p>
          <a:p>
            <a:r>
              <a:rPr lang="en-GB" dirty="0"/>
              <a:t>           return</a:t>
            </a:r>
          </a:p>
          <a:p>
            <a:r>
              <a:rPr lang="en-GB" dirty="0"/>
              <a:t>       }</a:t>
            </a:r>
          </a:p>
          <a:p>
            <a:r>
              <a:rPr lang="en-GB" dirty="0"/>
              <a:t>       defer </a:t>
            </a:r>
            <a:r>
              <a:rPr lang="en-GB" dirty="0" err="1"/>
              <a:t>conn.Close</a:t>
            </a:r>
            <a:r>
              <a:rPr lang="en-GB" dirty="0"/>
              <a:t>()</a:t>
            </a:r>
          </a:p>
          <a:p>
            <a:endParaRPr lang="en-GB" dirty="0"/>
          </a:p>
          <a:p>
            <a:r>
              <a:rPr lang="en-GB" dirty="0"/>
              <a:t>       // Communicate with the server through the `conn` connection</a:t>
            </a:r>
          </a:p>
          <a:p>
            <a:r>
              <a:rPr lang="en-GB" dirty="0"/>
              <a:t>   }</a:t>
            </a:r>
          </a:p>
          <a:p>
            <a:r>
              <a:rPr lang="en-GB" dirty="0"/>
              <a:t>   ```</a:t>
            </a:r>
          </a:p>
          <a:p>
            <a:endParaRPr lang="en-GB" dirty="0"/>
          </a:p>
          <a:p>
            <a:r>
              <a:rPr lang="en-GB" dirty="0"/>
              <a:t>   In the code above, we use `</a:t>
            </a:r>
            <a:r>
              <a:rPr lang="en-GB" dirty="0" err="1"/>
              <a:t>net.Dial</a:t>
            </a:r>
            <a:r>
              <a:rPr lang="en-GB" dirty="0"/>
              <a:t>` to connect to the server running on localhost at port 8080.</a:t>
            </a:r>
          </a:p>
          <a:p>
            <a:endParaRPr lang="en-GB" dirty="0"/>
          </a:p>
          <a:p>
            <a:r>
              <a:rPr lang="en-GB" dirty="0"/>
              <a:t>4. **Data Exchange:**</a:t>
            </a:r>
          </a:p>
          <a:p>
            <a:r>
              <a:rPr lang="en-GB" dirty="0"/>
              <a:t>   Once the client and server are connected, you can exchange data using the `conn` connection. You can use methods like `Read` and `Write` from the `</a:t>
            </a:r>
            <a:r>
              <a:rPr lang="en-GB" dirty="0" err="1"/>
              <a:t>net.Conn</a:t>
            </a:r>
            <a:r>
              <a:rPr lang="en-GB" dirty="0"/>
              <a:t>` interface to send and receive data.</a:t>
            </a:r>
          </a:p>
          <a:p>
            <a:endParaRPr lang="en-GB" dirty="0"/>
          </a:p>
          <a:p>
            <a:r>
              <a:rPr lang="en-GB" dirty="0"/>
              <a:t>   Example of sending and receiving data on the server side:</a:t>
            </a:r>
          </a:p>
          <a:p>
            <a:endParaRPr lang="en-GB" dirty="0"/>
          </a:p>
          <a:p>
            <a:r>
              <a:rPr lang="en-GB" dirty="0"/>
              <a:t>   ```go</a:t>
            </a:r>
          </a:p>
          <a:p>
            <a:r>
              <a:rPr lang="en-GB" dirty="0"/>
              <a:t>   </a:t>
            </a:r>
            <a:r>
              <a:rPr lang="en-GB" dirty="0" err="1"/>
              <a:t>func</a:t>
            </a:r>
            <a:r>
              <a:rPr lang="en-GB" dirty="0"/>
              <a:t> </a:t>
            </a:r>
            <a:r>
              <a:rPr lang="en-GB" dirty="0" err="1"/>
              <a:t>handleClient</a:t>
            </a:r>
            <a:r>
              <a:rPr lang="en-GB" dirty="0"/>
              <a:t>(conn </a:t>
            </a:r>
            <a:r>
              <a:rPr lang="en-GB" dirty="0" err="1"/>
              <a:t>net.Conn</a:t>
            </a:r>
            <a:r>
              <a:rPr lang="en-GB" dirty="0"/>
              <a:t>) {</a:t>
            </a:r>
          </a:p>
          <a:p>
            <a:r>
              <a:rPr lang="en-GB" dirty="0"/>
              <a:t>       defer </a:t>
            </a:r>
            <a:r>
              <a:rPr lang="en-GB" dirty="0" err="1"/>
              <a:t>conn.Close</a:t>
            </a:r>
            <a:r>
              <a:rPr lang="en-GB" dirty="0"/>
              <a:t>()</a:t>
            </a:r>
          </a:p>
          <a:p>
            <a:r>
              <a:rPr lang="en-GB" dirty="0"/>
              <a:t>       </a:t>
            </a:r>
            <a:r>
              <a:rPr lang="en-GB" dirty="0" err="1"/>
              <a:t>remoteAddr</a:t>
            </a:r>
            <a:r>
              <a:rPr lang="en-GB" dirty="0"/>
              <a:t> := </a:t>
            </a:r>
            <a:r>
              <a:rPr lang="en-GB" dirty="0" err="1"/>
              <a:t>conn.RemoteAddr</a:t>
            </a:r>
            <a:r>
              <a:rPr lang="en-GB" dirty="0"/>
              <a:t>()</a:t>
            </a:r>
          </a:p>
          <a:p>
            <a:r>
              <a:rPr lang="en-GB" dirty="0"/>
              <a:t>       </a:t>
            </a:r>
            <a:r>
              <a:rPr lang="en-GB" dirty="0" err="1"/>
              <a:t>fmt.Printf</a:t>
            </a:r>
            <a:r>
              <a:rPr lang="en-GB" dirty="0"/>
              <a:t>("Accepted connection from %s\n", </a:t>
            </a:r>
            <a:r>
              <a:rPr lang="en-GB" dirty="0" err="1"/>
              <a:t>remoteAddr</a:t>
            </a:r>
            <a:r>
              <a:rPr lang="en-GB" dirty="0"/>
              <a:t>)</a:t>
            </a:r>
          </a:p>
          <a:p>
            <a:endParaRPr lang="en-GB" dirty="0"/>
          </a:p>
          <a:p>
            <a:r>
              <a:rPr lang="en-GB" dirty="0"/>
              <a:t>       // Read data from the client</a:t>
            </a:r>
          </a:p>
          <a:p>
            <a:r>
              <a:rPr lang="en-GB" dirty="0"/>
              <a:t>       buffer := make([]byte, 1024)</a:t>
            </a:r>
          </a:p>
          <a:p>
            <a:r>
              <a:rPr lang="en-GB" dirty="0"/>
              <a:t>       n, err := </a:t>
            </a:r>
            <a:r>
              <a:rPr lang="en-GB" dirty="0" err="1"/>
              <a:t>conn.Read</a:t>
            </a:r>
            <a:r>
              <a:rPr lang="en-GB" dirty="0"/>
              <a:t>(buffer)</a:t>
            </a:r>
          </a:p>
          <a:p>
            <a:r>
              <a:rPr lang="en-GB" dirty="0"/>
              <a:t>       if err != nil {</a:t>
            </a:r>
          </a:p>
          <a:p>
            <a:r>
              <a:rPr lang="en-GB" dirty="0"/>
              <a:t>           </a:t>
            </a:r>
            <a:r>
              <a:rPr lang="en-GB" dirty="0" err="1"/>
              <a:t>fmt.Println</a:t>
            </a:r>
            <a:r>
              <a:rPr lang="en-GB" dirty="0"/>
              <a:t>("Error reading data:", err)</a:t>
            </a:r>
          </a:p>
          <a:p>
            <a:r>
              <a:rPr lang="en-GB" dirty="0"/>
              <a:t>           return</a:t>
            </a:r>
          </a:p>
          <a:p>
            <a:r>
              <a:rPr lang="en-GB" dirty="0"/>
              <a:t>       }</a:t>
            </a:r>
          </a:p>
          <a:p>
            <a:r>
              <a:rPr lang="en-GB" dirty="0"/>
              <a:t>       data := buffer[:n]</a:t>
            </a:r>
          </a:p>
          <a:p>
            <a:r>
              <a:rPr lang="en-GB" dirty="0"/>
              <a:t>       </a:t>
            </a:r>
            <a:r>
              <a:rPr lang="en-GB" dirty="0" err="1"/>
              <a:t>fmt.Printf</a:t>
            </a:r>
            <a:r>
              <a:rPr lang="en-GB" dirty="0"/>
              <a:t>("Received: %s\n", data)</a:t>
            </a:r>
          </a:p>
          <a:p>
            <a:endParaRPr lang="en-GB" dirty="0"/>
          </a:p>
          <a:p>
            <a:r>
              <a:rPr lang="en-GB" dirty="0"/>
              <a:t>       // Send data back to the client</a:t>
            </a:r>
          </a:p>
          <a:p>
            <a:r>
              <a:rPr lang="en-GB" dirty="0"/>
              <a:t>       response := []byte("Hello, client!\n")</a:t>
            </a:r>
          </a:p>
          <a:p>
            <a:r>
              <a:rPr lang="en-GB" dirty="0"/>
              <a:t>       _, err = </a:t>
            </a:r>
            <a:r>
              <a:rPr lang="en-GB" dirty="0" err="1"/>
              <a:t>conn.Write</a:t>
            </a:r>
            <a:r>
              <a:rPr lang="en-GB" dirty="0"/>
              <a:t>(response)</a:t>
            </a:r>
          </a:p>
          <a:p>
            <a:r>
              <a:rPr lang="en-GB" dirty="0"/>
              <a:t>       if err != nil {</a:t>
            </a:r>
          </a:p>
          <a:p>
            <a:r>
              <a:rPr lang="en-GB" dirty="0"/>
              <a:t>           </a:t>
            </a:r>
            <a:r>
              <a:rPr lang="en-GB" dirty="0" err="1"/>
              <a:t>fmt.Println</a:t>
            </a:r>
            <a:r>
              <a:rPr lang="en-GB" dirty="0"/>
              <a:t>("Error sending data:", err)</a:t>
            </a:r>
          </a:p>
          <a:p>
            <a:r>
              <a:rPr lang="en-GB" dirty="0"/>
              <a:t>           return</a:t>
            </a:r>
          </a:p>
          <a:p>
            <a:r>
              <a:rPr lang="en-GB" dirty="0"/>
              <a:t>       }</a:t>
            </a:r>
          </a:p>
          <a:p>
            <a:r>
              <a:rPr lang="en-GB" dirty="0"/>
              <a:t>   }</a:t>
            </a:r>
          </a:p>
          <a:p>
            <a:r>
              <a:rPr lang="en-GB" dirty="0"/>
              <a:t>   ```</a:t>
            </a:r>
          </a:p>
          <a:p>
            <a:endParaRPr lang="en-GB" dirty="0"/>
          </a:p>
          <a:p>
            <a:r>
              <a:rPr lang="en-GB" dirty="0"/>
              <a:t>   Example of sending and receiving data on the client side:</a:t>
            </a:r>
          </a:p>
          <a:p>
            <a:endParaRPr lang="en-GB" dirty="0"/>
          </a:p>
          <a:p>
            <a:r>
              <a:rPr lang="en-GB" dirty="0"/>
              <a:t>   ```go</a:t>
            </a:r>
          </a:p>
          <a:p>
            <a:r>
              <a:rPr lang="en-GB" dirty="0"/>
              <a:t>   </a:t>
            </a:r>
            <a:r>
              <a:rPr lang="en-GB" dirty="0" err="1"/>
              <a:t>func</a:t>
            </a:r>
            <a:r>
              <a:rPr lang="en-GB" dirty="0"/>
              <a:t> main() {</a:t>
            </a:r>
          </a:p>
          <a:p>
            <a:r>
              <a:rPr lang="en-GB" dirty="0"/>
              <a:t>       conn, err := </a:t>
            </a:r>
            <a:r>
              <a:rPr lang="en-GB" dirty="0" err="1"/>
              <a:t>net.Dial</a:t>
            </a:r>
            <a:r>
              <a:rPr lang="en-GB" dirty="0"/>
              <a:t>("</a:t>
            </a:r>
            <a:r>
              <a:rPr lang="en-GB" dirty="0" err="1"/>
              <a:t>tcp</a:t>
            </a:r>
            <a:r>
              <a:rPr lang="en-GB" dirty="0"/>
              <a:t>", "localhost:8080")</a:t>
            </a:r>
          </a:p>
          <a:p>
            <a:r>
              <a:rPr lang="en-GB" dirty="0"/>
              <a:t>       if err != nil {</a:t>
            </a:r>
          </a:p>
          <a:p>
            <a:r>
              <a:rPr lang="en-GB" dirty="0"/>
              <a:t>           </a:t>
            </a:r>
            <a:r>
              <a:rPr lang="en-GB" dirty="0" err="1"/>
              <a:t>fmt.Println</a:t>
            </a:r>
            <a:r>
              <a:rPr lang="en-GB" dirty="0"/>
              <a:t>("Error:", err)</a:t>
            </a:r>
          </a:p>
          <a:p>
            <a:r>
              <a:rPr lang="en-GB" dirty="0"/>
              <a:t>           return</a:t>
            </a:r>
          </a:p>
          <a:p>
            <a:r>
              <a:rPr lang="en-GB" dirty="0"/>
              <a:t>       }</a:t>
            </a:r>
          </a:p>
          <a:p>
            <a:r>
              <a:rPr lang="en-GB" dirty="0"/>
              <a:t>       defer </a:t>
            </a:r>
            <a:r>
              <a:rPr lang="en-GB" dirty="0" err="1"/>
              <a:t>conn.Close</a:t>
            </a:r>
            <a:r>
              <a:rPr lang="en-GB" dirty="0"/>
              <a:t>()</a:t>
            </a:r>
          </a:p>
          <a:p>
            <a:endParaRPr lang="en-GB" dirty="0"/>
          </a:p>
          <a:p>
            <a:r>
              <a:rPr lang="en-GB" dirty="0"/>
              <a:t>       // Send data to the server</a:t>
            </a:r>
          </a:p>
          <a:p>
            <a:r>
              <a:rPr lang="en-GB" dirty="0"/>
              <a:t>       message := []byte("Hello, server!\n")</a:t>
            </a:r>
          </a:p>
          <a:p>
            <a:r>
              <a:rPr lang="en-GB" dirty="0"/>
              <a:t>       _, err = </a:t>
            </a:r>
            <a:r>
              <a:rPr lang="en-GB" dirty="0" err="1"/>
              <a:t>conn.Write</a:t>
            </a:r>
            <a:r>
              <a:rPr lang="en-GB" dirty="0"/>
              <a:t>(message)</a:t>
            </a:r>
          </a:p>
          <a:p>
            <a:r>
              <a:rPr lang="en-GB" dirty="0"/>
              <a:t>       if err != nil {</a:t>
            </a:r>
          </a:p>
          <a:p>
            <a:r>
              <a:rPr lang="en-GB" dirty="0"/>
              <a:t>           </a:t>
            </a:r>
            <a:r>
              <a:rPr lang="en-GB" dirty="0" err="1"/>
              <a:t>fmt.Println</a:t>
            </a:r>
            <a:r>
              <a:rPr lang="en-GB" dirty="0"/>
              <a:t>("Error sending data:", err)</a:t>
            </a:r>
          </a:p>
          <a:p>
            <a:r>
              <a:rPr lang="en-GB" dirty="0"/>
              <a:t>           return</a:t>
            </a:r>
          </a:p>
          <a:p>
            <a:r>
              <a:rPr lang="en-GB" dirty="0"/>
              <a:t>       }</a:t>
            </a:r>
          </a:p>
          <a:p>
            <a:endParaRPr lang="en-GB" dirty="0"/>
          </a:p>
          <a:p>
            <a:r>
              <a:rPr lang="en-GB" dirty="0"/>
              <a:t>       // Read data from the server</a:t>
            </a:r>
          </a:p>
          <a:p>
            <a:r>
              <a:rPr lang="en-GB" dirty="0"/>
              <a:t>       buffer := make([]byte, 1024)</a:t>
            </a:r>
          </a:p>
          <a:p>
            <a:r>
              <a:rPr lang="en-GB" dirty="0"/>
              <a:t>       n, err := </a:t>
            </a:r>
            <a:r>
              <a:rPr lang="en-GB" dirty="0" err="1"/>
              <a:t>conn.Read</a:t>
            </a:r>
            <a:r>
              <a:rPr lang="en-GB" dirty="0"/>
              <a:t>(buffer)</a:t>
            </a:r>
          </a:p>
          <a:p>
            <a:r>
              <a:rPr lang="en-GB" dirty="0"/>
              <a:t>       if err != nil {</a:t>
            </a:r>
          </a:p>
          <a:p>
            <a:r>
              <a:rPr lang="en-GB" dirty="0"/>
              <a:t>           </a:t>
            </a:r>
            <a:r>
              <a:rPr lang="en-GB" dirty="0" err="1"/>
              <a:t>fmt.Println</a:t>
            </a:r>
            <a:r>
              <a:rPr lang="en-GB" dirty="0"/>
              <a:t>("Error reading data:", err)</a:t>
            </a:r>
          </a:p>
          <a:p>
            <a:r>
              <a:rPr lang="en-GB" dirty="0"/>
              <a:t>           return</a:t>
            </a:r>
          </a:p>
          <a:p>
            <a:r>
              <a:rPr lang="en-GB" dirty="0"/>
              <a:t>       }</a:t>
            </a:r>
          </a:p>
          <a:p>
            <a:r>
              <a:rPr lang="en-GB" dirty="0"/>
              <a:t>       data := buffer[:n]</a:t>
            </a:r>
          </a:p>
          <a:p>
            <a:r>
              <a:rPr lang="en-GB" dirty="0"/>
              <a:t>       </a:t>
            </a:r>
            <a:r>
              <a:rPr lang="en-GB" dirty="0" err="1"/>
              <a:t>fmt.Printf</a:t>
            </a:r>
            <a:r>
              <a:rPr lang="en-GB" dirty="0"/>
              <a:t>("Received: %s\n", data)</a:t>
            </a:r>
          </a:p>
          <a:p>
            <a:r>
              <a:rPr lang="en-GB" dirty="0"/>
              <a:t>   }</a:t>
            </a:r>
          </a:p>
          <a:p>
            <a:r>
              <a:rPr lang="en-GB" dirty="0"/>
              <a:t>   ```</a:t>
            </a:r>
          </a:p>
          <a:p>
            <a:endParaRPr lang="en-GB" dirty="0"/>
          </a:p>
          <a:p>
            <a:r>
              <a:rPr lang="en-GB" dirty="0"/>
              <a:t>5. **UDP Communication:**</a:t>
            </a:r>
          </a:p>
          <a:p>
            <a:r>
              <a:rPr lang="en-GB" dirty="0"/>
              <a:t>   Go also supports UDP (User Datagram Protocol) for connectionless communication. You can create UDP servers and clients using the `net` package with `UDP` instead of `TCP`.</a:t>
            </a:r>
          </a:p>
          <a:p>
            <a:endParaRPr lang="en-GB" dirty="0"/>
          </a:p>
          <a:p>
            <a:r>
              <a:rPr lang="en-GB" dirty="0"/>
              <a:t>   Here's an example of a UDP server:</a:t>
            </a:r>
          </a:p>
          <a:p>
            <a:endParaRPr lang="en-GB" dirty="0"/>
          </a:p>
          <a:p>
            <a:r>
              <a:rPr lang="en-GB" dirty="0"/>
              <a:t>   ```go</a:t>
            </a:r>
          </a:p>
          <a:p>
            <a:r>
              <a:rPr lang="en-GB" dirty="0"/>
              <a:t>   </a:t>
            </a:r>
            <a:r>
              <a:rPr lang="en-GB" dirty="0" err="1"/>
              <a:t>func</a:t>
            </a:r>
            <a:r>
              <a:rPr lang="en-GB" dirty="0"/>
              <a:t> main() {</a:t>
            </a:r>
          </a:p>
          <a:p>
            <a:r>
              <a:rPr lang="en-GB" dirty="0"/>
              <a:t>       </a:t>
            </a:r>
            <a:r>
              <a:rPr lang="en-GB" dirty="0" err="1"/>
              <a:t>addr</a:t>
            </a:r>
            <a:r>
              <a:rPr lang="en-GB" dirty="0"/>
              <a:t>, err := </a:t>
            </a:r>
            <a:r>
              <a:rPr lang="en-GB" dirty="0" err="1"/>
              <a:t>net.ResolveUDPAddr</a:t>
            </a:r>
            <a:r>
              <a:rPr lang="en-GB" dirty="0"/>
              <a:t>("</a:t>
            </a:r>
            <a:r>
              <a:rPr lang="en-GB" dirty="0" err="1"/>
              <a:t>udp</a:t>
            </a:r>
            <a:r>
              <a:rPr lang="en-GB" dirty="0"/>
              <a:t>", "localhost:8080")</a:t>
            </a:r>
          </a:p>
          <a:p>
            <a:r>
              <a:rPr lang="en-GB" dirty="0"/>
              <a:t>       if err != nil {</a:t>
            </a:r>
          </a:p>
          <a:p>
            <a:r>
              <a:rPr lang="en-GB" dirty="0"/>
              <a:t>           </a:t>
            </a:r>
            <a:r>
              <a:rPr lang="en-GB" dirty="0" err="1"/>
              <a:t>fmt.Println</a:t>
            </a:r>
            <a:r>
              <a:rPr lang="en-GB" dirty="0"/>
              <a:t>("Error:", err)</a:t>
            </a:r>
          </a:p>
          <a:p>
            <a:r>
              <a:rPr lang="en-GB" dirty="0"/>
              <a:t>           return</a:t>
            </a:r>
          </a:p>
          <a:p>
            <a:r>
              <a:rPr lang="en-GB" dirty="0"/>
              <a:t>       }</a:t>
            </a:r>
          </a:p>
          <a:p>
            <a:endParaRPr lang="en-GB" dirty="0"/>
          </a:p>
          <a:p>
            <a:r>
              <a:rPr lang="en-GB" dirty="0"/>
              <a:t>       conn, err := </a:t>
            </a:r>
            <a:r>
              <a:rPr lang="en-GB" dirty="0" err="1"/>
              <a:t>net.ListenUDP</a:t>
            </a:r>
            <a:r>
              <a:rPr lang="en-GB" dirty="0"/>
              <a:t>("</a:t>
            </a:r>
            <a:r>
              <a:rPr lang="en-GB" dirty="0" err="1"/>
              <a:t>udp</a:t>
            </a:r>
            <a:r>
              <a:rPr lang="en-GB" dirty="0"/>
              <a:t>", </a:t>
            </a:r>
            <a:r>
              <a:rPr lang="en-GB" dirty="0" err="1"/>
              <a:t>addr</a:t>
            </a:r>
            <a:r>
              <a:rPr lang="en-GB" dirty="0"/>
              <a:t>)</a:t>
            </a:r>
          </a:p>
          <a:p>
            <a:r>
              <a:rPr lang="en-GB" dirty="0"/>
              <a:t>       if err != nil {</a:t>
            </a:r>
          </a:p>
          <a:p>
            <a:r>
              <a:rPr lang="en-GB" dirty="0"/>
              <a:t>           </a:t>
            </a:r>
            <a:r>
              <a:rPr lang="en-GB" dirty="0" err="1"/>
              <a:t>fmt.Println</a:t>
            </a:r>
            <a:r>
              <a:rPr lang="en-GB" dirty="0"/>
              <a:t>("Error:", err)</a:t>
            </a:r>
          </a:p>
          <a:p>
            <a:r>
              <a:rPr lang="en-GB" dirty="0"/>
              <a:t>           return</a:t>
            </a:r>
          </a:p>
          <a:p>
            <a:r>
              <a:rPr lang="en-GB" dirty="0"/>
              <a:t>       }</a:t>
            </a:r>
          </a:p>
          <a:p>
            <a:r>
              <a:rPr lang="en-GB" dirty="0"/>
              <a:t>       defer </a:t>
            </a:r>
            <a:r>
              <a:rPr lang="en-GB" dirty="0" err="1"/>
              <a:t>conn.Close</a:t>
            </a:r>
            <a:r>
              <a:rPr lang="en-GB" dirty="0"/>
              <a:t>()</a:t>
            </a:r>
          </a:p>
          <a:p>
            <a:endParaRPr lang="en-GB" dirty="0"/>
          </a:p>
          <a:p>
            <a:r>
              <a:rPr lang="en-GB" dirty="0"/>
              <a:t>       </a:t>
            </a:r>
            <a:r>
              <a:rPr lang="en-GB" dirty="0" err="1"/>
              <a:t>fmt.Println</a:t>
            </a:r>
            <a:r>
              <a:rPr lang="en-GB" dirty="0"/>
              <a:t>("Server is listening on UDP port 8080")</a:t>
            </a:r>
          </a:p>
          <a:p>
            <a:endParaRPr lang="en-GB" dirty="0"/>
          </a:p>
          <a:p>
            <a:r>
              <a:rPr lang="en-GB" dirty="0"/>
              <a:t>       buffer := make([]byte, 1024)</a:t>
            </a:r>
          </a:p>
          <a:p>
            <a:r>
              <a:rPr lang="en-GB" dirty="0"/>
              <a:t>       for {</a:t>
            </a:r>
          </a:p>
          <a:p>
            <a:r>
              <a:rPr lang="en-GB" dirty="0"/>
              <a:t>           n, </a:t>
            </a:r>
            <a:r>
              <a:rPr lang="en-GB" dirty="0" err="1"/>
              <a:t>addr</a:t>
            </a:r>
            <a:r>
              <a:rPr lang="en-GB" dirty="0"/>
              <a:t>, err := </a:t>
            </a:r>
            <a:r>
              <a:rPr lang="en-GB" dirty="0" err="1"/>
              <a:t>conn.ReadFromUDP</a:t>
            </a:r>
            <a:r>
              <a:rPr lang="en-GB" dirty="0"/>
              <a:t>(buffer)</a:t>
            </a:r>
          </a:p>
          <a:p>
            <a:r>
              <a:rPr lang="en-GB" dirty="0"/>
              <a:t>           if err != nil {</a:t>
            </a:r>
          </a:p>
          <a:p>
            <a:r>
              <a:rPr lang="en-GB" dirty="0"/>
              <a:t>               </a:t>
            </a:r>
            <a:r>
              <a:rPr lang="en-GB" dirty="0" err="1"/>
              <a:t>fmt.Println</a:t>
            </a:r>
            <a:r>
              <a:rPr lang="en-GB" dirty="0"/>
              <a:t>("Error reading data:", err)</a:t>
            </a:r>
          </a:p>
          <a:p>
            <a:r>
              <a:rPr lang="en-GB" dirty="0"/>
              <a:t>               continue</a:t>
            </a:r>
          </a:p>
          <a:p>
            <a:r>
              <a:rPr lang="en-GB" dirty="0"/>
              <a:t>           }</a:t>
            </a:r>
          </a:p>
          <a:p>
            <a:r>
              <a:rPr lang="en-GB" dirty="0"/>
              <a:t>           data := buffer[:n]</a:t>
            </a:r>
          </a:p>
          <a:p>
            <a:r>
              <a:rPr lang="en-GB" dirty="0"/>
              <a:t>           </a:t>
            </a:r>
            <a:r>
              <a:rPr lang="en-GB" dirty="0" err="1"/>
              <a:t>fmt.Printf</a:t>
            </a:r>
            <a:r>
              <a:rPr lang="en-GB" dirty="0"/>
              <a:t>("Received from %s: %s\n", </a:t>
            </a:r>
            <a:r>
              <a:rPr lang="en-GB" dirty="0" err="1"/>
              <a:t>addr</a:t>
            </a:r>
            <a:r>
              <a:rPr lang="en-GB" dirty="0"/>
              <a:t>, data)</a:t>
            </a:r>
          </a:p>
          <a:p>
            <a:r>
              <a:rPr lang="en-GB" dirty="0"/>
              <a:t>       }</a:t>
            </a:r>
          </a:p>
          <a:p>
            <a:r>
              <a:rPr lang="en-GB" dirty="0"/>
              <a:t>   }</a:t>
            </a:r>
          </a:p>
          <a:p>
            <a:r>
              <a:rPr lang="en-GB" dirty="0"/>
              <a:t>   ```</a:t>
            </a:r>
          </a:p>
          <a:p>
            <a:endParaRPr lang="en-GB" dirty="0"/>
          </a:p>
          <a:p>
            <a:r>
              <a:rPr lang="en-GB" dirty="0"/>
              <a:t>   To create a UDP client, you can use `</a:t>
            </a:r>
            <a:r>
              <a:rPr lang="en-GB" dirty="0" err="1"/>
              <a:t>net.DialUDP</a:t>
            </a:r>
            <a:r>
              <a:rPr lang="en-GB" dirty="0"/>
              <a:t>` instead of `</a:t>
            </a:r>
            <a:r>
              <a:rPr lang="en-GB" dirty="0" err="1"/>
              <a:t>net.Dial</a:t>
            </a:r>
            <a:r>
              <a:rPr lang="en-GB" dirty="0"/>
              <a:t>`.</a:t>
            </a:r>
          </a:p>
          <a:p>
            <a:endParaRPr lang="en-GB" dirty="0"/>
          </a:p>
          <a:p>
            <a:r>
              <a:rPr lang="en-GB" dirty="0"/>
              <a:t>6. **Advanced Networking:**</a:t>
            </a:r>
          </a:p>
          <a:p>
            <a:r>
              <a:rPr lang="en-GB" dirty="0"/>
              <a:t>   Go provides extensive support for advanced networking features like web servers, web clients, and handling various protocols. You can explore these by studying the Go standard library and packages like `"net/http"`, `"net/</a:t>
            </a:r>
            <a:r>
              <a:rPr lang="en-GB" dirty="0" err="1"/>
              <a:t>rpc</a:t>
            </a:r>
            <a:r>
              <a:rPr lang="en-GB" dirty="0"/>
              <a:t>"`, and more.</a:t>
            </a:r>
          </a:p>
          <a:p>
            <a:endParaRPr lang="en-GB" dirty="0"/>
          </a:p>
          <a:p>
            <a:r>
              <a:rPr lang="en-GB" dirty="0"/>
              <a:t>This is a basic introduction to network programming in Go. You can build on these fundamentals to create more complex networked applications, such as web servers, proxies, or distributed systems.</a:t>
            </a:r>
          </a:p>
        </p:txBody>
      </p:sp>
      <p:sp>
        <p:nvSpPr>
          <p:cNvPr id="4" name="Slide Number Placeholder 3"/>
          <p:cNvSpPr>
            <a:spLocks noGrp="1"/>
          </p:cNvSpPr>
          <p:nvPr>
            <p:ph type="sldNum" sz="quarter" idx="5"/>
          </p:nvPr>
        </p:nvSpPr>
        <p:spPr/>
        <p:txBody>
          <a:bodyPr/>
          <a:lstStyle/>
          <a:p>
            <a:fld id="{C5F6E639-2689-4976-9691-4FB9BFAEB3F5}" type="slidenum">
              <a:rPr lang="en-US" altLang="en-US" smtClean="0"/>
              <a:pPr/>
              <a:t>2</a:t>
            </a:fld>
            <a:endParaRPr lang="en-US" altLang="en-US"/>
          </a:p>
        </p:txBody>
      </p:sp>
    </p:spTree>
    <p:extLst>
      <p:ext uri="{BB962C8B-B14F-4D97-AF65-F5344CB8AC3E}">
        <p14:creationId xmlns:p14="http://schemas.microsoft.com/office/powerpoint/2010/main" val="1621003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Go, the `net` package is part of the standard library and provides functionality for basic network operations. This package is essential for network programming tasks, including creating servers, clients, and managing network connections. Below are some of the key functionalities and components of the `net` package in Go:</a:t>
            </a:r>
          </a:p>
          <a:p>
            <a:endParaRPr lang="en-GB" dirty="0"/>
          </a:p>
          <a:p>
            <a:r>
              <a:rPr lang="en-GB" dirty="0"/>
              <a:t>1. **`</a:t>
            </a:r>
            <a:r>
              <a:rPr lang="en-GB" dirty="0" err="1"/>
              <a:t>net.Dial</a:t>
            </a:r>
            <a:r>
              <a:rPr lang="en-GB" dirty="0"/>
              <a:t>` and `</a:t>
            </a:r>
            <a:r>
              <a:rPr lang="en-GB" dirty="0" err="1"/>
              <a:t>net.Listen</a:t>
            </a:r>
            <a:r>
              <a:rPr lang="en-GB" dirty="0"/>
              <a:t>` Functions**:</a:t>
            </a:r>
          </a:p>
          <a:p>
            <a:r>
              <a:rPr lang="en-GB" dirty="0"/>
              <a:t>   - `</a:t>
            </a:r>
            <a:r>
              <a:rPr lang="en-GB" dirty="0" err="1"/>
              <a:t>net.Dial</a:t>
            </a:r>
            <a:r>
              <a:rPr lang="en-GB" dirty="0"/>
              <a:t>` is used to establish client connections to remote servers. It allows you to create a network connection to a specified address and network protocol.</a:t>
            </a:r>
          </a:p>
          <a:p>
            <a:r>
              <a:rPr lang="en-GB" dirty="0"/>
              <a:t>   - `</a:t>
            </a:r>
            <a:r>
              <a:rPr lang="en-GB" dirty="0" err="1"/>
              <a:t>net.Listen</a:t>
            </a:r>
            <a:r>
              <a:rPr lang="en-GB" dirty="0"/>
              <a:t>` is used to create network listeners, such as TCP or UDP servers, that can accept incoming connections.</a:t>
            </a:r>
          </a:p>
          <a:p>
            <a:endParaRPr lang="en-GB" dirty="0"/>
          </a:p>
          <a:p>
            <a:r>
              <a:rPr lang="en-GB" dirty="0"/>
              <a:t>2. **`</a:t>
            </a:r>
            <a:r>
              <a:rPr lang="en-GB" dirty="0" err="1"/>
              <a:t>net.Conn</a:t>
            </a:r>
            <a:r>
              <a:rPr lang="en-GB" dirty="0"/>
              <a:t>` Interface**:</a:t>
            </a:r>
          </a:p>
          <a:p>
            <a:r>
              <a:rPr lang="en-GB" dirty="0"/>
              <a:t>   - The `</a:t>
            </a:r>
            <a:r>
              <a:rPr lang="en-GB" dirty="0" err="1"/>
              <a:t>net.Conn</a:t>
            </a:r>
            <a:r>
              <a:rPr lang="en-GB" dirty="0"/>
              <a:t>` interface represents a network connection. It provides methods for reading from and writing to network connections. You can use `</a:t>
            </a:r>
            <a:r>
              <a:rPr lang="en-GB" dirty="0" err="1"/>
              <a:t>net.Conn</a:t>
            </a:r>
            <a:r>
              <a:rPr lang="en-GB" dirty="0"/>
              <a:t>` to handle client and server connections.</a:t>
            </a:r>
          </a:p>
          <a:p>
            <a:endParaRPr lang="en-GB" dirty="0"/>
          </a:p>
          <a:p>
            <a:r>
              <a:rPr lang="en-GB" dirty="0"/>
              <a:t>3. **TCP and UDP Support**:</a:t>
            </a:r>
          </a:p>
          <a:p>
            <a:r>
              <a:rPr lang="en-GB" dirty="0"/>
              <a:t>   - The `net` package provides functions for working with both TCP and UDP network protocols. You can create TCP and UDP clients and servers using this package.</a:t>
            </a:r>
          </a:p>
          <a:p>
            <a:endParaRPr lang="en-GB" dirty="0"/>
          </a:p>
          <a:p>
            <a:r>
              <a:rPr lang="en-GB" dirty="0"/>
              <a:t>4. **Address Resolution**:</a:t>
            </a:r>
          </a:p>
          <a:p>
            <a:r>
              <a:rPr lang="en-GB" dirty="0"/>
              <a:t>   - Go's `net` package includes functions for resolving network addresses. The `</a:t>
            </a:r>
            <a:r>
              <a:rPr lang="en-GB" dirty="0" err="1"/>
              <a:t>net.ResolveTCPAddr</a:t>
            </a:r>
            <a:r>
              <a:rPr lang="en-GB" dirty="0"/>
              <a:t>` and `</a:t>
            </a:r>
            <a:r>
              <a:rPr lang="en-GB" dirty="0" err="1"/>
              <a:t>net.ResolveUDPAddr</a:t>
            </a:r>
            <a:r>
              <a:rPr lang="en-GB" dirty="0"/>
              <a:t>` functions help convert a human-readable network address (e.g., "localhost:8080") into an `</a:t>
            </a:r>
            <a:r>
              <a:rPr lang="en-GB" dirty="0" err="1"/>
              <a:t>net.Addr</a:t>
            </a:r>
            <a:r>
              <a:rPr lang="en-GB" dirty="0"/>
              <a:t>` struct.</a:t>
            </a:r>
          </a:p>
          <a:p>
            <a:endParaRPr lang="en-GB" dirty="0"/>
          </a:p>
          <a:p>
            <a:r>
              <a:rPr lang="en-GB" dirty="0"/>
              <a:t>5. **Errors and Error Handling**:</a:t>
            </a:r>
          </a:p>
          <a:p>
            <a:r>
              <a:rPr lang="en-GB" dirty="0"/>
              <a:t>   - The `net` package defines various network-related errors, and these can be used to handle network-specific error cases. For example, the package defines `</a:t>
            </a:r>
            <a:r>
              <a:rPr lang="en-GB" dirty="0" err="1"/>
              <a:t>net.Error</a:t>
            </a:r>
            <a:r>
              <a:rPr lang="en-GB" dirty="0"/>
              <a:t>` interface, which can be useful for error handling.</a:t>
            </a:r>
          </a:p>
          <a:p>
            <a:endParaRPr lang="en-GB" dirty="0"/>
          </a:p>
          <a:p>
            <a:r>
              <a:rPr lang="en-GB" dirty="0"/>
              <a:t>6. **Low-Level Network Operations**:</a:t>
            </a:r>
          </a:p>
          <a:p>
            <a:r>
              <a:rPr lang="en-GB" dirty="0"/>
              <a:t>   - Go's `net` package allows for lower-level network operations, including raw socket communication and control over various socket options. This is typically used for more specialized networking needs.</a:t>
            </a:r>
          </a:p>
          <a:p>
            <a:endParaRPr lang="en-GB" dirty="0"/>
          </a:p>
          <a:p>
            <a:r>
              <a:rPr lang="en-GB" dirty="0"/>
              <a:t>7. **`</a:t>
            </a:r>
            <a:r>
              <a:rPr lang="en-GB" dirty="0" err="1"/>
              <a:t>net.IP</a:t>
            </a:r>
            <a:r>
              <a:rPr lang="en-GB" dirty="0"/>
              <a:t>` and `</a:t>
            </a:r>
            <a:r>
              <a:rPr lang="en-GB" dirty="0" err="1"/>
              <a:t>net.IPNet</a:t>
            </a:r>
            <a:r>
              <a:rPr lang="en-GB" dirty="0"/>
              <a:t>`**:</a:t>
            </a:r>
          </a:p>
          <a:p>
            <a:r>
              <a:rPr lang="en-GB" dirty="0"/>
              <a:t>   - The package provides types for representing IP addresses (`</a:t>
            </a:r>
            <a:r>
              <a:rPr lang="en-GB" dirty="0" err="1"/>
              <a:t>net.IP</a:t>
            </a:r>
            <a:r>
              <a:rPr lang="en-GB" dirty="0"/>
              <a:t>`) and IP address ranges (`</a:t>
            </a:r>
            <a:r>
              <a:rPr lang="en-GB" dirty="0" err="1"/>
              <a:t>net.IPNet</a:t>
            </a:r>
            <a:r>
              <a:rPr lang="en-GB" dirty="0"/>
              <a:t>`). These can be </a:t>
            </a:r>
            <a:r>
              <a:rPr lang="en-GB" dirty="0" err="1"/>
              <a:t>be</a:t>
            </a:r>
            <a:r>
              <a:rPr lang="en-GB" dirty="0"/>
              <a:t> used for tasks like IP address parsing and manipulation.</a:t>
            </a:r>
          </a:p>
          <a:p>
            <a:endParaRPr lang="en-GB" dirty="0"/>
          </a:p>
          <a:p>
            <a:r>
              <a:rPr lang="en-GB" dirty="0"/>
              <a:t>8. **`net/http` and Web Servers**:</a:t>
            </a:r>
          </a:p>
          <a:p>
            <a:r>
              <a:rPr lang="en-GB" dirty="0"/>
              <a:t>   - Although not part of the `net` package, the standard library includes the `"net/http"` package, which is used for building web servers and clients. It abstracts many network-related tasks and makes it easier to work with HTTP.</a:t>
            </a:r>
          </a:p>
          <a:p>
            <a:endParaRPr lang="en-GB" dirty="0"/>
          </a:p>
          <a:p>
            <a:r>
              <a:rPr lang="en-GB" dirty="0"/>
              <a:t>Here's a basic example of using the `net` package to create a simple TCP server:</a:t>
            </a:r>
          </a:p>
          <a:p>
            <a:endParaRPr lang="en-GB" dirty="0"/>
          </a:p>
          <a:p>
            <a:r>
              <a:rPr lang="en-GB" dirty="0"/>
              <a:t>```go</a:t>
            </a:r>
          </a:p>
          <a:p>
            <a:r>
              <a:rPr lang="en-GB" dirty="0"/>
              <a:t>package main</a:t>
            </a:r>
          </a:p>
          <a:p>
            <a:endParaRPr lang="en-GB" dirty="0"/>
          </a:p>
          <a:p>
            <a:r>
              <a:rPr lang="en-GB" dirty="0"/>
              <a:t>import (</a:t>
            </a:r>
          </a:p>
          <a:p>
            <a:r>
              <a:rPr lang="en-GB" dirty="0"/>
              <a:t>    "</a:t>
            </a:r>
            <a:r>
              <a:rPr lang="en-GB" dirty="0" err="1"/>
              <a:t>fmt</a:t>
            </a:r>
            <a:r>
              <a:rPr lang="en-GB" dirty="0"/>
              <a:t>"</a:t>
            </a:r>
          </a:p>
          <a:p>
            <a:r>
              <a:rPr lang="en-GB" dirty="0"/>
              <a:t>    "net"</a:t>
            </a:r>
          </a:p>
          <a:p>
            <a:r>
              <a:rPr lang="en-GB" dirty="0"/>
              <a:t>)</a:t>
            </a:r>
          </a:p>
          <a:p>
            <a:endParaRPr lang="en-GB" dirty="0"/>
          </a:p>
          <a:p>
            <a:r>
              <a:rPr lang="en-GB" dirty="0" err="1"/>
              <a:t>func</a:t>
            </a:r>
            <a:r>
              <a:rPr lang="en-GB" dirty="0"/>
              <a:t> main() {</a:t>
            </a:r>
          </a:p>
          <a:p>
            <a:r>
              <a:rPr lang="en-GB" dirty="0"/>
              <a:t>    listener, err := </a:t>
            </a:r>
            <a:r>
              <a:rPr lang="en-GB" dirty="0" err="1"/>
              <a:t>net.Listen</a:t>
            </a:r>
            <a:r>
              <a:rPr lang="en-GB" dirty="0"/>
              <a:t>("</a:t>
            </a:r>
            <a:r>
              <a:rPr lang="en-GB" dirty="0" err="1"/>
              <a:t>tcp</a:t>
            </a:r>
            <a:r>
              <a:rPr lang="en-GB" dirty="0"/>
              <a:t>", "localhost:8080")</a:t>
            </a:r>
          </a:p>
          <a:p>
            <a:r>
              <a:rPr lang="en-GB" dirty="0"/>
              <a:t>    if err != nil {</a:t>
            </a:r>
          </a:p>
          <a:p>
            <a:r>
              <a:rPr lang="en-GB" dirty="0"/>
              <a:t>        </a:t>
            </a:r>
            <a:r>
              <a:rPr lang="en-GB" dirty="0" err="1"/>
              <a:t>fmt.Println</a:t>
            </a:r>
            <a:r>
              <a:rPr lang="en-GB" dirty="0"/>
              <a:t>("Error:", err)</a:t>
            </a:r>
          </a:p>
          <a:p>
            <a:r>
              <a:rPr lang="en-GB" dirty="0"/>
              <a:t>        return</a:t>
            </a:r>
          </a:p>
          <a:p>
            <a:r>
              <a:rPr lang="en-GB" dirty="0"/>
              <a:t>    }</a:t>
            </a:r>
          </a:p>
          <a:p>
            <a:r>
              <a:rPr lang="en-GB" dirty="0"/>
              <a:t>    defer </a:t>
            </a:r>
            <a:r>
              <a:rPr lang="en-GB" dirty="0" err="1"/>
              <a:t>listener.Close</a:t>
            </a:r>
            <a:r>
              <a:rPr lang="en-GB" dirty="0"/>
              <a:t>()</a:t>
            </a:r>
          </a:p>
          <a:p>
            <a:endParaRPr lang="en-GB" dirty="0"/>
          </a:p>
          <a:p>
            <a:r>
              <a:rPr lang="en-GB" dirty="0"/>
              <a:t>    </a:t>
            </a:r>
            <a:r>
              <a:rPr lang="en-GB" dirty="0" err="1"/>
              <a:t>fmt.Println</a:t>
            </a:r>
            <a:r>
              <a:rPr lang="en-GB" dirty="0"/>
              <a:t>("Server is listening on port 8080")</a:t>
            </a:r>
          </a:p>
          <a:p>
            <a:endParaRPr lang="en-GB" dirty="0"/>
          </a:p>
          <a:p>
            <a:r>
              <a:rPr lang="en-GB" dirty="0"/>
              <a:t>    for {</a:t>
            </a:r>
          </a:p>
          <a:p>
            <a:r>
              <a:rPr lang="en-GB" dirty="0"/>
              <a:t>        conn, err := </a:t>
            </a:r>
            <a:r>
              <a:rPr lang="en-GB" dirty="0" err="1"/>
              <a:t>listener.Accept</a:t>
            </a:r>
            <a:r>
              <a:rPr lang="en-GB" dirty="0"/>
              <a:t>()</a:t>
            </a:r>
          </a:p>
          <a:p>
            <a:r>
              <a:rPr lang="en-GB" dirty="0"/>
              <a:t>        if err != nil {</a:t>
            </a:r>
          </a:p>
          <a:p>
            <a:r>
              <a:rPr lang="en-GB" dirty="0"/>
              <a:t>            </a:t>
            </a:r>
            <a:r>
              <a:rPr lang="en-GB" dirty="0" err="1"/>
              <a:t>fmt.Println</a:t>
            </a:r>
            <a:r>
              <a:rPr lang="en-GB" dirty="0"/>
              <a:t>("Error:", err)</a:t>
            </a:r>
          </a:p>
          <a:p>
            <a:r>
              <a:rPr lang="en-GB" dirty="0"/>
              <a:t>            continue</a:t>
            </a:r>
          </a:p>
          <a:p>
            <a:r>
              <a:rPr lang="en-GB" dirty="0"/>
              <a:t>        }</a:t>
            </a:r>
          </a:p>
          <a:p>
            <a:r>
              <a:rPr lang="en-GB" dirty="0"/>
              <a:t>        go </a:t>
            </a:r>
            <a:r>
              <a:rPr lang="en-GB" dirty="0" err="1"/>
              <a:t>handleClient</a:t>
            </a:r>
            <a:r>
              <a:rPr lang="en-GB" dirty="0"/>
              <a:t>(conn)</a:t>
            </a:r>
          </a:p>
          <a:p>
            <a:r>
              <a:rPr lang="en-GB" dirty="0"/>
              <a:t>    }</a:t>
            </a:r>
          </a:p>
          <a:p>
            <a:r>
              <a:rPr lang="en-GB" dirty="0"/>
              <a:t>}</a:t>
            </a:r>
          </a:p>
          <a:p>
            <a:endParaRPr lang="en-GB" dirty="0"/>
          </a:p>
          <a:p>
            <a:r>
              <a:rPr lang="en-GB" dirty="0" err="1"/>
              <a:t>func</a:t>
            </a:r>
            <a:r>
              <a:rPr lang="en-GB" dirty="0"/>
              <a:t> </a:t>
            </a:r>
            <a:r>
              <a:rPr lang="en-GB" dirty="0" err="1"/>
              <a:t>handleClient</a:t>
            </a:r>
            <a:r>
              <a:rPr lang="en-GB" dirty="0"/>
              <a:t>(conn </a:t>
            </a:r>
            <a:r>
              <a:rPr lang="en-GB" dirty="0" err="1"/>
              <a:t>net.Conn</a:t>
            </a:r>
            <a:r>
              <a:rPr lang="en-GB" dirty="0"/>
              <a:t>) {</a:t>
            </a:r>
          </a:p>
          <a:p>
            <a:r>
              <a:rPr lang="en-GB" dirty="0"/>
              <a:t>    defer </a:t>
            </a:r>
            <a:r>
              <a:rPr lang="en-GB" dirty="0" err="1"/>
              <a:t>conn.Close</a:t>
            </a:r>
            <a:r>
              <a:rPr lang="en-GB" dirty="0"/>
              <a:t>()</a:t>
            </a:r>
          </a:p>
          <a:p>
            <a:r>
              <a:rPr lang="en-GB" dirty="0"/>
              <a:t>    </a:t>
            </a:r>
            <a:r>
              <a:rPr lang="en-GB" dirty="0" err="1"/>
              <a:t>remoteAddr</a:t>
            </a:r>
            <a:r>
              <a:rPr lang="en-GB" dirty="0"/>
              <a:t> := </a:t>
            </a:r>
            <a:r>
              <a:rPr lang="en-GB" dirty="0" err="1"/>
              <a:t>conn.RemoteAddr</a:t>
            </a:r>
            <a:r>
              <a:rPr lang="en-GB" dirty="0"/>
              <a:t>()</a:t>
            </a:r>
          </a:p>
          <a:p>
            <a:r>
              <a:rPr lang="en-GB" dirty="0"/>
              <a:t>    </a:t>
            </a:r>
            <a:r>
              <a:rPr lang="en-GB" dirty="0" err="1"/>
              <a:t>fmt.Printf</a:t>
            </a:r>
            <a:r>
              <a:rPr lang="en-GB" dirty="0"/>
              <a:t>("Accepted connection from %s\n", </a:t>
            </a:r>
            <a:r>
              <a:rPr lang="en-GB" dirty="0" err="1"/>
              <a:t>remoteAddr</a:t>
            </a:r>
            <a:r>
              <a:rPr lang="en-GB" dirty="0"/>
              <a:t>)</a:t>
            </a:r>
          </a:p>
          <a:p>
            <a:endParaRPr lang="en-GB" dirty="0"/>
          </a:p>
          <a:p>
            <a:r>
              <a:rPr lang="en-GB" dirty="0"/>
              <a:t>    // Handle the client connection</a:t>
            </a:r>
          </a:p>
          <a:p>
            <a:r>
              <a:rPr lang="en-GB" dirty="0"/>
              <a:t>}</a:t>
            </a:r>
          </a:p>
          <a:p>
            <a:r>
              <a:rPr lang="en-GB" dirty="0"/>
              <a:t>```</a:t>
            </a:r>
          </a:p>
          <a:p>
            <a:endParaRPr lang="en-GB" dirty="0"/>
          </a:p>
          <a:p>
            <a:r>
              <a:rPr lang="en-GB" dirty="0"/>
              <a:t>This is a simple TCP server that listens on port 8080 and accepts incoming connections. The `net` package provides the necessary functions for creating, accepting, and managing network connections.</a:t>
            </a:r>
          </a:p>
          <a:p>
            <a:endParaRPr lang="en-GB" dirty="0"/>
          </a:p>
          <a:p>
            <a:r>
              <a:rPr lang="en-GB" dirty="0"/>
              <a:t>Keep in mind that network programming can involve more complex scenarios, error handling, and security considerations. You should always handle network errors properly and follow best practices when working with networks in Go.</a:t>
            </a:r>
          </a:p>
        </p:txBody>
      </p:sp>
      <p:sp>
        <p:nvSpPr>
          <p:cNvPr id="4" name="Slide Number Placeholder 3"/>
          <p:cNvSpPr>
            <a:spLocks noGrp="1"/>
          </p:cNvSpPr>
          <p:nvPr>
            <p:ph type="sldNum" sz="quarter" idx="5"/>
          </p:nvPr>
        </p:nvSpPr>
        <p:spPr/>
        <p:txBody>
          <a:bodyPr/>
          <a:lstStyle/>
          <a:p>
            <a:fld id="{C5F6E639-2689-4976-9691-4FB9BFAEB3F5}" type="slidenum">
              <a:rPr lang="en-US" altLang="en-US" smtClean="0"/>
              <a:pPr/>
              <a:t>3</a:t>
            </a:fld>
            <a:endParaRPr lang="en-US" altLang="en-US"/>
          </a:p>
        </p:txBody>
      </p:sp>
    </p:spTree>
    <p:extLst>
      <p:ext uri="{BB962C8B-B14F-4D97-AF65-F5344CB8AC3E}">
        <p14:creationId xmlns:p14="http://schemas.microsoft.com/office/powerpoint/2010/main" val="236577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dirty="0" err="1"/>
              <a:t>net.Dial</a:t>
            </a:r>
            <a:r>
              <a:rPr lang="en-GB" dirty="0"/>
              <a:t>` function in Go is used to establish a network connection to a remote server. It allows you to create a network connection to a specified address and network protocol. The function takes two arguments: the network type and the address.</a:t>
            </a:r>
          </a:p>
          <a:p>
            <a:endParaRPr lang="en-GB" dirty="0"/>
          </a:p>
          <a:p>
            <a:r>
              <a:rPr lang="en-GB" dirty="0"/>
              <a:t>The basic syntax of `</a:t>
            </a:r>
            <a:r>
              <a:rPr lang="en-GB" dirty="0" err="1"/>
              <a:t>net.Dial</a:t>
            </a:r>
            <a:r>
              <a:rPr lang="en-GB" dirty="0"/>
              <a:t>` is as follows:</a:t>
            </a:r>
          </a:p>
          <a:p>
            <a:endParaRPr lang="en-GB" dirty="0"/>
          </a:p>
          <a:p>
            <a:r>
              <a:rPr lang="en-GB" dirty="0"/>
              <a:t>```go</a:t>
            </a:r>
          </a:p>
          <a:p>
            <a:r>
              <a:rPr lang="en-GB" dirty="0"/>
              <a:t>conn, err := </a:t>
            </a:r>
            <a:r>
              <a:rPr lang="en-GB" dirty="0" err="1"/>
              <a:t>net.Dial</a:t>
            </a:r>
            <a:r>
              <a:rPr lang="en-GB" dirty="0"/>
              <a:t>(network, address)</a:t>
            </a:r>
          </a:p>
          <a:p>
            <a:r>
              <a:rPr lang="en-GB" dirty="0"/>
              <a:t>```</a:t>
            </a:r>
          </a:p>
          <a:p>
            <a:endParaRPr lang="en-GB" dirty="0"/>
          </a:p>
          <a:p>
            <a:r>
              <a:rPr lang="en-GB" dirty="0"/>
              <a:t>- `network`: A string that specifies the network protocol to use, such as "</a:t>
            </a:r>
            <a:r>
              <a:rPr lang="en-GB" dirty="0" err="1"/>
              <a:t>tcp</a:t>
            </a:r>
            <a:r>
              <a:rPr lang="en-GB" dirty="0"/>
              <a:t>", "</a:t>
            </a:r>
            <a:r>
              <a:rPr lang="en-GB" dirty="0" err="1"/>
              <a:t>udp</a:t>
            </a:r>
            <a:r>
              <a:rPr lang="en-GB" dirty="0"/>
              <a:t>", "</a:t>
            </a:r>
            <a:r>
              <a:rPr lang="en-GB" dirty="0" err="1"/>
              <a:t>unix</a:t>
            </a:r>
            <a:r>
              <a:rPr lang="en-GB" dirty="0"/>
              <a:t>", etc. The network protocol determines the type of connection you want to establish.</a:t>
            </a:r>
          </a:p>
          <a:p>
            <a:endParaRPr lang="en-GB" dirty="0"/>
          </a:p>
          <a:p>
            <a:r>
              <a:rPr lang="en-GB" dirty="0"/>
              <a:t>- `address`: A string representing the network address of the remote server. The format of the address depends on the chosen network protocol. For TCP and UDP, it is typically in the form of "</a:t>
            </a:r>
            <a:r>
              <a:rPr lang="en-GB" dirty="0" err="1"/>
              <a:t>host:port</a:t>
            </a:r>
            <a:r>
              <a:rPr lang="en-GB" dirty="0"/>
              <a:t>".</a:t>
            </a:r>
          </a:p>
          <a:p>
            <a:endParaRPr lang="en-GB" dirty="0"/>
          </a:p>
          <a:p>
            <a:r>
              <a:rPr lang="en-GB" dirty="0"/>
              <a:t>The function returns a connection (`</a:t>
            </a:r>
            <a:r>
              <a:rPr lang="en-GB" dirty="0" err="1"/>
              <a:t>net.Conn</a:t>
            </a:r>
            <a:r>
              <a:rPr lang="en-GB" dirty="0"/>
              <a:t>`) and an error. You should always check the error to handle any potential issues during the connection establishment.</a:t>
            </a:r>
          </a:p>
          <a:p>
            <a:endParaRPr lang="en-GB" dirty="0"/>
          </a:p>
          <a:p>
            <a:r>
              <a:rPr lang="en-GB" dirty="0"/>
              <a:t>Here's an example of how to use `</a:t>
            </a:r>
            <a:r>
              <a:rPr lang="en-GB" dirty="0" err="1"/>
              <a:t>net.Dial</a:t>
            </a:r>
            <a:r>
              <a:rPr lang="en-GB" dirty="0"/>
              <a:t>` to create a TCP client that connects to a remote server:</a:t>
            </a:r>
          </a:p>
          <a:p>
            <a:endParaRPr lang="en-GB" dirty="0"/>
          </a:p>
          <a:p>
            <a:r>
              <a:rPr lang="en-GB" dirty="0"/>
              <a:t>```go</a:t>
            </a:r>
          </a:p>
          <a:p>
            <a:r>
              <a:rPr lang="en-GB" dirty="0"/>
              <a:t>package main</a:t>
            </a:r>
          </a:p>
          <a:p>
            <a:endParaRPr lang="en-GB" dirty="0"/>
          </a:p>
          <a:p>
            <a:r>
              <a:rPr lang="en-GB" dirty="0"/>
              <a:t>import (</a:t>
            </a:r>
          </a:p>
          <a:p>
            <a:r>
              <a:rPr lang="en-GB" dirty="0"/>
              <a:t>    "</a:t>
            </a:r>
            <a:r>
              <a:rPr lang="en-GB" dirty="0" err="1"/>
              <a:t>fmt</a:t>
            </a:r>
            <a:r>
              <a:rPr lang="en-GB" dirty="0"/>
              <a:t>"</a:t>
            </a:r>
          </a:p>
          <a:p>
            <a:r>
              <a:rPr lang="en-GB" dirty="0"/>
              <a:t>    "net"</a:t>
            </a:r>
          </a:p>
          <a:p>
            <a:r>
              <a:rPr lang="en-GB" dirty="0"/>
              <a:t>    "</a:t>
            </a:r>
            <a:r>
              <a:rPr lang="en-GB" dirty="0" err="1"/>
              <a:t>os</a:t>
            </a:r>
            <a:r>
              <a:rPr lang="en-GB" dirty="0"/>
              <a:t>"</a:t>
            </a:r>
          </a:p>
          <a:p>
            <a:r>
              <a:rPr lang="en-GB" dirty="0"/>
              <a:t>)</a:t>
            </a:r>
          </a:p>
          <a:p>
            <a:endParaRPr lang="en-GB" dirty="0"/>
          </a:p>
          <a:p>
            <a:r>
              <a:rPr lang="en-GB" dirty="0" err="1"/>
              <a:t>func</a:t>
            </a:r>
            <a:r>
              <a:rPr lang="en-GB" dirty="0"/>
              <a:t> main() {</a:t>
            </a:r>
          </a:p>
          <a:p>
            <a:r>
              <a:rPr lang="en-GB" dirty="0"/>
              <a:t>    // Define the server address and port</a:t>
            </a:r>
          </a:p>
          <a:p>
            <a:r>
              <a:rPr lang="en-GB" dirty="0"/>
              <a:t>    </a:t>
            </a:r>
            <a:r>
              <a:rPr lang="en-GB" dirty="0" err="1"/>
              <a:t>serverAddr</a:t>
            </a:r>
            <a:r>
              <a:rPr lang="en-GB" dirty="0"/>
              <a:t> := "example.com:80" // Change to the actual server address and port</a:t>
            </a:r>
          </a:p>
          <a:p>
            <a:endParaRPr lang="en-GB" dirty="0"/>
          </a:p>
          <a:p>
            <a:r>
              <a:rPr lang="en-GB" dirty="0"/>
              <a:t>    // Establish a connection to the server</a:t>
            </a:r>
          </a:p>
          <a:p>
            <a:r>
              <a:rPr lang="en-GB" dirty="0"/>
              <a:t>    conn, err := </a:t>
            </a:r>
            <a:r>
              <a:rPr lang="en-GB" dirty="0" err="1"/>
              <a:t>net.Dial</a:t>
            </a:r>
            <a:r>
              <a:rPr lang="en-GB" dirty="0"/>
              <a:t>("</a:t>
            </a:r>
            <a:r>
              <a:rPr lang="en-GB" dirty="0" err="1"/>
              <a:t>tcp</a:t>
            </a:r>
            <a:r>
              <a:rPr lang="en-GB" dirty="0"/>
              <a:t>", </a:t>
            </a:r>
            <a:r>
              <a:rPr lang="en-GB" dirty="0" err="1"/>
              <a:t>serverAddr</a:t>
            </a:r>
            <a:r>
              <a:rPr lang="en-GB" dirty="0"/>
              <a:t>)</a:t>
            </a:r>
          </a:p>
          <a:p>
            <a:r>
              <a:rPr lang="en-GB" dirty="0"/>
              <a:t>    if err != nil {</a:t>
            </a:r>
          </a:p>
          <a:p>
            <a:r>
              <a:rPr lang="en-GB" dirty="0"/>
              <a:t>        </a:t>
            </a:r>
            <a:r>
              <a:rPr lang="en-GB" dirty="0" err="1"/>
              <a:t>fmt.Println</a:t>
            </a:r>
            <a:r>
              <a:rPr lang="en-GB" dirty="0"/>
              <a:t>("Error:", err)</a:t>
            </a:r>
          </a:p>
          <a:p>
            <a:r>
              <a:rPr lang="en-GB" dirty="0"/>
              <a:t>        </a:t>
            </a:r>
            <a:r>
              <a:rPr lang="en-GB" dirty="0" err="1"/>
              <a:t>os.Exit</a:t>
            </a:r>
            <a:r>
              <a:rPr lang="en-GB" dirty="0"/>
              <a:t>(1)</a:t>
            </a:r>
          </a:p>
          <a:p>
            <a:r>
              <a:rPr lang="en-GB" dirty="0"/>
              <a:t>    }</a:t>
            </a:r>
          </a:p>
          <a:p>
            <a:r>
              <a:rPr lang="en-GB" dirty="0"/>
              <a:t>    defer </a:t>
            </a:r>
            <a:r>
              <a:rPr lang="en-GB" dirty="0" err="1"/>
              <a:t>conn.Close</a:t>
            </a:r>
            <a:r>
              <a:rPr lang="en-GB" dirty="0"/>
              <a:t>()</a:t>
            </a:r>
          </a:p>
          <a:p>
            <a:endParaRPr lang="en-GB" dirty="0"/>
          </a:p>
          <a:p>
            <a:r>
              <a:rPr lang="en-GB" dirty="0"/>
              <a:t>    // You can now use the 'conn' to send and receive data from the server</a:t>
            </a:r>
          </a:p>
          <a:p>
            <a:r>
              <a:rPr lang="en-GB" dirty="0"/>
              <a:t>    // Example: </a:t>
            </a:r>
            <a:r>
              <a:rPr lang="en-GB" dirty="0" err="1"/>
              <a:t>conn.Write</a:t>
            </a:r>
            <a:r>
              <a:rPr lang="en-GB" dirty="0"/>
              <a:t>([]byte("Hello, server!"))</a:t>
            </a:r>
          </a:p>
          <a:p>
            <a:r>
              <a:rPr lang="en-GB" dirty="0"/>
              <a:t>}</a:t>
            </a:r>
          </a:p>
          <a:p>
            <a:r>
              <a:rPr lang="en-GB" dirty="0"/>
              <a:t>```</a:t>
            </a:r>
          </a:p>
          <a:p>
            <a:endParaRPr lang="en-GB" dirty="0"/>
          </a:p>
          <a:p>
            <a:r>
              <a:rPr lang="en-GB" dirty="0"/>
              <a:t>In the example above, the program connects to a server at "example.com" on port 80 using TCP. You can use the `conn` object to send and receive data from the server.</a:t>
            </a:r>
          </a:p>
          <a:p>
            <a:endParaRPr lang="en-GB" dirty="0"/>
          </a:p>
          <a:p>
            <a:r>
              <a:rPr lang="en-GB" dirty="0"/>
              <a:t>Keep in mind that error handling is crucial when using `</a:t>
            </a:r>
            <a:r>
              <a:rPr lang="en-GB" dirty="0" err="1"/>
              <a:t>net.Dial</a:t>
            </a:r>
            <a:r>
              <a:rPr lang="en-GB" dirty="0"/>
              <a:t>`, as there may be issues with network connectivity, DNS resolution, or other potential problems during the connection process.</a:t>
            </a:r>
          </a:p>
        </p:txBody>
      </p:sp>
      <p:sp>
        <p:nvSpPr>
          <p:cNvPr id="4" name="Slide Number Placeholder 3"/>
          <p:cNvSpPr>
            <a:spLocks noGrp="1"/>
          </p:cNvSpPr>
          <p:nvPr>
            <p:ph type="sldNum" sz="quarter" idx="5"/>
          </p:nvPr>
        </p:nvSpPr>
        <p:spPr/>
        <p:txBody>
          <a:bodyPr/>
          <a:lstStyle/>
          <a:p>
            <a:fld id="{C5F6E639-2689-4976-9691-4FB9BFAEB3F5}" type="slidenum">
              <a:rPr lang="en-US" altLang="en-US" smtClean="0"/>
              <a:pPr/>
              <a:t>4</a:t>
            </a:fld>
            <a:endParaRPr lang="en-US" altLang="en-US"/>
          </a:p>
        </p:txBody>
      </p:sp>
    </p:spTree>
    <p:extLst>
      <p:ext uri="{BB962C8B-B14F-4D97-AF65-F5344CB8AC3E}">
        <p14:creationId xmlns:p14="http://schemas.microsoft.com/office/powerpoint/2010/main" val="3911805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dirty="0" err="1"/>
              <a:t>net.Listen</a:t>
            </a:r>
            <a:r>
              <a:rPr lang="en-GB" dirty="0"/>
              <a:t>` function in Go is used to create a network listener that listens for incoming connections on a specific network address and port. It is commonly used for creating server applications that accept client connections.</a:t>
            </a:r>
          </a:p>
          <a:p>
            <a:endParaRPr lang="en-GB" dirty="0"/>
          </a:p>
          <a:p>
            <a:r>
              <a:rPr lang="en-GB" dirty="0"/>
              <a:t>Here's the basic syntax of `</a:t>
            </a:r>
            <a:r>
              <a:rPr lang="en-GB" dirty="0" err="1"/>
              <a:t>net.Listen</a:t>
            </a:r>
            <a:r>
              <a:rPr lang="en-GB" dirty="0"/>
              <a:t>`:</a:t>
            </a:r>
          </a:p>
          <a:p>
            <a:endParaRPr lang="en-GB" dirty="0"/>
          </a:p>
          <a:p>
            <a:r>
              <a:rPr lang="en-GB" dirty="0"/>
              <a:t>```go</a:t>
            </a:r>
          </a:p>
          <a:p>
            <a:r>
              <a:rPr lang="en-GB" dirty="0"/>
              <a:t>listener, err := </a:t>
            </a:r>
            <a:r>
              <a:rPr lang="en-GB" dirty="0" err="1"/>
              <a:t>net.Listen</a:t>
            </a:r>
            <a:r>
              <a:rPr lang="en-GB" dirty="0"/>
              <a:t>(network, address)</a:t>
            </a:r>
          </a:p>
          <a:p>
            <a:r>
              <a:rPr lang="en-GB" dirty="0"/>
              <a:t>```</a:t>
            </a:r>
          </a:p>
          <a:p>
            <a:endParaRPr lang="en-GB" dirty="0"/>
          </a:p>
          <a:p>
            <a:r>
              <a:rPr lang="en-GB" dirty="0"/>
              <a:t>- `network`: A string that specifies the network protocol to use, such as "</a:t>
            </a:r>
            <a:r>
              <a:rPr lang="en-GB" dirty="0" err="1"/>
              <a:t>tcp</a:t>
            </a:r>
            <a:r>
              <a:rPr lang="en-GB" dirty="0"/>
              <a:t>", "</a:t>
            </a:r>
            <a:r>
              <a:rPr lang="en-GB" dirty="0" err="1"/>
              <a:t>udp</a:t>
            </a:r>
            <a:r>
              <a:rPr lang="en-GB" dirty="0"/>
              <a:t>", "</a:t>
            </a:r>
            <a:r>
              <a:rPr lang="en-GB" dirty="0" err="1"/>
              <a:t>unix</a:t>
            </a:r>
            <a:r>
              <a:rPr lang="en-GB" dirty="0"/>
              <a:t>", etc. The network protocol determines the type of listener you want to create.</a:t>
            </a:r>
          </a:p>
          <a:p>
            <a:endParaRPr lang="en-GB" dirty="0"/>
          </a:p>
          <a:p>
            <a:r>
              <a:rPr lang="en-GB" dirty="0"/>
              <a:t>- `address`: A string representing the network address and port to listen on. The format of the address depends on the chosen network protocol. For TCP and UDP, it is typically in the form of "</a:t>
            </a:r>
            <a:r>
              <a:rPr lang="en-GB" dirty="0" err="1"/>
              <a:t>host:port</a:t>
            </a:r>
            <a:r>
              <a:rPr lang="en-GB" dirty="0"/>
              <a:t>".</a:t>
            </a:r>
          </a:p>
          <a:p>
            <a:endParaRPr lang="en-GB" dirty="0"/>
          </a:p>
          <a:p>
            <a:r>
              <a:rPr lang="en-GB" dirty="0"/>
              <a:t>The function returns a listener (`</a:t>
            </a:r>
            <a:r>
              <a:rPr lang="en-GB" dirty="0" err="1"/>
              <a:t>net.Listener</a:t>
            </a:r>
            <a:r>
              <a:rPr lang="en-GB" dirty="0"/>
              <a:t>`) and an error. You should always check the error to handle any potential issues with creating the listener.</a:t>
            </a:r>
          </a:p>
          <a:p>
            <a:endParaRPr lang="en-GB" dirty="0"/>
          </a:p>
          <a:p>
            <a:r>
              <a:rPr lang="en-GB" dirty="0"/>
              <a:t>Here's an example of using `</a:t>
            </a:r>
            <a:r>
              <a:rPr lang="en-GB" dirty="0" err="1"/>
              <a:t>net.Listen</a:t>
            </a:r>
            <a:r>
              <a:rPr lang="en-GB" dirty="0"/>
              <a:t>` to create a TCP server that listens on port 8080:</a:t>
            </a:r>
          </a:p>
          <a:p>
            <a:endParaRPr lang="en-GB" dirty="0"/>
          </a:p>
          <a:p>
            <a:r>
              <a:rPr lang="en-GB" dirty="0"/>
              <a:t>```go</a:t>
            </a:r>
          </a:p>
          <a:p>
            <a:r>
              <a:rPr lang="en-GB" dirty="0"/>
              <a:t>package main</a:t>
            </a:r>
          </a:p>
          <a:p>
            <a:endParaRPr lang="en-GB" dirty="0"/>
          </a:p>
          <a:p>
            <a:r>
              <a:rPr lang="en-GB" dirty="0"/>
              <a:t>import (</a:t>
            </a:r>
          </a:p>
          <a:p>
            <a:r>
              <a:rPr lang="en-GB" dirty="0"/>
              <a:t>    "</a:t>
            </a:r>
            <a:r>
              <a:rPr lang="en-GB" dirty="0" err="1"/>
              <a:t>fmt</a:t>
            </a:r>
            <a:r>
              <a:rPr lang="en-GB" dirty="0"/>
              <a:t>"</a:t>
            </a:r>
          </a:p>
          <a:p>
            <a:r>
              <a:rPr lang="en-GB" dirty="0"/>
              <a:t>    "net"</a:t>
            </a:r>
          </a:p>
          <a:p>
            <a:r>
              <a:rPr lang="en-GB" dirty="0"/>
              <a:t>    "</a:t>
            </a:r>
            <a:r>
              <a:rPr lang="en-GB" dirty="0" err="1"/>
              <a:t>os</a:t>
            </a:r>
            <a:r>
              <a:rPr lang="en-GB" dirty="0"/>
              <a:t>"</a:t>
            </a:r>
          </a:p>
          <a:p>
            <a:r>
              <a:rPr lang="en-GB" dirty="0"/>
              <a:t>)</a:t>
            </a:r>
          </a:p>
          <a:p>
            <a:endParaRPr lang="en-GB" dirty="0"/>
          </a:p>
          <a:p>
            <a:r>
              <a:rPr lang="en-GB" dirty="0" err="1"/>
              <a:t>func</a:t>
            </a:r>
            <a:r>
              <a:rPr lang="en-GB" dirty="0"/>
              <a:t> main() {</a:t>
            </a:r>
          </a:p>
          <a:p>
            <a:r>
              <a:rPr lang="en-GB" dirty="0"/>
              <a:t>    // Define the network and address to listen on</a:t>
            </a:r>
          </a:p>
          <a:p>
            <a:r>
              <a:rPr lang="en-GB" dirty="0"/>
              <a:t>    network := "</a:t>
            </a:r>
            <a:r>
              <a:rPr lang="en-GB" dirty="0" err="1"/>
              <a:t>tcp</a:t>
            </a:r>
            <a:r>
              <a:rPr lang="en-GB" dirty="0"/>
              <a:t>"</a:t>
            </a:r>
          </a:p>
          <a:p>
            <a:r>
              <a:rPr lang="en-GB" dirty="0"/>
              <a:t>    address := "localhost:8080"</a:t>
            </a:r>
          </a:p>
          <a:p>
            <a:endParaRPr lang="en-GB" dirty="0"/>
          </a:p>
          <a:p>
            <a:r>
              <a:rPr lang="en-GB" dirty="0"/>
              <a:t>    // Create a listener for incoming connections</a:t>
            </a:r>
          </a:p>
          <a:p>
            <a:r>
              <a:rPr lang="en-GB" dirty="0"/>
              <a:t>    listener, err := </a:t>
            </a:r>
            <a:r>
              <a:rPr lang="en-GB" dirty="0" err="1"/>
              <a:t>net.Listen</a:t>
            </a:r>
            <a:r>
              <a:rPr lang="en-GB" dirty="0"/>
              <a:t>(network, address)</a:t>
            </a:r>
          </a:p>
          <a:p>
            <a:r>
              <a:rPr lang="en-GB" dirty="0"/>
              <a:t>    if err != nil {</a:t>
            </a:r>
          </a:p>
          <a:p>
            <a:r>
              <a:rPr lang="en-GB" dirty="0"/>
              <a:t>        </a:t>
            </a:r>
            <a:r>
              <a:rPr lang="en-GB" dirty="0" err="1"/>
              <a:t>fmt.Println</a:t>
            </a:r>
            <a:r>
              <a:rPr lang="en-GB" dirty="0"/>
              <a:t>("Error:", err)</a:t>
            </a:r>
          </a:p>
          <a:p>
            <a:r>
              <a:rPr lang="en-GB" dirty="0"/>
              <a:t>        </a:t>
            </a:r>
            <a:r>
              <a:rPr lang="en-GB" dirty="0" err="1"/>
              <a:t>os.Exit</a:t>
            </a:r>
            <a:r>
              <a:rPr lang="en-GB" dirty="0"/>
              <a:t>(1)</a:t>
            </a:r>
          </a:p>
          <a:p>
            <a:r>
              <a:rPr lang="en-GB" dirty="0"/>
              <a:t>    }</a:t>
            </a:r>
          </a:p>
          <a:p>
            <a:r>
              <a:rPr lang="en-GB" dirty="0"/>
              <a:t>    defer </a:t>
            </a:r>
            <a:r>
              <a:rPr lang="en-GB" dirty="0" err="1"/>
              <a:t>listener.Close</a:t>
            </a:r>
            <a:r>
              <a:rPr lang="en-GB" dirty="0"/>
              <a:t>()</a:t>
            </a:r>
          </a:p>
          <a:p>
            <a:endParaRPr lang="en-GB" dirty="0"/>
          </a:p>
          <a:p>
            <a:r>
              <a:rPr lang="en-GB" dirty="0"/>
              <a:t>    </a:t>
            </a:r>
            <a:r>
              <a:rPr lang="en-GB" dirty="0" err="1"/>
              <a:t>fmt.Printf</a:t>
            </a:r>
            <a:r>
              <a:rPr lang="en-GB" dirty="0"/>
              <a:t>("Server is listening on %s\n", address)</a:t>
            </a:r>
          </a:p>
          <a:p>
            <a:endParaRPr lang="en-GB" dirty="0"/>
          </a:p>
          <a:p>
            <a:r>
              <a:rPr lang="en-GB" dirty="0"/>
              <a:t>    for {</a:t>
            </a:r>
          </a:p>
          <a:p>
            <a:r>
              <a:rPr lang="en-GB" dirty="0"/>
              <a:t>        // Accept incoming connections</a:t>
            </a:r>
          </a:p>
          <a:p>
            <a:r>
              <a:rPr lang="en-GB" dirty="0"/>
              <a:t>        conn, err := </a:t>
            </a:r>
            <a:r>
              <a:rPr lang="en-GB" dirty="0" err="1"/>
              <a:t>listener.Accept</a:t>
            </a:r>
            <a:r>
              <a:rPr lang="en-GB" dirty="0"/>
              <a:t>()</a:t>
            </a:r>
          </a:p>
          <a:p>
            <a:r>
              <a:rPr lang="en-GB" dirty="0"/>
              <a:t>        if err != nil {</a:t>
            </a:r>
          </a:p>
          <a:p>
            <a:r>
              <a:rPr lang="en-GB" dirty="0"/>
              <a:t>            </a:t>
            </a:r>
            <a:r>
              <a:rPr lang="en-GB" dirty="0" err="1"/>
              <a:t>fmt.Println</a:t>
            </a:r>
            <a:r>
              <a:rPr lang="en-GB" dirty="0"/>
              <a:t>("Error accepting connection:", err)</a:t>
            </a:r>
          </a:p>
          <a:p>
            <a:r>
              <a:rPr lang="en-GB" dirty="0"/>
              <a:t>            continue</a:t>
            </a:r>
          </a:p>
          <a:p>
            <a:r>
              <a:rPr lang="en-GB" dirty="0"/>
              <a:t>        }</a:t>
            </a:r>
          </a:p>
          <a:p>
            <a:endParaRPr lang="en-GB" dirty="0"/>
          </a:p>
          <a:p>
            <a:r>
              <a:rPr lang="en-GB" dirty="0"/>
              <a:t>        go </a:t>
            </a:r>
            <a:r>
              <a:rPr lang="en-GB" dirty="0" err="1"/>
              <a:t>handleClient</a:t>
            </a:r>
            <a:r>
              <a:rPr lang="en-GB" dirty="0"/>
              <a:t>(conn)</a:t>
            </a:r>
          </a:p>
          <a:p>
            <a:r>
              <a:rPr lang="en-GB" dirty="0"/>
              <a:t>    }</a:t>
            </a:r>
          </a:p>
          <a:p>
            <a:r>
              <a:rPr lang="en-GB" dirty="0"/>
              <a:t>}</a:t>
            </a:r>
          </a:p>
          <a:p>
            <a:endParaRPr lang="en-GB" dirty="0"/>
          </a:p>
          <a:p>
            <a:r>
              <a:rPr lang="en-GB" dirty="0" err="1"/>
              <a:t>func</a:t>
            </a:r>
            <a:r>
              <a:rPr lang="en-GB" dirty="0"/>
              <a:t> </a:t>
            </a:r>
            <a:r>
              <a:rPr lang="en-GB" dirty="0" err="1"/>
              <a:t>handleClient</a:t>
            </a:r>
            <a:r>
              <a:rPr lang="en-GB" dirty="0"/>
              <a:t>(conn </a:t>
            </a:r>
            <a:r>
              <a:rPr lang="en-GB" dirty="0" err="1"/>
              <a:t>net.Conn</a:t>
            </a:r>
            <a:r>
              <a:rPr lang="en-GB" dirty="0"/>
              <a:t>) {</a:t>
            </a:r>
          </a:p>
          <a:p>
            <a:r>
              <a:rPr lang="en-GB" dirty="0"/>
              <a:t>    defer </a:t>
            </a:r>
            <a:r>
              <a:rPr lang="en-GB" dirty="0" err="1"/>
              <a:t>conn.Close</a:t>
            </a:r>
            <a:r>
              <a:rPr lang="en-GB" dirty="0"/>
              <a:t>()</a:t>
            </a:r>
          </a:p>
          <a:p>
            <a:r>
              <a:rPr lang="en-GB" dirty="0"/>
              <a:t>    </a:t>
            </a:r>
            <a:r>
              <a:rPr lang="en-GB" dirty="0" err="1"/>
              <a:t>remoteAddr</a:t>
            </a:r>
            <a:r>
              <a:rPr lang="en-GB" dirty="0"/>
              <a:t> := </a:t>
            </a:r>
            <a:r>
              <a:rPr lang="en-GB" dirty="0" err="1"/>
              <a:t>conn.RemoteAddr</a:t>
            </a:r>
            <a:r>
              <a:rPr lang="en-GB" dirty="0"/>
              <a:t>()</a:t>
            </a:r>
          </a:p>
          <a:p>
            <a:r>
              <a:rPr lang="en-GB" dirty="0"/>
              <a:t>    </a:t>
            </a:r>
            <a:r>
              <a:rPr lang="en-GB" dirty="0" err="1"/>
              <a:t>fmt.Printf</a:t>
            </a:r>
            <a:r>
              <a:rPr lang="en-GB" dirty="0"/>
              <a:t>("Accepted connection from %s\n", </a:t>
            </a:r>
            <a:r>
              <a:rPr lang="en-GB" dirty="0" err="1"/>
              <a:t>remoteAddr</a:t>
            </a:r>
            <a:r>
              <a:rPr lang="en-GB" dirty="0"/>
              <a:t>)</a:t>
            </a:r>
          </a:p>
          <a:p>
            <a:endParaRPr lang="en-GB" dirty="0"/>
          </a:p>
          <a:p>
            <a:r>
              <a:rPr lang="en-GB" dirty="0"/>
              <a:t>    // Handle the client connection</a:t>
            </a:r>
          </a:p>
          <a:p>
            <a:r>
              <a:rPr lang="en-GB" dirty="0"/>
              <a:t>}</a:t>
            </a:r>
          </a:p>
          <a:p>
            <a:r>
              <a:rPr lang="en-GB" dirty="0"/>
              <a:t>```</a:t>
            </a:r>
          </a:p>
          <a:p>
            <a:endParaRPr lang="en-GB" dirty="0"/>
          </a:p>
          <a:p>
            <a:r>
              <a:rPr lang="en-GB" dirty="0"/>
              <a:t>In the example above, the program creates a TCP server that listens on port 8080 using `</a:t>
            </a:r>
            <a:r>
              <a:rPr lang="en-GB" dirty="0" err="1"/>
              <a:t>net.Listen</a:t>
            </a:r>
            <a:r>
              <a:rPr lang="en-GB" dirty="0"/>
              <a:t>`. The server accepts incoming connections, and for each connection, a new goroutine is started to handle the client.</a:t>
            </a:r>
          </a:p>
          <a:p>
            <a:endParaRPr lang="en-GB" dirty="0"/>
          </a:p>
          <a:p>
            <a:r>
              <a:rPr lang="en-GB" dirty="0"/>
              <a:t>The `</a:t>
            </a:r>
            <a:r>
              <a:rPr lang="en-GB" dirty="0" err="1"/>
              <a:t>handleClient</a:t>
            </a:r>
            <a:r>
              <a:rPr lang="en-GB" dirty="0"/>
              <a:t>` function is responsible for handling the client connections. You can customize it to perform specific tasks when a client connects.</a:t>
            </a:r>
          </a:p>
          <a:p>
            <a:endParaRPr lang="en-GB" dirty="0"/>
          </a:p>
          <a:p>
            <a:r>
              <a:rPr lang="en-GB" dirty="0"/>
              <a:t>Remember to handle errors properly, both when creating the listener and when accepting connections. This ensures robust error handling in your server application.</a:t>
            </a:r>
          </a:p>
        </p:txBody>
      </p:sp>
      <p:sp>
        <p:nvSpPr>
          <p:cNvPr id="4" name="Slide Number Placeholder 3"/>
          <p:cNvSpPr>
            <a:spLocks noGrp="1"/>
          </p:cNvSpPr>
          <p:nvPr>
            <p:ph type="sldNum" sz="quarter" idx="5"/>
          </p:nvPr>
        </p:nvSpPr>
        <p:spPr/>
        <p:txBody>
          <a:bodyPr/>
          <a:lstStyle/>
          <a:p>
            <a:fld id="{C5F6E639-2689-4976-9691-4FB9BFAEB3F5}" type="slidenum">
              <a:rPr lang="en-US" altLang="en-US" smtClean="0"/>
              <a:pPr/>
              <a:t>5</a:t>
            </a:fld>
            <a:endParaRPr lang="en-US" altLang="en-US"/>
          </a:p>
        </p:txBody>
      </p:sp>
    </p:spTree>
    <p:extLst>
      <p:ext uri="{BB962C8B-B14F-4D97-AF65-F5344CB8AC3E}">
        <p14:creationId xmlns:p14="http://schemas.microsoft.com/office/powerpoint/2010/main" val="1613047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 looks like you've written a simple Go program to establish a TCP client and read data from a server running on localhost at port 6000. Here's a brief explanation of your code:</a:t>
            </a:r>
          </a:p>
          <a:p>
            <a:endParaRPr lang="en-GB" dirty="0"/>
          </a:p>
          <a:p>
            <a:r>
              <a:rPr lang="en-GB" dirty="0"/>
              <a:t>1. You import the necessary packages, `</a:t>
            </a:r>
            <a:r>
              <a:rPr lang="en-GB" dirty="0" err="1"/>
              <a:t>fmt</a:t>
            </a:r>
            <a:r>
              <a:rPr lang="en-GB" dirty="0"/>
              <a:t>` for formatting and `net` for networking.</a:t>
            </a:r>
          </a:p>
          <a:p>
            <a:endParaRPr lang="en-GB" dirty="0"/>
          </a:p>
          <a:p>
            <a:r>
              <a:rPr lang="en-GB" dirty="0"/>
              <a:t>2. In the `main` function:</a:t>
            </a:r>
          </a:p>
          <a:p>
            <a:endParaRPr lang="en-GB" dirty="0"/>
          </a:p>
          <a:p>
            <a:r>
              <a:rPr lang="en-GB" dirty="0"/>
              <a:t>   - You use `</a:t>
            </a:r>
            <a:r>
              <a:rPr lang="en-GB" dirty="0" err="1"/>
              <a:t>net.Dial</a:t>
            </a:r>
            <a:r>
              <a:rPr lang="en-GB" dirty="0"/>
              <a:t>` to establish a TCP connection to the server running on localhost at port 6000. If an error occurs during the connection attempt, you capture and handle it.</a:t>
            </a:r>
          </a:p>
          <a:p>
            <a:r>
              <a:rPr lang="en-GB" dirty="0"/>
              <a:t>   </a:t>
            </a:r>
          </a:p>
          <a:p>
            <a:r>
              <a:rPr lang="en-GB" dirty="0"/>
              <a:t>   - You create a byte slice `</a:t>
            </a:r>
            <a:r>
              <a:rPr lang="en-GB" dirty="0" err="1"/>
              <a:t>recvdSlice</a:t>
            </a:r>
            <a:r>
              <a:rPr lang="en-GB" dirty="0"/>
              <a:t>` with a length of 11. This slice is used to receive data from the server.</a:t>
            </a:r>
          </a:p>
          <a:p>
            <a:endParaRPr lang="en-GB" dirty="0"/>
          </a:p>
          <a:p>
            <a:r>
              <a:rPr lang="en-GB" dirty="0"/>
              <a:t>   - You use `</a:t>
            </a:r>
            <a:r>
              <a:rPr lang="en-GB" dirty="0" err="1"/>
              <a:t>conn.Read</a:t>
            </a:r>
            <a:r>
              <a:rPr lang="en-GB" dirty="0"/>
              <a:t>(</a:t>
            </a:r>
            <a:r>
              <a:rPr lang="en-GB" dirty="0" err="1"/>
              <a:t>recvdSlice</a:t>
            </a:r>
            <a:r>
              <a:rPr lang="en-GB" dirty="0"/>
              <a:t>)` to read up to 11 bytes of data from the connection `conn` into `</a:t>
            </a:r>
            <a:r>
              <a:rPr lang="en-GB" dirty="0" err="1"/>
              <a:t>recvdSlice</a:t>
            </a:r>
            <a:r>
              <a:rPr lang="en-GB" dirty="0"/>
              <a:t>`. If the server sends fewer than 11 bytes, the read operation will block until the data is available.</a:t>
            </a:r>
          </a:p>
          <a:p>
            <a:endParaRPr lang="en-GB" dirty="0"/>
          </a:p>
          <a:p>
            <a:r>
              <a:rPr lang="en-GB" dirty="0"/>
              <a:t>   - Finally, you print the received data after converting it to a string using `</a:t>
            </a:r>
            <a:r>
              <a:rPr lang="en-GB" dirty="0" err="1"/>
              <a:t>fmt.Println</a:t>
            </a:r>
            <a:r>
              <a:rPr lang="en-GB" dirty="0"/>
              <a:t>(string(</a:t>
            </a:r>
            <a:r>
              <a:rPr lang="en-GB" dirty="0" err="1"/>
              <a:t>recvdSlice</a:t>
            </a:r>
            <a:r>
              <a:rPr lang="en-GB" dirty="0"/>
              <a:t>))`.</a:t>
            </a:r>
          </a:p>
          <a:p>
            <a:endParaRPr lang="en-GB" dirty="0"/>
          </a:p>
          <a:p>
            <a:r>
              <a:rPr lang="en-GB" dirty="0"/>
              <a:t>This code is a basic example of a TCP client that connects to a server running on localhost. However, for this code to work, you need to have a server running on port 6000 that responds with at least 11 bytes of data for this client to read. You should implement the corresponding server logic to make this client meaningful.</a:t>
            </a:r>
          </a:p>
          <a:p>
            <a:endParaRPr lang="en-GB" dirty="0"/>
          </a:p>
          <a:p>
            <a:r>
              <a:rPr lang="en-GB" dirty="0"/>
              <a:t>You might also want to include error handling for the case where the server is not available or doesn't respond as expected. Additionally, consider using a loop to read more data if necessary, especially for scenarios where the server may send data in multiple chunks.</a:t>
            </a:r>
          </a:p>
        </p:txBody>
      </p:sp>
      <p:sp>
        <p:nvSpPr>
          <p:cNvPr id="4" name="Slide Number Placeholder 3"/>
          <p:cNvSpPr>
            <a:spLocks noGrp="1"/>
          </p:cNvSpPr>
          <p:nvPr>
            <p:ph type="sldNum" sz="quarter" idx="5"/>
          </p:nvPr>
        </p:nvSpPr>
        <p:spPr/>
        <p:txBody>
          <a:bodyPr/>
          <a:lstStyle/>
          <a:p>
            <a:fld id="{C5F6E639-2689-4976-9691-4FB9BFAEB3F5}" type="slidenum">
              <a:rPr lang="en-US" altLang="en-US" smtClean="0"/>
              <a:pPr/>
              <a:t>6</a:t>
            </a:fld>
            <a:endParaRPr lang="en-US" altLang="en-US"/>
          </a:p>
        </p:txBody>
      </p:sp>
    </p:spTree>
    <p:extLst>
      <p:ext uri="{BB962C8B-B14F-4D97-AF65-F5344CB8AC3E}">
        <p14:creationId xmlns:p14="http://schemas.microsoft.com/office/powerpoint/2010/main" val="1805784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dirty="0" err="1"/>
              <a:t>handleConnection</a:t>
            </a:r>
            <a:r>
              <a:rPr lang="en-GB" dirty="0"/>
              <a:t>` function you've provided is a common pattern for handling incoming network connections in a Go server. It reads data from a client and echoes it back to the client. Here's a breakdown of the function:</a:t>
            </a:r>
          </a:p>
          <a:p>
            <a:endParaRPr lang="en-GB" dirty="0"/>
          </a:p>
          <a:p>
            <a:r>
              <a:rPr lang="en-GB" dirty="0"/>
              <a:t>```go</a:t>
            </a:r>
          </a:p>
          <a:p>
            <a:r>
              <a:rPr lang="en-GB" dirty="0" err="1"/>
              <a:t>func</a:t>
            </a:r>
            <a:r>
              <a:rPr lang="en-GB" dirty="0"/>
              <a:t> </a:t>
            </a:r>
            <a:r>
              <a:rPr lang="en-GB" dirty="0" err="1"/>
              <a:t>handleConnection</a:t>
            </a:r>
            <a:r>
              <a:rPr lang="en-GB" dirty="0"/>
              <a:t>(c </a:t>
            </a:r>
            <a:r>
              <a:rPr lang="en-GB" dirty="0" err="1"/>
              <a:t>net.Conn</a:t>
            </a:r>
            <a:r>
              <a:rPr lang="en-GB" dirty="0"/>
              <a:t>) {</a:t>
            </a:r>
          </a:p>
          <a:p>
            <a:r>
              <a:rPr lang="en-GB" dirty="0"/>
              <a:t>    </a:t>
            </a:r>
            <a:r>
              <a:rPr lang="en-GB" dirty="0" err="1"/>
              <a:t>buf</a:t>
            </a:r>
            <a:r>
              <a:rPr lang="en-GB" dirty="0"/>
              <a:t> := make([]byte, 4096)</a:t>
            </a:r>
          </a:p>
          <a:p>
            <a:endParaRPr lang="en-GB" dirty="0"/>
          </a:p>
          <a:p>
            <a:r>
              <a:rPr lang="en-GB" dirty="0"/>
              <a:t>    for {</a:t>
            </a:r>
          </a:p>
          <a:p>
            <a:r>
              <a:rPr lang="en-GB" dirty="0"/>
              <a:t>        n, err := </a:t>
            </a:r>
            <a:r>
              <a:rPr lang="en-GB" dirty="0" err="1"/>
              <a:t>c.Read</a:t>
            </a:r>
            <a:r>
              <a:rPr lang="en-GB" dirty="0"/>
              <a:t>(</a:t>
            </a:r>
            <a:r>
              <a:rPr lang="en-GB" dirty="0" err="1"/>
              <a:t>buf</a:t>
            </a:r>
            <a:r>
              <a:rPr lang="en-GB" dirty="0"/>
              <a:t>)</a:t>
            </a:r>
          </a:p>
          <a:p>
            <a:r>
              <a:rPr lang="en-GB" dirty="0"/>
              <a:t>        if err != nil || n == 0 {</a:t>
            </a:r>
          </a:p>
          <a:p>
            <a:r>
              <a:rPr lang="en-GB" dirty="0"/>
              <a:t>            // If an error occurs while reading or if no data is received, close the connection and exit the loop.</a:t>
            </a:r>
          </a:p>
          <a:p>
            <a:r>
              <a:rPr lang="en-GB" dirty="0"/>
              <a:t>            </a:t>
            </a:r>
            <a:r>
              <a:rPr lang="en-GB" dirty="0" err="1"/>
              <a:t>c.Close</a:t>
            </a:r>
            <a:r>
              <a:rPr lang="en-GB" dirty="0"/>
              <a:t>()</a:t>
            </a:r>
          </a:p>
          <a:p>
            <a:r>
              <a:rPr lang="en-GB" dirty="0"/>
              <a:t>            break</a:t>
            </a:r>
          </a:p>
          <a:p>
            <a:r>
              <a:rPr lang="en-GB" dirty="0"/>
              <a:t>        }</a:t>
            </a:r>
          </a:p>
          <a:p>
            <a:endParaRPr lang="en-GB" dirty="0"/>
          </a:p>
          <a:p>
            <a:r>
              <a:rPr lang="en-GB" dirty="0"/>
              <a:t>        n, err = </a:t>
            </a:r>
            <a:r>
              <a:rPr lang="en-GB" dirty="0" err="1"/>
              <a:t>c.Write</a:t>
            </a:r>
            <a:r>
              <a:rPr lang="en-GB" dirty="0"/>
              <a:t>(</a:t>
            </a:r>
            <a:r>
              <a:rPr lang="en-GB" dirty="0" err="1"/>
              <a:t>buf</a:t>
            </a:r>
            <a:r>
              <a:rPr lang="en-GB" dirty="0"/>
              <a:t>[0:n])</a:t>
            </a:r>
          </a:p>
          <a:p>
            <a:r>
              <a:rPr lang="en-GB" dirty="0"/>
              <a:t>        if err != nil {</a:t>
            </a:r>
          </a:p>
          <a:p>
            <a:r>
              <a:rPr lang="en-GB" dirty="0"/>
              <a:t>            // If an error occurs while writing data back to the client, close the connection and exit the loop.</a:t>
            </a:r>
          </a:p>
          <a:p>
            <a:r>
              <a:rPr lang="en-GB" dirty="0"/>
              <a:t>            </a:t>
            </a:r>
            <a:r>
              <a:rPr lang="en-GB" dirty="0" err="1"/>
              <a:t>c.Close</a:t>
            </a:r>
            <a:r>
              <a:rPr lang="en-GB" dirty="0"/>
              <a:t>()</a:t>
            </a:r>
          </a:p>
          <a:p>
            <a:r>
              <a:rPr lang="en-GB" dirty="0"/>
              <a:t>            break</a:t>
            </a:r>
          </a:p>
          <a:p>
            <a:r>
              <a:rPr lang="en-GB" dirty="0"/>
              <a:t>        }</a:t>
            </a:r>
          </a:p>
          <a:p>
            <a:r>
              <a:rPr lang="en-GB" dirty="0"/>
              <a:t>    }</a:t>
            </a:r>
          </a:p>
          <a:p>
            <a:endParaRPr lang="en-GB" dirty="0"/>
          </a:p>
          <a:p>
            <a:r>
              <a:rPr lang="en-GB" dirty="0"/>
              <a:t>    // Log that the connection has been closed.</a:t>
            </a:r>
          </a:p>
          <a:p>
            <a:r>
              <a:rPr lang="en-GB" dirty="0"/>
              <a:t>    </a:t>
            </a:r>
            <a:r>
              <a:rPr lang="en-GB" dirty="0" err="1"/>
              <a:t>log.Printf</a:t>
            </a:r>
            <a:r>
              <a:rPr lang="en-GB" dirty="0"/>
              <a:t>("Connection from %v closed.", </a:t>
            </a:r>
            <a:r>
              <a:rPr lang="en-GB" dirty="0" err="1"/>
              <a:t>c.RemoteAddr</a:t>
            </a:r>
            <a:r>
              <a:rPr lang="en-GB" dirty="0"/>
              <a:t>())</a:t>
            </a:r>
          </a:p>
          <a:p>
            <a:r>
              <a:rPr lang="en-GB" dirty="0"/>
              <a:t>}</a:t>
            </a:r>
          </a:p>
          <a:p>
            <a:r>
              <a:rPr lang="en-GB" dirty="0"/>
              <a:t>```</a:t>
            </a:r>
          </a:p>
          <a:p>
            <a:endParaRPr lang="en-GB" dirty="0"/>
          </a:p>
          <a:p>
            <a:r>
              <a:rPr lang="en-GB" dirty="0"/>
              <a:t>This function is used to handle a single network connection, typically in a concurrent manner (e.g., using goroutines). Here's what the function does:</a:t>
            </a:r>
          </a:p>
          <a:p>
            <a:endParaRPr lang="en-GB" dirty="0"/>
          </a:p>
          <a:p>
            <a:r>
              <a:rPr lang="en-GB" dirty="0"/>
              <a:t>1. It creates a byte slice `</a:t>
            </a:r>
            <a:r>
              <a:rPr lang="en-GB" dirty="0" err="1"/>
              <a:t>buf</a:t>
            </a:r>
            <a:r>
              <a:rPr lang="en-GB" dirty="0"/>
              <a:t>` to read data from the connection. A common size is 4096 bytes, but you can adjust it based on your needs.</a:t>
            </a:r>
          </a:p>
          <a:p>
            <a:endParaRPr lang="en-GB" dirty="0"/>
          </a:p>
          <a:p>
            <a:r>
              <a:rPr lang="en-GB" dirty="0"/>
              <a:t>2. It enters a loop where it repeatedly reads data from the connection using `</a:t>
            </a:r>
            <a:r>
              <a:rPr lang="en-GB" dirty="0" err="1"/>
              <a:t>c.Read</a:t>
            </a:r>
            <a:r>
              <a:rPr lang="en-GB" dirty="0"/>
              <a:t>`. If there's an error while reading or if no data is received (n == 0), it closes the connection and exits the loop.</a:t>
            </a:r>
          </a:p>
          <a:p>
            <a:endParaRPr lang="en-GB" dirty="0"/>
          </a:p>
          <a:p>
            <a:r>
              <a:rPr lang="en-GB" dirty="0"/>
              <a:t>3. If data is successfully read, it writes that data back to the client using `</a:t>
            </a:r>
            <a:r>
              <a:rPr lang="en-GB" dirty="0" err="1"/>
              <a:t>c.Write</a:t>
            </a:r>
            <a:r>
              <a:rPr lang="en-GB" dirty="0"/>
              <a:t>`.</a:t>
            </a:r>
          </a:p>
          <a:p>
            <a:endParaRPr lang="en-GB" dirty="0"/>
          </a:p>
          <a:p>
            <a:r>
              <a:rPr lang="en-GB" dirty="0"/>
              <a:t>4. If there's an error while writing, it closes the connection and exits the loop.</a:t>
            </a:r>
          </a:p>
          <a:p>
            <a:endParaRPr lang="en-GB" dirty="0"/>
          </a:p>
          <a:p>
            <a:r>
              <a:rPr lang="en-GB" dirty="0"/>
              <a:t>5. After the loop, it logs a message indicating that the connection has been closed, including the remote address of the client.</a:t>
            </a:r>
          </a:p>
          <a:p>
            <a:endParaRPr lang="en-GB" dirty="0"/>
          </a:p>
          <a:p>
            <a:r>
              <a:rPr lang="en-GB" dirty="0"/>
              <a:t>This pattern is suitable for simple network servers that echo data back to clients. You can use it as a starting point and extend it to handle more complex communication or specific application logic based on the data received from clients.</a:t>
            </a:r>
          </a:p>
        </p:txBody>
      </p:sp>
      <p:sp>
        <p:nvSpPr>
          <p:cNvPr id="4" name="Slide Number Placeholder 3"/>
          <p:cNvSpPr>
            <a:spLocks noGrp="1"/>
          </p:cNvSpPr>
          <p:nvPr>
            <p:ph type="sldNum" sz="quarter" idx="5"/>
          </p:nvPr>
        </p:nvSpPr>
        <p:spPr/>
        <p:txBody>
          <a:bodyPr/>
          <a:lstStyle/>
          <a:p>
            <a:fld id="{C5F6E639-2689-4976-9691-4FB9BFAEB3F5}" type="slidenum">
              <a:rPr lang="en-US" altLang="en-US" smtClean="0"/>
              <a:pPr/>
              <a:t>7</a:t>
            </a:fld>
            <a:endParaRPr lang="en-US" altLang="en-US"/>
          </a:p>
        </p:txBody>
      </p:sp>
    </p:spTree>
    <p:extLst>
      <p:ext uri="{BB962C8B-B14F-4D97-AF65-F5344CB8AC3E}">
        <p14:creationId xmlns:p14="http://schemas.microsoft.com/office/powerpoint/2010/main" val="3064148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Go program you've provided demonstrates how to use goroutines for concurrent execution. In this program, you have two functions, `say` and `main`, and you're using goroutines to execute them concurrently. Here's an explanation of the code:</a:t>
            </a:r>
          </a:p>
          <a:p>
            <a:endParaRPr lang="en-GB" dirty="0"/>
          </a:p>
          <a:p>
            <a:r>
              <a:rPr lang="en-GB" dirty="0"/>
              <a:t>```go</a:t>
            </a:r>
          </a:p>
          <a:p>
            <a:r>
              <a:rPr lang="en-GB" dirty="0"/>
              <a:t>package main</a:t>
            </a:r>
          </a:p>
          <a:p>
            <a:endParaRPr lang="en-GB" dirty="0"/>
          </a:p>
          <a:p>
            <a:r>
              <a:rPr lang="en-GB" dirty="0"/>
              <a:t>import (</a:t>
            </a:r>
          </a:p>
          <a:p>
            <a:r>
              <a:rPr lang="en-GB" dirty="0"/>
              <a:t>	"</a:t>
            </a:r>
            <a:r>
              <a:rPr lang="en-GB" dirty="0" err="1"/>
              <a:t>fmt</a:t>
            </a:r>
            <a:r>
              <a:rPr lang="en-GB" dirty="0"/>
              <a:t>"</a:t>
            </a:r>
          </a:p>
          <a:p>
            <a:r>
              <a:rPr lang="en-GB" dirty="0"/>
              <a:t>	"time"</a:t>
            </a:r>
          </a:p>
          <a:p>
            <a:r>
              <a:rPr lang="en-GB" dirty="0"/>
              <a:t>)</a:t>
            </a:r>
          </a:p>
          <a:p>
            <a:endParaRPr lang="en-GB" dirty="0"/>
          </a:p>
          <a:p>
            <a:r>
              <a:rPr lang="en-GB" dirty="0" err="1"/>
              <a:t>func</a:t>
            </a:r>
            <a:r>
              <a:rPr lang="en-GB" dirty="0"/>
              <a:t> say(s string) {</a:t>
            </a:r>
          </a:p>
          <a:p>
            <a:r>
              <a:rPr lang="en-GB" dirty="0"/>
              <a:t>	for i := 0; i &lt; 5; i++ {</a:t>
            </a:r>
          </a:p>
          <a:p>
            <a:r>
              <a:rPr lang="en-GB" dirty="0"/>
              <a:t>		</a:t>
            </a:r>
            <a:r>
              <a:rPr lang="en-GB" dirty="0" err="1"/>
              <a:t>time.Sleep</a:t>
            </a:r>
            <a:r>
              <a:rPr lang="en-GB" dirty="0"/>
              <a:t>(100 * </a:t>
            </a:r>
            <a:r>
              <a:rPr lang="en-GB" dirty="0" err="1"/>
              <a:t>time.Millisecond</a:t>
            </a:r>
            <a:r>
              <a:rPr lang="en-GB" dirty="0"/>
              <a:t>)</a:t>
            </a:r>
          </a:p>
          <a:p>
            <a:r>
              <a:rPr lang="en-GB" dirty="0"/>
              <a:t>		</a:t>
            </a:r>
            <a:r>
              <a:rPr lang="en-GB" dirty="0" err="1"/>
              <a:t>fmt.Println</a:t>
            </a:r>
            <a:r>
              <a:rPr lang="en-GB" dirty="0"/>
              <a:t>(s)</a:t>
            </a:r>
          </a:p>
          <a:p>
            <a:r>
              <a:rPr lang="en-GB" dirty="0"/>
              <a:t>	}</a:t>
            </a:r>
          </a:p>
          <a:p>
            <a:r>
              <a:rPr lang="en-GB" dirty="0"/>
              <a:t>}</a:t>
            </a:r>
          </a:p>
          <a:p>
            <a:endParaRPr lang="en-GB" dirty="0"/>
          </a:p>
          <a:p>
            <a:r>
              <a:rPr lang="en-GB" dirty="0" err="1"/>
              <a:t>func</a:t>
            </a:r>
            <a:r>
              <a:rPr lang="en-GB" dirty="0"/>
              <a:t> main() {</a:t>
            </a:r>
          </a:p>
          <a:p>
            <a:r>
              <a:rPr lang="en-GB" dirty="0"/>
              <a:t>	// Start the "say" function in a goroutine, which runs concurrently with the main function.</a:t>
            </a:r>
          </a:p>
          <a:p>
            <a:r>
              <a:rPr lang="en-GB" dirty="0"/>
              <a:t>	go say("world")</a:t>
            </a:r>
          </a:p>
          <a:p>
            <a:r>
              <a:rPr lang="en-GB" dirty="0"/>
              <a:t>	say("hello")</a:t>
            </a:r>
          </a:p>
          <a:p>
            <a:r>
              <a:rPr lang="en-GB" dirty="0"/>
              <a:t>}</a:t>
            </a:r>
          </a:p>
          <a:p>
            <a:r>
              <a:rPr lang="en-GB" dirty="0"/>
              <a:t>```</a:t>
            </a:r>
          </a:p>
          <a:p>
            <a:endParaRPr lang="en-GB" dirty="0"/>
          </a:p>
          <a:p>
            <a:r>
              <a:rPr lang="en-GB" dirty="0"/>
              <a:t>Here's how the program works:</a:t>
            </a:r>
          </a:p>
          <a:p>
            <a:endParaRPr lang="en-GB" dirty="0"/>
          </a:p>
          <a:p>
            <a:r>
              <a:rPr lang="en-GB" dirty="0"/>
              <a:t>1. You define a function `say(s string)` that prints the string `s` five times with a 100-millisecond delay between each print.</a:t>
            </a:r>
          </a:p>
          <a:p>
            <a:endParaRPr lang="en-GB" dirty="0"/>
          </a:p>
          <a:p>
            <a:r>
              <a:rPr lang="en-GB" dirty="0"/>
              <a:t>2. In the `main` function, you start the `say` function with the argument "world" as a goroutine by adding `go` before the function call. This means that the "say" function will execute concurrently with the `main` function.</a:t>
            </a:r>
          </a:p>
          <a:p>
            <a:endParaRPr lang="en-GB" dirty="0"/>
          </a:p>
          <a:p>
            <a:r>
              <a:rPr lang="en-GB" dirty="0"/>
              <a:t>3. You then call the `say` function with the argument "hello" in the `main` function. This call is synchronous and will run in the `main` goroutine.</a:t>
            </a:r>
          </a:p>
          <a:p>
            <a:endParaRPr lang="en-GB" dirty="0"/>
          </a:p>
          <a:p>
            <a:r>
              <a:rPr lang="en-GB" dirty="0"/>
              <a:t>As a result, you will see "hello" printed five times, and "world" printed five times, with some level of interleaving due to the concurrent execution. The order in which "hello" and "world" are printed is not deterministic and may vary each time you run the program.</a:t>
            </a:r>
          </a:p>
          <a:p>
            <a:endParaRPr lang="en-GB" dirty="0"/>
          </a:p>
          <a:p>
            <a:r>
              <a:rPr lang="en-GB" dirty="0"/>
              <a:t>This demonstrates how goroutines can be used to achieve concurrency in Go, making it possible to perform multiple tasks concurrently without having to explicitly manage threads or processes.</a:t>
            </a:r>
          </a:p>
        </p:txBody>
      </p:sp>
      <p:sp>
        <p:nvSpPr>
          <p:cNvPr id="4" name="Slide Number Placeholder 3"/>
          <p:cNvSpPr>
            <a:spLocks noGrp="1"/>
          </p:cNvSpPr>
          <p:nvPr>
            <p:ph type="sldNum" sz="quarter" idx="5"/>
          </p:nvPr>
        </p:nvSpPr>
        <p:spPr/>
        <p:txBody>
          <a:bodyPr/>
          <a:lstStyle/>
          <a:p>
            <a:fld id="{C5F6E639-2689-4976-9691-4FB9BFAEB3F5}" type="slidenum">
              <a:rPr lang="en-US" altLang="en-US" smtClean="0"/>
              <a:pPr/>
              <a:t>9</a:t>
            </a:fld>
            <a:endParaRPr lang="en-US" altLang="en-US"/>
          </a:p>
        </p:txBody>
      </p:sp>
    </p:spTree>
    <p:extLst>
      <p:ext uri="{BB962C8B-B14F-4D97-AF65-F5344CB8AC3E}">
        <p14:creationId xmlns:p14="http://schemas.microsoft.com/office/powerpoint/2010/main" val="964587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Channels are a powerful feature in the Go programming language for safely and efficiently communicating and synchronizing between goroutines. They are a fundamental part of concurrent programming in Go. Here, we'll delve deeper into channels, discussing their types, usage, and some common patterns.</a:t>
            </a:r>
          </a:p>
          <a:p>
            <a:endParaRPr lang="en-GB" dirty="0"/>
          </a:p>
          <a:p>
            <a:r>
              <a:rPr lang="en-GB" dirty="0"/>
              <a:t>### Channel Types</a:t>
            </a:r>
          </a:p>
          <a:p>
            <a:endParaRPr lang="en-GB" dirty="0"/>
          </a:p>
          <a:p>
            <a:r>
              <a:rPr lang="en-GB" dirty="0"/>
              <a:t>There are two main types of channels in Go:</a:t>
            </a:r>
          </a:p>
          <a:p>
            <a:endParaRPr lang="en-GB" dirty="0"/>
          </a:p>
          <a:p>
            <a:r>
              <a:rPr lang="en-GB" dirty="0"/>
              <a:t>1. **Unbuffered Channels:** These channels are synchronous and block until a sender and a receiver are ready. They provide a strong synchronization mechanism between goroutines.</a:t>
            </a:r>
          </a:p>
          <a:p>
            <a:endParaRPr lang="en-GB" dirty="0"/>
          </a:p>
          <a:p>
            <a:r>
              <a:rPr lang="en-GB" dirty="0"/>
              <a:t>2. **Buffered Channels:** These channels have a fixed capacity. Send operations block only when the buffer is full, and receive operations block only when the buffer is empty. Buffered channels provide a form of decoupling between sender and receiver.</a:t>
            </a:r>
          </a:p>
          <a:p>
            <a:endParaRPr lang="en-GB" dirty="0"/>
          </a:p>
          <a:p>
            <a:r>
              <a:rPr lang="en-GB" dirty="0"/>
              <a:t>### Channel Creation</a:t>
            </a:r>
          </a:p>
          <a:p>
            <a:endParaRPr lang="en-GB" dirty="0"/>
          </a:p>
          <a:p>
            <a:r>
              <a:rPr lang="en-GB" dirty="0"/>
              <a:t>You can create a channel using the `make` function, specifying the channel type and an optional buffer size for buffered channels:</a:t>
            </a:r>
          </a:p>
          <a:p>
            <a:endParaRPr lang="en-GB" dirty="0"/>
          </a:p>
          <a:p>
            <a:r>
              <a:rPr lang="en-GB" dirty="0"/>
              <a:t>```go</a:t>
            </a:r>
          </a:p>
          <a:p>
            <a:r>
              <a:rPr lang="en-GB" dirty="0"/>
              <a:t>ch := make(</a:t>
            </a:r>
            <a:r>
              <a:rPr lang="en-GB" dirty="0" err="1"/>
              <a:t>chan</a:t>
            </a:r>
            <a:r>
              <a:rPr lang="en-GB" dirty="0"/>
              <a:t> int)      // Unbuffered channel</a:t>
            </a:r>
          </a:p>
          <a:p>
            <a:r>
              <a:rPr lang="en-GB" dirty="0"/>
              <a:t>ch := make(</a:t>
            </a:r>
            <a:r>
              <a:rPr lang="en-GB" dirty="0" err="1"/>
              <a:t>chan</a:t>
            </a:r>
            <a:r>
              <a:rPr lang="en-GB" dirty="0"/>
              <a:t> int, 5)   // Buffered channel with a capacity of 5</a:t>
            </a:r>
          </a:p>
          <a:p>
            <a:r>
              <a:rPr lang="en-GB" dirty="0"/>
              <a:t>```</a:t>
            </a:r>
          </a:p>
          <a:p>
            <a:endParaRPr lang="en-GB" dirty="0"/>
          </a:p>
          <a:p>
            <a:r>
              <a:rPr lang="en-GB" dirty="0"/>
              <a:t>### Sending and Receiving</a:t>
            </a:r>
          </a:p>
          <a:p>
            <a:endParaRPr lang="en-GB" dirty="0"/>
          </a:p>
          <a:p>
            <a:r>
              <a:rPr lang="en-GB" dirty="0"/>
              <a:t>- **Send Data to a Channel:** You use the `&lt;-` operator to send data to a channel:</a:t>
            </a:r>
          </a:p>
          <a:p>
            <a:endParaRPr lang="en-GB" dirty="0"/>
          </a:p>
          <a:p>
            <a:r>
              <a:rPr lang="en-GB" dirty="0"/>
              <a:t>  ```go</a:t>
            </a:r>
          </a:p>
          <a:p>
            <a:r>
              <a:rPr lang="en-GB" dirty="0"/>
              <a:t>  ch &lt;- 42 // Send the integer 42 to the channel</a:t>
            </a:r>
          </a:p>
          <a:p>
            <a:r>
              <a:rPr lang="en-GB" dirty="0"/>
              <a:t>  ```</a:t>
            </a:r>
          </a:p>
          <a:p>
            <a:endParaRPr lang="en-GB" dirty="0"/>
          </a:p>
          <a:p>
            <a:r>
              <a:rPr lang="en-GB" dirty="0"/>
              <a:t>- **Receive Data from a Channel:** You also use the `&lt;-` operator to receive data from a channel:</a:t>
            </a:r>
          </a:p>
          <a:p>
            <a:endParaRPr lang="en-GB" dirty="0"/>
          </a:p>
          <a:p>
            <a:r>
              <a:rPr lang="en-GB" dirty="0"/>
              <a:t>  ```go</a:t>
            </a:r>
          </a:p>
          <a:p>
            <a:r>
              <a:rPr lang="en-GB" dirty="0"/>
              <a:t>  x := &lt;-ch // Receive a value from the channel and assign it to variable x</a:t>
            </a:r>
          </a:p>
          <a:p>
            <a:r>
              <a:rPr lang="en-GB" dirty="0"/>
              <a:t>  ```</a:t>
            </a:r>
          </a:p>
          <a:p>
            <a:endParaRPr lang="en-GB" dirty="0"/>
          </a:p>
          <a:p>
            <a:r>
              <a:rPr lang="en-GB" dirty="0"/>
              <a:t>### Closing a Channel</a:t>
            </a:r>
          </a:p>
          <a:p>
            <a:endParaRPr lang="en-GB" dirty="0"/>
          </a:p>
          <a:p>
            <a:r>
              <a:rPr lang="en-GB" dirty="0"/>
              <a:t>You can close a channel to indicate that no more data will be sent on it. Receivers can use the second value returned by a receive to determine whether a channel has been closed:</a:t>
            </a:r>
          </a:p>
          <a:p>
            <a:endParaRPr lang="en-GB" dirty="0"/>
          </a:p>
          <a:p>
            <a:r>
              <a:rPr lang="en-GB" dirty="0"/>
              <a:t>```go</a:t>
            </a:r>
          </a:p>
          <a:p>
            <a:r>
              <a:rPr lang="en-GB" dirty="0"/>
              <a:t>close(ch) // Close the channel</a:t>
            </a:r>
          </a:p>
          <a:p>
            <a:endParaRPr lang="en-GB" dirty="0"/>
          </a:p>
          <a:p>
            <a:r>
              <a:rPr lang="en-GB" dirty="0"/>
              <a:t>// In a receiver goroutine</a:t>
            </a:r>
          </a:p>
          <a:p>
            <a:r>
              <a:rPr lang="en-GB" dirty="0"/>
              <a:t>x, ok := &lt;-ch // ok is false if the channel has been closed</a:t>
            </a:r>
          </a:p>
          <a:p>
            <a:r>
              <a:rPr lang="en-GB" dirty="0"/>
              <a:t>```</a:t>
            </a:r>
          </a:p>
          <a:p>
            <a:endParaRPr lang="en-GB" dirty="0"/>
          </a:p>
          <a:p>
            <a:r>
              <a:rPr lang="en-GB" dirty="0"/>
              <a:t>### Select Statement</a:t>
            </a:r>
          </a:p>
          <a:p>
            <a:endParaRPr lang="en-GB" dirty="0"/>
          </a:p>
          <a:p>
            <a:r>
              <a:rPr lang="en-GB" dirty="0"/>
              <a:t>The `select` statement allows you to choose from multiple communication operations. It's commonly used with channels to handle multiple channels concurrently.</a:t>
            </a:r>
          </a:p>
          <a:p>
            <a:endParaRPr lang="en-GB" dirty="0"/>
          </a:p>
          <a:p>
            <a:r>
              <a:rPr lang="en-GB" dirty="0"/>
              <a:t>```go</a:t>
            </a:r>
          </a:p>
          <a:p>
            <a:r>
              <a:rPr lang="en-GB" dirty="0"/>
              <a:t>select {</a:t>
            </a:r>
          </a:p>
          <a:p>
            <a:r>
              <a:rPr lang="en-GB" dirty="0"/>
              <a:t>    case msg1 := &lt;-ch1:</a:t>
            </a:r>
          </a:p>
          <a:p>
            <a:r>
              <a:rPr lang="en-GB" dirty="0"/>
              <a:t>        // Handle data received from ch1</a:t>
            </a:r>
          </a:p>
          <a:p>
            <a:r>
              <a:rPr lang="en-GB" dirty="0"/>
              <a:t>    case ch2 &lt;- data:</a:t>
            </a:r>
          </a:p>
          <a:p>
            <a:r>
              <a:rPr lang="en-GB" dirty="0"/>
              <a:t>        // Send data to ch2</a:t>
            </a:r>
          </a:p>
          <a:p>
            <a:r>
              <a:rPr lang="en-GB" dirty="0"/>
              <a:t>    case ch3 &lt;-- data:</a:t>
            </a:r>
          </a:p>
          <a:p>
            <a:r>
              <a:rPr lang="en-GB" dirty="0"/>
              <a:t>        // Bidirectional channel operation</a:t>
            </a:r>
          </a:p>
          <a:p>
            <a:r>
              <a:rPr lang="en-GB" dirty="0"/>
              <a:t>    default:</a:t>
            </a:r>
          </a:p>
          <a:p>
            <a:r>
              <a:rPr lang="en-GB" dirty="0"/>
              <a:t>        // Default case if no other case is ready</a:t>
            </a:r>
          </a:p>
          <a:p>
            <a:r>
              <a:rPr lang="en-GB" dirty="0"/>
              <a:t>}</a:t>
            </a:r>
          </a:p>
          <a:p>
            <a:r>
              <a:rPr lang="en-GB" dirty="0"/>
              <a:t>```</a:t>
            </a:r>
          </a:p>
          <a:p>
            <a:endParaRPr lang="en-GB" dirty="0"/>
          </a:p>
          <a:p>
            <a:r>
              <a:rPr lang="en-GB" dirty="0"/>
              <a:t>### Range Over a Channel</a:t>
            </a:r>
          </a:p>
          <a:p>
            <a:endParaRPr lang="en-GB" dirty="0"/>
          </a:p>
          <a:p>
            <a:r>
              <a:rPr lang="en-GB" dirty="0"/>
              <a:t>You can use a `for` loop with a range clause to iterate over the values sent on a channel. The loop continues until the channel is closed.</a:t>
            </a:r>
          </a:p>
          <a:p>
            <a:endParaRPr lang="en-GB" dirty="0"/>
          </a:p>
          <a:p>
            <a:r>
              <a:rPr lang="en-GB" dirty="0"/>
              <a:t>```go</a:t>
            </a:r>
          </a:p>
          <a:p>
            <a:r>
              <a:rPr lang="en-GB" dirty="0"/>
              <a:t>for </a:t>
            </a:r>
            <a:r>
              <a:rPr lang="en-GB" dirty="0" err="1"/>
              <a:t>val</a:t>
            </a:r>
            <a:r>
              <a:rPr lang="en-GB" dirty="0"/>
              <a:t> := range ch {</a:t>
            </a:r>
          </a:p>
          <a:p>
            <a:r>
              <a:rPr lang="en-GB" dirty="0"/>
              <a:t>    // Process </a:t>
            </a:r>
            <a:r>
              <a:rPr lang="en-GB" dirty="0" err="1"/>
              <a:t>val</a:t>
            </a:r>
            <a:endParaRPr lang="en-GB" dirty="0"/>
          </a:p>
          <a:p>
            <a:r>
              <a:rPr lang="en-GB" dirty="0"/>
              <a:t>}</a:t>
            </a:r>
          </a:p>
          <a:p>
            <a:r>
              <a:rPr lang="en-GB" dirty="0"/>
              <a:t>```</a:t>
            </a:r>
          </a:p>
          <a:p>
            <a:endParaRPr lang="en-GB" dirty="0"/>
          </a:p>
          <a:p>
            <a:r>
              <a:rPr lang="en-GB" dirty="0"/>
              <a:t>### Channel Patterns</a:t>
            </a:r>
          </a:p>
          <a:p>
            <a:endParaRPr lang="en-GB" dirty="0"/>
          </a:p>
          <a:p>
            <a:r>
              <a:rPr lang="en-GB" dirty="0"/>
              <a:t>1. **Fan-out, Fan-in:** You can use multiple goroutines to read from one channel, process the data, and then send the results to another channel. This pattern is called fan-out, fan-in, and it allows you to parallelize work.</a:t>
            </a:r>
          </a:p>
          <a:p>
            <a:endParaRPr lang="en-GB" dirty="0"/>
          </a:p>
          <a:p>
            <a:r>
              <a:rPr lang="en-GB" dirty="0"/>
              <a:t>2. **Timeouts:** You can use the `select` statement with a timer channel to implement timeouts for operations. This helps prevent blocking forever.</a:t>
            </a:r>
          </a:p>
          <a:p>
            <a:endParaRPr lang="en-GB" dirty="0"/>
          </a:p>
          <a:p>
            <a:r>
              <a:rPr lang="en-GB" dirty="0"/>
              <a:t>3. **Closing Channels:** Always remember to close channels when they are no longer needed to signal that no more data will be sent.</a:t>
            </a:r>
          </a:p>
          <a:p>
            <a:endParaRPr lang="en-GB" dirty="0"/>
          </a:p>
          <a:p>
            <a:r>
              <a:rPr lang="en-GB" dirty="0"/>
              <a:t>4. **Select with Default:** The `default` case in a `select` statement can be used for non-blocking operations when no other cases are ready.</a:t>
            </a:r>
          </a:p>
          <a:p>
            <a:endParaRPr lang="en-GB" dirty="0"/>
          </a:p>
          <a:p>
            <a:r>
              <a:rPr lang="en-GB" dirty="0"/>
              <a:t>5. **Cancellation:** Use channels to signal cancellation of work in long-running goroutines.</a:t>
            </a:r>
          </a:p>
          <a:p>
            <a:endParaRPr lang="en-GB" dirty="0"/>
          </a:p>
          <a:p>
            <a:r>
              <a:rPr lang="en-GB" dirty="0"/>
              <a:t>### Share Memory by Communicating</a:t>
            </a:r>
          </a:p>
          <a:p>
            <a:endParaRPr lang="en-GB" dirty="0"/>
          </a:p>
          <a:p>
            <a:r>
              <a:rPr lang="en-GB" dirty="0"/>
              <a:t>One of Go's mottos is "Do not communicate by sharing memory; instead, share memory by communicating." This means that channels are the primary means of communication between goroutines, and data races and race conditions are minimized because data is shared through channels.</a:t>
            </a:r>
          </a:p>
          <a:p>
            <a:endParaRPr lang="en-GB" dirty="0"/>
          </a:p>
          <a:p>
            <a:r>
              <a:rPr lang="en-GB" dirty="0"/>
              <a:t>Channels are a fundamental building block for concurrent and parallel programming in Go, and they enable you to write clean and safe concurrent code.</a:t>
            </a:r>
          </a:p>
        </p:txBody>
      </p:sp>
      <p:sp>
        <p:nvSpPr>
          <p:cNvPr id="4" name="Slide Number Placeholder 3"/>
          <p:cNvSpPr>
            <a:spLocks noGrp="1"/>
          </p:cNvSpPr>
          <p:nvPr>
            <p:ph type="sldNum" sz="quarter" idx="5"/>
          </p:nvPr>
        </p:nvSpPr>
        <p:spPr/>
        <p:txBody>
          <a:bodyPr/>
          <a:lstStyle/>
          <a:p>
            <a:fld id="{C5F6E639-2689-4976-9691-4FB9BFAEB3F5}" type="slidenum">
              <a:rPr lang="en-US" altLang="en-US" smtClean="0"/>
              <a:pPr/>
              <a:t>10</a:t>
            </a:fld>
            <a:endParaRPr lang="en-US" altLang="en-US"/>
          </a:p>
        </p:txBody>
      </p:sp>
    </p:spTree>
    <p:extLst>
      <p:ext uri="{BB962C8B-B14F-4D97-AF65-F5344CB8AC3E}">
        <p14:creationId xmlns:p14="http://schemas.microsoft.com/office/powerpoint/2010/main" val="3278786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"GOB" in the context of the Go programming language stands for "Go Binary." It is a package and encoding format used for serializing and deserializing Go data structures. GOB is a way to encode Go data structures into a binary format that can be efficiently transmitted or stored and later decoded back into Go data structures.</a:t>
            </a:r>
          </a:p>
          <a:p>
            <a:endParaRPr lang="en-GB" dirty="0"/>
          </a:p>
          <a:p>
            <a:r>
              <a:rPr lang="en-GB" dirty="0"/>
              <a:t>Here are some key points about GOB:</a:t>
            </a:r>
          </a:p>
          <a:p>
            <a:endParaRPr lang="en-GB" dirty="0"/>
          </a:p>
          <a:p>
            <a:r>
              <a:rPr lang="en-GB" dirty="0"/>
              <a:t>1. **Serialization and Deserialization:** GOB is used for serialization, which means converting Go data structures into a binary representation, and deserialization, which is the process of converting binary data back into Go data structures. It allows you to encode data so that it can be easily transmitted or stored and then decoded when needed.</a:t>
            </a:r>
          </a:p>
          <a:p>
            <a:endParaRPr lang="en-GB" dirty="0"/>
          </a:p>
          <a:p>
            <a:r>
              <a:rPr lang="en-GB" dirty="0"/>
              <a:t>2. **Efficiency:** GOB is designed to be efficient, and it is tailored for Go data structures. This means that it can efficiently encode and decode Go-specific types like slices, maps, and custom structs. GOB is more efficient and type-safe compared to using JSON or XML for Go data.</a:t>
            </a:r>
          </a:p>
          <a:p>
            <a:endParaRPr lang="en-GB" dirty="0"/>
          </a:p>
          <a:p>
            <a:r>
              <a:rPr lang="en-GB" dirty="0"/>
              <a:t>3. **Type Safety:** GOB is strongly typed, which means that the encoding and decoding process is aware of the types of data being serialized and deserialized. This ensures type safety and correctness during encoding and decoding.</a:t>
            </a:r>
          </a:p>
          <a:p>
            <a:endParaRPr lang="en-GB" dirty="0"/>
          </a:p>
          <a:p>
            <a:r>
              <a:rPr lang="en-GB" dirty="0"/>
              <a:t>4. **Binary Format:** GOB uses a binary format, which is more compact and efficient for data transmission and storage compared to human-readable formats like JSON or XML. However, it's not meant to be human-readable.</a:t>
            </a:r>
          </a:p>
          <a:p>
            <a:endParaRPr lang="en-GB" dirty="0"/>
          </a:p>
          <a:p>
            <a:r>
              <a:rPr lang="en-GB" dirty="0"/>
              <a:t>5. **Go Standard Library Support:** GOB is part of the Go standard library, and the `encoding/gob` package provides functions for encoding and decoding data using GOB.</a:t>
            </a:r>
          </a:p>
          <a:p>
            <a:endParaRPr lang="en-GB" dirty="0"/>
          </a:p>
          <a:p>
            <a:r>
              <a:rPr lang="en-GB" dirty="0"/>
              <a:t>Here's a basic example of encoding and decoding a Go struct using GOB:</a:t>
            </a:r>
          </a:p>
          <a:p>
            <a:endParaRPr lang="en-GB" dirty="0"/>
          </a:p>
          <a:p>
            <a:r>
              <a:rPr lang="en-GB" dirty="0"/>
              <a:t>```go</a:t>
            </a:r>
          </a:p>
          <a:p>
            <a:r>
              <a:rPr lang="en-GB" dirty="0"/>
              <a:t>package main</a:t>
            </a:r>
          </a:p>
          <a:p>
            <a:endParaRPr lang="en-GB" dirty="0"/>
          </a:p>
          <a:p>
            <a:r>
              <a:rPr lang="en-GB" dirty="0"/>
              <a:t>import (</a:t>
            </a:r>
          </a:p>
          <a:p>
            <a:r>
              <a:rPr lang="en-GB" dirty="0"/>
              <a:t>    "bytes"</a:t>
            </a:r>
          </a:p>
          <a:p>
            <a:r>
              <a:rPr lang="en-GB" dirty="0"/>
              <a:t>    "encoding/gob"</a:t>
            </a:r>
          </a:p>
          <a:p>
            <a:r>
              <a:rPr lang="en-GB" dirty="0"/>
              <a:t>    "</a:t>
            </a:r>
            <a:r>
              <a:rPr lang="en-GB" dirty="0" err="1"/>
              <a:t>fmt</a:t>
            </a:r>
            <a:r>
              <a:rPr lang="en-GB" dirty="0"/>
              <a:t>"</a:t>
            </a:r>
          </a:p>
          <a:p>
            <a:r>
              <a:rPr lang="en-GB" dirty="0"/>
              <a:t>)</a:t>
            </a:r>
          </a:p>
          <a:p>
            <a:endParaRPr lang="en-GB" dirty="0"/>
          </a:p>
          <a:p>
            <a:r>
              <a:rPr lang="en-GB" dirty="0"/>
              <a:t>type Person struct {</a:t>
            </a:r>
          </a:p>
          <a:p>
            <a:r>
              <a:rPr lang="en-GB" dirty="0"/>
              <a:t>    Name string</a:t>
            </a:r>
          </a:p>
          <a:p>
            <a:r>
              <a:rPr lang="en-GB" dirty="0"/>
              <a:t>    Age  int</a:t>
            </a:r>
          </a:p>
          <a:p>
            <a:r>
              <a:rPr lang="en-GB" dirty="0"/>
              <a:t>}</a:t>
            </a:r>
          </a:p>
          <a:p>
            <a:endParaRPr lang="en-GB" dirty="0"/>
          </a:p>
          <a:p>
            <a:r>
              <a:rPr lang="en-GB" dirty="0" err="1"/>
              <a:t>func</a:t>
            </a:r>
            <a:r>
              <a:rPr lang="en-GB" dirty="0"/>
              <a:t> main() {</a:t>
            </a:r>
          </a:p>
          <a:p>
            <a:r>
              <a:rPr lang="en-GB" dirty="0"/>
              <a:t>    // Create a Person struct</a:t>
            </a:r>
          </a:p>
          <a:p>
            <a:r>
              <a:rPr lang="en-GB" dirty="0"/>
              <a:t>    person := Person{Name: "Alice", Age: 30}</a:t>
            </a:r>
          </a:p>
          <a:p>
            <a:endParaRPr lang="en-GB" dirty="0"/>
          </a:p>
          <a:p>
            <a:r>
              <a:rPr lang="en-GB" dirty="0"/>
              <a:t>    // Encode the struct into a byte slice</a:t>
            </a:r>
          </a:p>
          <a:p>
            <a:r>
              <a:rPr lang="en-GB" dirty="0"/>
              <a:t>    var buffer </a:t>
            </a:r>
            <a:r>
              <a:rPr lang="en-GB" dirty="0" err="1"/>
              <a:t>bytes.Buffer</a:t>
            </a:r>
            <a:endParaRPr lang="en-GB" dirty="0"/>
          </a:p>
          <a:p>
            <a:r>
              <a:rPr lang="en-GB" dirty="0"/>
              <a:t>    enc := </a:t>
            </a:r>
            <a:r>
              <a:rPr lang="en-GB" dirty="0" err="1"/>
              <a:t>gob.NewEncoder</a:t>
            </a:r>
            <a:r>
              <a:rPr lang="en-GB" dirty="0"/>
              <a:t>(&amp;buffer)</a:t>
            </a:r>
          </a:p>
          <a:p>
            <a:r>
              <a:rPr lang="en-GB" dirty="0"/>
              <a:t>    err := </a:t>
            </a:r>
            <a:r>
              <a:rPr lang="en-GB" dirty="0" err="1"/>
              <a:t>enc.Encode</a:t>
            </a:r>
            <a:r>
              <a:rPr lang="en-GB" dirty="0"/>
              <a:t>(person)</a:t>
            </a:r>
          </a:p>
          <a:p>
            <a:r>
              <a:rPr lang="en-GB" dirty="0"/>
              <a:t>    if err != nil {</a:t>
            </a:r>
          </a:p>
          <a:p>
            <a:r>
              <a:rPr lang="en-GB" dirty="0"/>
              <a:t>        </a:t>
            </a:r>
            <a:r>
              <a:rPr lang="en-GB" dirty="0" err="1"/>
              <a:t>fmt.Println</a:t>
            </a:r>
            <a:r>
              <a:rPr lang="en-GB" dirty="0"/>
              <a:t>("Encoding error:", err)</a:t>
            </a:r>
          </a:p>
          <a:p>
            <a:r>
              <a:rPr lang="en-GB" dirty="0"/>
              <a:t>        return</a:t>
            </a:r>
          </a:p>
          <a:p>
            <a:r>
              <a:rPr lang="en-GB" dirty="0"/>
              <a:t>    }</a:t>
            </a:r>
          </a:p>
          <a:p>
            <a:endParaRPr lang="en-GB" dirty="0"/>
          </a:p>
          <a:p>
            <a:r>
              <a:rPr lang="en-GB" dirty="0"/>
              <a:t>    // Decode the byte slice back into a Person struct</a:t>
            </a:r>
          </a:p>
          <a:p>
            <a:r>
              <a:rPr lang="en-GB" dirty="0"/>
              <a:t>    var </a:t>
            </a:r>
            <a:r>
              <a:rPr lang="en-GB" dirty="0" err="1"/>
              <a:t>decodedPerson</a:t>
            </a:r>
            <a:r>
              <a:rPr lang="en-GB" dirty="0"/>
              <a:t> Person</a:t>
            </a:r>
          </a:p>
          <a:p>
            <a:r>
              <a:rPr lang="en-GB" dirty="0"/>
              <a:t>    dec := </a:t>
            </a:r>
            <a:r>
              <a:rPr lang="en-GB" dirty="0" err="1"/>
              <a:t>gob.NewDecoder</a:t>
            </a:r>
            <a:r>
              <a:rPr lang="en-GB" dirty="0"/>
              <a:t>(&amp;buffer)</a:t>
            </a:r>
          </a:p>
          <a:p>
            <a:r>
              <a:rPr lang="en-GB" dirty="0"/>
              <a:t>    err = </a:t>
            </a:r>
            <a:r>
              <a:rPr lang="en-GB" dirty="0" err="1"/>
              <a:t>dec.Decode</a:t>
            </a:r>
            <a:r>
              <a:rPr lang="en-GB" dirty="0"/>
              <a:t>(&amp;</a:t>
            </a:r>
            <a:r>
              <a:rPr lang="en-GB" dirty="0" err="1"/>
              <a:t>decodedPerson</a:t>
            </a:r>
            <a:r>
              <a:rPr lang="en-GB" dirty="0"/>
              <a:t>)</a:t>
            </a:r>
          </a:p>
          <a:p>
            <a:r>
              <a:rPr lang="en-GB" dirty="0"/>
              <a:t>    if err != nil {</a:t>
            </a:r>
          </a:p>
          <a:p>
            <a:r>
              <a:rPr lang="en-GB" dirty="0"/>
              <a:t>        </a:t>
            </a:r>
            <a:r>
              <a:rPr lang="en-GB" dirty="0" err="1"/>
              <a:t>fmt.Println</a:t>
            </a:r>
            <a:r>
              <a:rPr lang="en-GB" dirty="0"/>
              <a:t>("Decoding error:", err)</a:t>
            </a:r>
          </a:p>
          <a:p>
            <a:r>
              <a:rPr lang="en-GB" dirty="0"/>
              <a:t>        return</a:t>
            </a:r>
          </a:p>
          <a:p>
            <a:r>
              <a:rPr lang="en-GB" dirty="0"/>
              <a:t>    }</a:t>
            </a:r>
          </a:p>
          <a:p>
            <a:endParaRPr lang="en-GB" dirty="0"/>
          </a:p>
          <a:p>
            <a:r>
              <a:rPr lang="en-GB" dirty="0"/>
              <a:t>    </a:t>
            </a:r>
            <a:r>
              <a:rPr lang="en-GB" dirty="0" err="1"/>
              <a:t>fmt.Println</a:t>
            </a:r>
            <a:r>
              <a:rPr lang="en-GB" dirty="0"/>
              <a:t>("Original Person:", person)</a:t>
            </a:r>
          </a:p>
          <a:p>
            <a:r>
              <a:rPr lang="en-GB" dirty="0"/>
              <a:t>    </a:t>
            </a:r>
            <a:r>
              <a:rPr lang="en-GB" dirty="0" err="1"/>
              <a:t>fmt.Println</a:t>
            </a:r>
            <a:r>
              <a:rPr lang="en-GB" dirty="0"/>
              <a:t>("Decoded Person:", </a:t>
            </a:r>
            <a:r>
              <a:rPr lang="en-GB" dirty="0" err="1"/>
              <a:t>decodedPerson</a:t>
            </a:r>
            <a:r>
              <a:rPr lang="en-GB" dirty="0"/>
              <a:t>)</a:t>
            </a:r>
          </a:p>
          <a:p>
            <a:r>
              <a:rPr lang="en-GB" dirty="0"/>
              <a:t>}</a:t>
            </a:r>
          </a:p>
          <a:p>
            <a:r>
              <a:rPr lang="en-GB" dirty="0"/>
              <a:t>```</a:t>
            </a:r>
          </a:p>
          <a:p>
            <a:endParaRPr lang="en-GB" dirty="0"/>
          </a:p>
          <a:p>
            <a:r>
              <a:rPr lang="en-GB" dirty="0"/>
              <a:t>In this example, a `Person` struct is encoded into a binary representation using GOB, and then it is decoded back into a `Person` struct. GOB ensures that the type information and data integrity are maintained during the encoding and decoding process.</a:t>
            </a:r>
          </a:p>
        </p:txBody>
      </p:sp>
      <p:sp>
        <p:nvSpPr>
          <p:cNvPr id="4" name="Slide Number Placeholder 3"/>
          <p:cNvSpPr>
            <a:spLocks noGrp="1"/>
          </p:cNvSpPr>
          <p:nvPr>
            <p:ph type="sldNum" sz="quarter" idx="5"/>
          </p:nvPr>
        </p:nvSpPr>
        <p:spPr/>
        <p:txBody>
          <a:bodyPr/>
          <a:lstStyle/>
          <a:p>
            <a:fld id="{C5F6E639-2689-4976-9691-4FB9BFAEB3F5}" type="slidenum">
              <a:rPr lang="en-US" altLang="en-US" smtClean="0"/>
              <a:pPr/>
              <a:t>12</a:t>
            </a:fld>
            <a:endParaRPr lang="en-US" altLang="en-US"/>
          </a:p>
        </p:txBody>
      </p:sp>
    </p:spTree>
    <p:extLst>
      <p:ext uri="{BB962C8B-B14F-4D97-AF65-F5344CB8AC3E}">
        <p14:creationId xmlns:p14="http://schemas.microsoft.com/office/powerpoint/2010/main" val="30665106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34"/>
            <a:ext cx="7772400" cy="1470025"/>
          </a:xfrm>
        </p:spPr>
        <p:txBody>
          <a:bodyPr/>
          <a:lstStyle/>
          <a:p>
            <a:r>
              <a:rPr lang="fr-FR"/>
              <a:t>Cliquez et modifiez le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4">
            <a:extLst>
              <a:ext uri="{FF2B5EF4-FFF2-40B4-BE49-F238E27FC236}">
                <a16:creationId xmlns:a16="http://schemas.microsoft.com/office/drawing/2014/main" id="{9CFC5AF1-7AB8-12BA-BF9D-8C29BAEEB91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806A9CE-A688-7195-D3CA-1B416BF05FF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D3B93C8-9820-12C9-18A9-405F12300487}"/>
              </a:ext>
            </a:extLst>
          </p:cNvPr>
          <p:cNvSpPr>
            <a:spLocks noGrp="1" noChangeArrowheads="1"/>
          </p:cNvSpPr>
          <p:nvPr>
            <p:ph type="sldNum" sz="quarter" idx="12"/>
          </p:nvPr>
        </p:nvSpPr>
        <p:spPr>
          <a:ln/>
        </p:spPr>
        <p:txBody>
          <a:bodyPr/>
          <a:lstStyle>
            <a:lvl1pPr>
              <a:defRPr/>
            </a:lvl1pPr>
          </a:lstStyle>
          <a:p>
            <a:fld id="{3E797E24-8561-4659-AC36-79D2F3CD1DD2}" type="slidenum">
              <a:rPr lang="en-US" altLang="en-US"/>
              <a:pPr/>
              <a:t>‹#›</a:t>
            </a:fld>
            <a:endParaRPr lang="en-US" altLang="en-US"/>
          </a:p>
        </p:txBody>
      </p:sp>
    </p:spTree>
    <p:extLst>
      <p:ext uri="{BB962C8B-B14F-4D97-AF65-F5344CB8AC3E}">
        <p14:creationId xmlns:p14="http://schemas.microsoft.com/office/powerpoint/2010/main" val="1205122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7F3B8F08-0F42-B273-6243-763417A8070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E090596-E836-04A5-814F-CA7954ED98E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FE7BC29-8F9B-86D9-86EF-AE767AFE7A1E}"/>
              </a:ext>
            </a:extLst>
          </p:cNvPr>
          <p:cNvSpPr>
            <a:spLocks noGrp="1" noChangeArrowheads="1"/>
          </p:cNvSpPr>
          <p:nvPr>
            <p:ph type="sldNum" sz="quarter" idx="12"/>
          </p:nvPr>
        </p:nvSpPr>
        <p:spPr>
          <a:ln/>
        </p:spPr>
        <p:txBody>
          <a:bodyPr/>
          <a:lstStyle>
            <a:lvl1pPr>
              <a:defRPr/>
            </a:lvl1pPr>
          </a:lstStyle>
          <a:p>
            <a:fld id="{F8DDC7B7-CC88-4D54-9B4E-E74086A654E0}" type="slidenum">
              <a:rPr lang="en-US" altLang="en-US"/>
              <a:pPr/>
              <a:t>‹#›</a:t>
            </a:fld>
            <a:endParaRPr lang="en-US" altLang="en-US"/>
          </a:p>
        </p:txBody>
      </p:sp>
    </p:spTree>
    <p:extLst>
      <p:ext uri="{BB962C8B-B14F-4D97-AF65-F5344CB8AC3E}">
        <p14:creationId xmlns:p14="http://schemas.microsoft.com/office/powerpoint/2010/main" val="3004458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1"/>
            <a:ext cx="7772400" cy="1362075"/>
          </a:xfrm>
        </p:spPr>
        <p:txBody>
          <a:bodyPr anchor="t"/>
          <a:lstStyle>
            <a:lvl1pPr algn="l">
              <a:defRPr sz="4000" b="1" cap="all"/>
            </a:lvl1pPr>
          </a:lstStyle>
          <a:p>
            <a:r>
              <a:rPr lang="fr-FR"/>
              <a:t>Cliquez et modifiez le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Rectangle 4">
            <a:extLst>
              <a:ext uri="{FF2B5EF4-FFF2-40B4-BE49-F238E27FC236}">
                <a16:creationId xmlns:a16="http://schemas.microsoft.com/office/drawing/2014/main" id="{727E3FE9-DB13-B56D-992D-8BFB32FDC96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D536986-B678-F715-AFEA-800194B7045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9906E79-CB80-CDD3-0D68-0899D0665976}"/>
              </a:ext>
            </a:extLst>
          </p:cNvPr>
          <p:cNvSpPr>
            <a:spLocks noGrp="1" noChangeArrowheads="1"/>
          </p:cNvSpPr>
          <p:nvPr>
            <p:ph type="sldNum" sz="quarter" idx="12"/>
          </p:nvPr>
        </p:nvSpPr>
        <p:spPr>
          <a:ln/>
        </p:spPr>
        <p:txBody>
          <a:bodyPr/>
          <a:lstStyle>
            <a:lvl1pPr>
              <a:defRPr/>
            </a:lvl1pPr>
          </a:lstStyle>
          <a:p>
            <a:fld id="{4F7334A6-D01E-47A5-A123-1E1E3C3BC422}" type="slidenum">
              <a:rPr lang="en-US" altLang="en-US"/>
              <a:pPr/>
              <a:t>‹#›</a:t>
            </a:fld>
            <a:endParaRPr lang="en-US" altLang="en-US"/>
          </a:p>
        </p:txBody>
      </p:sp>
    </p:spTree>
    <p:extLst>
      <p:ext uri="{BB962C8B-B14F-4D97-AF65-F5344CB8AC3E}">
        <p14:creationId xmlns:p14="http://schemas.microsoft.com/office/powerpoint/2010/main" val="3426448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4">
            <a:extLst>
              <a:ext uri="{FF2B5EF4-FFF2-40B4-BE49-F238E27FC236}">
                <a16:creationId xmlns:a16="http://schemas.microsoft.com/office/drawing/2014/main" id="{27CFAA30-A047-C7FF-5292-9967FBEFAD0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34E6DD7-135F-94A7-AB22-4F8BD46FDA4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CFDA74D4-9747-0E98-CF68-CF59D986AABE}"/>
              </a:ext>
            </a:extLst>
          </p:cNvPr>
          <p:cNvSpPr>
            <a:spLocks noGrp="1" noChangeArrowheads="1"/>
          </p:cNvSpPr>
          <p:nvPr>
            <p:ph type="sldNum" sz="quarter" idx="12"/>
          </p:nvPr>
        </p:nvSpPr>
        <p:spPr>
          <a:ln/>
        </p:spPr>
        <p:txBody>
          <a:bodyPr/>
          <a:lstStyle>
            <a:lvl1pPr>
              <a:defRPr/>
            </a:lvl1pPr>
          </a:lstStyle>
          <a:p>
            <a:fld id="{BC118AB1-E1E6-4810-A634-42432F5C247F}" type="slidenum">
              <a:rPr lang="en-US" altLang="en-US"/>
              <a:pPr/>
              <a:t>‹#›</a:t>
            </a:fld>
            <a:endParaRPr lang="en-US" altLang="en-US"/>
          </a:p>
        </p:txBody>
      </p:sp>
    </p:spTree>
    <p:extLst>
      <p:ext uri="{BB962C8B-B14F-4D97-AF65-F5344CB8AC3E}">
        <p14:creationId xmlns:p14="http://schemas.microsoft.com/office/powerpoint/2010/main" val="217737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9"/>
            <a:ext cx="8229600" cy="1143000"/>
          </a:xfrm>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33"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4">
            <a:extLst>
              <a:ext uri="{FF2B5EF4-FFF2-40B4-BE49-F238E27FC236}">
                <a16:creationId xmlns:a16="http://schemas.microsoft.com/office/drawing/2014/main" id="{A9986B10-D49C-3FE1-2397-91D47536DAA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E0F21C00-1268-CFD5-2B29-DF243CCDE7F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C5B9A1D4-7DA5-FB5E-FE0F-B58DC25DF79F}"/>
              </a:ext>
            </a:extLst>
          </p:cNvPr>
          <p:cNvSpPr>
            <a:spLocks noGrp="1" noChangeArrowheads="1"/>
          </p:cNvSpPr>
          <p:nvPr>
            <p:ph type="sldNum" sz="quarter" idx="12"/>
          </p:nvPr>
        </p:nvSpPr>
        <p:spPr>
          <a:ln/>
        </p:spPr>
        <p:txBody>
          <a:bodyPr/>
          <a:lstStyle>
            <a:lvl1pPr>
              <a:defRPr/>
            </a:lvl1pPr>
          </a:lstStyle>
          <a:p>
            <a:fld id="{BDC4CB64-59F2-466B-A74A-32411E498977}" type="slidenum">
              <a:rPr lang="en-US" altLang="en-US"/>
              <a:pPr/>
              <a:t>‹#›</a:t>
            </a:fld>
            <a:endParaRPr lang="en-US" altLang="en-US"/>
          </a:p>
        </p:txBody>
      </p:sp>
    </p:spTree>
    <p:extLst>
      <p:ext uri="{BB962C8B-B14F-4D97-AF65-F5344CB8AC3E}">
        <p14:creationId xmlns:p14="http://schemas.microsoft.com/office/powerpoint/2010/main" val="2344981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Rectangle 4">
            <a:extLst>
              <a:ext uri="{FF2B5EF4-FFF2-40B4-BE49-F238E27FC236}">
                <a16:creationId xmlns:a16="http://schemas.microsoft.com/office/drawing/2014/main" id="{950F0010-86AE-6F74-3CF9-970BB6E8E158}"/>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B79C8D8F-D9BB-09CC-9B2E-C36BD6DEF50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13C4E9D6-5CE1-FEAD-4CAE-CAA5BA0414AA}"/>
              </a:ext>
            </a:extLst>
          </p:cNvPr>
          <p:cNvSpPr>
            <a:spLocks noGrp="1" noChangeArrowheads="1"/>
          </p:cNvSpPr>
          <p:nvPr>
            <p:ph type="sldNum" sz="quarter" idx="12"/>
          </p:nvPr>
        </p:nvSpPr>
        <p:spPr>
          <a:ln/>
        </p:spPr>
        <p:txBody>
          <a:bodyPr/>
          <a:lstStyle>
            <a:lvl1pPr>
              <a:defRPr/>
            </a:lvl1pPr>
          </a:lstStyle>
          <a:p>
            <a:fld id="{59262F6A-099A-412D-A19B-F2D96E8EBD00}" type="slidenum">
              <a:rPr lang="en-US" altLang="en-US"/>
              <a:pPr/>
              <a:t>‹#›</a:t>
            </a:fld>
            <a:endParaRPr lang="en-US" altLang="en-US"/>
          </a:p>
        </p:txBody>
      </p:sp>
    </p:spTree>
    <p:extLst>
      <p:ext uri="{BB962C8B-B14F-4D97-AF65-F5344CB8AC3E}">
        <p14:creationId xmlns:p14="http://schemas.microsoft.com/office/powerpoint/2010/main" val="4124326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AC35C75-D329-EFD8-26C5-CD96DDE8F6DA}"/>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6BC9FD17-16BD-CD18-B3DB-1400D469A6A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D08BE278-8BC6-F9F8-A7D6-3EA237F86928}"/>
              </a:ext>
            </a:extLst>
          </p:cNvPr>
          <p:cNvSpPr>
            <a:spLocks noGrp="1" noChangeArrowheads="1"/>
          </p:cNvSpPr>
          <p:nvPr>
            <p:ph type="sldNum" sz="quarter" idx="12"/>
          </p:nvPr>
        </p:nvSpPr>
        <p:spPr>
          <a:ln/>
        </p:spPr>
        <p:txBody>
          <a:bodyPr/>
          <a:lstStyle>
            <a:lvl1pPr>
              <a:defRPr/>
            </a:lvl1pPr>
          </a:lstStyle>
          <a:p>
            <a:fld id="{B58EA225-58BF-48E1-89BE-841308BC3E49}" type="slidenum">
              <a:rPr lang="en-US" altLang="en-US"/>
              <a:pPr/>
              <a:t>‹#›</a:t>
            </a:fld>
            <a:endParaRPr lang="en-US" altLang="en-US"/>
          </a:p>
        </p:txBody>
      </p:sp>
    </p:spTree>
    <p:extLst>
      <p:ext uri="{BB962C8B-B14F-4D97-AF65-F5344CB8AC3E}">
        <p14:creationId xmlns:p14="http://schemas.microsoft.com/office/powerpoint/2010/main" val="2126138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14" y="273049"/>
            <a:ext cx="3008313" cy="1162051"/>
          </a:xfrm>
        </p:spPr>
        <p:txBody>
          <a:bodyPr anchor="b"/>
          <a:lstStyle>
            <a:lvl1pPr algn="l">
              <a:defRPr sz="2000" b="1"/>
            </a:lvl1pPr>
          </a:lstStyle>
          <a:p>
            <a:r>
              <a:rPr lang="fr-FR"/>
              <a:t>Cliquez et modifiez le titre</a:t>
            </a:r>
          </a:p>
        </p:txBody>
      </p:sp>
      <p:sp>
        <p:nvSpPr>
          <p:cNvPr id="3" name="Espace réservé du contenu 2"/>
          <p:cNvSpPr>
            <a:spLocks noGrp="1"/>
          </p:cNvSpPr>
          <p:nvPr>
            <p:ph idx="1"/>
          </p:nvPr>
        </p:nvSpPr>
        <p:spPr>
          <a:xfrm>
            <a:off x="3575050" y="27306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14"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4">
            <a:extLst>
              <a:ext uri="{FF2B5EF4-FFF2-40B4-BE49-F238E27FC236}">
                <a16:creationId xmlns:a16="http://schemas.microsoft.com/office/drawing/2014/main" id="{DA481F1F-C568-1D4C-E169-0CD680F9759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204451F-8662-D536-2CD6-088E2E1A583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A599ED6-4D20-A5CA-9E36-A5E2BBF385D7}"/>
              </a:ext>
            </a:extLst>
          </p:cNvPr>
          <p:cNvSpPr>
            <a:spLocks noGrp="1" noChangeArrowheads="1"/>
          </p:cNvSpPr>
          <p:nvPr>
            <p:ph type="sldNum" sz="quarter" idx="12"/>
          </p:nvPr>
        </p:nvSpPr>
        <p:spPr>
          <a:ln/>
        </p:spPr>
        <p:txBody>
          <a:bodyPr/>
          <a:lstStyle>
            <a:lvl1pPr>
              <a:defRPr/>
            </a:lvl1pPr>
          </a:lstStyle>
          <a:p>
            <a:fld id="{C9991E66-C3FC-4F14-95E7-CC7A48B21D0A}" type="slidenum">
              <a:rPr lang="en-US" altLang="en-US"/>
              <a:pPr/>
              <a:t>‹#›</a:t>
            </a:fld>
            <a:endParaRPr lang="en-US" altLang="en-US"/>
          </a:p>
        </p:txBody>
      </p:sp>
    </p:spTree>
    <p:extLst>
      <p:ext uri="{BB962C8B-B14F-4D97-AF65-F5344CB8AC3E}">
        <p14:creationId xmlns:p14="http://schemas.microsoft.com/office/powerpoint/2010/main" val="3346815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1"/>
            <a:ext cx="5486400" cy="566739"/>
          </a:xfrm>
        </p:spPr>
        <p:txBody>
          <a:bodyPr anchor="b"/>
          <a:lstStyle>
            <a:lvl1pPr algn="l">
              <a:defRPr sz="2000" b="1"/>
            </a:lvl1pPr>
          </a:lstStyle>
          <a:p>
            <a:r>
              <a:rPr lang="fr-FR"/>
              <a:t>Cliquez et modifiez le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46"/>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4">
            <a:extLst>
              <a:ext uri="{FF2B5EF4-FFF2-40B4-BE49-F238E27FC236}">
                <a16:creationId xmlns:a16="http://schemas.microsoft.com/office/drawing/2014/main" id="{15499EC0-53DF-A2D7-2C6A-39BD9588506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2F02B41-5077-4DCC-4790-9B247BD4794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914D665-15D5-394F-943C-A5622F6D16ED}"/>
              </a:ext>
            </a:extLst>
          </p:cNvPr>
          <p:cNvSpPr>
            <a:spLocks noGrp="1" noChangeArrowheads="1"/>
          </p:cNvSpPr>
          <p:nvPr>
            <p:ph type="sldNum" sz="quarter" idx="12"/>
          </p:nvPr>
        </p:nvSpPr>
        <p:spPr>
          <a:ln/>
        </p:spPr>
        <p:txBody>
          <a:bodyPr/>
          <a:lstStyle>
            <a:lvl1pPr>
              <a:defRPr/>
            </a:lvl1pPr>
          </a:lstStyle>
          <a:p>
            <a:fld id="{E48A0632-AEFF-4C83-8F54-41EC5BACC1C8}" type="slidenum">
              <a:rPr lang="en-US" altLang="en-US"/>
              <a:pPr/>
              <a:t>‹#›</a:t>
            </a:fld>
            <a:endParaRPr lang="en-US" altLang="en-US"/>
          </a:p>
        </p:txBody>
      </p:sp>
    </p:spTree>
    <p:extLst>
      <p:ext uri="{BB962C8B-B14F-4D97-AF65-F5344CB8AC3E}">
        <p14:creationId xmlns:p14="http://schemas.microsoft.com/office/powerpoint/2010/main" val="372083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B87DCD4E-8198-9C85-119B-ECD91AFFD28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3E38551-D2F7-B7B4-4560-9B6EF715415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25864B2-1139-C161-05BF-CDF9B8D86623}"/>
              </a:ext>
            </a:extLst>
          </p:cNvPr>
          <p:cNvSpPr>
            <a:spLocks noGrp="1" noChangeArrowheads="1"/>
          </p:cNvSpPr>
          <p:nvPr>
            <p:ph type="sldNum" sz="quarter" idx="12"/>
          </p:nvPr>
        </p:nvSpPr>
        <p:spPr>
          <a:ln/>
        </p:spPr>
        <p:txBody>
          <a:bodyPr/>
          <a:lstStyle>
            <a:lvl1pPr>
              <a:defRPr/>
            </a:lvl1pPr>
          </a:lstStyle>
          <a:p>
            <a:fld id="{9705F6C8-418E-446E-8A2F-652BE3345125}" type="slidenum">
              <a:rPr lang="en-US" altLang="en-US"/>
              <a:pPr/>
              <a:t>‹#›</a:t>
            </a:fld>
            <a:endParaRPr lang="en-US" altLang="en-US"/>
          </a:p>
        </p:txBody>
      </p:sp>
    </p:spTree>
    <p:extLst>
      <p:ext uri="{BB962C8B-B14F-4D97-AF65-F5344CB8AC3E}">
        <p14:creationId xmlns:p14="http://schemas.microsoft.com/office/powerpoint/2010/main" val="1352973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72250" y="533401"/>
            <a:ext cx="2114550" cy="5592763"/>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228600" y="533401"/>
            <a:ext cx="6191250" cy="559276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4B9A8670-8E49-F594-9759-0F06F02F59D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C396400-1876-763D-F056-9E134B583F0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B1E6277-F50A-63A4-5EAC-B16B506354F0}"/>
              </a:ext>
            </a:extLst>
          </p:cNvPr>
          <p:cNvSpPr>
            <a:spLocks noGrp="1" noChangeArrowheads="1"/>
          </p:cNvSpPr>
          <p:nvPr>
            <p:ph type="sldNum" sz="quarter" idx="12"/>
          </p:nvPr>
        </p:nvSpPr>
        <p:spPr>
          <a:ln/>
        </p:spPr>
        <p:txBody>
          <a:bodyPr/>
          <a:lstStyle>
            <a:lvl1pPr>
              <a:defRPr/>
            </a:lvl1pPr>
          </a:lstStyle>
          <a:p>
            <a:fld id="{801BD53A-8986-41E4-A1C0-0AD6E7EAA574}" type="slidenum">
              <a:rPr lang="en-US" altLang="en-US"/>
              <a:pPr/>
              <a:t>‹#›</a:t>
            </a:fld>
            <a:endParaRPr lang="en-US" altLang="en-US"/>
          </a:p>
        </p:txBody>
      </p:sp>
    </p:spTree>
    <p:extLst>
      <p:ext uri="{BB962C8B-B14F-4D97-AF65-F5344CB8AC3E}">
        <p14:creationId xmlns:p14="http://schemas.microsoft.com/office/powerpoint/2010/main" val="1447801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81B3CD3-2346-1330-F6BE-F1617424B4C8}"/>
              </a:ext>
            </a:extLst>
          </p:cNvPr>
          <p:cNvSpPr>
            <a:spLocks noGrp="1" noChangeArrowheads="1"/>
          </p:cNvSpPr>
          <p:nvPr>
            <p:ph type="title"/>
          </p:nvPr>
        </p:nvSpPr>
        <p:spPr bwMode="auto">
          <a:xfrm>
            <a:off x="228600" y="7620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2A6E9787-7492-11F9-A0F5-DE0A7A9E271C}"/>
              </a:ext>
            </a:extLst>
          </p:cNvPr>
          <p:cNvSpPr>
            <a:spLocks noGrp="1" noChangeArrowheads="1"/>
          </p:cNvSpPr>
          <p:nvPr>
            <p:ph type="body" idx="1"/>
          </p:nvPr>
        </p:nvSpPr>
        <p:spPr bwMode="auto">
          <a:xfrm>
            <a:off x="457200" y="1676400"/>
            <a:ext cx="82296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124" name="Rectangle 4">
            <a:extLst>
              <a:ext uri="{FF2B5EF4-FFF2-40B4-BE49-F238E27FC236}">
                <a16:creationId xmlns:a16="http://schemas.microsoft.com/office/drawing/2014/main" id="{01AB0513-3E66-C064-559A-496C7A819A9D}"/>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ＭＳ Ｐゴシック" charset="0"/>
                <a:cs typeface="+mn-cs"/>
              </a:defRPr>
            </a:lvl1pPr>
          </a:lstStyle>
          <a:p>
            <a:pPr>
              <a:defRPr/>
            </a:pPr>
            <a:endParaRPr lang="en-US"/>
          </a:p>
        </p:txBody>
      </p:sp>
      <p:sp>
        <p:nvSpPr>
          <p:cNvPr id="5125" name="Rectangle 5">
            <a:extLst>
              <a:ext uri="{FF2B5EF4-FFF2-40B4-BE49-F238E27FC236}">
                <a16:creationId xmlns:a16="http://schemas.microsoft.com/office/drawing/2014/main" id="{F2340491-B2FB-1FEF-A1CD-250749E28FDF}"/>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ＭＳ Ｐゴシック" charset="0"/>
                <a:cs typeface="+mn-cs"/>
              </a:defRPr>
            </a:lvl1pPr>
          </a:lstStyle>
          <a:p>
            <a:pPr>
              <a:defRPr/>
            </a:pPr>
            <a:endParaRPr lang="en-US"/>
          </a:p>
        </p:txBody>
      </p:sp>
      <p:sp>
        <p:nvSpPr>
          <p:cNvPr id="5126" name="Rectangle 6">
            <a:extLst>
              <a:ext uri="{FF2B5EF4-FFF2-40B4-BE49-F238E27FC236}">
                <a16:creationId xmlns:a16="http://schemas.microsoft.com/office/drawing/2014/main" id="{8B9ED12D-14C1-FFCD-C150-4ED2E0521E53}"/>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A10BA1C2-DCD7-4B38-A65B-996F35FFE9FE}" type="slidenum">
              <a:rPr lang="en-US" altLang="en-US"/>
              <a:pPr/>
              <a:t>‹#›</a:t>
            </a:fld>
            <a:endParaRPr lang="en-US" altLang="en-US"/>
          </a:p>
        </p:txBody>
      </p:sp>
      <p:sp>
        <p:nvSpPr>
          <p:cNvPr id="5129" name="Text Box 9">
            <a:extLst>
              <a:ext uri="{FF2B5EF4-FFF2-40B4-BE49-F238E27FC236}">
                <a16:creationId xmlns:a16="http://schemas.microsoft.com/office/drawing/2014/main" id="{9D95B9EC-B933-9729-23C9-DABA386FF2B4}"/>
              </a:ext>
            </a:extLst>
          </p:cNvPr>
          <p:cNvSpPr txBox="1">
            <a:spLocks noChangeArrowheads="1"/>
          </p:cNvSpPr>
          <p:nvPr/>
        </p:nvSpPr>
        <p:spPr bwMode="auto">
          <a:xfrm>
            <a:off x="0" y="0"/>
            <a:ext cx="9144000" cy="400050"/>
          </a:xfrm>
          <a:prstGeom prst="rect">
            <a:avLst/>
          </a:prstGeom>
          <a:solidFill>
            <a:schemeClr val="bg1">
              <a:lumMod val="85000"/>
            </a:schemeClr>
          </a:solidFill>
          <a:ln w="9525">
            <a:solidFill>
              <a:schemeClr val="bg1">
                <a:lumMod val="95000"/>
              </a:schemeClr>
            </a:solidFill>
            <a:miter lim="800000"/>
            <a:headEnd/>
            <a:tailEnd/>
          </a:ln>
          <a:effectLst/>
        </p:spPr>
        <p:txBody>
          <a:bodyPr>
            <a:spAutoFit/>
          </a:bodyPr>
          <a:lstStyle>
            <a:lvl1pPr eaLnBrk="0" hangingPunct="0">
              <a:defRPr sz="28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8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8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8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en-US" altLang="en-US" sz="2000" b="1">
                <a:solidFill>
                  <a:srgbClr val="0D0D0D"/>
                </a:solidFill>
              </a:rPr>
              <a:t>Lecture 09 </a:t>
            </a:r>
            <a:r>
              <a:rPr lang="mr-IN" altLang="en-US" sz="2000" b="1">
                <a:solidFill>
                  <a:srgbClr val="0D0D0D"/>
                </a:solidFill>
              </a:rPr>
              <a:t>–</a:t>
            </a:r>
            <a:r>
              <a:rPr lang="en-US" altLang="en-US" sz="2000" b="1">
                <a:solidFill>
                  <a:srgbClr val="0D0D0D"/>
                </a:solidFill>
              </a:rPr>
              <a:t> Network Programming using Golang</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rtl="0" eaLnBrk="0" fontAlgn="base" hangingPunct="0">
        <a:spcBef>
          <a:spcPct val="0"/>
        </a:spcBef>
        <a:spcAft>
          <a:spcPct val="0"/>
        </a:spcAft>
        <a:defRPr sz="3600" b="1">
          <a:solidFill>
            <a:schemeClr val="tx2"/>
          </a:solidFill>
          <a:latin typeface="+mj-lt"/>
          <a:ea typeface="+mj-ea"/>
          <a:cs typeface="ＭＳ Ｐゴシック" charset="0"/>
        </a:defRPr>
      </a:lvl1pPr>
      <a:lvl2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2pPr>
      <a:lvl3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3pPr>
      <a:lvl4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4pPr>
      <a:lvl5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5pPr>
      <a:lvl6pPr marL="457200" algn="l" rtl="0" fontAlgn="base">
        <a:spcBef>
          <a:spcPct val="0"/>
        </a:spcBef>
        <a:spcAft>
          <a:spcPct val="0"/>
        </a:spcAft>
        <a:defRPr sz="3600" b="1">
          <a:solidFill>
            <a:schemeClr val="tx2"/>
          </a:solidFill>
          <a:latin typeface="Trebuchet MS" charset="0"/>
          <a:ea typeface="ＭＳ Ｐゴシック" charset="0"/>
        </a:defRPr>
      </a:lvl6pPr>
      <a:lvl7pPr marL="914400" algn="l" rtl="0" fontAlgn="base">
        <a:spcBef>
          <a:spcPct val="0"/>
        </a:spcBef>
        <a:spcAft>
          <a:spcPct val="0"/>
        </a:spcAft>
        <a:defRPr sz="3600" b="1">
          <a:solidFill>
            <a:schemeClr val="tx2"/>
          </a:solidFill>
          <a:latin typeface="Trebuchet MS" charset="0"/>
          <a:ea typeface="ＭＳ Ｐゴシック" charset="0"/>
        </a:defRPr>
      </a:lvl7pPr>
      <a:lvl8pPr marL="1371600" algn="l" rtl="0" fontAlgn="base">
        <a:spcBef>
          <a:spcPct val="0"/>
        </a:spcBef>
        <a:spcAft>
          <a:spcPct val="0"/>
        </a:spcAft>
        <a:defRPr sz="3600" b="1">
          <a:solidFill>
            <a:schemeClr val="tx2"/>
          </a:solidFill>
          <a:latin typeface="Trebuchet MS" charset="0"/>
          <a:ea typeface="ＭＳ Ｐゴシック" charset="0"/>
        </a:defRPr>
      </a:lvl8pPr>
      <a:lvl9pPr marL="1828800" algn="l" rtl="0" fontAlgn="base">
        <a:spcBef>
          <a:spcPct val="0"/>
        </a:spcBef>
        <a:spcAft>
          <a:spcPct val="0"/>
        </a:spcAft>
        <a:defRPr sz="3600" b="1">
          <a:solidFill>
            <a:schemeClr val="tx2"/>
          </a:solidFill>
          <a:latin typeface="Trebuchet MS" charset="0"/>
          <a:ea typeface="ＭＳ Ｐゴシック"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23C4E095-2A9F-815D-B252-E5318D64BA70}"/>
              </a:ext>
            </a:extLst>
          </p:cNvPr>
          <p:cNvSpPr>
            <a:spLocks noGrp="1" noChangeArrowheads="1"/>
          </p:cNvSpPr>
          <p:nvPr>
            <p:ph type="ctrTitle"/>
          </p:nvPr>
        </p:nvSpPr>
        <p:spPr>
          <a:xfrm>
            <a:off x="685800" y="2130425"/>
            <a:ext cx="7772400" cy="1470025"/>
          </a:xfrm>
        </p:spPr>
        <p:txBody>
          <a:bodyPr/>
          <a:lstStyle/>
          <a:p>
            <a:pPr algn="ctr" eaLnBrk="1" hangingPunct="1">
              <a:defRPr/>
            </a:pPr>
            <a:r>
              <a:rPr lang="en-US" dirty="0">
                <a:solidFill>
                  <a:srgbClr val="0000FF"/>
                </a:solidFill>
                <a:cs typeface="+mj-cs"/>
              </a:rPr>
              <a:t>Lecture 09 </a:t>
            </a:r>
            <a:br>
              <a:rPr lang="en-US" dirty="0">
                <a:solidFill>
                  <a:srgbClr val="0000FF"/>
                </a:solidFill>
                <a:cs typeface="+mj-cs"/>
              </a:rPr>
            </a:br>
            <a:r>
              <a:rPr lang="en-US" dirty="0">
                <a:solidFill>
                  <a:schemeClr val="tx1">
                    <a:lumMod val="95000"/>
                    <a:lumOff val="5000"/>
                  </a:schemeClr>
                </a:solidFill>
              </a:rPr>
              <a:t>Network Programming using Golang</a:t>
            </a:r>
            <a:endParaRPr lang="en-US" dirty="0">
              <a:solidFill>
                <a:srgbClr val="0000FF"/>
              </a:solidFill>
              <a:cs typeface="+mj-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re 1">
            <a:extLst>
              <a:ext uri="{FF2B5EF4-FFF2-40B4-BE49-F238E27FC236}">
                <a16:creationId xmlns:a16="http://schemas.microsoft.com/office/drawing/2014/main" id="{B5E55D36-96C4-D450-8802-1B136A0D50ED}"/>
              </a:ext>
            </a:extLst>
          </p:cNvPr>
          <p:cNvSpPr>
            <a:spLocks noGrp="1" noChangeArrowheads="1"/>
          </p:cNvSpPr>
          <p:nvPr>
            <p:ph type="title"/>
          </p:nvPr>
        </p:nvSpPr>
        <p:spPr/>
        <p:txBody>
          <a:bodyPr/>
          <a:lstStyle/>
          <a:p>
            <a:r>
              <a:rPr lang="fr-FR" altLang="en-US"/>
              <a:t>The net package</a:t>
            </a:r>
          </a:p>
        </p:txBody>
      </p:sp>
      <p:sp>
        <p:nvSpPr>
          <p:cNvPr id="16386" name="Espace réservé du contenu 2">
            <a:extLst>
              <a:ext uri="{FF2B5EF4-FFF2-40B4-BE49-F238E27FC236}">
                <a16:creationId xmlns:a16="http://schemas.microsoft.com/office/drawing/2014/main" id="{5FF0EE95-56E3-2A1F-2EB3-D968A2CEB051}"/>
              </a:ext>
            </a:extLst>
          </p:cNvPr>
          <p:cNvSpPr>
            <a:spLocks noGrp="1" noChangeArrowheads="1"/>
          </p:cNvSpPr>
          <p:nvPr>
            <p:ph idx="1"/>
          </p:nvPr>
        </p:nvSpPr>
        <p:spPr/>
        <p:txBody>
          <a:bodyPr/>
          <a:lstStyle/>
          <a:p>
            <a:r>
              <a:rPr lang="fr-FR" altLang="en-US" sz="2000"/>
              <a:t>Package net provides a portable interface for network I/O, including TCP/IP, UDP, domain name resolution</a:t>
            </a:r>
            <a:r>
              <a:rPr lang="is-IS" altLang="en-US" sz="2000"/>
              <a:t>…</a:t>
            </a:r>
            <a:endParaRPr lang="fr-FR" altLang="en-US" sz="2000"/>
          </a:p>
          <a:p>
            <a:endParaRPr lang="fr-FR" altLang="en-US" sz="2000"/>
          </a:p>
          <a:p>
            <a:endParaRPr lang="fr-FR" altLang="en-US" sz="2000"/>
          </a:p>
          <a:p>
            <a:endParaRPr lang="fr-FR" altLang="en-US" sz="2000"/>
          </a:p>
        </p:txBody>
      </p:sp>
      <p:sp>
        <p:nvSpPr>
          <p:cNvPr id="16387" name="Rectangle 4">
            <a:extLst>
              <a:ext uri="{FF2B5EF4-FFF2-40B4-BE49-F238E27FC236}">
                <a16:creationId xmlns:a16="http://schemas.microsoft.com/office/drawing/2014/main" id="{5B12D4C0-8B02-2CCB-2F24-67BF9E2E88AF}"/>
              </a:ext>
            </a:extLst>
          </p:cNvPr>
          <p:cNvSpPr>
            <a:spLocks noChangeArrowheads="1"/>
          </p:cNvSpPr>
          <p:nvPr/>
        </p:nvSpPr>
        <p:spPr bwMode="auto">
          <a:xfrm>
            <a:off x="1447800" y="3124200"/>
            <a:ext cx="57150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2000" b="1" i="1">
                <a:solidFill>
                  <a:srgbClr val="204A87"/>
                </a:solidFill>
                <a:latin typeface="Monaco" pitchFamily="125" charset="0"/>
              </a:rPr>
              <a:t>package </a:t>
            </a:r>
            <a:r>
              <a:rPr lang="fr-FR" altLang="en-US" sz="2000" b="1" i="1">
                <a:solidFill>
                  <a:srgbClr val="000000"/>
                </a:solidFill>
                <a:latin typeface="Monaco" pitchFamily="125" charset="0"/>
              </a:rPr>
              <a:t>main</a:t>
            </a:r>
          </a:p>
          <a:p>
            <a:pPr eaLnBrk="1" hangingPunct="1">
              <a:spcBef>
                <a:spcPct val="0"/>
              </a:spcBef>
              <a:buFontTx/>
              <a:buNone/>
            </a:pPr>
            <a:endParaRPr lang="fr-FR" altLang="en-US" sz="2000" i="1">
              <a:latin typeface="Monaco" pitchFamily="125" charset="0"/>
            </a:endParaRPr>
          </a:p>
          <a:p>
            <a:pPr eaLnBrk="1" hangingPunct="1">
              <a:spcBef>
                <a:spcPct val="0"/>
              </a:spcBef>
              <a:buFontTx/>
              <a:buNone/>
            </a:pPr>
            <a:r>
              <a:rPr lang="fr-FR" altLang="en-US" sz="2000" b="1" i="1">
                <a:solidFill>
                  <a:srgbClr val="204A87"/>
                </a:solidFill>
                <a:latin typeface="Monaco" pitchFamily="125" charset="0"/>
              </a:rPr>
              <a:t>import </a:t>
            </a:r>
            <a:r>
              <a:rPr lang="fr-FR" altLang="en-US" sz="2000" b="1" i="1">
                <a:solidFill>
                  <a:srgbClr val="000000"/>
                </a:solidFill>
                <a:latin typeface="Monaco" pitchFamily="125" charset="0"/>
              </a:rPr>
              <a:t>(</a:t>
            </a:r>
            <a:endParaRPr lang="de-DE" altLang="en-US" sz="2000" i="1">
              <a:solidFill>
                <a:srgbClr val="4E9A06"/>
              </a:solidFill>
              <a:latin typeface="Monaco" pitchFamily="125" charset="0"/>
            </a:endParaRPr>
          </a:p>
          <a:p>
            <a:pPr eaLnBrk="1" hangingPunct="1">
              <a:spcBef>
                <a:spcPct val="0"/>
              </a:spcBef>
              <a:buFontTx/>
              <a:buNone/>
            </a:pPr>
            <a:r>
              <a:rPr lang="de-DE" altLang="en-US" sz="2000" i="1">
                <a:latin typeface="Monaco" pitchFamily="125" charset="0"/>
              </a:rPr>
              <a:t>	</a:t>
            </a:r>
            <a:r>
              <a:rPr lang="de-DE" altLang="en-US" sz="2000" i="1">
                <a:solidFill>
                  <a:srgbClr val="4E9A06"/>
                </a:solidFill>
                <a:latin typeface="Monaco" pitchFamily="125" charset="0"/>
              </a:rPr>
              <a:t>"net</a:t>
            </a:r>
            <a:r>
              <a:rPr lang="de-DE" altLang="fr-FR" sz="2000" i="1">
                <a:solidFill>
                  <a:srgbClr val="4E9A06"/>
                </a:solidFill>
                <a:latin typeface="Monaco" pitchFamily="125" charset="0"/>
              </a:rPr>
              <a:t>“</a:t>
            </a:r>
            <a:endParaRPr lang="de-DE" altLang="en-US" sz="2000" i="1">
              <a:solidFill>
                <a:srgbClr val="4E9A06"/>
              </a:solidFill>
              <a:latin typeface="Monaco" pitchFamily="125" charset="0"/>
            </a:endParaRPr>
          </a:p>
          <a:p>
            <a:pPr eaLnBrk="1" hangingPunct="1">
              <a:spcBef>
                <a:spcPct val="0"/>
              </a:spcBef>
              <a:buFontTx/>
              <a:buNone/>
            </a:pPr>
            <a:r>
              <a:rPr lang="de-DE" altLang="en-US" sz="2000" i="1">
                <a:solidFill>
                  <a:srgbClr val="4E9A06"/>
                </a:solidFill>
                <a:latin typeface="Monaco" pitchFamily="125" charset="0"/>
              </a:rPr>
              <a:t>	//...</a:t>
            </a:r>
          </a:p>
          <a:p>
            <a:pPr eaLnBrk="1" hangingPunct="1">
              <a:spcBef>
                <a:spcPct val="0"/>
              </a:spcBef>
              <a:buFontTx/>
              <a:buNone/>
            </a:pPr>
            <a:r>
              <a:rPr lang="is-IS" altLang="en-US" sz="2000" b="1" i="1">
                <a:solidFill>
                  <a:srgbClr val="000000"/>
                </a:solidFill>
                <a:latin typeface="Monaco" pitchFamily="125" charset="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re 1">
            <a:extLst>
              <a:ext uri="{FF2B5EF4-FFF2-40B4-BE49-F238E27FC236}">
                <a16:creationId xmlns:a16="http://schemas.microsoft.com/office/drawing/2014/main" id="{E4D5F432-8E6C-0583-9915-1A1B1824022F}"/>
              </a:ext>
            </a:extLst>
          </p:cNvPr>
          <p:cNvSpPr>
            <a:spLocks noGrp="1" noChangeArrowheads="1"/>
          </p:cNvSpPr>
          <p:nvPr>
            <p:ph type="title"/>
          </p:nvPr>
        </p:nvSpPr>
        <p:spPr/>
        <p:txBody>
          <a:bodyPr/>
          <a:lstStyle/>
          <a:p>
            <a:r>
              <a:rPr lang="fr-FR" altLang="en-US"/>
              <a:t>The net package</a:t>
            </a:r>
          </a:p>
        </p:txBody>
      </p:sp>
      <p:sp>
        <p:nvSpPr>
          <p:cNvPr id="17410" name="Espace réservé du contenu 2">
            <a:extLst>
              <a:ext uri="{FF2B5EF4-FFF2-40B4-BE49-F238E27FC236}">
                <a16:creationId xmlns:a16="http://schemas.microsoft.com/office/drawing/2014/main" id="{3CDCA8AF-D659-221E-C23A-737D407D34DD}"/>
              </a:ext>
            </a:extLst>
          </p:cNvPr>
          <p:cNvSpPr>
            <a:spLocks noGrp="1" noChangeArrowheads="1"/>
          </p:cNvSpPr>
          <p:nvPr>
            <p:ph idx="1"/>
          </p:nvPr>
        </p:nvSpPr>
        <p:spPr/>
        <p:txBody>
          <a:bodyPr/>
          <a:lstStyle/>
          <a:p>
            <a:r>
              <a:rPr lang="fr-FR" altLang="en-US" sz="2000" dirty="0"/>
              <a:t>The package </a:t>
            </a:r>
            <a:r>
              <a:rPr lang="fr-FR" altLang="en-US" sz="2000" dirty="0" err="1"/>
              <a:t>provides</a:t>
            </a:r>
            <a:r>
              <a:rPr lang="fr-FR" altLang="en-US" sz="2000" dirty="0"/>
              <a:t> </a:t>
            </a:r>
            <a:r>
              <a:rPr lang="fr-FR" altLang="en-US" sz="2000" dirty="0" err="1"/>
              <a:t>access</a:t>
            </a:r>
            <a:r>
              <a:rPr lang="fr-FR" altLang="en-US" sz="2000" dirty="0"/>
              <a:t> to </a:t>
            </a:r>
            <a:r>
              <a:rPr lang="fr-FR" altLang="en-US" sz="2000" dirty="0" err="1"/>
              <a:t>low-level</a:t>
            </a:r>
            <a:r>
              <a:rPr lang="fr-FR" altLang="en-US" sz="2000" dirty="0"/>
              <a:t> networking primitives but </a:t>
            </a:r>
            <a:r>
              <a:rPr lang="fr-FR" altLang="en-US" sz="2000" dirty="0" err="1"/>
              <a:t>most</a:t>
            </a:r>
            <a:r>
              <a:rPr lang="fr-FR" altLang="en-US" sz="2000" dirty="0"/>
              <a:t> clients </a:t>
            </a:r>
            <a:r>
              <a:rPr lang="fr-FR" altLang="en-US" sz="2000" dirty="0" err="1"/>
              <a:t>would</a:t>
            </a:r>
            <a:r>
              <a:rPr lang="fr-FR" altLang="en-US" sz="2000" dirty="0"/>
              <a:t> use </a:t>
            </a:r>
            <a:r>
              <a:rPr lang="fr-FR" altLang="en-US" sz="2000" dirty="0" err="1"/>
              <a:t>some</a:t>
            </a:r>
            <a:r>
              <a:rPr lang="fr-FR" altLang="en-US" sz="2000" dirty="0"/>
              <a:t> basic </a:t>
            </a:r>
            <a:r>
              <a:rPr lang="fr-FR" altLang="en-US" sz="2000" dirty="0" err="1"/>
              <a:t>functions</a:t>
            </a:r>
            <a:r>
              <a:rPr lang="fr-FR" altLang="en-US" sz="2000" dirty="0"/>
              <a:t> </a:t>
            </a:r>
          </a:p>
          <a:p>
            <a:endParaRPr lang="fr-FR" altLang="en-US" sz="2000" dirty="0"/>
          </a:p>
          <a:p>
            <a:r>
              <a:rPr lang="fr-FR" altLang="en-US" sz="2000" dirty="0"/>
              <a:t>The Dial </a:t>
            </a:r>
            <a:r>
              <a:rPr lang="fr-FR" altLang="en-US" sz="2000" dirty="0" err="1"/>
              <a:t>function</a:t>
            </a:r>
            <a:r>
              <a:rPr lang="fr-FR" altLang="en-US" sz="2000" dirty="0"/>
              <a:t> </a:t>
            </a:r>
            <a:r>
              <a:rPr lang="fr-FR" altLang="en-US" sz="2000" dirty="0" err="1"/>
              <a:t>connects</a:t>
            </a:r>
            <a:r>
              <a:rPr lang="fr-FR" altLang="en-US" sz="2000" dirty="0"/>
              <a:t> to a server:</a:t>
            </a:r>
          </a:p>
        </p:txBody>
      </p:sp>
      <p:sp>
        <p:nvSpPr>
          <p:cNvPr id="4" name="Rectangle 3">
            <a:extLst>
              <a:ext uri="{FF2B5EF4-FFF2-40B4-BE49-F238E27FC236}">
                <a16:creationId xmlns:a16="http://schemas.microsoft.com/office/drawing/2014/main" id="{AF53FC39-014E-A386-5440-5CAFB0CF6272}"/>
              </a:ext>
            </a:extLst>
          </p:cNvPr>
          <p:cNvSpPr>
            <a:spLocks noChangeArrowheads="1"/>
          </p:cNvSpPr>
          <p:nvPr/>
        </p:nvSpPr>
        <p:spPr bwMode="auto">
          <a:xfrm>
            <a:off x="1524000" y="3200400"/>
            <a:ext cx="75438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400" i="1" dirty="0" err="1">
                <a:solidFill>
                  <a:srgbClr val="000000"/>
                </a:solidFill>
                <a:latin typeface="Monaco" pitchFamily="125" charset="0"/>
              </a:rPr>
              <a:t>conn</a:t>
            </a:r>
            <a:r>
              <a:rPr lang="fr-FR" altLang="en-US" sz="1400" b="1" i="1" dirty="0">
                <a:solidFill>
                  <a:srgbClr val="000000"/>
                </a:solidFill>
                <a:latin typeface="Monaco" pitchFamily="125" charset="0"/>
              </a:rPr>
              <a:t>, </a:t>
            </a:r>
            <a:r>
              <a:rPr lang="fr-FR" altLang="en-US" sz="1400" b="1" i="1" dirty="0" err="1">
                <a:solidFill>
                  <a:srgbClr val="000000"/>
                </a:solidFill>
                <a:latin typeface="Monaco" pitchFamily="125" charset="0"/>
              </a:rPr>
              <a:t>err</a:t>
            </a:r>
            <a:r>
              <a:rPr lang="fr-FR" altLang="en-US" sz="1400" b="1" i="1" dirty="0">
                <a:solidFill>
                  <a:srgbClr val="000000"/>
                </a:solidFill>
                <a:latin typeface="Monaco" pitchFamily="125" charset="0"/>
              </a:rPr>
              <a:t> </a:t>
            </a:r>
            <a:r>
              <a:rPr lang="fr-FR" altLang="en-US" sz="1400" b="1" i="1" dirty="0">
                <a:solidFill>
                  <a:srgbClr val="CE5C00"/>
                </a:solidFill>
                <a:latin typeface="Monaco" pitchFamily="125" charset="0"/>
              </a:rPr>
              <a:t>:= </a:t>
            </a:r>
            <a:r>
              <a:rPr lang="fr-FR" altLang="en-US" sz="1400" b="1" i="1" dirty="0" err="1">
                <a:solidFill>
                  <a:srgbClr val="000000"/>
                </a:solidFill>
                <a:latin typeface="Monaco" pitchFamily="125" charset="0"/>
              </a:rPr>
              <a:t>net.Dial</a:t>
            </a:r>
            <a:r>
              <a:rPr lang="fr-FR" altLang="en-US" sz="1400" b="1" i="1" dirty="0">
                <a:solidFill>
                  <a:srgbClr val="000000"/>
                </a:solidFill>
                <a:latin typeface="Monaco" pitchFamily="125" charset="0"/>
              </a:rPr>
              <a:t>(</a:t>
            </a:r>
            <a:r>
              <a:rPr lang="fr-FR" altLang="en-US" sz="1400" b="1" i="1" dirty="0">
                <a:solidFill>
                  <a:srgbClr val="4E9A06"/>
                </a:solidFill>
                <a:latin typeface="Monaco" pitchFamily="125" charset="0"/>
              </a:rPr>
              <a:t>"</a:t>
            </a:r>
            <a:r>
              <a:rPr lang="fr-FR" altLang="en-US" sz="1400" b="1" i="1" dirty="0" err="1">
                <a:solidFill>
                  <a:srgbClr val="4E9A06"/>
                </a:solidFill>
                <a:latin typeface="Monaco" pitchFamily="125" charset="0"/>
              </a:rPr>
              <a:t>tcp</a:t>
            </a:r>
            <a:r>
              <a:rPr lang="fr-FR" altLang="en-US" sz="1400" b="1" i="1" dirty="0">
                <a:solidFill>
                  <a:srgbClr val="4E9A06"/>
                </a:solidFill>
                <a:latin typeface="Monaco" pitchFamily="125" charset="0"/>
              </a:rPr>
              <a:t>"</a:t>
            </a:r>
            <a:r>
              <a:rPr lang="fr-FR" altLang="en-US" sz="1400" b="1" i="1" dirty="0">
                <a:solidFill>
                  <a:srgbClr val="000000"/>
                </a:solidFill>
                <a:latin typeface="Monaco" pitchFamily="125" charset="0"/>
              </a:rPr>
              <a:t>, </a:t>
            </a:r>
            <a:r>
              <a:rPr lang="fr-FR" altLang="en-US" sz="1400" b="1" i="1" dirty="0">
                <a:solidFill>
                  <a:srgbClr val="4E9A06"/>
                </a:solidFill>
                <a:latin typeface="Monaco" pitchFamily="125" charset="0"/>
              </a:rPr>
              <a:t>"google.com:80"</a:t>
            </a:r>
            <a:r>
              <a:rPr lang="fr-FR" altLang="en-US" sz="1400" b="1" i="1" dirty="0">
                <a:solidFill>
                  <a:srgbClr val="000000"/>
                </a:solidFill>
                <a:latin typeface="Monaco" pitchFamily="125" charset="0"/>
              </a:rPr>
              <a:t>)</a:t>
            </a:r>
          </a:p>
          <a:p>
            <a:pPr eaLnBrk="1" hangingPunct="1">
              <a:spcBef>
                <a:spcPct val="0"/>
              </a:spcBef>
              <a:buFontTx/>
              <a:buNone/>
            </a:pPr>
            <a:r>
              <a:rPr lang="fr-FR" altLang="en-US" sz="1400" b="1" i="1" dirty="0">
                <a:solidFill>
                  <a:srgbClr val="204A87"/>
                </a:solidFill>
                <a:latin typeface="Monaco" pitchFamily="125" charset="0"/>
              </a:rPr>
              <a:t>if </a:t>
            </a:r>
            <a:r>
              <a:rPr lang="fr-FR" altLang="en-US" sz="1400" b="1" i="1" dirty="0" err="1">
                <a:solidFill>
                  <a:srgbClr val="000000"/>
                </a:solidFill>
                <a:latin typeface="Monaco" pitchFamily="125" charset="0"/>
              </a:rPr>
              <a:t>err</a:t>
            </a:r>
            <a:r>
              <a:rPr lang="fr-FR" altLang="en-US" sz="1400" b="1" i="1" dirty="0">
                <a:solidFill>
                  <a:srgbClr val="000000"/>
                </a:solidFill>
                <a:latin typeface="Monaco" pitchFamily="125" charset="0"/>
              </a:rPr>
              <a:t> </a:t>
            </a:r>
            <a:r>
              <a:rPr lang="fr-FR" altLang="en-US" sz="1400" b="1" i="1" dirty="0">
                <a:solidFill>
                  <a:srgbClr val="CE5C00"/>
                </a:solidFill>
                <a:latin typeface="Monaco" pitchFamily="125" charset="0"/>
              </a:rPr>
              <a:t>!= </a:t>
            </a:r>
            <a:r>
              <a:rPr lang="fr-FR" altLang="en-US" sz="1400" b="1" i="1" dirty="0" err="1">
                <a:solidFill>
                  <a:srgbClr val="204A87"/>
                </a:solidFill>
                <a:latin typeface="Monaco" pitchFamily="125" charset="0"/>
              </a:rPr>
              <a:t>nil</a:t>
            </a:r>
            <a:r>
              <a:rPr lang="fr-FR" altLang="en-US" sz="1400" b="1" i="1" dirty="0">
                <a:solidFill>
                  <a:srgbClr val="204A87"/>
                </a:solidFill>
                <a:latin typeface="Monaco" pitchFamily="125" charset="0"/>
              </a:rPr>
              <a:t> </a:t>
            </a:r>
            <a:r>
              <a:rPr lang="fr-FR" altLang="en-US" sz="1400" b="1" i="1" dirty="0">
                <a:solidFill>
                  <a:srgbClr val="000000"/>
                </a:solidFill>
                <a:latin typeface="Monaco" pitchFamily="125" charset="0"/>
              </a:rPr>
              <a:t>{</a:t>
            </a:r>
          </a:p>
          <a:p>
            <a:pPr eaLnBrk="1" hangingPunct="1">
              <a:spcBef>
                <a:spcPct val="0"/>
              </a:spcBef>
              <a:buFontTx/>
              <a:buNone/>
            </a:pPr>
            <a:r>
              <a:rPr lang="fr-FR" altLang="en-US" sz="1400" i="1" dirty="0">
                <a:latin typeface="Monaco" pitchFamily="125" charset="0"/>
              </a:rPr>
              <a:t>	</a:t>
            </a:r>
            <a:r>
              <a:rPr lang="fr-FR" altLang="en-US" sz="1400" i="1" dirty="0">
                <a:solidFill>
                  <a:srgbClr val="8F5902"/>
                </a:solidFill>
                <a:latin typeface="Monaco" pitchFamily="125" charset="0"/>
              </a:rPr>
              <a:t>// </a:t>
            </a:r>
            <a:r>
              <a:rPr lang="fr-FR" altLang="en-US" sz="1400" i="1" dirty="0" err="1">
                <a:solidFill>
                  <a:srgbClr val="8F5902"/>
                </a:solidFill>
                <a:latin typeface="Monaco" pitchFamily="125" charset="0"/>
              </a:rPr>
              <a:t>handle</a:t>
            </a:r>
            <a:r>
              <a:rPr lang="fr-FR" altLang="en-US" sz="1400" i="1" dirty="0">
                <a:solidFill>
                  <a:srgbClr val="8F5902"/>
                </a:solidFill>
                <a:latin typeface="Monaco" pitchFamily="125" charset="0"/>
              </a:rPr>
              <a:t> </a:t>
            </a:r>
            <a:r>
              <a:rPr lang="fr-FR" altLang="en-US" sz="1400" i="1" dirty="0" err="1">
                <a:solidFill>
                  <a:srgbClr val="8F5902"/>
                </a:solidFill>
                <a:latin typeface="Monaco" pitchFamily="125" charset="0"/>
              </a:rPr>
              <a:t>error</a:t>
            </a:r>
            <a:endParaRPr lang="fr-FR" altLang="en-US" sz="1400" i="1" dirty="0">
              <a:solidFill>
                <a:srgbClr val="8F5902"/>
              </a:solidFill>
              <a:latin typeface="Monaco" pitchFamily="125" charset="0"/>
            </a:endParaRPr>
          </a:p>
          <a:p>
            <a:pPr eaLnBrk="1" hangingPunct="1">
              <a:spcBef>
                <a:spcPct val="0"/>
              </a:spcBef>
              <a:buFontTx/>
              <a:buNone/>
            </a:pPr>
            <a:r>
              <a:rPr lang="fr-FR" altLang="en-US" sz="1400" b="1" i="1" dirty="0">
                <a:solidFill>
                  <a:srgbClr val="000000"/>
                </a:solidFill>
                <a:latin typeface="Monaco" pitchFamily="125" charset="0"/>
              </a:rPr>
              <a:t>}</a:t>
            </a:r>
          </a:p>
          <a:p>
            <a:pPr eaLnBrk="1" hangingPunct="1">
              <a:spcBef>
                <a:spcPct val="0"/>
              </a:spcBef>
              <a:buFontTx/>
              <a:buNone/>
            </a:pPr>
            <a:r>
              <a:rPr lang="fr-FR" altLang="en-US" sz="1400" i="1" dirty="0" err="1">
                <a:solidFill>
                  <a:srgbClr val="000000"/>
                </a:solidFill>
                <a:latin typeface="Monaco" pitchFamily="125" charset="0"/>
              </a:rPr>
              <a:t>fmt</a:t>
            </a:r>
            <a:r>
              <a:rPr lang="fr-FR" altLang="en-US" sz="1400" b="1" i="1" dirty="0" err="1">
                <a:solidFill>
                  <a:srgbClr val="000000"/>
                </a:solidFill>
                <a:latin typeface="Monaco" pitchFamily="125" charset="0"/>
              </a:rPr>
              <a:t>.Fprintf</a:t>
            </a:r>
            <a:r>
              <a:rPr lang="fr-FR" altLang="en-US" sz="1400" b="1" i="1" dirty="0">
                <a:solidFill>
                  <a:srgbClr val="000000"/>
                </a:solidFill>
                <a:latin typeface="Monaco" pitchFamily="125" charset="0"/>
              </a:rPr>
              <a:t>(</a:t>
            </a:r>
            <a:r>
              <a:rPr lang="fr-FR" altLang="en-US" sz="1400" b="1" i="1" dirty="0" err="1">
                <a:solidFill>
                  <a:srgbClr val="000000"/>
                </a:solidFill>
                <a:latin typeface="Monaco" pitchFamily="125" charset="0"/>
              </a:rPr>
              <a:t>conn</a:t>
            </a:r>
            <a:r>
              <a:rPr lang="fr-FR" altLang="en-US" sz="1400" b="1" i="1" dirty="0">
                <a:solidFill>
                  <a:srgbClr val="000000"/>
                </a:solidFill>
                <a:latin typeface="Monaco" pitchFamily="125" charset="0"/>
              </a:rPr>
              <a:t>, </a:t>
            </a:r>
            <a:r>
              <a:rPr lang="fr-FR" altLang="en-US" sz="1400" b="1" i="1" dirty="0">
                <a:solidFill>
                  <a:srgbClr val="4E9A06"/>
                </a:solidFill>
                <a:latin typeface="Monaco" pitchFamily="125" charset="0"/>
              </a:rPr>
              <a:t>"GET / HTTP/1.0\r\n\r\n"</a:t>
            </a:r>
            <a:r>
              <a:rPr lang="fr-FR" altLang="en-US" sz="1400" b="1" i="1" dirty="0">
                <a:solidFill>
                  <a:srgbClr val="000000"/>
                </a:solidFill>
                <a:latin typeface="Monaco" pitchFamily="125" charset="0"/>
              </a:rPr>
              <a:t>)</a:t>
            </a:r>
          </a:p>
          <a:p>
            <a:pPr eaLnBrk="1" hangingPunct="1">
              <a:spcBef>
                <a:spcPct val="0"/>
              </a:spcBef>
              <a:buFontTx/>
              <a:buNone/>
            </a:pPr>
            <a:r>
              <a:rPr lang="bg-BG" altLang="en-US" sz="1400" i="1" dirty="0">
                <a:solidFill>
                  <a:srgbClr val="8F5902"/>
                </a:solidFill>
                <a:latin typeface="Monaco" pitchFamily="125"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re 1">
            <a:extLst>
              <a:ext uri="{FF2B5EF4-FFF2-40B4-BE49-F238E27FC236}">
                <a16:creationId xmlns:a16="http://schemas.microsoft.com/office/drawing/2014/main" id="{705C6584-862E-C87B-D187-5E9157BF53D4}"/>
              </a:ext>
            </a:extLst>
          </p:cNvPr>
          <p:cNvSpPr>
            <a:spLocks noGrp="1" noChangeArrowheads="1"/>
          </p:cNvSpPr>
          <p:nvPr>
            <p:ph type="title"/>
          </p:nvPr>
        </p:nvSpPr>
        <p:spPr/>
        <p:txBody>
          <a:bodyPr/>
          <a:lstStyle/>
          <a:p>
            <a:r>
              <a:rPr lang="fr-FR" altLang="en-US"/>
              <a:t>The net package</a:t>
            </a:r>
          </a:p>
        </p:txBody>
      </p:sp>
      <p:sp>
        <p:nvSpPr>
          <p:cNvPr id="18434" name="Espace réservé du contenu 2">
            <a:extLst>
              <a:ext uri="{FF2B5EF4-FFF2-40B4-BE49-F238E27FC236}">
                <a16:creationId xmlns:a16="http://schemas.microsoft.com/office/drawing/2014/main" id="{4B763118-D762-43A4-8CF7-AF3DE041056D}"/>
              </a:ext>
            </a:extLst>
          </p:cNvPr>
          <p:cNvSpPr>
            <a:spLocks noGrp="1" noChangeArrowheads="1"/>
          </p:cNvSpPr>
          <p:nvPr>
            <p:ph idx="1"/>
          </p:nvPr>
        </p:nvSpPr>
        <p:spPr/>
        <p:txBody>
          <a:bodyPr/>
          <a:lstStyle/>
          <a:p>
            <a:r>
              <a:rPr lang="fr-FR" altLang="en-US" sz="2000"/>
              <a:t>The package provides access to low-level networking primitives but most clients would use some basic functions </a:t>
            </a:r>
          </a:p>
          <a:p>
            <a:endParaRPr lang="fr-FR" altLang="en-US" sz="2000"/>
          </a:p>
          <a:p>
            <a:r>
              <a:rPr lang="fr-FR" altLang="en-US" sz="2000"/>
              <a:t>The Listen function creates servers:</a:t>
            </a:r>
          </a:p>
        </p:txBody>
      </p:sp>
      <p:sp>
        <p:nvSpPr>
          <p:cNvPr id="4" name="Rectangle 3">
            <a:extLst>
              <a:ext uri="{FF2B5EF4-FFF2-40B4-BE49-F238E27FC236}">
                <a16:creationId xmlns:a16="http://schemas.microsoft.com/office/drawing/2014/main" id="{59BD323C-D978-88F0-2431-42FED6A42763}"/>
              </a:ext>
            </a:extLst>
          </p:cNvPr>
          <p:cNvSpPr>
            <a:spLocks noChangeArrowheads="1"/>
          </p:cNvSpPr>
          <p:nvPr/>
        </p:nvSpPr>
        <p:spPr bwMode="auto">
          <a:xfrm>
            <a:off x="1524000" y="3124200"/>
            <a:ext cx="754380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nb-NO" altLang="en-US" sz="1400" i="1">
                <a:solidFill>
                  <a:srgbClr val="000000"/>
                </a:solidFill>
                <a:latin typeface="Monaco" pitchFamily="125" charset="0"/>
              </a:rPr>
              <a:t>ln</a:t>
            </a:r>
            <a:r>
              <a:rPr lang="nb-NO" altLang="en-US" sz="1400" b="1" i="1">
                <a:solidFill>
                  <a:srgbClr val="000000"/>
                </a:solidFill>
                <a:latin typeface="Monaco" pitchFamily="125" charset="0"/>
              </a:rPr>
              <a:t>, err </a:t>
            </a:r>
            <a:r>
              <a:rPr lang="nb-NO" altLang="en-US" sz="1400" b="1" i="1">
                <a:solidFill>
                  <a:srgbClr val="CE5C00"/>
                </a:solidFill>
                <a:latin typeface="Monaco" pitchFamily="125" charset="0"/>
              </a:rPr>
              <a:t>:= </a:t>
            </a:r>
            <a:r>
              <a:rPr lang="nb-NO" altLang="en-US" sz="1400" b="1" i="1">
                <a:solidFill>
                  <a:srgbClr val="000000"/>
                </a:solidFill>
                <a:latin typeface="Monaco" pitchFamily="125" charset="0"/>
              </a:rPr>
              <a:t>net.Listen(</a:t>
            </a:r>
            <a:r>
              <a:rPr lang="nb-NO" altLang="en-US" sz="1400" b="1" i="1">
                <a:solidFill>
                  <a:srgbClr val="4E9A06"/>
                </a:solidFill>
                <a:latin typeface="Monaco" pitchFamily="125" charset="0"/>
              </a:rPr>
              <a:t>"tcp"</a:t>
            </a:r>
            <a:r>
              <a:rPr lang="nb-NO" altLang="en-US" sz="1400" b="1" i="1">
                <a:solidFill>
                  <a:srgbClr val="000000"/>
                </a:solidFill>
                <a:latin typeface="Monaco" pitchFamily="125" charset="0"/>
              </a:rPr>
              <a:t>, </a:t>
            </a:r>
            <a:r>
              <a:rPr lang="nb-NO" altLang="en-US" sz="1400" b="1" i="1">
                <a:solidFill>
                  <a:srgbClr val="4E9A06"/>
                </a:solidFill>
                <a:latin typeface="Monaco" pitchFamily="125" charset="0"/>
              </a:rPr>
              <a:t>":8080"</a:t>
            </a:r>
            <a:r>
              <a:rPr lang="nb-NO" altLang="en-US" sz="1400" b="1" i="1">
                <a:solidFill>
                  <a:srgbClr val="000000"/>
                </a:solidFill>
                <a:latin typeface="Monaco" pitchFamily="125" charset="0"/>
              </a:rPr>
              <a:t>)</a:t>
            </a:r>
          </a:p>
          <a:p>
            <a:pPr eaLnBrk="1" hangingPunct="1">
              <a:spcBef>
                <a:spcPct val="0"/>
              </a:spcBef>
              <a:buFontTx/>
              <a:buNone/>
            </a:pPr>
            <a:r>
              <a:rPr lang="fr-FR" altLang="en-US" sz="1400" b="1" i="1">
                <a:solidFill>
                  <a:srgbClr val="204A87"/>
                </a:solidFill>
                <a:latin typeface="Monaco" pitchFamily="125" charset="0"/>
              </a:rPr>
              <a:t>if </a:t>
            </a:r>
            <a:r>
              <a:rPr lang="fr-FR" altLang="en-US" sz="1400" b="1" i="1">
                <a:solidFill>
                  <a:srgbClr val="000000"/>
                </a:solidFill>
                <a:latin typeface="Monaco" pitchFamily="125" charset="0"/>
              </a:rPr>
              <a:t>err </a:t>
            </a:r>
            <a:r>
              <a:rPr lang="fr-FR" altLang="en-US" sz="1400" b="1" i="1">
                <a:solidFill>
                  <a:srgbClr val="CE5C00"/>
                </a:solidFill>
                <a:latin typeface="Monaco" pitchFamily="125" charset="0"/>
              </a:rPr>
              <a:t>!= </a:t>
            </a:r>
            <a:r>
              <a:rPr lang="fr-FR" altLang="en-US" sz="1400" b="1" i="1">
                <a:solidFill>
                  <a:srgbClr val="204A87"/>
                </a:solidFill>
                <a:latin typeface="Monaco" pitchFamily="125" charset="0"/>
              </a:rPr>
              <a:t>nil </a:t>
            </a:r>
            <a:r>
              <a:rPr lang="fr-FR" altLang="en-US" sz="1400" b="1" i="1">
                <a:solidFill>
                  <a:srgbClr val="000000"/>
                </a:solidFill>
                <a:latin typeface="Monaco" pitchFamily="125" charset="0"/>
              </a:rPr>
              <a:t>{</a:t>
            </a:r>
          </a:p>
          <a:p>
            <a:pPr eaLnBrk="1" hangingPunct="1">
              <a:spcBef>
                <a:spcPct val="0"/>
              </a:spcBef>
              <a:buFontTx/>
              <a:buNone/>
            </a:pPr>
            <a:r>
              <a:rPr lang="fr-FR" altLang="en-US" sz="1400" i="1">
                <a:latin typeface="Monaco" pitchFamily="125" charset="0"/>
              </a:rPr>
              <a:t>	</a:t>
            </a:r>
            <a:r>
              <a:rPr lang="fr-FR" altLang="en-US" sz="1400" i="1">
                <a:solidFill>
                  <a:srgbClr val="8F5902"/>
                </a:solidFill>
                <a:latin typeface="Monaco" pitchFamily="125" charset="0"/>
              </a:rPr>
              <a:t>// handle error</a:t>
            </a:r>
          </a:p>
          <a:p>
            <a:pPr eaLnBrk="1" hangingPunct="1">
              <a:spcBef>
                <a:spcPct val="0"/>
              </a:spcBef>
              <a:buFontTx/>
              <a:buNone/>
            </a:pPr>
            <a:r>
              <a:rPr lang="fr-FR" altLang="en-US" sz="1400" b="1" i="1">
                <a:solidFill>
                  <a:srgbClr val="000000"/>
                </a:solidFill>
                <a:latin typeface="Monaco" pitchFamily="125" charset="0"/>
              </a:rPr>
              <a:t>}</a:t>
            </a:r>
          </a:p>
          <a:p>
            <a:pPr eaLnBrk="1" hangingPunct="1">
              <a:spcBef>
                <a:spcPct val="0"/>
              </a:spcBef>
              <a:buFontTx/>
              <a:buNone/>
            </a:pPr>
            <a:r>
              <a:rPr lang="en-US" altLang="en-US" sz="1400" b="1" i="1">
                <a:solidFill>
                  <a:srgbClr val="204A87"/>
                </a:solidFill>
                <a:latin typeface="Monaco" pitchFamily="125" charset="0"/>
              </a:rPr>
              <a:t>for </a:t>
            </a:r>
            <a:r>
              <a:rPr lang="en-US" altLang="en-US" sz="1400" b="1" i="1">
                <a:solidFill>
                  <a:srgbClr val="000000"/>
                </a:solidFill>
                <a:latin typeface="Monaco" pitchFamily="125" charset="0"/>
              </a:rPr>
              <a:t>{</a:t>
            </a:r>
          </a:p>
          <a:p>
            <a:pPr eaLnBrk="1" hangingPunct="1">
              <a:spcBef>
                <a:spcPct val="0"/>
              </a:spcBef>
              <a:buFontTx/>
              <a:buNone/>
            </a:pPr>
            <a:r>
              <a:rPr lang="en-US" altLang="en-US" sz="1400" i="1">
                <a:latin typeface="Monaco" pitchFamily="125" charset="0"/>
              </a:rPr>
              <a:t>	</a:t>
            </a:r>
            <a:r>
              <a:rPr lang="en-US" altLang="en-US" sz="1400" i="1">
                <a:solidFill>
                  <a:srgbClr val="000000"/>
                </a:solidFill>
                <a:latin typeface="Monaco" pitchFamily="125" charset="0"/>
              </a:rPr>
              <a:t>conn</a:t>
            </a:r>
            <a:r>
              <a:rPr lang="en-US" altLang="en-US" sz="1400" b="1" i="1">
                <a:solidFill>
                  <a:srgbClr val="000000"/>
                </a:solidFill>
                <a:latin typeface="Monaco" pitchFamily="125" charset="0"/>
              </a:rPr>
              <a:t>, err </a:t>
            </a:r>
            <a:r>
              <a:rPr lang="en-US" altLang="en-US" sz="1400" b="1" i="1">
                <a:solidFill>
                  <a:srgbClr val="CE5C00"/>
                </a:solidFill>
                <a:latin typeface="Monaco" pitchFamily="125" charset="0"/>
              </a:rPr>
              <a:t>:= </a:t>
            </a:r>
            <a:r>
              <a:rPr lang="en-US" altLang="en-US" sz="1400" b="1" i="1">
                <a:solidFill>
                  <a:srgbClr val="000000"/>
                </a:solidFill>
                <a:latin typeface="Monaco" pitchFamily="125" charset="0"/>
              </a:rPr>
              <a:t>ln.Accept()</a:t>
            </a:r>
          </a:p>
          <a:p>
            <a:pPr eaLnBrk="1" hangingPunct="1">
              <a:spcBef>
                <a:spcPct val="0"/>
              </a:spcBef>
              <a:buFontTx/>
              <a:buNone/>
            </a:pPr>
            <a:r>
              <a:rPr lang="fr-FR" altLang="en-US" sz="1400" i="1">
                <a:latin typeface="Monaco" pitchFamily="125" charset="0"/>
              </a:rPr>
              <a:t>	</a:t>
            </a:r>
            <a:r>
              <a:rPr lang="fr-FR" altLang="en-US" sz="1400" b="1" i="1">
                <a:solidFill>
                  <a:srgbClr val="204A87"/>
                </a:solidFill>
                <a:latin typeface="Monaco" pitchFamily="125" charset="0"/>
              </a:rPr>
              <a:t>if </a:t>
            </a:r>
            <a:r>
              <a:rPr lang="fr-FR" altLang="en-US" sz="1400" b="1" i="1">
                <a:solidFill>
                  <a:srgbClr val="000000"/>
                </a:solidFill>
                <a:latin typeface="Monaco" pitchFamily="125" charset="0"/>
              </a:rPr>
              <a:t>err </a:t>
            </a:r>
            <a:r>
              <a:rPr lang="fr-FR" altLang="en-US" sz="1400" b="1" i="1">
                <a:solidFill>
                  <a:srgbClr val="CE5C00"/>
                </a:solidFill>
                <a:latin typeface="Monaco" pitchFamily="125" charset="0"/>
              </a:rPr>
              <a:t>!= </a:t>
            </a:r>
            <a:r>
              <a:rPr lang="fr-FR" altLang="en-US" sz="1400" b="1" i="1">
                <a:solidFill>
                  <a:srgbClr val="204A87"/>
                </a:solidFill>
                <a:latin typeface="Monaco" pitchFamily="125" charset="0"/>
              </a:rPr>
              <a:t>nil </a:t>
            </a:r>
            <a:r>
              <a:rPr lang="fr-FR" altLang="en-US" sz="1400" b="1" i="1">
                <a:solidFill>
                  <a:srgbClr val="000000"/>
                </a:solidFill>
                <a:latin typeface="Monaco" pitchFamily="125" charset="0"/>
              </a:rPr>
              <a:t>{</a:t>
            </a:r>
          </a:p>
          <a:p>
            <a:pPr eaLnBrk="1" hangingPunct="1">
              <a:spcBef>
                <a:spcPct val="0"/>
              </a:spcBef>
              <a:buFontTx/>
              <a:buNone/>
            </a:pPr>
            <a:r>
              <a:rPr lang="fr-FR" altLang="en-US" sz="1400" i="1">
                <a:latin typeface="Monaco" pitchFamily="125" charset="0"/>
              </a:rPr>
              <a:t>		</a:t>
            </a:r>
            <a:r>
              <a:rPr lang="fr-FR" altLang="en-US" sz="1400" i="1">
                <a:solidFill>
                  <a:srgbClr val="8F5902"/>
                </a:solidFill>
                <a:latin typeface="Monaco" pitchFamily="125" charset="0"/>
              </a:rPr>
              <a:t>// handle error</a:t>
            </a:r>
          </a:p>
          <a:p>
            <a:pPr eaLnBrk="1" hangingPunct="1">
              <a:spcBef>
                <a:spcPct val="0"/>
              </a:spcBef>
              <a:buFontTx/>
              <a:buNone/>
            </a:pPr>
            <a:r>
              <a:rPr lang="fr-FR" altLang="en-US" sz="1400" i="1">
                <a:latin typeface="Monaco" pitchFamily="125" charset="0"/>
              </a:rPr>
              <a:t>	</a:t>
            </a:r>
            <a:r>
              <a:rPr lang="fr-FR" altLang="en-US" sz="1400" b="1" i="1">
                <a:solidFill>
                  <a:srgbClr val="000000"/>
                </a:solidFill>
                <a:latin typeface="Monaco" pitchFamily="125" charset="0"/>
              </a:rPr>
              <a:t>}</a:t>
            </a:r>
          </a:p>
          <a:p>
            <a:pPr eaLnBrk="1" hangingPunct="1">
              <a:spcBef>
                <a:spcPct val="0"/>
              </a:spcBef>
              <a:buFontTx/>
              <a:buNone/>
            </a:pPr>
            <a:r>
              <a:rPr lang="fr-FR" altLang="en-US" sz="1400" i="1">
                <a:latin typeface="Monaco" pitchFamily="125" charset="0"/>
              </a:rPr>
              <a:t>	</a:t>
            </a:r>
            <a:r>
              <a:rPr lang="fr-FR" altLang="en-US" sz="1400" b="1" i="1">
                <a:solidFill>
                  <a:srgbClr val="204A87"/>
                </a:solidFill>
                <a:latin typeface="Monaco" pitchFamily="125" charset="0"/>
              </a:rPr>
              <a:t>go </a:t>
            </a:r>
            <a:r>
              <a:rPr lang="fr-FR" altLang="en-US" sz="1400" b="1" i="1">
                <a:solidFill>
                  <a:srgbClr val="000000"/>
                </a:solidFill>
                <a:latin typeface="Monaco" pitchFamily="125" charset="0"/>
              </a:rPr>
              <a:t>handleConnection(conn)</a:t>
            </a:r>
          </a:p>
          <a:p>
            <a:pPr eaLnBrk="1" hangingPunct="1">
              <a:spcBef>
                <a:spcPct val="0"/>
              </a:spcBef>
              <a:buFontTx/>
              <a:buNone/>
            </a:pPr>
            <a:r>
              <a:rPr lang="fr-FR" altLang="en-US" sz="1400" b="1" i="1">
                <a:solidFill>
                  <a:srgbClr val="000000"/>
                </a:solidFill>
                <a:latin typeface="Monaco" pitchFamily="125"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re 1">
            <a:extLst>
              <a:ext uri="{FF2B5EF4-FFF2-40B4-BE49-F238E27FC236}">
                <a16:creationId xmlns:a16="http://schemas.microsoft.com/office/drawing/2014/main" id="{BBBD5953-A4AD-187F-8885-D8EEA0ED1BE6}"/>
              </a:ext>
            </a:extLst>
          </p:cNvPr>
          <p:cNvSpPr>
            <a:spLocks noGrp="1" noChangeArrowheads="1"/>
          </p:cNvSpPr>
          <p:nvPr>
            <p:ph type="title"/>
          </p:nvPr>
        </p:nvSpPr>
        <p:spPr>
          <a:xfrm>
            <a:off x="228600" y="457200"/>
            <a:ext cx="8229600" cy="685800"/>
          </a:xfrm>
        </p:spPr>
        <p:txBody>
          <a:bodyPr/>
          <a:lstStyle/>
          <a:p>
            <a:r>
              <a:rPr lang="fr-FR" altLang="en-US"/>
              <a:t>What does the following code do?</a:t>
            </a:r>
          </a:p>
        </p:txBody>
      </p:sp>
      <p:sp>
        <p:nvSpPr>
          <p:cNvPr id="6" name="Rectangle 5">
            <a:extLst>
              <a:ext uri="{FF2B5EF4-FFF2-40B4-BE49-F238E27FC236}">
                <a16:creationId xmlns:a16="http://schemas.microsoft.com/office/drawing/2014/main" id="{3CDB0B28-B829-5414-E3DD-2255476E9DCE}"/>
              </a:ext>
            </a:extLst>
          </p:cNvPr>
          <p:cNvSpPr>
            <a:spLocks noChangeArrowheads="1"/>
          </p:cNvSpPr>
          <p:nvPr/>
        </p:nvSpPr>
        <p:spPr bwMode="auto">
          <a:xfrm>
            <a:off x="685800" y="1403350"/>
            <a:ext cx="7772400" cy="544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200" b="1" i="1" dirty="0">
                <a:solidFill>
                  <a:srgbClr val="204A87"/>
                </a:solidFill>
                <a:latin typeface="Monaco" pitchFamily="125" charset="0"/>
              </a:rPr>
              <a:t>package </a:t>
            </a:r>
            <a:r>
              <a:rPr lang="fr-FR" altLang="en-US" sz="1200" b="1" i="1" dirty="0">
                <a:solidFill>
                  <a:srgbClr val="000000"/>
                </a:solidFill>
                <a:latin typeface="Monaco" pitchFamily="125" charset="0"/>
              </a:rPr>
              <a:t>main</a:t>
            </a:r>
          </a:p>
          <a:p>
            <a:pPr eaLnBrk="1" hangingPunct="1">
              <a:spcBef>
                <a:spcPct val="0"/>
              </a:spcBef>
              <a:buFontTx/>
              <a:buNone/>
            </a:pPr>
            <a:endParaRPr lang="fr-FR" altLang="en-US" sz="1200" i="1" dirty="0">
              <a:latin typeface="Monaco" pitchFamily="125" charset="0"/>
            </a:endParaRPr>
          </a:p>
          <a:p>
            <a:pPr eaLnBrk="1" hangingPunct="1">
              <a:spcBef>
                <a:spcPct val="0"/>
              </a:spcBef>
              <a:buFontTx/>
              <a:buNone/>
            </a:pPr>
            <a:r>
              <a:rPr lang="fr-FR" altLang="en-US" sz="1200" b="1" i="1" dirty="0">
                <a:solidFill>
                  <a:srgbClr val="204A87"/>
                </a:solidFill>
                <a:latin typeface="Monaco" pitchFamily="125" charset="0"/>
              </a:rPr>
              <a:t>import </a:t>
            </a:r>
            <a:r>
              <a:rPr lang="fr-FR" altLang="en-US" sz="1200" b="1" i="1" dirty="0">
                <a:solidFill>
                  <a:srgbClr val="000000"/>
                </a:solidFill>
                <a:latin typeface="Monaco" pitchFamily="125" charset="0"/>
              </a:rPr>
              <a:t>(</a:t>
            </a:r>
          </a:p>
          <a:p>
            <a:pPr eaLnBrk="1" hangingPunct="1">
              <a:spcBef>
                <a:spcPct val="0"/>
              </a:spcBef>
              <a:buFontTx/>
              <a:buNone/>
            </a:pPr>
            <a:r>
              <a:rPr lang="mr-IN" altLang="en-US" sz="1200" i="1" dirty="0">
                <a:latin typeface="Monaco" pitchFamily="125" charset="0"/>
              </a:rPr>
              <a:t>	</a:t>
            </a:r>
            <a:r>
              <a:rPr lang="mr-IN" altLang="en-US" sz="1200" i="1" dirty="0">
                <a:solidFill>
                  <a:srgbClr val="4E9A06"/>
                </a:solidFill>
                <a:latin typeface="Monaco" pitchFamily="125" charset="0"/>
              </a:rPr>
              <a:t>"log"</a:t>
            </a:r>
          </a:p>
          <a:p>
            <a:pPr eaLnBrk="1" hangingPunct="1">
              <a:spcBef>
                <a:spcPct val="0"/>
              </a:spcBef>
              <a:buFontTx/>
              <a:buNone/>
            </a:pPr>
            <a:r>
              <a:rPr lang="mr-IN" altLang="en-US" sz="1200" i="1" dirty="0">
                <a:latin typeface="Monaco" pitchFamily="125" charset="0"/>
              </a:rPr>
              <a:t>	</a:t>
            </a:r>
            <a:r>
              <a:rPr lang="mr-IN" altLang="en-US" sz="1200" i="1" dirty="0">
                <a:solidFill>
                  <a:srgbClr val="4E9A06"/>
                </a:solidFill>
                <a:latin typeface="Monaco" pitchFamily="125" charset="0"/>
              </a:rPr>
              <a:t>"net"</a:t>
            </a:r>
          </a:p>
          <a:p>
            <a:pPr eaLnBrk="1" hangingPunct="1">
              <a:spcBef>
                <a:spcPct val="0"/>
              </a:spcBef>
              <a:buFontTx/>
              <a:buNone/>
            </a:pPr>
            <a:r>
              <a:rPr lang="mr-IN" altLang="en-US" sz="1200" b="1" i="1" dirty="0">
                <a:solidFill>
                  <a:srgbClr val="000000"/>
                </a:solidFill>
                <a:latin typeface="Monaco" pitchFamily="125" charset="0"/>
              </a:rPr>
              <a:t>)</a:t>
            </a:r>
          </a:p>
          <a:p>
            <a:pPr eaLnBrk="1" hangingPunct="1">
              <a:spcBef>
                <a:spcPct val="0"/>
              </a:spcBef>
              <a:buFontTx/>
              <a:buNone/>
            </a:pPr>
            <a:endParaRPr lang="mr-IN" altLang="en-US" sz="1200" i="1" dirty="0">
              <a:latin typeface="Monaco" pitchFamily="125" charset="0"/>
            </a:endParaRPr>
          </a:p>
          <a:p>
            <a:pPr eaLnBrk="1" hangingPunct="1">
              <a:spcBef>
                <a:spcPct val="0"/>
              </a:spcBef>
              <a:buFontTx/>
              <a:buNone/>
            </a:pPr>
            <a:r>
              <a:rPr lang="fr-FR" altLang="en-US" sz="1200" b="1" i="1" dirty="0" err="1">
                <a:solidFill>
                  <a:srgbClr val="204A87"/>
                </a:solidFill>
                <a:latin typeface="Monaco" pitchFamily="125" charset="0"/>
              </a:rPr>
              <a:t>func</a:t>
            </a:r>
            <a:r>
              <a:rPr lang="fr-FR" altLang="en-US" sz="1200" b="1" i="1" dirty="0">
                <a:solidFill>
                  <a:srgbClr val="204A87"/>
                </a:solidFill>
                <a:latin typeface="Monaco" pitchFamily="125" charset="0"/>
              </a:rPr>
              <a:t> </a:t>
            </a:r>
            <a:r>
              <a:rPr lang="fr-FR" altLang="en-US" sz="1200" b="1" i="1" dirty="0">
                <a:solidFill>
                  <a:srgbClr val="000000"/>
                </a:solidFill>
                <a:latin typeface="Monaco" pitchFamily="125" charset="0"/>
              </a:rPr>
              <a:t>main() {</a:t>
            </a:r>
          </a:p>
          <a:p>
            <a:pPr eaLnBrk="1" hangingPunct="1">
              <a:spcBef>
                <a:spcPct val="0"/>
              </a:spcBef>
              <a:buFontTx/>
              <a:buNone/>
            </a:pPr>
            <a:r>
              <a:rPr lang="mr-IN" altLang="en-US" sz="1200" i="1" dirty="0">
                <a:latin typeface="Monaco" pitchFamily="125" charset="0"/>
              </a:rPr>
              <a:t>	</a:t>
            </a:r>
            <a:r>
              <a:rPr lang="mr-IN" altLang="en-US" sz="1200" i="1" dirty="0">
                <a:solidFill>
                  <a:srgbClr val="000000"/>
                </a:solidFill>
                <a:latin typeface="Monaco" pitchFamily="125" charset="0"/>
              </a:rPr>
              <a:t>ln</a:t>
            </a:r>
            <a:r>
              <a:rPr lang="mr-IN" altLang="en-US" sz="1200" b="1" i="1" dirty="0">
                <a:solidFill>
                  <a:srgbClr val="000000"/>
                </a:solidFill>
                <a:latin typeface="Monaco" pitchFamily="125" charset="0"/>
              </a:rPr>
              <a:t>, err </a:t>
            </a:r>
            <a:r>
              <a:rPr lang="mr-IN" altLang="en-US" sz="1200" b="1" i="1" dirty="0">
                <a:solidFill>
                  <a:srgbClr val="CE5C00"/>
                </a:solidFill>
                <a:latin typeface="Monaco" pitchFamily="125" charset="0"/>
              </a:rPr>
              <a:t>:= </a:t>
            </a:r>
            <a:r>
              <a:rPr lang="mr-IN" altLang="en-US" sz="1200" b="1" i="1" dirty="0">
                <a:solidFill>
                  <a:srgbClr val="000000"/>
                </a:solidFill>
                <a:latin typeface="Monaco" pitchFamily="125" charset="0"/>
              </a:rPr>
              <a:t>net.Listen(</a:t>
            </a:r>
            <a:r>
              <a:rPr lang="mr-IN" altLang="en-US" sz="1200" b="1" i="1" dirty="0">
                <a:solidFill>
                  <a:srgbClr val="4E9A06"/>
                </a:solidFill>
                <a:latin typeface="Monaco" pitchFamily="125" charset="0"/>
              </a:rPr>
              <a:t>"tcp"</a:t>
            </a:r>
            <a:r>
              <a:rPr lang="mr-IN" altLang="en-US" sz="1200" b="1" i="1" dirty="0">
                <a:solidFill>
                  <a:srgbClr val="000000"/>
                </a:solidFill>
                <a:latin typeface="Monaco" pitchFamily="125" charset="0"/>
              </a:rPr>
              <a:t>, </a:t>
            </a:r>
            <a:r>
              <a:rPr lang="mr-IN" altLang="en-US" sz="1200" b="1" i="1" dirty="0">
                <a:solidFill>
                  <a:srgbClr val="4E9A06"/>
                </a:solidFill>
                <a:latin typeface="Monaco" pitchFamily="125" charset="0"/>
              </a:rPr>
              <a:t>":6000"</a:t>
            </a:r>
            <a:r>
              <a:rPr lang="mr-IN" altLang="en-US" sz="1200" b="1" i="1" dirty="0">
                <a:solidFill>
                  <a:srgbClr val="000000"/>
                </a:solidFill>
                <a:latin typeface="Monaco" pitchFamily="125" charset="0"/>
              </a:rPr>
              <a:t>)</a:t>
            </a:r>
          </a:p>
          <a:p>
            <a:pPr eaLnBrk="1" hangingPunct="1">
              <a:spcBef>
                <a:spcPct val="0"/>
              </a:spcBef>
              <a:buFontTx/>
              <a:buNone/>
            </a:pPr>
            <a:r>
              <a:rPr lang="fr-FR" altLang="en-US" sz="1200" i="1" dirty="0">
                <a:latin typeface="Monaco" pitchFamily="125" charset="0"/>
              </a:rPr>
              <a:t>	</a:t>
            </a:r>
            <a:r>
              <a:rPr lang="fr-FR" altLang="en-US" sz="1200" b="1" i="1" dirty="0">
                <a:solidFill>
                  <a:srgbClr val="204A87"/>
                </a:solidFill>
                <a:latin typeface="Monaco" pitchFamily="125" charset="0"/>
              </a:rPr>
              <a:t>if </a:t>
            </a:r>
            <a:r>
              <a:rPr lang="fr-FR" altLang="en-US" sz="1200" b="1" i="1" dirty="0" err="1">
                <a:solidFill>
                  <a:srgbClr val="000000"/>
                </a:solidFill>
                <a:latin typeface="Monaco" pitchFamily="125" charset="0"/>
              </a:rPr>
              <a:t>err</a:t>
            </a:r>
            <a:r>
              <a:rPr lang="fr-FR" altLang="en-US" sz="1200" b="1" i="1" dirty="0">
                <a:solidFill>
                  <a:srgbClr val="000000"/>
                </a:solidFill>
                <a:latin typeface="Monaco" pitchFamily="125" charset="0"/>
              </a:rPr>
              <a:t> </a:t>
            </a:r>
            <a:r>
              <a:rPr lang="fr-FR" altLang="en-US" sz="1200" b="1" i="1" dirty="0">
                <a:solidFill>
                  <a:srgbClr val="CE5C00"/>
                </a:solidFill>
                <a:latin typeface="Monaco" pitchFamily="125" charset="0"/>
              </a:rPr>
              <a:t>!= </a:t>
            </a:r>
            <a:r>
              <a:rPr lang="fr-FR" altLang="en-US" sz="1200" b="1" i="1" dirty="0" err="1">
                <a:solidFill>
                  <a:srgbClr val="204A87"/>
                </a:solidFill>
                <a:latin typeface="Monaco" pitchFamily="125" charset="0"/>
              </a:rPr>
              <a:t>nil</a:t>
            </a:r>
            <a:r>
              <a:rPr lang="fr-FR" altLang="en-US" sz="1200" b="1" i="1" dirty="0">
                <a:solidFill>
                  <a:srgbClr val="204A87"/>
                </a:solidFill>
                <a:latin typeface="Monaco" pitchFamily="125" charset="0"/>
              </a:rPr>
              <a:t> </a:t>
            </a:r>
            <a:r>
              <a:rPr lang="fr-FR" altLang="en-US" sz="1200" b="1" i="1" dirty="0">
                <a:solidFill>
                  <a:srgbClr val="000000"/>
                </a:solidFill>
                <a:latin typeface="Monaco" pitchFamily="125" charset="0"/>
              </a:rPr>
              <a:t>{</a:t>
            </a:r>
          </a:p>
          <a:p>
            <a:pPr eaLnBrk="1" hangingPunct="1">
              <a:spcBef>
                <a:spcPct val="0"/>
              </a:spcBef>
              <a:buFontTx/>
              <a:buNone/>
            </a:pPr>
            <a:r>
              <a:rPr lang="fr-FR" altLang="en-US" sz="1200" i="1" dirty="0">
                <a:latin typeface="Monaco" pitchFamily="125" charset="0"/>
              </a:rPr>
              <a:t>		</a:t>
            </a:r>
            <a:r>
              <a:rPr lang="fr-FR" altLang="en-US" sz="1200" i="1" dirty="0" err="1">
                <a:solidFill>
                  <a:srgbClr val="000000"/>
                </a:solidFill>
                <a:latin typeface="Monaco" pitchFamily="125" charset="0"/>
              </a:rPr>
              <a:t>log</a:t>
            </a:r>
            <a:r>
              <a:rPr lang="fr-FR" altLang="en-US" sz="1200" b="1" i="1" dirty="0" err="1">
                <a:solidFill>
                  <a:srgbClr val="000000"/>
                </a:solidFill>
                <a:latin typeface="Monaco" pitchFamily="125" charset="0"/>
              </a:rPr>
              <a:t>.Fatal</a:t>
            </a:r>
            <a:r>
              <a:rPr lang="fr-FR" altLang="en-US" sz="1200" b="1" i="1" dirty="0">
                <a:solidFill>
                  <a:srgbClr val="000000"/>
                </a:solidFill>
                <a:latin typeface="Monaco" pitchFamily="125" charset="0"/>
              </a:rPr>
              <a:t>(</a:t>
            </a:r>
            <a:r>
              <a:rPr lang="fr-FR" altLang="en-US" sz="1200" b="1" i="1" dirty="0" err="1">
                <a:solidFill>
                  <a:srgbClr val="000000"/>
                </a:solidFill>
                <a:latin typeface="Monaco" pitchFamily="125" charset="0"/>
              </a:rPr>
              <a:t>err</a:t>
            </a:r>
            <a:r>
              <a:rPr lang="fr-FR" altLang="en-US" sz="1200" b="1" i="1" dirty="0">
                <a:solidFill>
                  <a:srgbClr val="000000"/>
                </a:solidFill>
                <a:latin typeface="Monaco" pitchFamily="125" charset="0"/>
              </a:rPr>
              <a:t>)</a:t>
            </a:r>
          </a:p>
          <a:p>
            <a:pPr eaLnBrk="1" hangingPunct="1">
              <a:spcBef>
                <a:spcPct val="0"/>
              </a:spcBef>
              <a:buFontTx/>
              <a:buNone/>
            </a:pPr>
            <a:r>
              <a:rPr lang="fr-FR" altLang="en-US" sz="1200" i="1" dirty="0">
                <a:latin typeface="Monaco" pitchFamily="125" charset="0"/>
              </a:rPr>
              <a:t>	</a:t>
            </a:r>
            <a:r>
              <a:rPr lang="fr-FR" altLang="en-US" sz="1200" b="1" i="1" dirty="0">
                <a:solidFill>
                  <a:srgbClr val="000000"/>
                </a:solidFill>
                <a:latin typeface="Monaco" pitchFamily="125" charset="0"/>
              </a:rPr>
              <a:t>}</a:t>
            </a:r>
          </a:p>
          <a:p>
            <a:pPr eaLnBrk="1" hangingPunct="1">
              <a:spcBef>
                <a:spcPct val="0"/>
              </a:spcBef>
              <a:buFontTx/>
              <a:buNone/>
            </a:pPr>
            <a:r>
              <a:rPr lang="en-US" altLang="en-US" sz="1200" i="1" dirty="0">
                <a:latin typeface="Monaco" pitchFamily="125" charset="0"/>
              </a:rPr>
              <a:t>	</a:t>
            </a:r>
            <a:r>
              <a:rPr lang="en-US" altLang="en-US" sz="1200" b="1" i="1" dirty="0">
                <a:solidFill>
                  <a:srgbClr val="204A87"/>
                </a:solidFill>
                <a:latin typeface="Monaco" pitchFamily="125" charset="0"/>
              </a:rPr>
              <a:t>for </a:t>
            </a:r>
            <a:r>
              <a:rPr lang="en-US" altLang="en-US" sz="1200" b="1" i="1" dirty="0">
                <a:solidFill>
                  <a:srgbClr val="000000"/>
                </a:solidFill>
                <a:latin typeface="Monaco" pitchFamily="125" charset="0"/>
              </a:rPr>
              <a:t>{</a:t>
            </a:r>
          </a:p>
          <a:p>
            <a:pPr eaLnBrk="1" hangingPunct="1">
              <a:spcBef>
                <a:spcPct val="0"/>
              </a:spcBef>
              <a:buFontTx/>
              <a:buNone/>
            </a:pPr>
            <a:r>
              <a:rPr lang="en-US" altLang="en-US" sz="1200" i="1" dirty="0">
                <a:latin typeface="Monaco" pitchFamily="125" charset="0"/>
              </a:rPr>
              <a:t>		</a:t>
            </a:r>
            <a:r>
              <a:rPr lang="en-US" altLang="en-US" sz="1200" i="1" dirty="0">
                <a:solidFill>
                  <a:srgbClr val="000000"/>
                </a:solidFill>
                <a:latin typeface="Monaco" pitchFamily="125" charset="0"/>
              </a:rPr>
              <a:t>conn</a:t>
            </a:r>
            <a:r>
              <a:rPr lang="en-US" altLang="en-US" sz="1200" b="1" i="1" dirty="0">
                <a:solidFill>
                  <a:srgbClr val="000000"/>
                </a:solidFill>
                <a:latin typeface="Monaco" pitchFamily="125" charset="0"/>
              </a:rPr>
              <a:t>, err </a:t>
            </a:r>
            <a:r>
              <a:rPr lang="en-US" altLang="en-US" sz="1200" b="1" i="1" dirty="0">
                <a:solidFill>
                  <a:srgbClr val="CE5C00"/>
                </a:solidFill>
                <a:latin typeface="Monaco" pitchFamily="125" charset="0"/>
              </a:rPr>
              <a:t>:= </a:t>
            </a:r>
            <a:r>
              <a:rPr lang="en-US" altLang="en-US" sz="1200" b="1" i="1" dirty="0" err="1">
                <a:solidFill>
                  <a:srgbClr val="000000"/>
                </a:solidFill>
                <a:latin typeface="Monaco" pitchFamily="125" charset="0"/>
              </a:rPr>
              <a:t>ln.Accept</a:t>
            </a:r>
            <a:r>
              <a:rPr lang="en-US" altLang="en-US" sz="1200" b="1" i="1" dirty="0">
                <a:solidFill>
                  <a:srgbClr val="000000"/>
                </a:solidFill>
                <a:latin typeface="Monaco" pitchFamily="125" charset="0"/>
              </a:rPr>
              <a:t>()</a:t>
            </a:r>
          </a:p>
          <a:p>
            <a:pPr eaLnBrk="1" hangingPunct="1">
              <a:spcBef>
                <a:spcPct val="0"/>
              </a:spcBef>
              <a:buFontTx/>
              <a:buNone/>
            </a:pPr>
            <a:r>
              <a:rPr lang="fr-FR" altLang="en-US" sz="1200" i="1" dirty="0">
                <a:latin typeface="Monaco" pitchFamily="125" charset="0"/>
              </a:rPr>
              <a:t>		</a:t>
            </a:r>
            <a:r>
              <a:rPr lang="fr-FR" altLang="en-US" sz="1200" b="1" i="1" dirty="0">
                <a:solidFill>
                  <a:srgbClr val="204A87"/>
                </a:solidFill>
                <a:latin typeface="Monaco" pitchFamily="125" charset="0"/>
              </a:rPr>
              <a:t>if </a:t>
            </a:r>
            <a:r>
              <a:rPr lang="fr-FR" altLang="en-US" sz="1200" b="1" i="1" dirty="0" err="1">
                <a:solidFill>
                  <a:srgbClr val="000000"/>
                </a:solidFill>
                <a:latin typeface="Monaco" pitchFamily="125" charset="0"/>
              </a:rPr>
              <a:t>err</a:t>
            </a:r>
            <a:r>
              <a:rPr lang="fr-FR" altLang="en-US" sz="1200" b="1" i="1" dirty="0">
                <a:solidFill>
                  <a:srgbClr val="000000"/>
                </a:solidFill>
                <a:latin typeface="Monaco" pitchFamily="125" charset="0"/>
              </a:rPr>
              <a:t> </a:t>
            </a:r>
            <a:r>
              <a:rPr lang="fr-FR" altLang="en-US" sz="1200" b="1" i="1" dirty="0">
                <a:solidFill>
                  <a:srgbClr val="CE5C00"/>
                </a:solidFill>
                <a:latin typeface="Monaco" pitchFamily="125" charset="0"/>
              </a:rPr>
              <a:t>!= </a:t>
            </a:r>
            <a:r>
              <a:rPr lang="fr-FR" altLang="en-US" sz="1200" b="1" i="1" dirty="0" err="1">
                <a:solidFill>
                  <a:srgbClr val="204A87"/>
                </a:solidFill>
                <a:latin typeface="Monaco" pitchFamily="125" charset="0"/>
              </a:rPr>
              <a:t>nil</a:t>
            </a:r>
            <a:r>
              <a:rPr lang="fr-FR" altLang="en-US" sz="1200" b="1" i="1" dirty="0">
                <a:solidFill>
                  <a:srgbClr val="204A87"/>
                </a:solidFill>
                <a:latin typeface="Monaco" pitchFamily="125" charset="0"/>
              </a:rPr>
              <a:t> </a:t>
            </a:r>
            <a:r>
              <a:rPr lang="fr-FR" altLang="en-US" sz="1200" b="1" i="1" dirty="0">
                <a:solidFill>
                  <a:srgbClr val="000000"/>
                </a:solidFill>
                <a:latin typeface="Monaco" pitchFamily="125" charset="0"/>
              </a:rPr>
              <a:t>{</a:t>
            </a:r>
          </a:p>
          <a:p>
            <a:pPr eaLnBrk="1" hangingPunct="1">
              <a:spcBef>
                <a:spcPct val="0"/>
              </a:spcBef>
              <a:buFontTx/>
              <a:buNone/>
            </a:pPr>
            <a:r>
              <a:rPr lang="fr-FR" altLang="en-US" sz="1200" i="1" dirty="0">
                <a:latin typeface="Monaco" pitchFamily="125" charset="0"/>
              </a:rPr>
              <a:t>			</a:t>
            </a:r>
            <a:r>
              <a:rPr lang="fr-FR" altLang="en-US" sz="1200" i="1" dirty="0" err="1">
                <a:solidFill>
                  <a:srgbClr val="000000"/>
                </a:solidFill>
                <a:latin typeface="Monaco" pitchFamily="125" charset="0"/>
              </a:rPr>
              <a:t>log</a:t>
            </a:r>
            <a:r>
              <a:rPr lang="fr-FR" altLang="en-US" sz="1200" b="1" i="1" dirty="0" err="1">
                <a:solidFill>
                  <a:srgbClr val="000000"/>
                </a:solidFill>
                <a:latin typeface="Monaco" pitchFamily="125" charset="0"/>
              </a:rPr>
              <a:t>.Println</a:t>
            </a:r>
            <a:r>
              <a:rPr lang="fr-FR" altLang="en-US" sz="1200" b="1" i="1" dirty="0">
                <a:solidFill>
                  <a:srgbClr val="000000"/>
                </a:solidFill>
                <a:latin typeface="Monaco" pitchFamily="125" charset="0"/>
              </a:rPr>
              <a:t>(</a:t>
            </a:r>
            <a:r>
              <a:rPr lang="fr-FR" altLang="en-US" sz="1200" b="1" i="1" dirty="0" err="1">
                <a:solidFill>
                  <a:srgbClr val="000000"/>
                </a:solidFill>
                <a:latin typeface="Monaco" pitchFamily="125" charset="0"/>
              </a:rPr>
              <a:t>err</a:t>
            </a:r>
            <a:r>
              <a:rPr lang="fr-FR" altLang="en-US" sz="1200" b="1" i="1" dirty="0">
                <a:solidFill>
                  <a:srgbClr val="000000"/>
                </a:solidFill>
                <a:latin typeface="Monaco" pitchFamily="125" charset="0"/>
              </a:rPr>
              <a:t>)</a:t>
            </a:r>
          </a:p>
          <a:p>
            <a:pPr eaLnBrk="1" hangingPunct="1">
              <a:spcBef>
                <a:spcPct val="0"/>
              </a:spcBef>
              <a:buFontTx/>
              <a:buNone/>
            </a:pPr>
            <a:r>
              <a:rPr lang="fr-FR" altLang="en-US" sz="1200" i="1" dirty="0">
                <a:latin typeface="Monaco" pitchFamily="125" charset="0"/>
              </a:rPr>
              <a:t>			</a:t>
            </a:r>
            <a:r>
              <a:rPr lang="fr-FR" altLang="en-US" sz="1200" b="1" i="1" dirty="0">
                <a:solidFill>
                  <a:srgbClr val="204A87"/>
                </a:solidFill>
                <a:latin typeface="Monaco" pitchFamily="125" charset="0"/>
              </a:rPr>
              <a:t>continue</a:t>
            </a:r>
          </a:p>
          <a:p>
            <a:pPr eaLnBrk="1" hangingPunct="1">
              <a:spcBef>
                <a:spcPct val="0"/>
              </a:spcBef>
              <a:buFontTx/>
              <a:buNone/>
            </a:pPr>
            <a:r>
              <a:rPr lang="fr-FR" altLang="en-US" sz="1200" i="1" dirty="0">
                <a:latin typeface="Monaco" pitchFamily="125" charset="0"/>
              </a:rPr>
              <a:t>		</a:t>
            </a:r>
            <a:r>
              <a:rPr lang="fr-FR" altLang="en-US" sz="1200" b="1" i="1" dirty="0">
                <a:solidFill>
                  <a:srgbClr val="000000"/>
                </a:solidFill>
                <a:latin typeface="Monaco" pitchFamily="125" charset="0"/>
              </a:rPr>
              <a:t>}</a:t>
            </a:r>
          </a:p>
          <a:p>
            <a:pPr eaLnBrk="1" hangingPunct="1">
              <a:spcBef>
                <a:spcPct val="0"/>
              </a:spcBef>
              <a:buFontTx/>
              <a:buNone/>
            </a:pPr>
            <a:r>
              <a:rPr lang="fr-FR" altLang="en-US" sz="1200" i="1" dirty="0">
                <a:latin typeface="Monaco" pitchFamily="125" charset="0"/>
              </a:rPr>
              <a:t>		</a:t>
            </a:r>
            <a:r>
              <a:rPr lang="fr-FR" altLang="en-US" sz="1200" b="1" i="1" dirty="0">
                <a:solidFill>
                  <a:srgbClr val="204A87"/>
                </a:solidFill>
                <a:latin typeface="Monaco" pitchFamily="125" charset="0"/>
              </a:rPr>
              <a:t>go </a:t>
            </a:r>
            <a:r>
              <a:rPr lang="fr-FR" altLang="en-US" sz="1200" b="1" i="1" dirty="0" err="1">
                <a:solidFill>
                  <a:srgbClr val="000000"/>
                </a:solidFill>
                <a:latin typeface="Monaco" pitchFamily="125" charset="0"/>
              </a:rPr>
              <a:t>handleConnection</a:t>
            </a:r>
            <a:r>
              <a:rPr lang="fr-FR" altLang="en-US" sz="1200" b="1" i="1" dirty="0">
                <a:solidFill>
                  <a:srgbClr val="000000"/>
                </a:solidFill>
                <a:latin typeface="Monaco" pitchFamily="125" charset="0"/>
              </a:rPr>
              <a:t>(</a:t>
            </a:r>
            <a:r>
              <a:rPr lang="fr-FR" altLang="en-US" sz="1200" b="1" i="1" dirty="0" err="1">
                <a:solidFill>
                  <a:srgbClr val="000000"/>
                </a:solidFill>
                <a:latin typeface="Monaco" pitchFamily="125" charset="0"/>
              </a:rPr>
              <a:t>conn</a:t>
            </a:r>
            <a:r>
              <a:rPr lang="fr-FR" altLang="en-US" sz="1200" b="1" i="1" dirty="0">
                <a:solidFill>
                  <a:srgbClr val="000000"/>
                </a:solidFill>
                <a:latin typeface="Monaco" pitchFamily="125" charset="0"/>
              </a:rPr>
              <a:t>)</a:t>
            </a:r>
          </a:p>
          <a:p>
            <a:pPr eaLnBrk="1" hangingPunct="1">
              <a:spcBef>
                <a:spcPct val="0"/>
              </a:spcBef>
              <a:buFontTx/>
              <a:buNone/>
            </a:pPr>
            <a:r>
              <a:rPr lang="fr-FR" altLang="en-US" sz="1200" i="1" dirty="0">
                <a:latin typeface="Monaco" pitchFamily="125" charset="0"/>
              </a:rPr>
              <a:t>	</a:t>
            </a:r>
            <a:r>
              <a:rPr lang="fr-FR" altLang="en-US" sz="1200" b="1" i="1" dirty="0">
                <a:solidFill>
                  <a:srgbClr val="000000"/>
                </a:solidFill>
                <a:latin typeface="Monaco" pitchFamily="125" charset="0"/>
              </a:rPr>
              <a:t>}</a:t>
            </a:r>
          </a:p>
          <a:p>
            <a:pPr eaLnBrk="1" hangingPunct="1">
              <a:spcBef>
                <a:spcPct val="0"/>
              </a:spcBef>
              <a:buFontTx/>
              <a:buNone/>
            </a:pPr>
            <a:r>
              <a:rPr lang="fr-FR" altLang="en-US" sz="1200" b="1" i="1" dirty="0">
                <a:solidFill>
                  <a:srgbClr val="000000"/>
                </a:solidFill>
                <a:latin typeface="Monaco" pitchFamily="125" charset="0"/>
              </a:rPr>
              <a:t>}</a:t>
            </a:r>
          </a:p>
          <a:p>
            <a:pPr eaLnBrk="1" hangingPunct="1">
              <a:spcBef>
                <a:spcPct val="0"/>
              </a:spcBef>
              <a:buFontTx/>
              <a:buNone/>
            </a:pPr>
            <a:endParaRPr lang="fr-FR" altLang="en-US" sz="1200" i="1" dirty="0">
              <a:latin typeface="Monaco" pitchFamily="125" charset="0"/>
            </a:endParaRPr>
          </a:p>
          <a:p>
            <a:pPr eaLnBrk="1" hangingPunct="1">
              <a:spcBef>
                <a:spcPct val="0"/>
              </a:spcBef>
              <a:buFontTx/>
              <a:buNone/>
            </a:pPr>
            <a:r>
              <a:rPr lang="fr-FR" altLang="en-US" sz="1200" b="1" i="1" dirty="0" err="1">
                <a:solidFill>
                  <a:srgbClr val="204A87"/>
                </a:solidFill>
                <a:latin typeface="Monaco" pitchFamily="125" charset="0"/>
              </a:rPr>
              <a:t>func</a:t>
            </a:r>
            <a:r>
              <a:rPr lang="fr-FR" altLang="en-US" sz="1200" b="1" i="1" dirty="0">
                <a:solidFill>
                  <a:srgbClr val="204A87"/>
                </a:solidFill>
                <a:latin typeface="Monaco" pitchFamily="125" charset="0"/>
              </a:rPr>
              <a:t> </a:t>
            </a:r>
            <a:r>
              <a:rPr lang="fr-FR" altLang="en-US" sz="1200" b="1" i="1" dirty="0" err="1">
                <a:solidFill>
                  <a:srgbClr val="000000"/>
                </a:solidFill>
                <a:latin typeface="Monaco" pitchFamily="125" charset="0"/>
              </a:rPr>
              <a:t>handleConnection</a:t>
            </a:r>
            <a:r>
              <a:rPr lang="fr-FR" altLang="en-US" sz="1200" b="1" i="1" dirty="0">
                <a:solidFill>
                  <a:srgbClr val="000000"/>
                </a:solidFill>
                <a:latin typeface="Monaco" pitchFamily="125" charset="0"/>
              </a:rPr>
              <a:t>(c </a:t>
            </a:r>
            <a:r>
              <a:rPr lang="fr-FR" altLang="en-US" sz="1200" b="1" i="1" dirty="0" err="1">
                <a:solidFill>
                  <a:srgbClr val="000000"/>
                </a:solidFill>
                <a:latin typeface="Monaco" pitchFamily="125" charset="0"/>
              </a:rPr>
              <a:t>net.Conn</a:t>
            </a:r>
            <a:r>
              <a:rPr lang="fr-FR" altLang="en-US" sz="1200" b="1" i="1" dirty="0">
                <a:solidFill>
                  <a:srgbClr val="000000"/>
                </a:solidFill>
                <a:latin typeface="Monaco" pitchFamily="125" charset="0"/>
              </a:rPr>
              <a:t>) {</a:t>
            </a:r>
          </a:p>
          <a:p>
            <a:pPr eaLnBrk="1" hangingPunct="1">
              <a:spcBef>
                <a:spcPct val="0"/>
              </a:spcBef>
              <a:buFontTx/>
              <a:buNone/>
            </a:pPr>
            <a:endParaRPr lang="fr-FR" altLang="en-US" sz="1200" i="1" dirty="0">
              <a:latin typeface="Monaco" pitchFamily="125" charset="0"/>
            </a:endParaRPr>
          </a:p>
          <a:p>
            <a:pPr eaLnBrk="1" hangingPunct="1">
              <a:spcBef>
                <a:spcPct val="0"/>
              </a:spcBef>
              <a:buFontTx/>
              <a:buNone/>
            </a:pPr>
            <a:r>
              <a:rPr lang="fr-FR" altLang="en-US" sz="1200" i="1" dirty="0">
                <a:latin typeface="Monaco" pitchFamily="125" charset="0"/>
              </a:rPr>
              <a:t>	</a:t>
            </a:r>
            <a:r>
              <a:rPr lang="fr-FR" altLang="en-US" sz="1200" i="1" dirty="0" err="1">
                <a:solidFill>
                  <a:srgbClr val="000000"/>
                </a:solidFill>
                <a:latin typeface="Monaco" pitchFamily="125" charset="0"/>
              </a:rPr>
              <a:t>log</a:t>
            </a:r>
            <a:r>
              <a:rPr lang="fr-FR" altLang="en-US" sz="1200" b="1" i="1" dirty="0" err="1">
                <a:solidFill>
                  <a:srgbClr val="000000"/>
                </a:solidFill>
                <a:latin typeface="Monaco" pitchFamily="125" charset="0"/>
              </a:rPr>
              <a:t>.Println</a:t>
            </a:r>
            <a:r>
              <a:rPr lang="fr-FR" altLang="en-US" sz="1200" b="1" i="1" dirty="0">
                <a:solidFill>
                  <a:srgbClr val="000000"/>
                </a:solidFill>
                <a:latin typeface="Monaco" pitchFamily="125" charset="0"/>
              </a:rPr>
              <a:t>(</a:t>
            </a:r>
            <a:r>
              <a:rPr lang="fr-FR" altLang="en-US" sz="1200" b="1" i="1" dirty="0">
                <a:solidFill>
                  <a:srgbClr val="4E9A06"/>
                </a:solidFill>
                <a:latin typeface="Monaco" pitchFamily="125" charset="0"/>
              </a:rPr>
              <a:t>"A client has </a:t>
            </a:r>
            <a:r>
              <a:rPr lang="fr-FR" altLang="en-US" sz="1200" b="1" i="1" dirty="0" err="1">
                <a:solidFill>
                  <a:srgbClr val="4E9A06"/>
                </a:solidFill>
                <a:latin typeface="Monaco" pitchFamily="125" charset="0"/>
              </a:rPr>
              <a:t>connected</a:t>
            </a:r>
            <a:r>
              <a:rPr lang="fr-FR" altLang="en-US" sz="1200" b="1" i="1" dirty="0">
                <a:solidFill>
                  <a:srgbClr val="4E9A06"/>
                </a:solidFill>
                <a:latin typeface="Monaco" pitchFamily="125" charset="0"/>
              </a:rPr>
              <a:t>"</a:t>
            </a:r>
            <a:r>
              <a:rPr lang="fr-FR" altLang="en-US" sz="1200" b="1" i="1" dirty="0">
                <a:solidFill>
                  <a:srgbClr val="000000"/>
                </a:solidFill>
                <a:latin typeface="Monaco" pitchFamily="125" charset="0"/>
              </a:rPr>
              <a:t>, </a:t>
            </a:r>
            <a:r>
              <a:rPr lang="fr-FR" altLang="en-US" sz="1200" b="1" i="1" dirty="0" err="1">
                <a:solidFill>
                  <a:srgbClr val="000000"/>
                </a:solidFill>
                <a:latin typeface="Monaco" pitchFamily="125" charset="0"/>
              </a:rPr>
              <a:t>c.RemoteAddr</a:t>
            </a:r>
            <a:r>
              <a:rPr lang="fr-FR" altLang="en-US" sz="1200" b="1" i="1" dirty="0">
                <a:solidFill>
                  <a:srgbClr val="000000"/>
                </a:solidFill>
                <a:latin typeface="Monaco" pitchFamily="125" charset="0"/>
              </a:rPr>
              <a:t>())</a:t>
            </a:r>
          </a:p>
          <a:p>
            <a:pPr eaLnBrk="1" hangingPunct="1">
              <a:spcBef>
                <a:spcPct val="0"/>
              </a:spcBef>
              <a:buFontTx/>
              <a:buNone/>
            </a:pPr>
            <a:r>
              <a:rPr lang="fr-FR" altLang="en-US" sz="1200" i="1" dirty="0">
                <a:latin typeface="Monaco" pitchFamily="125" charset="0"/>
              </a:rPr>
              <a:t>	</a:t>
            </a:r>
            <a:r>
              <a:rPr lang="fr-FR" altLang="en-US" sz="1200" i="1" dirty="0" err="1">
                <a:solidFill>
                  <a:srgbClr val="000000"/>
                </a:solidFill>
                <a:latin typeface="Monaco" pitchFamily="125" charset="0"/>
              </a:rPr>
              <a:t>c</a:t>
            </a:r>
            <a:r>
              <a:rPr lang="fr-FR" altLang="en-US" sz="1200" b="1" i="1" dirty="0" err="1">
                <a:solidFill>
                  <a:srgbClr val="000000"/>
                </a:solidFill>
                <a:latin typeface="Monaco" pitchFamily="125" charset="0"/>
              </a:rPr>
              <a:t>.Write</a:t>
            </a:r>
            <a:r>
              <a:rPr lang="fr-FR" altLang="en-US" sz="1200" b="1" i="1" dirty="0">
                <a:solidFill>
                  <a:srgbClr val="000000"/>
                </a:solidFill>
                <a:latin typeface="Monaco" pitchFamily="125" charset="0"/>
              </a:rPr>
              <a:t>([]</a:t>
            </a:r>
            <a:r>
              <a:rPr lang="fr-FR" altLang="en-US" sz="1200" b="1" i="1" dirty="0">
                <a:solidFill>
                  <a:srgbClr val="204A87"/>
                </a:solidFill>
                <a:latin typeface="Monaco" pitchFamily="125" charset="0"/>
              </a:rPr>
              <a:t>byte</a:t>
            </a:r>
            <a:r>
              <a:rPr lang="fr-FR" altLang="en-US" sz="1200" b="1" i="1" dirty="0">
                <a:solidFill>
                  <a:srgbClr val="000000"/>
                </a:solidFill>
                <a:latin typeface="Monaco" pitchFamily="125" charset="0"/>
              </a:rPr>
              <a:t>(</a:t>
            </a:r>
            <a:r>
              <a:rPr lang="fr-FR" altLang="en-US" sz="1200" b="1" i="1" dirty="0">
                <a:solidFill>
                  <a:srgbClr val="4E9A06"/>
                </a:solidFill>
                <a:latin typeface="Monaco" pitchFamily="125" charset="0"/>
              </a:rPr>
              <a:t>"Hello world"</a:t>
            </a:r>
            <a:r>
              <a:rPr lang="fr-FR" altLang="en-US" sz="1200" b="1" i="1" dirty="0">
                <a:solidFill>
                  <a:srgbClr val="000000"/>
                </a:solidFill>
                <a:latin typeface="Monaco" pitchFamily="125" charset="0"/>
              </a:rPr>
              <a:t>))</a:t>
            </a:r>
          </a:p>
          <a:p>
            <a:pPr eaLnBrk="1" hangingPunct="1">
              <a:spcBef>
                <a:spcPct val="0"/>
              </a:spcBef>
              <a:buFontTx/>
              <a:buNone/>
            </a:pPr>
            <a:endParaRPr lang="fr-FR" altLang="en-US" sz="1200" i="1" dirty="0">
              <a:latin typeface="Monaco" pitchFamily="125" charset="0"/>
            </a:endParaRPr>
          </a:p>
          <a:p>
            <a:pPr eaLnBrk="1" hangingPunct="1">
              <a:spcBef>
                <a:spcPct val="0"/>
              </a:spcBef>
              <a:buFontTx/>
              <a:buNone/>
            </a:pPr>
            <a:r>
              <a:rPr lang="fr-FR" altLang="en-US" sz="1200" b="1" i="1" dirty="0">
                <a:solidFill>
                  <a:srgbClr val="000000"/>
                </a:solidFill>
                <a:latin typeface="Monaco" pitchFamily="125" charset="0"/>
              </a:rPr>
              <a:t>}</a:t>
            </a:r>
          </a:p>
          <a:p>
            <a:pPr eaLnBrk="1" hangingPunct="1">
              <a:spcBef>
                <a:spcPct val="0"/>
              </a:spcBef>
              <a:buFontTx/>
              <a:buNone/>
            </a:pPr>
            <a:endParaRPr lang="it-IT" altLang="en-US" sz="1200" b="1" i="1" dirty="0">
              <a:solidFill>
                <a:srgbClr val="000000"/>
              </a:solidFill>
              <a:latin typeface="Monaco" pitchFamily="125"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82847C8-02F7-4970-0AF1-D9C79B86CE14}"/>
              </a:ext>
            </a:extLst>
          </p:cNvPr>
          <p:cNvSpPr>
            <a:spLocks noChangeArrowheads="1"/>
          </p:cNvSpPr>
          <p:nvPr/>
        </p:nvSpPr>
        <p:spPr bwMode="auto">
          <a:xfrm>
            <a:off x="685800" y="140335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b="1" i="1" dirty="0">
                <a:solidFill>
                  <a:srgbClr val="204A87"/>
                </a:solidFill>
                <a:latin typeface="Monaco" pitchFamily="125" charset="0"/>
              </a:rPr>
              <a:t>package </a:t>
            </a:r>
            <a:r>
              <a:rPr lang="fr-FR" altLang="en-US" sz="1800" b="1" i="1" dirty="0">
                <a:solidFill>
                  <a:srgbClr val="000000"/>
                </a:solidFill>
                <a:latin typeface="Monaco" pitchFamily="125" charset="0"/>
              </a:rPr>
              <a:t>main</a:t>
            </a:r>
          </a:p>
          <a:p>
            <a:pPr eaLnBrk="1" hangingPunct="1">
              <a:spcBef>
                <a:spcPct val="0"/>
              </a:spcBef>
              <a:buFontTx/>
              <a:buNone/>
            </a:pPr>
            <a:endParaRPr lang="fr-FR" altLang="en-US" sz="1800" i="1" dirty="0">
              <a:latin typeface="Monaco" pitchFamily="125" charset="0"/>
            </a:endParaRPr>
          </a:p>
          <a:p>
            <a:pPr eaLnBrk="1" hangingPunct="1">
              <a:spcBef>
                <a:spcPct val="0"/>
              </a:spcBef>
              <a:buFontTx/>
              <a:buNone/>
            </a:pPr>
            <a:r>
              <a:rPr lang="fr-FR" altLang="en-US" sz="1800" b="1" i="1" dirty="0">
                <a:solidFill>
                  <a:srgbClr val="204A87"/>
                </a:solidFill>
                <a:latin typeface="Monaco" pitchFamily="125" charset="0"/>
              </a:rPr>
              <a:t>import </a:t>
            </a:r>
            <a:r>
              <a:rPr lang="fr-FR" altLang="en-US" sz="1800" b="1" i="1" dirty="0">
                <a:solidFill>
                  <a:srgbClr val="000000"/>
                </a:solidFill>
                <a:latin typeface="Monaco" pitchFamily="125" charset="0"/>
              </a:rPr>
              <a:t>(</a:t>
            </a:r>
          </a:p>
          <a:p>
            <a:pPr eaLnBrk="1" hangingPunct="1">
              <a:spcBef>
                <a:spcPct val="0"/>
              </a:spcBef>
              <a:buFontTx/>
              <a:buNone/>
            </a:pPr>
            <a:r>
              <a:rPr lang="mr-IN" altLang="en-US" sz="1800" i="1" dirty="0">
                <a:latin typeface="Monaco" pitchFamily="125" charset="0"/>
              </a:rPr>
              <a:t>	</a:t>
            </a:r>
            <a:r>
              <a:rPr lang="mr-IN" altLang="en-US" sz="1800" i="1" dirty="0">
                <a:solidFill>
                  <a:srgbClr val="4E9A06"/>
                </a:solidFill>
                <a:latin typeface="Monaco" pitchFamily="125" charset="0"/>
              </a:rPr>
              <a:t>"fmt"</a:t>
            </a:r>
          </a:p>
          <a:p>
            <a:pPr eaLnBrk="1" hangingPunct="1">
              <a:spcBef>
                <a:spcPct val="0"/>
              </a:spcBef>
              <a:buFontTx/>
              <a:buNone/>
            </a:pPr>
            <a:r>
              <a:rPr lang="mr-IN" altLang="en-US" sz="1800" i="1" dirty="0">
                <a:latin typeface="Monaco" pitchFamily="125" charset="0"/>
              </a:rPr>
              <a:t>	</a:t>
            </a:r>
            <a:r>
              <a:rPr lang="mr-IN" altLang="en-US" sz="1800" i="1" dirty="0">
                <a:solidFill>
                  <a:srgbClr val="4E9A06"/>
                </a:solidFill>
                <a:latin typeface="Monaco" pitchFamily="125" charset="0"/>
              </a:rPr>
              <a:t>"net"</a:t>
            </a:r>
          </a:p>
          <a:p>
            <a:pPr eaLnBrk="1" hangingPunct="1">
              <a:spcBef>
                <a:spcPct val="0"/>
              </a:spcBef>
              <a:buFontTx/>
              <a:buNone/>
            </a:pPr>
            <a:r>
              <a:rPr lang="mr-IN" altLang="en-US" sz="1800" b="1" i="1" dirty="0">
                <a:solidFill>
                  <a:srgbClr val="000000"/>
                </a:solidFill>
                <a:latin typeface="Monaco" pitchFamily="125" charset="0"/>
              </a:rPr>
              <a:t>)</a:t>
            </a:r>
          </a:p>
          <a:p>
            <a:pPr eaLnBrk="1" hangingPunct="1">
              <a:spcBef>
                <a:spcPct val="0"/>
              </a:spcBef>
              <a:buFontTx/>
              <a:buNone/>
            </a:pPr>
            <a:endParaRPr lang="mr-IN" altLang="en-US" sz="1800" i="1" dirty="0">
              <a:latin typeface="Monaco" pitchFamily="125" charset="0"/>
            </a:endParaRPr>
          </a:p>
          <a:p>
            <a:pPr eaLnBrk="1" hangingPunct="1">
              <a:spcBef>
                <a:spcPct val="0"/>
              </a:spcBef>
              <a:buFontTx/>
              <a:buNone/>
            </a:pPr>
            <a:r>
              <a:rPr lang="fr-FR" altLang="en-US" sz="1800" b="1" i="1" dirty="0" err="1">
                <a:solidFill>
                  <a:srgbClr val="204A87"/>
                </a:solidFill>
                <a:latin typeface="Monaco" pitchFamily="125" charset="0"/>
              </a:rPr>
              <a:t>func</a:t>
            </a:r>
            <a:r>
              <a:rPr lang="fr-FR" altLang="en-US" sz="1800" b="1" i="1" dirty="0">
                <a:solidFill>
                  <a:srgbClr val="204A87"/>
                </a:solidFill>
                <a:latin typeface="Monaco" pitchFamily="125" charset="0"/>
              </a:rPr>
              <a:t> </a:t>
            </a:r>
            <a:r>
              <a:rPr lang="fr-FR" altLang="en-US" sz="1800" b="1" i="1" dirty="0">
                <a:solidFill>
                  <a:srgbClr val="000000"/>
                </a:solidFill>
                <a:latin typeface="Monaco" pitchFamily="125" charset="0"/>
              </a:rPr>
              <a:t>main() {</a:t>
            </a:r>
          </a:p>
          <a:p>
            <a:pPr eaLnBrk="1" hangingPunct="1">
              <a:spcBef>
                <a:spcPct val="0"/>
              </a:spcBef>
              <a:buFontTx/>
              <a:buNone/>
            </a:pPr>
            <a:r>
              <a:rPr lang="fr-FR" altLang="en-US" sz="1800" i="1" dirty="0">
                <a:latin typeface="Monaco" pitchFamily="125" charset="0"/>
              </a:rPr>
              <a:t>	</a:t>
            </a:r>
            <a:r>
              <a:rPr lang="fr-FR" altLang="en-US" sz="1800" i="1" dirty="0" err="1">
                <a:solidFill>
                  <a:srgbClr val="000000"/>
                </a:solidFill>
                <a:latin typeface="Monaco" pitchFamily="125" charset="0"/>
              </a:rPr>
              <a:t>conn</a:t>
            </a:r>
            <a:r>
              <a:rPr lang="fr-FR" altLang="en-US" sz="1800" b="1" i="1" dirty="0">
                <a:solidFill>
                  <a:srgbClr val="000000"/>
                </a:solidFill>
                <a:latin typeface="Monaco" pitchFamily="125" charset="0"/>
              </a:rPr>
              <a:t>, </a:t>
            </a:r>
            <a:r>
              <a:rPr lang="fr-FR" altLang="en-US" sz="1800" b="1" i="1" dirty="0" err="1">
                <a:solidFill>
                  <a:srgbClr val="000000"/>
                </a:solidFill>
                <a:latin typeface="Monaco" pitchFamily="125" charset="0"/>
              </a:rPr>
              <a:t>err</a:t>
            </a:r>
            <a:r>
              <a:rPr lang="fr-FR" altLang="en-US" sz="1800" b="1" i="1" dirty="0">
                <a:solidFill>
                  <a:srgbClr val="000000"/>
                </a:solidFill>
                <a:latin typeface="Monaco" pitchFamily="125" charset="0"/>
              </a:rPr>
              <a:t> </a:t>
            </a:r>
            <a:r>
              <a:rPr lang="fr-FR" altLang="en-US" sz="1800" b="1" i="1" dirty="0">
                <a:solidFill>
                  <a:srgbClr val="CE5C00"/>
                </a:solidFill>
                <a:latin typeface="Monaco" pitchFamily="125" charset="0"/>
              </a:rPr>
              <a:t>:= </a:t>
            </a:r>
            <a:r>
              <a:rPr lang="fr-FR" altLang="en-US" sz="1800" b="1" i="1" dirty="0" err="1">
                <a:solidFill>
                  <a:srgbClr val="000000"/>
                </a:solidFill>
                <a:latin typeface="Monaco" pitchFamily="125" charset="0"/>
              </a:rPr>
              <a:t>net.Dial</a:t>
            </a:r>
            <a:r>
              <a:rPr lang="fr-FR" altLang="en-US" sz="1800" b="1" i="1" dirty="0">
                <a:solidFill>
                  <a:srgbClr val="000000"/>
                </a:solidFill>
                <a:latin typeface="Monaco" pitchFamily="125" charset="0"/>
              </a:rPr>
              <a:t>(</a:t>
            </a:r>
            <a:r>
              <a:rPr lang="fr-FR" altLang="en-US" sz="1800" b="1" i="1" dirty="0">
                <a:solidFill>
                  <a:srgbClr val="4E9A06"/>
                </a:solidFill>
                <a:latin typeface="Monaco" pitchFamily="125" charset="0"/>
              </a:rPr>
              <a:t>"</a:t>
            </a:r>
            <a:r>
              <a:rPr lang="fr-FR" altLang="en-US" sz="1800" b="1" i="1" dirty="0" err="1">
                <a:solidFill>
                  <a:srgbClr val="4E9A06"/>
                </a:solidFill>
                <a:latin typeface="Monaco" pitchFamily="125" charset="0"/>
              </a:rPr>
              <a:t>tcp</a:t>
            </a:r>
            <a:r>
              <a:rPr lang="fr-FR" altLang="en-US" sz="1800" b="1" i="1" dirty="0">
                <a:solidFill>
                  <a:srgbClr val="4E9A06"/>
                </a:solidFill>
                <a:latin typeface="Monaco" pitchFamily="125" charset="0"/>
              </a:rPr>
              <a:t>"</a:t>
            </a:r>
            <a:r>
              <a:rPr lang="fr-FR" altLang="en-US" sz="1800" b="1" i="1" dirty="0">
                <a:solidFill>
                  <a:srgbClr val="000000"/>
                </a:solidFill>
                <a:latin typeface="Monaco" pitchFamily="125" charset="0"/>
              </a:rPr>
              <a:t>, </a:t>
            </a:r>
            <a:r>
              <a:rPr lang="fr-FR" altLang="en-US" sz="1800" b="1" i="1" dirty="0">
                <a:solidFill>
                  <a:srgbClr val="4E9A06"/>
                </a:solidFill>
                <a:latin typeface="Monaco" pitchFamily="125" charset="0"/>
              </a:rPr>
              <a:t>"localhost:6000"</a:t>
            </a:r>
            <a:r>
              <a:rPr lang="fr-FR" altLang="en-US" sz="1800" b="1" i="1" dirty="0">
                <a:solidFill>
                  <a:srgbClr val="000000"/>
                </a:solidFill>
                <a:latin typeface="Monaco" pitchFamily="125" charset="0"/>
              </a:rPr>
              <a:t>)</a:t>
            </a:r>
          </a:p>
          <a:p>
            <a:pPr eaLnBrk="1" hangingPunct="1">
              <a:spcBef>
                <a:spcPct val="0"/>
              </a:spcBef>
              <a:buFontTx/>
              <a:buNone/>
            </a:pPr>
            <a:r>
              <a:rPr lang="fr-FR" altLang="en-US" sz="1800" i="1" dirty="0">
                <a:latin typeface="Monaco" pitchFamily="125" charset="0"/>
              </a:rPr>
              <a:t>	</a:t>
            </a:r>
            <a:r>
              <a:rPr lang="fr-FR" altLang="en-US" sz="1800" b="1" i="1" dirty="0">
                <a:solidFill>
                  <a:srgbClr val="204A87"/>
                </a:solidFill>
                <a:latin typeface="Monaco" pitchFamily="125" charset="0"/>
              </a:rPr>
              <a:t>if </a:t>
            </a:r>
            <a:r>
              <a:rPr lang="fr-FR" altLang="en-US" sz="1800" b="1" i="1" dirty="0" err="1">
                <a:solidFill>
                  <a:srgbClr val="000000"/>
                </a:solidFill>
                <a:latin typeface="Monaco" pitchFamily="125" charset="0"/>
              </a:rPr>
              <a:t>err</a:t>
            </a:r>
            <a:r>
              <a:rPr lang="fr-FR" altLang="en-US" sz="1800" b="1" i="1" dirty="0">
                <a:solidFill>
                  <a:srgbClr val="000000"/>
                </a:solidFill>
                <a:latin typeface="Monaco" pitchFamily="125" charset="0"/>
              </a:rPr>
              <a:t> </a:t>
            </a:r>
            <a:r>
              <a:rPr lang="fr-FR" altLang="en-US" sz="1800" b="1" i="1" dirty="0">
                <a:solidFill>
                  <a:srgbClr val="CE5C00"/>
                </a:solidFill>
                <a:latin typeface="Monaco" pitchFamily="125" charset="0"/>
              </a:rPr>
              <a:t>!= </a:t>
            </a:r>
            <a:r>
              <a:rPr lang="fr-FR" altLang="en-US" sz="1800" b="1" i="1" dirty="0" err="1">
                <a:solidFill>
                  <a:srgbClr val="204A87"/>
                </a:solidFill>
                <a:latin typeface="Monaco" pitchFamily="125" charset="0"/>
              </a:rPr>
              <a:t>nil</a:t>
            </a:r>
            <a:r>
              <a:rPr lang="fr-FR" altLang="en-US" sz="1800" b="1" i="1" dirty="0">
                <a:solidFill>
                  <a:srgbClr val="204A87"/>
                </a:solidFill>
                <a:latin typeface="Monaco" pitchFamily="125" charset="0"/>
              </a:rPr>
              <a:t> </a:t>
            </a:r>
            <a:r>
              <a:rPr lang="fr-FR" altLang="en-US" sz="1800" b="1" i="1" dirty="0">
                <a:solidFill>
                  <a:srgbClr val="000000"/>
                </a:solidFill>
                <a:latin typeface="Monaco" pitchFamily="125" charset="0"/>
              </a:rPr>
              <a:t>{</a:t>
            </a:r>
          </a:p>
          <a:p>
            <a:pPr eaLnBrk="1" hangingPunct="1">
              <a:spcBef>
                <a:spcPct val="0"/>
              </a:spcBef>
              <a:buFontTx/>
              <a:buNone/>
            </a:pPr>
            <a:r>
              <a:rPr lang="fr-FR" altLang="en-US" sz="1800" i="1" dirty="0">
                <a:latin typeface="Monaco" pitchFamily="125" charset="0"/>
              </a:rPr>
              <a:t>		</a:t>
            </a:r>
            <a:r>
              <a:rPr lang="fr-FR" altLang="en-US" sz="1800" i="1" dirty="0">
                <a:solidFill>
                  <a:srgbClr val="8F5902"/>
                </a:solidFill>
                <a:latin typeface="Monaco" pitchFamily="125" charset="0"/>
              </a:rPr>
              <a:t>// </a:t>
            </a:r>
            <a:r>
              <a:rPr lang="fr-FR" altLang="en-US" sz="1800" i="1" dirty="0" err="1">
                <a:solidFill>
                  <a:srgbClr val="8F5902"/>
                </a:solidFill>
                <a:latin typeface="Monaco" pitchFamily="125" charset="0"/>
              </a:rPr>
              <a:t>handle</a:t>
            </a:r>
            <a:r>
              <a:rPr lang="fr-FR" altLang="en-US" sz="1800" i="1" dirty="0">
                <a:solidFill>
                  <a:srgbClr val="8F5902"/>
                </a:solidFill>
                <a:latin typeface="Monaco" pitchFamily="125" charset="0"/>
              </a:rPr>
              <a:t> </a:t>
            </a:r>
            <a:r>
              <a:rPr lang="fr-FR" altLang="en-US" sz="1800" i="1" dirty="0" err="1">
                <a:solidFill>
                  <a:srgbClr val="8F5902"/>
                </a:solidFill>
                <a:latin typeface="Monaco" pitchFamily="125" charset="0"/>
              </a:rPr>
              <a:t>error</a:t>
            </a:r>
            <a:endParaRPr lang="fr-FR" altLang="en-US" sz="1800" i="1" dirty="0">
              <a:solidFill>
                <a:srgbClr val="8F5902"/>
              </a:solidFill>
              <a:latin typeface="Monaco" pitchFamily="125" charset="0"/>
            </a:endParaRPr>
          </a:p>
          <a:p>
            <a:pPr eaLnBrk="1" hangingPunct="1">
              <a:spcBef>
                <a:spcPct val="0"/>
              </a:spcBef>
              <a:buFontTx/>
              <a:buNone/>
            </a:pPr>
            <a:r>
              <a:rPr lang="fr-FR" altLang="en-US" sz="1800" i="1" dirty="0">
                <a:latin typeface="Monaco" pitchFamily="125" charset="0"/>
              </a:rPr>
              <a:t>	</a:t>
            </a:r>
            <a:r>
              <a:rPr lang="fr-FR" altLang="en-US" sz="1800" b="1" i="1" dirty="0">
                <a:solidFill>
                  <a:srgbClr val="000000"/>
                </a:solidFill>
                <a:latin typeface="Monaco" pitchFamily="125" charset="0"/>
              </a:rPr>
              <a:t>}</a:t>
            </a:r>
          </a:p>
          <a:p>
            <a:pPr eaLnBrk="1" hangingPunct="1">
              <a:spcBef>
                <a:spcPct val="0"/>
              </a:spcBef>
              <a:buFontTx/>
              <a:buNone/>
            </a:pPr>
            <a:r>
              <a:rPr lang="fr-FR" altLang="en-US" sz="1800" i="1" dirty="0">
                <a:latin typeface="Monaco" pitchFamily="125" charset="0"/>
              </a:rPr>
              <a:t>	</a:t>
            </a:r>
            <a:r>
              <a:rPr lang="fr-FR" altLang="en-US" sz="1800" i="1" dirty="0" err="1">
                <a:solidFill>
                  <a:srgbClr val="000000"/>
                </a:solidFill>
                <a:latin typeface="Monaco" pitchFamily="125" charset="0"/>
              </a:rPr>
              <a:t>recvdSlice</a:t>
            </a:r>
            <a:r>
              <a:rPr lang="fr-FR" altLang="en-US" sz="1800" i="1" dirty="0">
                <a:solidFill>
                  <a:srgbClr val="000000"/>
                </a:solidFill>
                <a:latin typeface="Monaco" pitchFamily="125" charset="0"/>
              </a:rPr>
              <a:t> </a:t>
            </a:r>
            <a:r>
              <a:rPr lang="fr-FR" altLang="en-US" sz="1800" b="1" i="1" dirty="0">
                <a:solidFill>
                  <a:srgbClr val="CE5C00"/>
                </a:solidFill>
                <a:latin typeface="Monaco" pitchFamily="125" charset="0"/>
              </a:rPr>
              <a:t>:= </a:t>
            </a:r>
            <a:r>
              <a:rPr lang="fr-FR" altLang="en-US" sz="1800" b="1" i="1" dirty="0" err="1">
                <a:solidFill>
                  <a:srgbClr val="204A87"/>
                </a:solidFill>
                <a:latin typeface="Monaco" pitchFamily="125" charset="0"/>
              </a:rPr>
              <a:t>make</a:t>
            </a:r>
            <a:r>
              <a:rPr lang="fr-FR" altLang="en-US" sz="1800" b="1" i="1" dirty="0">
                <a:solidFill>
                  <a:srgbClr val="000000"/>
                </a:solidFill>
                <a:latin typeface="Monaco" pitchFamily="125" charset="0"/>
              </a:rPr>
              <a:t>([]</a:t>
            </a:r>
            <a:r>
              <a:rPr lang="fr-FR" altLang="en-US" sz="1800" b="1" i="1" dirty="0">
                <a:solidFill>
                  <a:srgbClr val="204A87"/>
                </a:solidFill>
                <a:latin typeface="Monaco" pitchFamily="125" charset="0"/>
              </a:rPr>
              <a:t>byte</a:t>
            </a:r>
            <a:r>
              <a:rPr lang="fr-FR" altLang="en-US" sz="1800" b="1" i="1" dirty="0">
                <a:solidFill>
                  <a:srgbClr val="000000"/>
                </a:solidFill>
                <a:latin typeface="Monaco" pitchFamily="125" charset="0"/>
              </a:rPr>
              <a:t>, </a:t>
            </a:r>
            <a:r>
              <a:rPr lang="fr-FR" altLang="en-US" sz="1800" b="1" i="1" dirty="0">
                <a:solidFill>
                  <a:srgbClr val="0000CF"/>
                </a:solidFill>
                <a:latin typeface="Monaco" pitchFamily="125" charset="0"/>
              </a:rPr>
              <a:t>11</a:t>
            </a:r>
            <a:r>
              <a:rPr lang="fr-FR" altLang="en-US" sz="1800" b="1" i="1" dirty="0">
                <a:solidFill>
                  <a:srgbClr val="000000"/>
                </a:solidFill>
                <a:latin typeface="Monaco" pitchFamily="125" charset="0"/>
              </a:rPr>
              <a:t>)</a:t>
            </a:r>
          </a:p>
          <a:p>
            <a:pPr eaLnBrk="1" hangingPunct="1">
              <a:spcBef>
                <a:spcPct val="0"/>
              </a:spcBef>
              <a:buFontTx/>
              <a:buNone/>
            </a:pPr>
            <a:r>
              <a:rPr lang="fr-FR" altLang="en-US" sz="1800" i="1" dirty="0">
                <a:latin typeface="Monaco" pitchFamily="125" charset="0"/>
              </a:rPr>
              <a:t>	</a:t>
            </a:r>
            <a:r>
              <a:rPr lang="fr-FR" altLang="en-US" sz="1800" i="1" dirty="0" err="1">
                <a:solidFill>
                  <a:srgbClr val="000000"/>
                </a:solidFill>
                <a:latin typeface="Monaco" pitchFamily="125" charset="0"/>
              </a:rPr>
              <a:t>conn</a:t>
            </a:r>
            <a:r>
              <a:rPr lang="fr-FR" altLang="en-US" sz="1800" b="1" i="1" dirty="0" err="1">
                <a:solidFill>
                  <a:srgbClr val="000000"/>
                </a:solidFill>
                <a:latin typeface="Monaco" pitchFamily="125" charset="0"/>
              </a:rPr>
              <a:t>.Read</a:t>
            </a:r>
            <a:r>
              <a:rPr lang="fr-FR" altLang="en-US" sz="1800" b="1" i="1" dirty="0">
                <a:solidFill>
                  <a:srgbClr val="000000"/>
                </a:solidFill>
                <a:latin typeface="Monaco" pitchFamily="125" charset="0"/>
              </a:rPr>
              <a:t>(</a:t>
            </a:r>
            <a:r>
              <a:rPr lang="fr-FR" altLang="en-US" sz="1800" b="1" i="1" dirty="0" err="1">
                <a:solidFill>
                  <a:srgbClr val="000000"/>
                </a:solidFill>
                <a:latin typeface="Monaco" pitchFamily="125" charset="0"/>
              </a:rPr>
              <a:t>recvdSlice</a:t>
            </a:r>
            <a:r>
              <a:rPr lang="fr-FR" altLang="en-US" sz="1800" b="1" i="1" dirty="0">
                <a:solidFill>
                  <a:srgbClr val="000000"/>
                </a:solidFill>
                <a:latin typeface="Monaco" pitchFamily="125" charset="0"/>
              </a:rPr>
              <a:t>)</a:t>
            </a:r>
          </a:p>
          <a:p>
            <a:pPr eaLnBrk="1" hangingPunct="1">
              <a:spcBef>
                <a:spcPct val="0"/>
              </a:spcBef>
              <a:buFontTx/>
              <a:buNone/>
            </a:pPr>
            <a:r>
              <a:rPr lang="fr-FR" altLang="en-US" sz="1800" i="1" dirty="0">
                <a:latin typeface="Monaco" pitchFamily="125" charset="0"/>
              </a:rPr>
              <a:t>	</a:t>
            </a:r>
            <a:r>
              <a:rPr lang="fr-FR" altLang="en-US" sz="1800" i="1" dirty="0" err="1">
                <a:solidFill>
                  <a:srgbClr val="000000"/>
                </a:solidFill>
                <a:latin typeface="Monaco" pitchFamily="125" charset="0"/>
              </a:rPr>
              <a:t>fmt</a:t>
            </a:r>
            <a:r>
              <a:rPr lang="fr-FR" altLang="en-US" sz="1800" b="1" i="1" dirty="0" err="1">
                <a:solidFill>
                  <a:srgbClr val="000000"/>
                </a:solidFill>
                <a:latin typeface="Monaco" pitchFamily="125" charset="0"/>
              </a:rPr>
              <a:t>.Println</a:t>
            </a:r>
            <a:r>
              <a:rPr lang="fr-FR" altLang="en-US" sz="1800" b="1" i="1" dirty="0">
                <a:solidFill>
                  <a:srgbClr val="000000"/>
                </a:solidFill>
                <a:latin typeface="Monaco" pitchFamily="125" charset="0"/>
              </a:rPr>
              <a:t>(</a:t>
            </a:r>
            <a:r>
              <a:rPr lang="fr-FR" altLang="en-US" sz="1800" b="1" i="1" dirty="0">
                <a:solidFill>
                  <a:srgbClr val="204A87"/>
                </a:solidFill>
                <a:latin typeface="Monaco" pitchFamily="125" charset="0"/>
              </a:rPr>
              <a:t>string</a:t>
            </a:r>
            <a:r>
              <a:rPr lang="fr-FR" altLang="en-US" sz="1800" b="1" i="1" dirty="0">
                <a:solidFill>
                  <a:srgbClr val="000000"/>
                </a:solidFill>
                <a:latin typeface="Monaco" pitchFamily="125" charset="0"/>
              </a:rPr>
              <a:t>(</a:t>
            </a:r>
            <a:r>
              <a:rPr lang="fr-FR" altLang="en-US" sz="1800" b="1" i="1" dirty="0" err="1">
                <a:solidFill>
                  <a:srgbClr val="000000"/>
                </a:solidFill>
                <a:latin typeface="Monaco" pitchFamily="125" charset="0"/>
              </a:rPr>
              <a:t>recvdSlice</a:t>
            </a:r>
            <a:r>
              <a:rPr lang="fr-FR" altLang="en-US" sz="1800" b="1" i="1" dirty="0">
                <a:solidFill>
                  <a:srgbClr val="000000"/>
                </a:solidFill>
                <a:latin typeface="Monaco" pitchFamily="125" charset="0"/>
              </a:rPr>
              <a:t>))</a:t>
            </a:r>
          </a:p>
          <a:p>
            <a:pPr eaLnBrk="1" hangingPunct="1">
              <a:spcBef>
                <a:spcPct val="0"/>
              </a:spcBef>
              <a:buFontTx/>
              <a:buNone/>
            </a:pPr>
            <a:endParaRPr lang="fr-FR" altLang="en-US" sz="1800" i="1" dirty="0">
              <a:latin typeface="Monaco" pitchFamily="125" charset="0"/>
            </a:endParaRPr>
          </a:p>
          <a:p>
            <a:pPr eaLnBrk="1" hangingPunct="1">
              <a:spcBef>
                <a:spcPct val="0"/>
              </a:spcBef>
              <a:buFontTx/>
              <a:buNone/>
            </a:pPr>
            <a:r>
              <a:rPr lang="fr-FR" altLang="en-US" sz="1800" b="1" i="1" dirty="0">
                <a:solidFill>
                  <a:srgbClr val="000000"/>
                </a:solidFill>
                <a:latin typeface="Monaco" pitchFamily="125"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re 1">
            <a:extLst>
              <a:ext uri="{FF2B5EF4-FFF2-40B4-BE49-F238E27FC236}">
                <a16:creationId xmlns:a16="http://schemas.microsoft.com/office/drawing/2014/main" id="{CE3204D7-52C6-D56E-1959-9888A5CDB053}"/>
              </a:ext>
            </a:extLst>
          </p:cNvPr>
          <p:cNvSpPr>
            <a:spLocks noGrp="1" noChangeArrowheads="1"/>
          </p:cNvSpPr>
          <p:nvPr>
            <p:ph type="title"/>
          </p:nvPr>
        </p:nvSpPr>
        <p:spPr/>
        <p:txBody>
          <a:bodyPr/>
          <a:lstStyle/>
          <a:p>
            <a:r>
              <a:rPr lang="fr-FR" altLang="en-US"/>
              <a:t>What does the following code do?</a:t>
            </a:r>
          </a:p>
        </p:txBody>
      </p:sp>
      <p:sp>
        <p:nvSpPr>
          <p:cNvPr id="4" name="Rectangle 3">
            <a:extLst>
              <a:ext uri="{FF2B5EF4-FFF2-40B4-BE49-F238E27FC236}">
                <a16:creationId xmlns:a16="http://schemas.microsoft.com/office/drawing/2014/main" id="{C498433C-421E-F92D-2F06-7FEB2965DD83}"/>
              </a:ext>
            </a:extLst>
          </p:cNvPr>
          <p:cNvSpPr>
            <a:spLocks noChangeArrowheads="1"/>
          </p:cNvSpPr>
          <p:nvPr/>
        </p:nvSpPr>
        <p:spPr bwMode="auto">
          <a:xfrm>
            <a:off x="762000" y="1828800"/>
            <a:ext cx="77724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600" b="1" i="1">
                <a:solidFill>
                  <a:srgbClr val="204A87"/>
                </a:solidFill>
                <a:latin typeface="Monaco" pitchFamily="125" charset="0"/>
              </a:rPr>
              <a:t>func </a:t>
            </a:r>
            <a:r>
              <a:rPr lang="fr-FR" altLang="en-US" sz="1600" b="1" i="1">
                <a:solidFill>
                  <a:srgbClr val="000000"/>
                </a:solidFill>
                <a:latin typeface="Monaco" pitchFamily="125" charset="0"/>
              </a:rPr>
              <a:t>main() {</a:t>
            </a:r>
          </a:p>
          <a:p>
            <a:pPr eaLnBrk="1" hangingPunct="1">
              <a:spcBef>
                <a:spcPct val="0"/>
              </a:spcBef>
              <a:buFontTx/>
              <a:buNone/>
            </a:pPr>
            <a:r>
              <a:rPr lang="de-DE" altLang="en-US" sz="1600" i="1">
                <a:latin typeface="Monaco" pitchFamily="125" charset="0"/>
              </a:rPr>
              <a:t>	</a:t>
            </a:r>
            <a:r>
              <a:rPr lang="de-DE" altLang="en-US" sz="1600" i="1">
                <a:solidFill>
                  <a:srgbClr val="000000"/>
                </a:solidFill>
                <a:latin typeface="Monaco" pitchFamily="125" charset="0"/>
              </a:rPr>
              <a:t>ln</a:t>
            </a:r>
            <a:r>
              <a:rPr lang="de-DE" altLang="en-US" sz="1600" b="1" i="1">
                <a:solidFill>
                  <a:srgbClr val="000000"/>
                </a:solidFill>
                <a:latin typeface="Monaco" pitchFamily="125" charset="0"/>
              </a:rPr>
              <a:t>, err </a:t>
            </a:r>
            <a:r>
              <a:rPr lang="de-DE" altLang="en-US" sz="1600" b="1" i="1">
                <a:solidFill>
                  <a:srgbClr val="CE5C00"/>
                </a:solidFill>
                <a:latin typeface="Monaco" pitchFamily="125" charset="0"/>
              </a:rPr>
              <a:t>:= </a:t>
            </a:r>
            <a:r>
              <a:rPr lang="de-DE" altLang="en-US" sz="1600" b="1" i="1">
                <a:solidFill>
                  <a:srgbClr val="000000"/>
                </a:solidFill>
                <a:latin typeface="Monaco" pitchFamily="125" charset="0"/>
              </a:rPr>
              <a:t>net.Listen(</a:t>
            </a:r>
            <a:r>
              <a:rPr lang="de-DE" altLang="en-US" sz="1600" b="1" i="1">
                <a:solidFill>
                  <a:srgbClr val="4E9A06"/>
                </a:solidFill>
                <a:latin typeface="Monaco" pitchFamily="125" charset="0"/>
              </a:rPr>
              <a:t>"tcp"</a:t>
            </a:r>
            <a:r>
              <a:rPr lang="de-DE" altLang="en-US" sz="1600" b="1" i="1">
                <a:solidFill>
                  <a:srgbClr val="000000"/>
                </a:solidFill>
                <a:latin typeface="Monaco" pitchFamily="125" charset="0"/>
              </a:rPr>
              <a:t>, </a:t>
            </a:r>
            <a:r>
              <a:rPr lang="de-DE" altLang="en-US" sz="1600" b="1" i="1">
                <a:solidFill>
                  <a:srgbClr val="4E9A06"/>
                </a:solidFill>
                <a:latin typeface="Monaco" pitchFamily="125" charset="0"/>
              </a:rPr>
              <a:t>":6000"</a:t>
            </a:r>
            <a:r>
              <a:rPr lang="de-DE" altLang="en-US" sz="1600" b="1" i="1">
                <a:solidFill>
                  <a:srgbClr val="000000"/>
                </a:solidFill>
                <a:latin typeface="Monaco" pitchFamily="125" charset="0"/>
              </a:rPr>
              <a:t>)</a:t>
            </a:r>
          </a:p>
          <a:p>
            <a:pPr eaLnBrk="1" hangingPunct="1">
              <a:spcBef>
                <a:spcPct val="0"/>
              </a:spcBef>
              <a:buFontTx/>
              <a:buNone/>
            </a:pPr>
            <a:r>
              <a:rPr lang="fr-FR" altLang="en-US" sz="1600" i="1">
                <a:latin typeface="Monaco" pitchFamily="125" charset="0"/>
              </a:rPr>
              <a:t>	</a:t>
            </a:r>
            <a:r>
              <a:rPr lang="fr-FR" altLang="en-US" sz="1600" b="1" i="1">
                <a:solidFill>
                  <a:srgbClr val="204A87"/>
                </a:solidFill>
                <a:latin typeface="Monaco" pitchFamily="125" charset="0"/>
              </a:rPr>
              <a:t>if </a:t>
            </a:r>
            <a:r>
              <a:rPr lang="fr-FR" altLang="en-US" sz="1600" b="1" i="1">
                <a:solidFill>
                  <a:srgbClr val="000000"/>
                </a:solidFill>
                <a:latin typeface="Monaco" pitchFamily="125" charset="0"/>
              </a:rPr>
              <a:t>err </a:t>
            </a:r>
            <a:r>
              <a:rPr lang="fr-FR" altLang="en-US" sz="1600" b="1" i="1">
                <a:solidFill>
                  <a:srgbClr val="CE5C00"/>
                </a:solidFill>
                <a:latin typeface="Monaco" pitchFamily="125" charset="0"/>
              </a:rPr>
              <a:t>!= </a:t>
            </a:r>
            <a:r>
              <a:rPr lang="fr-FR" altLang="en-US" sz="1600" b="1" i="1">
                <a:solidFill>
                  <a:srgbClr val="204A87"/>
                </a:solidFill>
                <a:latin typeface="Monaco" pitchFamily="125" charset="0"/>
              </a:rPr>
              <a:t>nil </a:t>
            </a:r>
            <a:r>
              <a:rPr lang="fr-FR" altLang="en-US" sz="1600" b="1" i="1">
                <a:solidFill>
                  <a:srgbClr val="000000"/>
                </a:solidFill>
                <a:latin typeface="Monaco" pitchFamily="125" charset="0"/>
              </a:rPr>
              <a:t>{</a:t>
            </a:r>
          </a:p>
          <a:p>
            <a:pPr eaLnBrk="1" hangingPunct="1">
              <a:spcBef>
                <a:spcPct val="0"/>
              </a:spcBef>
              <a:buFontTx/>
              <a:buNone/>
            </a:pPr>
            <a:r>
              <a:rPr lang="fr-FR" altLang="en-US" sz="1600" i="1">
                <a:latin typeface="Monaco" pitchFamily="125" charset="0"/>
              </a:rPr>
              <a:t>		</a:t>
            </a:r>
            <a:r>
              <a:rPr lang="fr-FR" altLang="en-US" sz="1600" i="1">
                <a:solidFill>
                  <a:srgbClr val="000000"/>
                </a:solidFill>
                <a:latin typeface="Monaco" pitchFamily="125" charset="0"/>
              </a:rPr>
              <a:t>log</a:t>
            </a:r>
            <a:r>
              <a:rPr lang="fr-FR" altLang="en-US" sz="1600" b="1" i="1">
                <a:solidFill>
                  <a:srgbClr val="000000"/>
                </a:solidFill>
                <a:latin typeface="Monaco" pitchFamily="125" charset="0"/>
              </a:rPr>
              <a:t>.Fatal(err)</a:t>
            </a:r>
          </a:p>
          <a:p>
            <a:pPr eaLnBrk="1" hangingPunct="1">
              <a:spcBef>
                <a:spcPct val="0"/>
              </a:spcBef>
              <a:buFontTx/>
              <a:buNone/>
            </a:pPr>
            <a:r>
              <a:rPr lang="fr-FR" altLang="en-US" sz="1600" i="1">
                <a:latin typeface="Monaco" pitchFamily="125" charset="0"/>
              </a:rPr>
              <a:t>	</a:t>
            </a:r>
            <a:r>
              <a:rPr lang="fr-FR" altLang="en-US" sz="1600" b="1" i="1">
                <a:solidFill>
                  <a:srgbClr val="000000"/>
                </a:solidFill>
                <a:latin typeface="Monaco" pitchFamily="125" charset="0"/>
              </a:rPr>
              <a:t>}</a:t>
            </a:r>
          </a:p>
          <a:p>
            <a:pPr eaLnBrk="1" hangingPunct="1">
              <a:spcBef>
                <a:spcPct val="0"/>
              </a:spcBef>
              <a:buFontTx/>
              <a:buNone/>
            </a:pPr>
            <a:r>
              <a:rPr lang="en-US" altLang="en-US" sz="1600" i="1">
                <a:latin typeface="Monaco" pitchFamily="125" charset="0"/>
              </a:rPr>
              <a:t>	</a:t>
            </a:r>
            <a:r>
              <a:rPr lang="en-US" altLang="en-US" sz="1600" b="1" i="1">
                <a:solidFill>
                  <a:srgbClr val="204A87"/>
                </a:solidFill>
                <a:latin typeface="Monaco" pitchFamily="125" charset="0"/>
              </a:rPr>
              <a:t>for </a:t>
            </a:r>
            <a:r>
              <a:rPr lang="en-US" altLang="en-US" sz="1600" b="1" i="1">
                <a:solidFill>
                  <a:srgbClr val="000000"/>
                </a:solidFill>
                <a:latin typeface="Monaco" pitchFamily="125" charset="0"/>
              </a:rPr>
              <a:t>{</a:t>
            </a:r>
          </a:p>
          <a:p>
            <a:pPr eaLnBrk="1" hangingPunct="1">
              <a:spcBef>
                <a:spcPct val="0"/>
              </a:spcBef>
              <a:buFontTx/>
              <a:buNone/>
            </a:pPr>
            <a:r>
              <a:rPr lang="en-US" altLang="en-US" sz="1600" i="1">
                <a:latin typeface="Monaco" pitchFamily="125" charset="0"/>
              </a:rPr>
              <a:t>		</a:t>
            </a:r>
            <a:r>
              <a:rPr lang="en-US" altLang="en-US" sz="1600" i="1">
                <a:solidFill>
                  <a:srgbClr val="000000"/>
                </a:solidFill>
                <a:latin typeface="Monaco" pitchFamily="125" charset="0"/>
              </a:rPr>
              <a:t>conn</a:t>
            </a:r>
            <a:r>
              <a:rPr lang="en-US" altLang="en-US" sz="1600" b="1" i="1">
                <a:solidFill>
                  <a:srgbClr val="000000"/>
                </a:solidFill>
                <a:latin typeface="Monaco" pitchFamily="125" charset="0"/>
              </a:rPr>
              <a:t>, err </a:t>
            </a:r>
            <a:r>
              <a:rPr lang="en-US" altLang="en-US" sz="1600" b="1" i="1">
                <a:solidFill>
                  <a:srgbClr val="CE5C00"/>
                </a:solidFill>
                <a:latin typeface="Monaco" pitchFamily="125" charset="0"/>
              </a:rPr>
              <a:t>:= </a:t>
            </a:r>
            <a:r>
              <a:rPr lang="en-US" altLang="en-US" sz="1600" b="1" i="1">
                <a:solidFill>
                  <a:srgbClr val="000000"/>
                </a:solidFill>
                <a:latin typeface="Monaco" pitchFamily="125" charset="0"/>
              </a:rPr>
              <a:t>ln.Accept()</a:t>
            </a:r>
          </a:p>
          <a:p>
            <a:pPr eaLnBrk="1" hangingPunct="1">
              <a:spcBef>
                <a:spcPct val="0"/>
              </a:spcBef>
              <a:buFontTx/>
              <a:buNone/>
            </a:pPr>
            <a:r>
              <a:rPr lang="fr-FR" altLang="en-US" sz="1600" i="1">
                <a:latin typeface="Monaco" pitchFamily="125" charset="0"/>
              </a:rPr>
              <a:t>		</a:t>
            </a:r>
            <a:r>
              <a:rPr lang="fr-FR" altLang="en-US" sz="1600" b="1" i="1">
                <a:solidFill>
                  <a:srgbClr val="204A87"/>
                </a:solidFill>
                <a:latin typeface="Monaco" pitchFamily="125" charset="0"/>
              </a:rPr>
              <a:t>if </a:t>
            </a:r>
            <a:r>
              <a:rPr lang="fr-FR" altLang="en-US" sz="1600" b="1" i="1">
                <a:solidFill>
                  <a:srgbClr val="000000"/>
                </a:solidFill>
                <a:latin typeface="Monaco" pitchFamily="125" charset="0"/>
              </a:rPr>
              <a:t>err </a:t>
            </a:r>
            <a:r>
              <a:rPr lang="fr-FR" altLang="en-US" sz="1600" b="1" i="1">
                <a:solidFill>
                  <a:srgbClr val="CE5C00"/>
                </a:solidFill>
                <a:latin typeface="Monaco" pitchFamily="125" charset="0"/>
              </a:rPr>
              <a:t>!= </a:t>
            </a:r>
            <a:r>
              <a:rPr lang="fr-FR" altLang="en-US" sz="1600" b="1" i="1">
                <a:solidFill>
                  <a:srgbClr val="204A87"/>
                </a:solidFill>
                <a:latin typeface="Monaco" pitchFamily="125" charset="0"/>
              </a:rPr>
              <a:t>nil </a:t>
            </a:r>
            <a:r>
              <a:rPr lang="fr-FR" altLang="en-US" sz="1600" b="1" i="1">
                <a:solidFill>
                  <a:srgbClr val="000000"/>
                </a:solidFill>
                <a:latin typeface="Monaco" pitchFamily="125" charset="0"/>
              </a:rPr>
              <a:t>{</a:t>
            </a:r>
          </a:p>
          <a:p>
            <a:pPr eaLnBrk="1" hangingPunct="1">
              <a:spcBef>
                <a:spcPct val="0"/>
              </a:spcBef>
              <a:buFontTx/>
              <a:buNone/>
            </a:pPr>
            <a:r>
              <a:rPr lang="fr-FR" altLang="en-US" sz="1600" i="1">
                <a:latin typeface="Monaco" pitchFamily="125" charset="0"/>
              </a:rPr>
              <a:t>			</a:t>
            </a:r>
            <a:r>
              <a:rPr lang="fr-FR" altLang="en-US" sz="1600" i="1">
                <a:solidFill>
                  <a:srgbClr val="000000"/>
                </a:solidFill>
                <a:latin typeface="Monaco" pitchFamily="125" charset="0"/>
              </a:rPr>
              <a:t>log</a:t>
            </a:r>
            <a:r>
              <a:rPr lang="fr-FR" altLang="en-US" sz="1600" b="1" i="1">
                <a:solidFill>
                  <a:srgbClr val="000000"/>
                </a:solidFill>
                <a:latin typeface="Monaco" pitchFamily="125" charset="0"/>
              </a:rPr>
              <a:t>.Println(err)</a:t>
            </a:r>
          </a:p>
          <a:p>
            <a:pPr eaLnBrk="1" hangingPunct="1">
              <a:spcBef>
                <a:spcPct val="0"/>
              </a:spcBef>
              <a:buFontTx/>
              <a:buNone/>
            </a:pPr>
            <a:r>
              <a:rPr lang="fr-FR" altLang="en-US" sz="1600" i="1">
                <a:latin typeface="Monaco" pitchFamily="125" charset="0"/>
              </a:rPr>
              <a:t>			</a:t>
            </a:r>
            <a:r>
              <a:rPr lang="fr-FR" altLang="en-US" sz="1600" b="1" i="1">
                <a:solidFill>
                  <a:srgbClr val="204A87"/>
                </a:solidFill>
                <a:latin typeface="Monaco" pitchFamily="125" charset="0"/>
              </a:rPr>
              <a:t>continue</a:t>
            </a:r>
          </a:p>
          <a:p>
            <a:pPr eaLnBrk="1" hangingPunct="1">
              <a:spcBef>
                <a:spcPct val="0"/>
              </a:spcBef>
              <a:buFontTx/>
              <a:buNone/>
            </a:pPr>
            <a:r>
              <a:rPr lang="fr-FR" altLang="en-US" sz="1600" i="1">
                <a:latin typeface="Monaco" pitchFamily="125" charset="0"/>
              </a:rPr>
              <a:t>		</a:t>
            </a:r>
            <a:r>
              <a:rPr lang="fr-FR" altLang="en-US" sz="1600" b="1" i="1">
                <a:solidFill>
                  <a:srgbClr val="000000"/>
                </a:solidFill>
                <a:latin typeface="Monaco" pitchFamily="125" charset="0"/>
              </a:rPr>
              <a:t>}</a:t>
            </a:r>
          </a:p>
          <a:p>
            <a:pPr eaLnBrk="1" hangingPunct="1">
              <a:spcBef>
                <a:spcPct val="0"/>
              </a:spcBef>
              <a:buFontTx/>
              <a:buNone/>
            </a:pPr>
            <a:r>
              <a:rPr lang="fr-FR" altLang="en-US" sz="1600" i="1">
                <a:latin typeface="Monaco" pitchFamily="125" charset="0"/>
              </a:rPr>
              <a:t>		</a:t>
            </a:r>
            <a:r>
              <a:rPr lang="fr-FR" altLang="en-US" sz="1600" b="1" i="1">
                <a:solidFill>
                  <a:srgbClr val="204A87"/>
                </a:solidFill>
                <a:latin typeface="Monaco" pitchFamily="125" charset="0"/>
              </a:rPr>
              <a:t>go </a:t>
            </a:r>
            <a:r>
              <a:rPr lang="fr-FR" altLang="en-US" sz="1600" b="1" i="1">
                <a:solidFill>
                  <a:srgbClr val="000000"/>
                </a:solidFill>
                <a:latin typeface="Monaco" pitchFamily="125" charset="0"/>
              </a:rPr>
              <a:t>handleConnection(conn)</a:t>
            </a:r>
          </a:p>
          <a:p>
            <a:pPr eaLnBrk="1" hangingPunct="1">
              <a:spcBef>
                <a:spcPct val="0"/>
              </a:spcBef>
              <a:buFontTx/>
              <a:buNone/>
            </a:pPr>
            <a:r>
              <a:rPr lang="fr-FR" altLang="en-US" sz="1600" i="1">
                <a:latin typeface="Monaco" pitchFamily="125" charset="0"/>
              </a:rPr>
              <a:t>	</a:t>
            </a:r>
            <a:r>
              <a:rPr lang="fr-FR" altLang="en-US" sz="1600" b="1" i="1">
                <a:solidFill>
                  <a:srgbClr val="000000"/>
                </a:solidFill>
                <a:latin typeface="Monaco" pitchFamily="125" charset="0"/>
              </a:rPr>
              <a:t>}</a:t>
            </a:r>
          </a:p>
          <a:p>
            <a:pPr eaLnBrk="1" hangingPunct="1">
              <a:spcBef>
                <a:spcPct val="0"/>
              </a:spcBef>
              <a:buFontTx/>
              <a:buNone/>
            </a:pPr>
            <a:r>
              <a:rPr lang="fr-FR" altLang="en-US" sz="1600" b="1" i="1">
                <a:solidFill>
                  <a:srgbClr val="000000"/>
                </a:solidFill>
                <a:latin typeface="Monaco" pitchFamily="125"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8AF65E6-27F0-F05A-1E5D-D8A71DB7C644}"/>
              </a:ext>
            </a:extLst>
          </p:cNvPr>
          <p:cNvSpPr>
            <a:spLocks noChangeArrowheads="1"/>
          </p:cNvSpPr>
          <p:nvPr/>
        </p:nvSpPr>
        <p:spPr bwMode="auto">
          <a:xfrm>
            <a:off x="762000" y="1676400"/>
            <a:ext cx="7772400" cy="375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400" b="1" i="1" dirty="0" err="1">
                <a:solidFill>
                  <a:srgbClr val="204A87"/>
                </a:solidFill>
                <a:latin typeface="Monaco" pitchFamily="125" charset="0"/>
              </a:rPr>
              <a:t>func</a:t>
            </a:r>
            <a:r>
              <a:rPr lang="fr-FR" altLang="en-US" sz="1400" b="1" i="1" dirty="0">
                <a:solidFill>
                  <a:srgbClr val="204A87"/>
                </a:solidFill>
                <a:latin typeface="Monaco" pitchFamily="125" charset="0"/>
              </a:rPr>
              <a:t> </a:t>
            </a:r>
            <a:r>
              <a:rPr lang="fr-FR" altLang="en-US" sz="1400" b="1" i="1" dirty="0" err="1">
                <a:solidFill>
                  <a:srgbClr val="000000"/>
                </a:solidFill>
                <a:latin typeface="Monaco" pitchFamily="125" charset="0"/>
              </a:rPr>
              <a:t>handleConnection</a:t>
            </a:r>
            <a:r>
              <a:rPr lang="fr-FR" altLang="en-US" sz="1400" b="1" i="1" dirty="0">
                <a:solidFill>
                  <a:srgbClr val="000000"/>
                </a:solidFill>
                <a:latin typeface="Monaco" pitchFamily="125" charset="0"/>
              </a:rPr>
              <a:t>(c </a:t>
            </a:r>
            <a:r>
              <a:rPr lang="fr-FR" altLang="en-US" sz="1400" b="1" i="1" dirty="0" err="1">
                <a:solidFill>
                  <a:srgbClr val="000000"/>
                </a:solidFill>
                <a:latin typeface="Monaco" pitchFamily="125" charset="0"/>
              </a:rPr>
              <a:t>net.Conn</a:t>
            </a:r>
            <a:r>
              <a:rPr lang="fr-FR" altLang="en-US" sz="1400" b="1" i="1" dirty="0">
                <a:solidFill>
                  <a:srgbClr val="000000"/>
                </a:solidFill>
                <a:latin typeface="Monaco" pitchFamily="125" charset="0"/>
              </a:rPr>
              <a:t>) {</a:t>
            </a:r>
          </a:p>
          <a:p>
            <a:pPr eaLnBrk="1" hangingPunct="1">
              <a:spcBef>
                <a:spcPct val="0"/>
              </a:spcBef>
              <a:buFontTx/>
              <a:buNone/>
            </a:pPr>
            <a:endParaRPr lang="fr-FR" altLang="en-US" sz="1400" b="1" i="1" dirty="0">
              <a:solidFill>
                <a:srgbClr val="000000"/>
              </a:solidFill>
              <a:latin typeface="Monaco" pitchFamily="125" charset="0"/>
            </a:endParaRPr>
          </a:p>
          <a:p>
            <a:pPr eaLnBrk="1" hangingPunct="1">
              <a:spcBef>
                <a:spcPct val="0"/>
              </a:spcBef>
              <a:buFontTx/>
              <a:buNone/>
            </a:pPr>
            <a:r>
              <a:rPr lang="en-US" altLang="en-US" sz="1400" i="1" dirty="0">
                <a:latin typeface="Monaco" pitchFamily="125" charset="0"/>
              </a:rPr>
              <a:t>	</a:t>
            </a:r>
            <a:r>
              <a:rPr lang="en-US" altLang="en-US" sz="1400" i="1" dirty="0" err="1">
                <a:solidFill>
                  <a:srgbClr val="000000"/>
                </a:solidFill>
                <a:latin typeface="Monaco" pitchFamily="125" charset="0"/>
              </a:rPr>
              <a:t>buf</a:t>
            </a:r>
            <a:r>
              <a:rPr lang="en-US" altLang="en-US" sz="1400" i="1" dirty="0">
                <a:solidFill>
                  <a:srgbClr val="000000"/>
                </a:solidFill>
                <a:latin typeface="Monaco" pitchFamily="125" charset="0"/>
              </a:rPr>
              <a:t> </a:t>
            </a:r>
            <a:r>
              <a:rPr lang="en-US" altLang="en-US" sz="1400" b="1" i="1" dirty="0">
                <a:solidFill>
                  <a:srgbClr val="CE5C00"/>
                </a:solidFill>
                <a:latin typeface="Monaco" pitchFamily="125" charset="0"/>
              </a:rPr>
              <a:t>:= </a:t>
            </a:r>
            <a:r>
              <a:rPr lang="en-US" altLang="en-US" sz="1400" b="1" i="1" dirty="0">
                <a:solidFill>
                  <a:srgbClr val="204A87"/>
                </a:solidFill>
                <a:latin typeface="Monaco" pitchFamily="125" charset="0"/>
              </a:rPr>
              <a:t>make</a:t>
            </a:r>
            <a:r>
              <a:rPr lang="en-US" altLang="en-US" sz="1400" b="1" i="1" dirty="0">
                <a:solidFill>
                  <a:srgbClr val="000000"/>
                </a:solidFill>
                <a:latin typeface="Monaco" pitchFamily="125" charset="0"/>
              </a:rPr>
              <a:t>([]</a:t>
            </a:r>
            <a:r>
              <a:rPr lang="en-US" altLang="en-US" sz="1400" b="1" i="1" dirty="0">
                <a:solidFill>
                  <a:srgbClr val="204A87"/>
                </a:solidFill>
                <a:latin typeface="Monaco" pitchFamily="125" charset="0"/>
              </a:rPr>
              <a:t>byte</a:t>
            </a:r>
            <a:r>
              <a:rPr lang="en-US" altLang="en-US" sz="1400" b="1" i="1" dirty="0">
                <a:solidFill>
                  <a:srgbClr val="000000"/>
                </a:solidFill>
                <a:latin typeface="Monaco" pitchFamily="125" charset="0"/>
              </a:rPr>
              <a:t>, </a:t>
            </a:r>
            <a:r>
              <a:rPr lang="en-US" altLang="en-US" sz="1400" b="1" i="1" dirty="0">
                <a:solidFill>
                  <a:srgbClr val="0000CF"/>
                </a:solidFill>
                <a:latin typeface="Monaco" pitchFamily="125" charset="0"/>
              </a:rPr>
              <a:t>4096</a:t>
            </a:r>
            <a:r>
              <a:rPr lang="en-US" altLang="en-US" sz="1400" b="1" i="1" dirty="0">
                <a:solidFill>
                  <a:srgbClr val="000000"/>
                </a:solidFill>
                <a:latin typeface="Monaco" pitchFamily="125" charset="0"/>
              </a:rPr>
              <a:t>)</a:t>
            </a:r>
            <a:endParaRPr lang="en-US" altLang="en-US" sz="1400" i="1" dirty="0">
              <a:latin typeface="Monaco" pitchFamily="125" charset="0"/>
            </a:endParaRPr>
          </a:p>
          <a:p>
            <a:pPr eaLnBrk="1" hangingPunct="1">
              <a:spcBef>
                <a:spcPct val="0"/>
              </a:spcBef>
              <a:buFontTx/>
              <a:buNone/>
            </a:pPr>
            <a:r>
              <a:rPr lang="en-US" altLang="en-US" sz="1400" i="1" dirty="0">
                <a:latin typeface="Monaco" pitchFamily="125" charset="0"/>
              </a:rPr>
              <a:t>	</a:t>
            </a:r>
            <a:r>
              <a:rPr lang="en-US" altLang="en-US" sz="1400" b="1" i="1" dirty="0">
                <a:solidFill>
                  <a:srgbClr val="204A87"/>
                </a:solidFill>
                <a:latin typeface="Monaco" pitchFamily="125" charset="0"/>
              </a:rPr>
              <a:t>for </a:t>
            </a:r>
            <a:r>
              <a:rPr lang="en-US" altLang="en-US" sz="1400" b="1" i="1" dirty="0">
                <a:solidFill>
                  <a:srgbClr val="000000"/>
                </a:solidFill>
                <a:latin typeface="Monaco" pitchFamily="125" charset="0"/>
              </a:rPr>
              <a:t>{</a:t>
            </a:r>
          </a:p>
          <a:p>
            <a:pPr eaLnBrk="1" hangingPunct="1">
              <a:spcBef>
                <a:spcPct val="0"/>
              </a:spcBef>
              <a:buFontTx/>
              <a:buNone/>
            </a:pPr>
            <a:r>
              <a:rPr lang="de-DE" altLang="en-US" sz="1400" i="1" dirty="0">
                <a:latin typeface="Monaco" pitchFamily="125" charset="0"/>
              </a:rPr>
              <a:t>		</a:t>
            </a:r>
            <a:r>
              <a:rPr lang="de-DE" altLang="en-US" sz="1400" i="1" dirty="0">
                <a:solidFill>
                  <a:srgbClr val="000000"/>
                </a:solidFill>
                <a:latin typeface="Monaco" pitchFamily="125" charset="0"/>
              </a:rPr>
              <a:t>n</a:t>
            </a:r>
            <a:r>
              <a:rPr lang="de-DE" altLang="en-US" sz="1400" b="1" i="1" dirty="0">
                <a:solidFill>
                  <a:srgbClr val="000000"/>
                </a:solidFill>
                <a:latin typeface="Monaco" pitchFamily="125" charset="0"/>
              </a:rPr>
              <a:t>, err </a:t>
            </a:r>
            <a:r>
              <a:rPr lang="de-DE" altLang="en-US" sz="1400" b="1" i="1" dirty="0">
                <a:solidFill>
                  <a:srgbClr val="CE5C00"/>
                </a:solidFill>
                <a:latin typeface="Monaco" pitchFamily="125" charset="0"/>
              </a:rPr>
              <a:t>:= </a:t>
            </a:r>
            <a:r>
              <a:rPr lang="de-DE" altLang="en-US" sz="1400" b="1" i="1" dirty="0">
                <a:solidFill>
                  <a:srgbClr val="000000"/>
                </a:solidFill>
                <a:latin typeface="Monaco" pitchFamily="125" charset="0"/>
              </a:rPr>
              <a:t>c.Read(buf)</a:t>
            </a:r>
          </a:p>
          <a:p>
            <a:pPr eaLnBrk="1" hangingPunct="1">
              <a:spcBef>
                <a:spcPct val="0"/>
              </a:spcBef>
              <a:buFontTx/>
              <a:buNone/>
            </a:pPr>
            <a:r>
              <a:rPr lang="hr-HR" altLang="en-US" sz="1400" i="1" dirty="0">
                <a:latin typeface="Monaco" pitchFamily="125" charset="0"/>
              </a:rPr>
              <a:t>		</a:t>
            </a:r>
            <a:r>
              <a:rPr lang="hr-HR" altLang="en-US" sz="1400" b="1" i="1" dirty="0">
                <a:solidFill>
                  <a:srgbClr val="204A87"/>
                </a:solidFill>
                <a:latin typeface="Monaco" pitchFamily="125" charset="0"/>
              </a:rPr>
              <a:t>if </a:t>
            </a:r>
            <a:r>
              <a:rPr lang="hr-HR" altLang="en-US" sz="1400" b="1" i="1" dirty="0">
                <a:solidFill>
                  <a:srgbClr val="000000"/>
                </a:solidFill>
                <a:latin typeface="Monaco" pitchFamily="125" charset="0"/>
              </a:rPr>
              <a:t>err </a:t>
            </a:r>
            <a:r>
              <a:rPr lang="hr-HR" altLang="en-US" sz="1400" b="1" i="1" dirty="0">
                <a:solidFill>
                  <a:srgbClr val="CE5C00"/>
                </a:solidFill>
                <a:latin typeface="Monaco" pitchFamily="125" charset="0"/>
              </a:rPr>
              <a:t>!= </a:t>
            </a:r>
            <a:r>
              <a:rPr lang="hr-HR" altLang="en-US" sz="1400" b="1" i="1" dirty="0">
                <a:solidFill>
                  <a:srgbClr val="204A87"/>
                </a:solidFill>
                <a:latin typeface="Monaco" pitchFamily="125" charset="0"/>
              </a:rPr>
              <a:t>nil </a:t>
            </a:r>
            <a:r>
              <a:rPr lang="hr-HR" altLang="en-US" sz="1400" b="1" i="1" dirty="0">
                <a:solidFill>
                  <a:srgbClr val="CE5C00"/>
                </a:solidFill>
                <a:latin typeface="Monaco" pitchFamily="125" charset="0"/>
              </a:rPr>
              <a:t>|| </a:t>
            </a:r>
            <a:r>
              <a:rPr lang="hr-HR" altLang="en-US" sz="1400" b="1" i="1" dirty="0">
                <a:solidFill>
                  <a:srgbClr val="000000"/>
                </a:solidFill>
                <a:latin typeface="Monaco" pitchFamily="125" charset="0"/>
              </a:rPr>
              <a:t>n </a:t>
            </a:r>
            <a:r>
              <a:rPr lang="hr-HR" altLang="en-US" sz="1400" b="1" i="1" dirty="0">
                <a:solidFill>
                  <a:srgbClr val="CE5C00"/>
                </a:solidFill>
                <a:latin typeface="Monaco" pitchFamily="125" charset="0"/>
              </a:rPr>
              <a:t>== </a:t>
            </a:r>
            <a:r>
              <a:rPr lang="hr-HR" altLang="en-US" sz="1400" b="1" i="1" dirty="0">
                <a:solidFill>
                  <a:srgbClr val="0000CF"/>
                </a:solidFill>
                <a:latin typeface="Monaco" pitchFamily="125" charset="0"/>
              </a:rPr>
              <a:t>0 </a:t>
            </a:r>
            <a:r>
              <a:rPr lang="hr-HR" altLang="en-US" sz="1400" b="1" i="1" dirty="0">
                <a:solidFill>
                  <a:srgbClr val="000000"/>
                </a:solidFill>
                <a:latin typeface="Monaco" pitchFamily="125" charset="0"/>
              </a:rPr>
              <a:t>{</a:t>
            </a:r>
          </a:p>
          <a:p>
            <a:pPr eaLnBrk="1" hangingPunct="1">
              <a:spcBef>
                <a:spcPct val="0"/>
              </a:spcBef>
              <a:buFontTx/>
              <a:buNone/>
            </a:pPr>
            <a:r>
              <a:rPr lang="it-IT" altLang="en-US" sz="1400" i="1" dirty="0">
                <a:latin typeface="Monaco" pitchFamily="125" charset="0"/>
              </a:rPr>
              <a:t>			</a:t>
            </a:r>
            <a:r>
              <a:rPr lang="it-IT" altLang="en-US" sz="1400" i="1" dirty="0">
                <a:solidFill>
                  <a:srgbClr val="000000"/>
                </a:solidFill>
                <a:latin typeface="Monaco" pitchFamily="125" charset="0"/>
              </a:rPr>
              <a:t>c</a:t>
            </a:r>
            <a:r>
              <a:rPr lang="it-IT" altLang="en-US" sz="1400" b="1" i="1" dirty="0">
                <a:solidFill>
                  <a:srgbClr val="000000"/>
                </a:solidFill>
                <a:latin typeface="Monaco" pitchFamily="125" charset="0"/>
              </a:rPr>
              <a:t>.Close()</a:t>
            </a:r>
          </a:p>
          <a:p>
            <a:pPr eaLnBrk="1" hangingPunct="1">
              <a:spcBef>
                <a:spcPct val="0"/>
              </a:spcBef>
              <a:buFontTx/>
              <a:buNone/>
            </a:pPr>
            <a:r>
              <a:rPr lang="it-IT" altLang="en-US" sz="1400" i="1" dirty="0">
                <a:latin typeface="Monaco" pitchFamily="125" charset="0"/>
              </a:rPr>
              <a:t>			</a:t>
            </a:r>
            <a:r>
              <a:rPr lang="it-IT" altLang="en-US" sz="1400" b="1" i="1" dirty="0">
                <a:solidFill>
                  <a:srgbClr val="204A87"/>
                </a:solidFill>
                <a:latin typeface="Monaco" pitchFamily="125" charset="0"/>
              </a:rPr>
              <a:t>break</a:t>
            </a:r>
          </a:p>
          <a:p>
            <a:pPr eaLnBrk="1" hangingPunct="1">
              <a:spcBef>
                <a:spcPct val="0"/>
              </a:spcBef>
              <a:buFontTx/>
              <a:buNone/>
            </a:pPr>
            <a:r>
              <a:rPr lang="it-IT" altLang="en-US" sz="1400" i="1" dirty="0">
                <a:latin typeface="Monaco" pitchFamily="125" charset="0"/>
              </a:rPr>
              <a:t>		</a:t>
            </a:r>
            <a:r>
              <a:rPr lang="it-IT" altLang="en-US" sz="1400" b="1" i="1" dirty="0">
                <a:solidFill>
                  <a:srgbClr val="000000"/>
                </a:solidFill>
                <a:latin typeface="Monaco" pitchFamily="125" charset="0"/>
              </a:rPr>
              <a:t>}</a:t>
            </a:r>
          </a:p>
          <a:p>
            <a:pPr eaLnBrk="1" hangingPunct="1">
              <a:spcBef>
                <a:spcPct val="0"/>
              </a:spcBef>
              <a:buFontTx/>
              <a:buNone/>
            </a:pPr>
            <a:r>
              <a:rPr lang="pt-BR" altLang="en-US" sz="1400" i="1" dirty="0">
                <a:latin typeface="Monaco" pitchFamily="125" charset="0"/>
              </a:rPr>
              <a:t>		</a:t>
            </a:r>
            <a:r>
              <a:rPr lang="pt-BR" altLang="en-US" sz="1400" i="1" dirty="0">
                <a:solidFill>
                  <a:srgbClr val="000000"/>
                </a:solidFill>
                <a:latin typeface="Monaco" pitchFamily="125" charset="0"/>
              </a:rPr>
              <a:t>n</a:t>
            </a:r>
            <a:r>
              <a:rPr lang="pt-BR" altLang="en-US" sz="1400" b="1" i="1" dirty="0">
                <a:solidFill>
                  <a:srgbClr val="000000"/>
                </a:solidFill>
                <a:latin typeface="Monaco" pitchFamily="125" charset="0"/>
              </a:rPr>
              <a:t>, err = c.Write(buf[</a:t>
            </a:r>
            <a:r>
              <a:rPr lang="pt-BR" altLang="en-US" sz="1400" b="1" i="1" dirty="0">
                <a:solidFill>
                  <a:srgbClr val="0000CF"/>
                </a:solidFill>
                <a:latin typeface="Monaco" pitchFamily="125" charset="0"/>
              </a:rPr>
              <a:t>0</a:t>
            </a:r>
            <a:r>
              <a:rPr lang="pt-BR" altLang="en-US" sz="1400" b="1" i="1" dirty="0">
                <a:solidFill>
                  <a:srgbClr val="000000"/>
                </a:solidFill>
                <a:latin typeface="Monaco" pitchFamily="125" charset="0"/>
              </a:rPr>
              <a:t>:n])</a:t>
            </a:r>
          </a:p>
          <a:p>
            <a:pPr eaLnBrk="1" hangingPunct="1">
              <a:spcBef>
                <a:spcPct val="0"/>
              </a:spcBef>
              <a:buFontTx/>
              <a:buNone/>
            </a:pPr>
            <a:r>
              <a:rPr lang="fr-FR" altLang="en-US" sz="1400" i="1" dirty="0">
                <a:latin typeface="Monaco" pitchFamily="125" charset="0"/>
              </a:rPr>
              <a:t>		</a:t>
            </a:r>
            <a:r>
              <a:rPr lang="fr-FR" altLang="en-US" sz="1400" b="1" i="1" dirty="0">
                <a:solidFill>
                  <a:srgbClr val="204A87"/>
                </a:solidFill>
                <a:latin typeface="Monaco" pitchFamily="125" charset="0"/>
              </a:rPr>
              <a:t>if </a:t>
            </a:r>
            <a:r>
              <a:rPr lang="fr-FR" altLang="en-US" sz="1400" b="1" i="1" dirty="0" err="1">
                <a:solidFill>
                  <a:srgbClr val="000000"/>
                </a:solidFill>
                <a:latin typeface="Monaco" pitchFamily="125" charset="0"/>
              </a:rPr>
              <a:t>err</a:t>
            </a:r>
            <a:r>
              <a:rPr lang="fr-FR" altLang="en-US" sz="1400" b="1" i="1" dirty="0">
                <a:solidFill>
                  <a:srgbClr val="000000"/>
                </a:solidFill>
                <a:latin typeface="Monaco" pitchFamily="125" charset="0"/>
              </a:rPr>
              <a:t> </a:t>
            </a:r>
            <a:r>
              <a:rPr lang="fr-FR" altLang="en-US" sz="1400" b="1" i="1" dirty="0">
                <a:solidFill>
                  <a:srgbClr val="CE5C00"/>
                </a:solidFill>
                <a:latin typeface="Monaco" pitchFamily="125" charset="0"/>
              </a:rPr>
              <a:t>!= </a:t>
            </a:r>
            <a:r>
              <a:rPr lang="fr-FR" altLang="en-US" sz="1400" b="1" i="1" dirty="0" err="1">
                <a:solidFill>
                  <a:srgbClr val="204A87"/>
                </a:solidFill>
                <a:latin typeface="Monaco" pitchFamily="125" charset="0"/>
              </a:rPr>
              <a:t>nil</a:t>
            </a:r>
            <a:r>
              <a:rPr lang="fr-FR" altLang="en-US" sz="1400" b="1" i="1" dirty="0">
                <a:solidFill>
                  <a:srgbClr val="204A87"/>
                </a:solidFill>
                <a:latin typeface="Monaco" pitchFamily="125" charset="0"/>
              </a:rPr>
              <a:t> </a:t>
            </a:r>
            <a:r>
              <a:rPr lang="fr-FR" altLang="en-US" sz="1400" b="1" i="1" dirty="0">
                <a:solidFill>
                  <a:srgbClr val="000000"/>
                </a:solidFill>
                <a:latin typeface="Monaco" pitchFamily="125" charset="0"/>
              </a:rPr>
              <a:t>{</a:t>
            </a:r>
          </a:p>
          <a:p>
            <a:pPr eaLnBrk="1" hangingPunct="1">
              <a:spcBef>
                <a:spcPct val="0"/>
              </a:spcBef>
              <a:buFontTx/>
              <a:buNone/>
            </a:pPr>
            <a:r>
              <a:rPr lang="it-IT" altLang="en-US" sz="1400" i="1" dirty="0">
                <a:latin typeface="Monaco" pitchFamily="125" charset="0"/>
              </a:rPr>
              <a:t>			</a:t>
            </a:r>
            <a:r>
              <a:rPr lang="it-IT" altLang="en-US" sz="1400" i="1" dirty="0">
                <a:solidFill>
                  <a:srgbClr val="000000"/>
                </a:solidFill>
                <a:latin typeface="Monaco" pitchFamily="125" charset="0"/>
              </a:rPr>
              <a:t>c</a:t>
            </a:r>
            <a:r>
              <a:rPr lang="it-IT" altLang="en-US" sz="1400" b="1" i="1" dirty="0">
                <a:solidFill>
                  <a:srgbClr val="000000"/>
                </a:solidFill>
                <a:latin typeface="Monaco" pitchFamily="125" charset="0"/>
              </a:rPr>
              <a:t>.Close()</a:t>
            </a:r>
          </a:p>
          <a:p>
            <a:pPr eaLnBrk="1" hangingPunct="1">
              <a:spcBef>
                <a:spcPct val="0"/>
              </a:spcBef>
              <a:buFontTx/>
              <a:buNone/>
            </a:pPr>
            <a:r>
              <a:rPr lang="it-IT" altLang="en-US" sz="1400" i="1" dirty="0">
                <a:latin typeface="Monaco" pitchFamily="125" charset="0"/>
              </a:rPr>
              <a:t>			</a:t>
            </a:r>
            <a:r>
              <a:rPr lang="it-IT" altLang="en-US" sz="1400" b="1" i="1" dirty="0">
                <a:solidFill>
                  <a:srgbClr val="204A87"/>
                </a:solidFill>
                <a:latin typeface="Monaco" pitchFamily="125" charset="0"/>
              </a:rPr>
              <a:t>break</a:t>
            </a:r>
          </a:p>
          <a:p>
            <a:pPr eaLnBrk="1" hangingPunct="1">
              <a:spcBef>
                <a:spcPct val="0"/>
              </a:spcBef>
              <a:buFontTx/>
              <a:buNone/>
            </a:pPr>
            <a:r>
              <a:rPr lang="it-IT" altLang="en-US" sz="1400" i="1" dirty="0">
                <a:latin typeface="Monaco" pitchFamily="125" charset="0"/>
              </a:rPr>
              <a:t>		</a:t>
            </a:r>
            <a:r>
              <a:rPr lang="it-IT" altLang="en-US" sz="1400" b="1" i="1" dirty="0">
                <a:solidFill>
                  <a:srgbClr val="000000"/>
                </a:solidFill>
                <a:latin typeface="Monaco" pitchFamily="125" charset="0"/>
              </a:rPr>
              <a:t>}</a:t>
            </a:r>
          </a:p>
          <a:p>
            <a:pPr eaLnBrk="1" hangingPunct="1">
              <a:spcBef>
                <a:spcPct val="0"/>
              </a:spcBef>
              <a:buFontTx/>
              <a:buNone/>
            </a:pPr>
            <a:r>
              <a:rPr lang="it-IT" altLang="en-US" sz="1400" i="1" dirty="0">
                <a:latin typeface="Monaco" pitchFamily="125" charset="0"/>
              </a:rPr>
              <a:t>	</a:t>
            </a:r>
            <a:r>
              <a:rPr lang="it-IT" altLang="en-US" sz="1400" b="1" i="1" dirty="0">
                <a:solidFill>
                  <a:srgbClr val="000000"/>
                </a:solidFill>
                <a:latin typeface="Monaco" pitchFamily="125" charset="0"/>
              </a:rPr>
              <a:t>}</a:t>
            </a:r>
          </a:p>
          <a:p>
            <a:pPr eaLnBrk="1" hangingPunct="1">
              <a:spcBef>
                <a:spcPct val="0"/>
              </a:spcBef>
              <a:buFontTx/>
              <a:buNone/>
            </a:pPr>
            <a:r>
              <a:rPr lang="it-IT" altLang="en-US" sz="1400" i="1" dirty="0">
                <a:latin typeface="Monaco" pitchFamily="125" charset="0"/>
              </a:rPr>
              <a:t>	</a:t>
            </a:r>
            <a:r>
              <a:rPr lang="it-IT" altLang="en-US" sz="1400" i="1" dirty="0">
                <a:solidFill>
                  <a:srgbClr val="000000"/>
                </a:solidFill>
                <a:latin typeface="Monaco" pitchFamily="125" charset="0"/>
              </a:rPr>
              <a:t>log</a:t>
            </a:r>
            <a:r>
              <a:rPr lang="it-IT" altLang="en-US" sz="1400" b="1" i="1" dirty="0">
                <a:solidFill>
                  <a:srgbClr val="000000"/>
                </a:solidFill>
                <a:latin typeface="Monaco" pitchFamily="125" charset="0"/>
              </a:rPr>
              <a:t>.Printf(</a:t>
            </a:r>
            <a:r>
              <a:rPr lang="it-IT" altLang="en-US" sz="1400" b="1" i="1" dirty="0">
                <a:solidFill>
                  <a:srgbClr val="4E9A06"/>
                </a:solidFill>
                <a:latin typeface="Monaco" pitchFamily="125" charset="0"/>
              </a:rPr>
              <a:t>"Connection from %v closed."</a:t>
            </a:r>
            <a:r>
              <a:rPr lang="it-IT" altLang="en-US" sz="1400" b="1" i="1" dirty="0">
                <a:solidFill>
                  <a:srgbClr val="000000"/>
                </a:solidFill>
                <a:latin typeface="Monaco" pitchFamily="125" charset="0"/>
              </a:rPr>
              <a:t>, c.RemoteAddr())</a:t>
            </a:r>
          </a:p>
          <a:p>
            <a:pPr eaLnBrk="1" hangingPunct="1">
              <a:spcBef>
                <a:spcPct val="0"/>
              </a:spcBef>
              <a:buFontTx/>
              <a:buNone/>
            </a:pPr>
            <a:r>
              <a:rPr lang="it-IT" altLang="en-US" sz="1400" b="1" i="1" dirty="0">
                <a:solidFill>
                  <a:srgbClr val="000000"/>
                </a:solidFill>
                <a:latin typeface="Monaco" pitchFamily="125"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re 1">
            <a:extLst>
              <a:ext uri="{FF2B5EF4-FFF2-40B4-BE49-F238E27FC236}">
                <a16:creationId xmlns:a16="http://schemas.microsoft.com/office/drawing/2014/main" id="{5B85FA1C-C3AC-0F71-E1AB-B66B395D19F4}"/>
              </a:ext>
            </a:extLst>
          </p:cNvPr>
          <p:cNvSpPr>
            <a:spLocks noGrp="1" noChangeArrowheads="1"/>
          </p:cNvSpPr>
          <p:nvPr>
            <p:ph type="title"/>
          </p:nvPr>
        </p:nvSpPr>
        <p:spPr/>
        <p:txBody>
          <a:bodyPr/>
          <a:lstStyle/>
          <a:p>
            <a:r>
              <a:rPr lang="fr-FR" altLang="en-US"/>
              <a:t>Goroutines </a:t>
            </a:r>
          </a:p>
        </p:txBody>
      </p:sp>
      <p:sp>
        <p:nvSpPr>
          <p:cNvPr id="23554" name="Rectangle 3">
            <a:extLst>
              <a:ext uri="{FF2B5EF4-FFF2-40B4-BE49-F238E27FC236}">
                <a16:creationId xmlns:a16="http://schemas.microsoft.com/office/drawing/2014/main" id="{274D34DF-7184-E764-BA04-312FB10B681C}"/>
              </a:ext>
            </a:extLst>
          </p:cNvPr>
          <p:cNvSpPr>
            <a:spLocks noChangeArrowheads="1"/>
          </p:cNvSpPr>
          <p:nvPr/>
        </p:nvSpPr>
        <p:spPr bwMode="auto">
          <a:xfrm>
            <a:off x="457200" y="1647825"/>
            <a:ext cx="78486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600" b="1" i="1" dirty="0">
                <a:solidFill>
                  <a:srgbClr val="204A87"/>
                </a:solidFill>
                <a:latin typeface="Monaco" pitchFamily="125" charset="0"/>
              </a:rPr>
              <a:t>package </a:t>
            </a:r>
            <a:r>
              <a:rPr lang="fr-FR" altLang="en-US" sz="1600" b="1" i="1" dirty="0">
                <a:solidFill>
                  <a:srgbClr val="000000"/>
                </a:solidFill>
                <a:latin typeface="Monaco" pitchFamily="125" charset="0"/>
              </a:rPr>
              <a:t>main</a:t>
            </a:r>
          </a:p>
          <a:p>
            <a:pPr eaLnBrk="1" hangingPunct="1">
              <a:spcBef>
                <a:spcPct val="0"/>
              </a:spcBef>
              <a:buFontTx/>
              <a:buNone/>
            </a:pPr>
            <a:endParaRPr lang="fr-FR" altLang="en-US" sz="1600" i="1" dirty="0">
              <a:latin typeface="Monaco" pitchFamily="125" charset="0"/>
            </a:endParaRPr>
          </a:p>
          <a:p>
            <a:pPr eaLnBrk="1" hangingPunct="1">
              <a:spcBef>
                <a:spcPct val="0"/>
              </a:spcBef>
              <a:buFontTx/>
              <a:buNone/>
            </a:pPr>
            <a:r>
              <a:rPr lang="fr-FR" altLang="en-US" sz="1600" b="1" i="1" dirty="0">
                <a:solidFill>
                  <a:srgbClr val="204A87"/>
                </a:solidFill>
                <a:latin typeface="Monaco" pitchFamily="125" charset="0"/>
              </a:rPr>
              <a:t>import </a:t>
            </a:r>
            <a:r>
              <a:rPr lang="fr-FR" altLang="en-US" sz="1600" b="1" i="1" dirty="0">
                <a:solidFill>
                  <a:srgbClr val="000000"/>
                </a:solidFill>
                <a:latin typeface="Monaco" pitchFamily="125" charset="0"/>
              </a:rPr>
              <a:t>(</a:t>
            </a:r>
          </a:p>
          <a:p>
            <a:pPr eaLnBrk="1" hangingPunct="1">
              <a:spcBef>
                <a:spcPct val="0"/>
              </a:spcBef>
              <a:buFontTx/>
              <a:buNone/>
            </a:pPr>
            <a:r>
              <a:rPr lang="mr-IN" altLang="en-US" sz="1600" i="1" dirty="0">
                <a:latin typeface="Monaco" pitchFamily="125" charset="0"/>
              </a:rPr>
              <a:t>	</a:t>
            </a:r>
            <a:r>
              <a:rPr lang="mr-IN" altLang="en-US" sz="1600" i="1" dirty="0">
                <a:solidFill>
                  <a:srgbClr val="4E9A06"/>
                </a:solidFill>
                <a:latin typeface="Monaco" pitchFamily="125" charset="0"/>
              </a:rPr>
              <a:t>"fmt"</a:t>
            </a:r>
          </a:p>
          <a:p>
            <a:pPr eaLnBrk="1" hangingPunct="1">
              <a:spcBef>
                <a:spcPct val="0"/>
              </a:spcBef>
              <a:buFontTx/>
              <a:buNone/>
            </a:pPr>
            <a:r>
              <a:rPr lang="mr-IN" altLang="en-US" sz="1600" i="1" dirty="0">
                <a:latin typeface="Monaco" pitchFamily="125" charset="0"/>
              </a:rPr>
              <a:t>	</a:t>
            </a:r>
            <a:r>
              <a:rPr lang="mr-IN" altLang="en-US" sz="1600" i="1" dirty="0">
                <a:solidFill>
                  <a:srgbClr val="4E9A06"/>
                </a:solidFill>
                <a:latin typeface="Monaco" pitchFamily="125" charset="0"/>
              </a:rPr>
              <a:t>"time"</a:t>
            </a:r>
          </a:p>
          <a:p>
            <a:pPr eaLnBrk="1" hangingPunct="1">
              <a:spcBef>
                <a:spcPct val="0"/>
              </a:spcBef>
              <a:buFontTx/>
              <a:buNone/>
            </a:pPr>
            <a:r>
              <a:rPr lang="mr-IN" altLang="en-US" sz="1600" b="1" i="1" dirty="0">
                <a:solidFill>
                  <a:srgbClr val="000000"/>
                </a:solidFill>
                <a:latin typeface="Monaco" pitchFamily="125" charset="0"/>
              </a:rPr>
              <a:t>)</a:t>
            </a:r>
          </a:p>
          <a:p>
            <a:pPr eaLnBrk="1" hangingPunct="1">
              <a:spcBef>
                <a:spcPct val="0"/>
              </a:spcBef>
              <a:buFontTx/>
              <a:buNone/>
            </a:pPr>
            <a:endParaRPr lang="mr-IN" altLang="en-US" sz="1600" i="1" dirty="0">
              <a:latin typeface="Monaco" pitchFamily="125" charset="0"/>
            </a:endParaRPr>
          </a:p>
          <a:p>
            <a:pPr eaLnBrk="1" hangingPunct="1">
              <a:spcBef>
                <a:spcPct val="0"/>
              </a:spcBef>
              <a:buFontTx/>
              <a:buNone/>
            </a:pPr>
            <a:r>
              <a:rPr lang="fr-FR" altLang="en-US" sz="1600" b="1" i="1" dirty="0" err="1">
                <a:solidFill>
                  <a:srgbClr val="204A87"/>
                </a:solidFill>
                <a:latin typeface="Monaco" pitchFamily="125" charset="0"/>
              </a:rPr>
              <a:t>func</a:t>
            </a:r>
            <a:r>
              <a:rPr lang="fr-FR" altLang="en-US" sz="1600" b="1" i="1" dirty="0">
                <a:solidFill>
                  <a:srgbClr val="204A87"/>
                </a:solidFill>
                <a:latin typeface="Monaco" pitchFamily="125" charset="0"/>
              </a:rPr>
              <a:t> </a:t>
            </a:r>
            <a:r>
              <a:rPr lang="fr-FR" altLang="en-US" sz="1600" b="1" i="1" dirty="0" err="1">
                <a:solidFill>
                  <a:srgbClr val="000000"/>
                </a:solidFill>
                <a:latin typeface="Monaco" pitchFamily="125" charset="0"/>
              </a:rPr>
              <a:t>say</a:t>
            </a:r>
            <a:r>
              <a:rPr lang="fr-FR" altLang="en-US" sz="1600" b="1" i="1" dirty="0">
                <a:solidFill>
                  <a:srgbClr val="000000"/>
                </a:solidFill>
                <a:latin typeface="Monaco" pitchFamily="125" charset="0"/>
              </a:rPr>
              <a:t>(s </a:t>
            </a:r>
            <a:r>
              <a:rPr lang="fr-FR" altLang="en-US" sz="1600" b="1" i="1" dirty="0">
                <a:solidFill>
                  <a:srgbClr val="204A87"/>
                </a:solidFill>
                <a:latin typeface="Monaco" pitchFamily="125" charset="0"/>
              </a:rPr>
              <a:t>string</a:t>
            </a:r>
            <a:r>
              <a:rPr lang="fr-FR" altLang="en-US" sz="1600" b="1" i="1" dirty="0">
                <a:solidFill>
                  <a:srgbClr val="000000"/>
                </a:solidFill>
                <a:latin typeface="Monaco" pitchFamily="125" charset="0"/>
              </a:rPr>
              <a:t>) {</a:t>
            </a:r>
          </a:p>
          <a:p>
            <a:pPr eaLnBrk="1" hangingPunct="1">
              <a:spcBef>
                <a:spcPct val="0"/>
              </a:spcBef>
              <a:buFontTx/>
              <a:buNone/>
            </a:pPr>
            <a:r>
              <a:rPr lang="mr-IN" altLang="en-US" sz="1600" i="1" dirty="0">
                <a:latin typeface="Monaco" pitchFamily="125" charset="0"/>
              </a:rPr>
              <a:t>	</a:t>
            </a:r>
            <a:r>
              <a:rPr lang="mr-IN" altLang="en-US" sz="1600" b="1" i="1" dirty="0">
                <a:solidFill>
                  <a:srgbClr val="204A87"/>
                </a:solidFill>
                <a:latin typeface="Monaco" pitchFamily="125" charset="0"/>
              </a:rPr>
              <a:t>for </a:t>
            </a:r>
            <a:r>
              <a:rPr lang="mr-IN" altLang="en-US" sz="1600" b="1" i="1" dirty="0">
                <a:solidFill>
                  <a:srgbClr val="000000"/>
                </a:solidFill>
                <a:latin typeface="Monaco" pitchFamily="125" charset="0"/>
              </a:rPr>
              <a:t>i </a:t>
            </a:r>
            <a:r>
              <a:rPr lang="mr-IN" altLang="en-US" sz="1600" b="1" i="1" dirty="0">
                <a:solidFill>
                  <a:srgbClr val="CE5C00"/>
                </a:solidFill>
                <a:latin typeface="Monaco" pitchFamily="125" charset="0"/>
              </a:rPr>
              <a:t>:= </a:t>
            </a:r>
            <a:r>
              <a:rPr lang="mr-IN" altLang="en-US" sz="1600" b="1" i="1" dirty="0">
                <a:solidFill>
                  <a:srgbClr val="0000CF"/>
                </a:solidFill>
                <a:latin typeface="Monaco" pitchFamily="125" charset="0"/>
              </a:rPr>
              <a:t>0</a:t>
            </a:r>
            <a:r>
              <a:rPr lang="mr-IN" altLang="en-US" sz="1600" b="1" i="1" dirty="0">
                <a:solidFill>
                  <a:srgbClr val="000000"/>
                </a:solidFill>
                <a:latin typeface="Monaco" pitchFamily="125" charset="0"/>
              </a:rPr>
              <a:t>; i &lt; </a:t>
            </a:r>
            <a:r>
              <a:rPr lang="mr-IN" altLang="en-US" sz="1600" b="1" i="1" dirty="0">
                <a:solidFill>
                  <a:srgbClr val="0000CF"/>
                </a:solidFill>
                <a:latin typeface="Monaco" pitchFamily="125" charset="0"/>
              </a:rPr>
              <a:t>5</a:t>
            </a:r>
            <a:r>
              <a:rPr lang="mr-IN" altLang="en-US" sz="1600" b="1" i="1" dirty="0">
                <a:solidFill>
                  <a:srgbClr val="000000"/>
                </a:solidFill>
                <a:latin typeface="Monaco" pitchFamily="125" charset="0"/>
              </a:rPr>
              <a:t>; i</a:t>
            </a:r>
            <a:r>
              <a:rPr lang="mr-IN" altLang="en-US" sz="1600" b="1" i="1" dirty="0">
                <a:solidFill>
                  <a:srgbClr val="CE5C00"/>
                </a:solidFill>
                <a:latin typeface="Monaco" pitchFamily="125" charset="0"/>
              </a:rPr>
              <a:t>++ </a:t>
            </a:r>
            <a:r>
              <a:rPr lang="mr-IN"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i="1" dirty="0" err="1">
                <a:solidFill>
                  <a:srgbClr val="000000"/>
                </a:solidFill>
                <a:latin typeface="Monaco" pitchFamily="125" charset="0"/>
              </a:rPr>
              <a:t>time</a:t>
            </a:r>
            <a:r>
              <a:rPr lang="fr-FR" altLang="en-US" sz="1600" b="1" i="1" dirty="0" err="1">
                <a:solidFill>
                  <a:srgbClr val="000000"/>
                </a:solidFill>
                <a:latin typeface="Monaco" pitchFamily="125" charset="0"/>
              </a:rPr>
              <a:t>.Sleep</a:t>
            </a:r>
            <a:r>
              <a:rPr lang="fr-FR" altLang="en-US" sz="1600" b="1" i="1" dirty="0">
                <a:solidFill>
                  <a:srgbClr val="000000"/>
                </a:solidFill>
                <a:latin typeface="Monaco" pitchFamily="125" charset="0"/>
              </a:rPr>
              <a:t>(</a:t>
            </a:r>
            <a:r>
              <a:rPr lang="fr-FR" altLang="en-US" sz="1600" b="1" i="1" dirty="0">
                <a:solidFill>
                  <a:srgbClr val="0000CF"/>
                </a:solidFill>
                <a:latin typeface="Monaco" pitchFamily="125" charset="0"/>
              </a:rPr>
              <a:t>100 </a:t>
            </a:r>
            <a:r>
              <a:rPr lang="fr-FR" altLang="en-US" sz="1600" b="1" i="1" dirty="0">
                <a:solidFill>
                  <a:srgbClr val="CE5C00"/>
                </a:solidFill>
                <a:latin typeface="Monaco" pitchFamily="125" charset="0"/>
              </a:rPr>
              <a:t>* </a:t>
            </a:r>
            <a:r>
              <a:rPr lang="fr-FR" altLang="en-US" sz="1600" b="1" i="1" dirty="0" err="1">
                <a:solidFill>
                  <a:srgbClr val="000000"/>
                </a:solidFill>
                <a:latin typeface="Monaco" pitchFamily="125" charset="0"/>
              </a:rPr>
              <a:t>time.Millisecond</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i="1" dirty="0" err="1">
                <a:solidFill>
                  <a:srgbClr val="000000"/>
                </a:solidFill>
                <a:latin typeface="Monaco" pitchFamily="125" charset="0"/>
              </a:rPr>
              <a:t>fmt</a:t>
            </a:r>
            <a:r>
              <a:rPr lang="fr-FR" altLang="en-US" sz="1600" b="1" i="1" dirty="0" err="1">
                <a:solidFill>
                  <a:srgbClr val="000000"/>
                </a:solidFill>
                <a:latin typeface="Monaco" pitchFamily="125" charset="0"/>
              </a:rPr>
              <a:t>.Println</a:t>
            </a:r>
            <a:r>
              <a:rPr lang="fr-FR" altLang="en-US" sz="1600" b="1" i="1" dirty="0">
                <a:solidFill>
                  <a:srgbClr val="000000"/>
                </a:solidFill>
                <a:latin typeface="Monaco" pitchFamily="125" charset="0"/>
              </a:rPr>
              <a:t>(s)</a:t>
            </a:r>
          </a:p>
          <a:p>
            <a:pPr eaLnBrk="1" hangingPunct="1">
              <a:spcBef>
                <a:spcPct val="0"/>
              </a:spcBef>
              <a:buFontTx/>
              <a:buNone/>
            </a:pPr>
            <a:r>
              <a:rPr lang="fr-FR" altLang="en-US" sz="1600" i="1" dirty="0">
                <a:latin typeface="Monaco" pitchFamily="125" charset="0"/>
              </a:rPr>
              <a:t>	</a:t>
            </a:r>
            <a:r>
              <a:rPr lang="fr-FR" altLang="en-US" sz="1600" b="1" i="1" dirty="0">
                <a:solidFill>
                  <a:srgbClr val="000000"/>
                </a:solidFill>
                <a:latin typeface="Monaco" pitchFamily="125" charset="0"/>
              </a:rPr>
              <a:t>}</a:t>
            </a:r>
          </a:p>
          <a:p>
            <a:pPr eaLnBrk="1" hangingPunct="1">
              <a:spcBef>
                <a:spcPct val="0"/>
              </a:spcBef>
              <a:buFontTx/>
              <a:buNone/>
            </a:pPr>
            <a:r>
              <a:rPr lang="fr-FR" altLang="en-US" sz="1600" b="1" i="1" dirty="0">
                <a:solidFill>
                  <a:srgbClr val="000000"/>
                </a:solidFill>
                <a:latin typeface="Monaco" pitchFamily="125" charset="0"/>
              </a:rPr>
              <a:t>}</a:t>
            </a:r>
          </a:p>
          <a:p>
            <a:pPr eaLnBrk="1" hangingPunct="1">
              <a:spcBef>
                <a:spcPct val="0"/>
              </a:spcBef>
              <a:buFontTx/>
              <a:buNone/>
            </a:pPr>
            <a:endParaRPr lang="fr-FR" altLang="en-US" sz="1600" i="1" dirty="0">
              <a:latin typeface="Monaco" pitchFamily="125" charset="0"/>
            </a:endParaRPr>
          </a:p>
          <a:p>
            <a:pPr eaLnBrk="1" hangingPunct="1">
              <a:spcBef>
                <a:spcPct val="0"/>
              </a:spcBef>
              <a:buFontTx/>
              <a:buNone/>
            </a:pPr>
            <a:r>
              <a:rPr lang="fr-FR" altLang="en-US" sz="1600" b="1" i="1" dirty="0" err="1">
                <a:solidFill>
                  <a:srgbClr val="204A87"/>
                </a:solidFill>
                <a:latin typeface="Monaco" pitchFamily="125" charset="0"/>
              </a:rPr>
              <a:t>func</a:t>
            </a:r>
            <a:r>
              <a:rPr lang="fr-FR" altLang="en-US" sz="1600" b="1" i="1" dirty="0">
                <a:solidFill>
                  <a:srgbClr val="204A87"/>
                </a:solidFill>
                <a:latin typeface="Monaco" pitchFamily="125" charset="0"/>
              </a:rPr>
              <a:t> </a:t>
            </a:r>
            <a:r>
              <a:rPr lang="fr-FR" altLang="en-US" sz="1600" b="1" i="1" dirty="0">
                <a:solidFill>
                  <a:srgbClr val="000000"/>
                </a:solidFill>
                <a:latin typeface="Monaco" pitchFamily="125" charset="0"/>
              </a:rPr>
              <a:t>main() {</a:t>
            </a:r>
          </a:p>
          <a:p>
            <a:pPr eaLnBrk="1" hangingPunct="1">
              <a:spcBef>
                <a:spcPct val="0"/>
              </a:spcBef>
              <a:buFontTx/>
              <a:buNone/>
            </a:pPr>
            <a:r>
              <a:rPr lang="fr-FR" altLang="en-US" sz="1600" i="1" dirty="0">
                <a:latin typeface="Monaco" pitchFamily="125" charset="0"/>
              </a:rPr>
              <a:t>	</a:t>
            </a:r>
            <a:r>
              <a:rPr lang="fr-FR" altLang="en-US" sz="1600" b="1" i="1" dirty="0">
                <a:solidFill>
                  <a:srgbClr val="204A87"/>
                </a:solidFill>
                <a:latin typeface="Monaco" pitchFamily="125" charset="0"/>
              </a:rPr>
              <a:t>go </a:t>
            </a:r>
            <a:r>
              <a:rPr lang="fr-FR" altLang="en-US" sz="1600" b="1" i="1" dirty="0" err="1">
                <a:solidFill>
                  <a:srgbClr val="000000"/>
                </a:solidFill>
                <a:latin typeface="Monaco" pitchFamily="125" charset="0"/>
              </a:rPr>
              <a:t>say</a:t>
            </a:r>
            <a:r>
              <a:rPr lang="fr-FR" altLang="en-US" sz="1600" b="1" i="1" dirty="0">
                <a:solidFill>
                  <a:srgbClr val="000000"/>
                </a:solidFill>
                <a:latin typeface="Monaco" pitchFamily="125" charset="0"/>
              </a:rPr>
              <a:t>(</a:t>
            </a:r>
            <a:r>
              <a:rPr lang="fr-FR" altLang="en-US" sz="1600" b="1" i="1" dirty="0">
                <a:solidFill>
                  <a:srgbClr val="4E9A06"/>
                </a:solidFill>
                <a:latin typeface="Monaco" pitchFamily="125" charset="0"/>
              </a:rPr>
              <a:t>"world"</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i="1" dirty="0" err="1">
                <a:solidFill>
                  <a:srgbClr val="000000"/>
                </a:solidFill>
                <a:latin typeface="Monaco" pitchFamily="125" charset="0"/>
              </a:rPr>
              <a:t>say</a:t>
            </a:r>
            <a:r>
              <a:rPr lang="fr-FR" altLang="en-US" sz="1600" b="1" i="1" dirty="0">
                <a:solidFill>
                  <a:srgbClr val="000000"/>
                </a:solidFill>
                <a:latin typeface="Monaco" pitchFamily="125" charset="0"/>
              </a:rPr>
              <a:t>(</a:t>
            </a:r>
            <a:r>
              <a:rPr lang="fr-FR" altLang="en-US" sz="1600" b="1" i="1" dirty="0">
                <a:solidFill>
                  <a:srgbClr val="4E9A06"/>
                </a:solidFill>
                <a:latin typeface="Monaco" pitchFamily="125" charset="0"/>
              </a:rPr>
              <a:t>"hello"</a:t>
            </a:r>
            <a:r>
              <a:rPr lang="fr-FR" altLang="en-US" sz="1600" b="1" i="1" dirty="0">
                <a:solidFill>
                  <a:srgbClr val="000000"/>
                </a:solidFill>
                <a:latin typeface="Monaco" pitchFamily="125" charset="0"/>
              </a:rPr>
              <a:t>)</a:t>
            </a:r>
          </a:p>
          <a:p>
            <a:pPr eaLnBrk="1" hangingPunct="1">
              <a:spcBef>
                <a:spcPct val="0"/>
              </a:spcBef>
              <a:buFontTx/>
              <a:buNone/>
            </a:pPr>
            <a:r>
              <a:rPr lang="fr-FR" altLang="en-US" sz="1600" b="1" i="1" dirty="0">
                <a:solidFill>
                  <a:srgbClr val="000000"/>
                </a:solidFill>
                <a:latin typeface="Monaco" pitchFamily="125"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re 1">
            <a:extLst>
              <a:ext uri="{FF2B5EF4-FFF2-40B4-BE49-F238E27FC236}">
                <a16:creationId xmlns:a16="http://schemas.microsoft.com/office/drawing/2014/main" id="{4AEBB9A8-9FA4-4891-BB89-1C4D645BEFCD}"/>
              </a:ext>
            </a:extLst>
          </p:cNvPr>
          <p:cNvSpPr>
            <a:spLocks noGrp="1" noChangeArrowheads="1"/>
          </p:cNvSpPr>
          <p:nvPr>
            <p:ph type="title"/>
          </p:nvPr>
        </p:nvSpPr>
        <p:spPr>
          <a:xfrm>
            <a:off x="228600" y="533400"/>
            <a:ext cx="8229600" cy="685800"/>
          </a:xfrm>
        </p:spPr>
        <p:txBody>
          <a:bodyPr/>
          <a:lstStyle/>
          <a:p>
            <a:r>
              <a:rPr lang="fr-FR" altLang="en-US"/>
              <a:t>Channels</a:t>
            </a:r>
          </a:p>
        </p:txBody>
      </p:sp>
      <p:sp>
        <p:nvSpPr>
          <p:cNvPr id="24578" name="Rectangle 3">
            <a:extLst>
              <a:ext uri="{FF2B5EF4-FFF2-40B4-BE49-F238E27FC236}">
                <a16:creationId xmlns:a16="http://schemas.microsoft.com/office/drawing/2014/main" id="{470E58A1-18FF-F5B6-643D-FB8AF2144156}"/>
              </a:ext>
            </a:extLst>
          </p:cNvPr>
          <p:cNvSpPr>
            <a:spLocks noChangeArrowheads="1"/>
          </p:cNvSpPr>
          <p:nvPr/>
        </p:nvSpPr>
        <p:spPr bwMode="auto">
          <a:xfrm>
            <a:off x="457200" y="1349375"/>
            <a:ext cx="7848600"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600" b="1" i="1" dirty="0">
                <a:solidFill>
                  <a:srgbClr val="204A87"/>
                </a:solidFill>
                <a:latin typeface="Monaco" pitchFamily="125" charset="0"/>
              </a:rPr>
              <a:t>package </a:t>
            </a:r>
            <a:r>
              <a:rPr lang="fr-FR" altLang="en-US" sz="1600" b="1" i="1" dirty="0">
                <a:solidFill>
                  <a:srgbClr val="000000"/>
                </a:solidFill>
                <a:latin typeface="Monaco" pitchFamily="125" charset="0"/>
              </a:rPr>
              <a:t>main</a:t>
            </a:r>
          </a:p>
          <a:p>
            <a:pPr eaLnBrk="1" hangingPunct="1">
              <a:spcBef>
                <a:spcPct val="0"/>
              </a:spcBef>
              <a:buFontTx/>
              <a:buNone/>
            </a:pPr>
            <a:endParaRPr lang="fr-FR" altLang="en-US" sz="1600" i="1" dirty="0">
              <a:latin typeface="Monaco" pitchFamily="125" charset="0"/>
            </a:endParaRPr>
          </a:p>
          <a:p>
            <a:pPr eaLnBrk="1" hangingPunct="1">
              <a:spcBef>
                <a:spcPct val="0"/>
              </a:spcBef>
              <a:buFontTx/>
              <a:buNone/>
            </a:pPr>
            <a:r>
              <a:rPr lang="fr-FR" altLang="en-US" sz="1600" b="1" i="1" dirty="0">
                <a:solidFill>
                  <a:srgbClr val="204A87"/>
                </a:solidFill>
                <a:latin typeface="Monaco" pitchFamily="125" charset="0"/>
              </a:rPr>
              <a:t>import </a:t>
            </a:r>
            <a:r>
              <a:rPr lang="fr-FR" altLang="en-US" sz="1600" b="1" i="1" dirty="0">
                <a:solidFill>
                  <a:srgbClr val="4E9A06"/>
                </a:solidFill>
                <a:latin typeface="Monaco" pitchFamily="125" charset="0"/>
              </a:rPr>
              <a:t>"</a:t>
            </a:r>
            <a:r>
              <a:rPr lang="fr-FR" altLang="en-US" sz="1600" b="1" i="1" dirty="0" err="1">
                <a:solidFill>
                  <a:srgbClr val="4E9A06"/>
                </a:solidFill>
                <a:latin typeface="Monaco" pitchFamily="125" charset="0"/>
              </a:rPr>
              <a:t>fmt</a:t>
            </a:r>
            <a:r>
              <a:rPr lang="fr-FR" altLang="en-US" sz="1600" b="1" i="1" dirty="0">
                <a:solidFill>
                  <a:srgbClr val="4E9A06"/>
                </a:solidFill>
                <a:latin typeface="Monaco" pitchFamily="125" charset="0"/>
              </a:rPr>
              <a:t>"</a:t>
            </a:r>
          </a:p>
          <a:p>
            <a:pPr eaLnBrk="1" hangingPunct="1">
              <a:spcBef>
                <a:spcPct val="0"/>
              </a:spcBef>
              <a:buFontTx/>
              <a:buNone/>
            </a:pPr>
            <a:endParaRPr lang="fr-FR" altLang="en-US" sz="1600" i="1" dirty="0">
              <a:latin typeface="Monaco" pitchFamily="125" charset="0"/>
            </a:endParaRPr>
          </a:p>
          <a:p>
            <a:pPr eaLnBrk="1" hangingPunct="1">
              <a:spcBef>
                <a:spcPct val="0"/>
              </a:spcBef>
              <a:buFontTx/>
              <a:buNone/>
            </a:pPr>
            <a:r>
              <a:rPr lang="fr-FR" altLang="en-US" sz="1600" b="1" i="1" dirty="0" err="1">
                <a:solidFill>
                  <a:srgbClr val="204A87"/>
                </a:solidFill>
                <a:latin typeface="Monaco" pitchFamily="125" charset="0"/>
              </a:rPr>
              <a:t>func</a:t>
            </a:r>
            <a:r>
              <a:rPr lang="fr-FR" altLang="en-US" sz="1600" b="1" i="1" dirty="0">
                <a:solidFill>
                  <a:srgbClr val="204A87"/>
                </a:solidFill>
                <a:latin typeface="Monaco" pitchFamily="125" charset="0"/>
              </a:rPr>
              <a:t> </a:t>
            </a:r>
            <a:r>
              <a:rPr lang="fr-FR" altLang="en-US" sz="1600" b="1" i="1" dirty="0" err="1">
                <a:solidFill>
                  <a:srgbClr val="000000"/>
                </a:solidFill>
                <a:latin typeface="Monaco" pitchFamily="125" charset="0"/>
              </a:rPr>
              <a:t>sum</a:t>
            </a:r>
            <a:r>
              <a:rPr lang="fr-FR" altLang="en-US" sz="1600" b="1" i="1" dirty="0">
                <a:solidFill>
                  <a:srgbClr val="000000"/>
                </a:solidFill>
                <a:latin typeface="Monaco" pitchFamily="125" charset="0"/>
              </a:rPr>
              <a:t>(s []</a:t>
            </a:r>
            <a:r>
              <a:rPr lang="fr-FR" altLang="en-US" sz="1600" b="1" i="1" dirty="0" err="1">
                <a:solidFill>
                  <a:srgbClr val="204A87"/>
                </a:solidFill>
                <a:latin typeface="Monaco" pitchFamily="125" charset="0"/>
              </a:rPr>
              <a:t>int</a:t>
            </a:r>
            <a:r>
              <a:rPr lang="fr-FR" altLang="en-US" sz="1600" b="1" i="1" dirty="0">
                <a:solidFill>
                  <a:srgbClr val="000000"/>
                </a:solidFill>
                <a:latin typeface="Monaco" pitchFamily="125" charset="0"/>
              </a:rPr>
              <a:t>, c </a:t>
            </a:r>
            <a:r>
              <a:rPr lang="fr-FR" altLang="en-US" sz="1600" b="1" i="1" dirty="0">
                <a:solidFill>
                  <a:srgbClr val="204A87"/>
                </a:solidFill>
                <a:latin typeface="Monaco" pitchFamily="125" charset="0"/>
              </a:rPr>
              <a:t>chan </a:t>
            </a:r>
            <a:r>
              <a:rPr lang="fr-FR" altLang="en-US" sz="1600" b="1" i="1" dirty="0" err="1">
                <a:solidFill>
                  <a:srgbClr val="204A87"/>
                </a:solidFill>
                <a:latin typeface="Monaco" pitchFamily="125" charset="0"/>
              </a:rPr>
              <a:t>int</a:t>
            </a:r>
            <a:r>
              <a:rPr lang="fr-FR" altLang="en-US" sz="1600" b="1" i="1" dirty="0">
                <a:solidFill>
                  <a:srgbClr val="000000"/>
                </a:solidFill>
                <a:latin typeface="Monaco" pitchFamily="125" charset="0"/>
              </a:rPr>
              <a:t>) {</a:t>
            </a:r>
          </a:p>
          <a:p>
            <a:pPr eaLnBrk="1" hangingPunct="1">
              <a:spcBef>
                <a:spcPct val="0"/>
              </a:spcBef>
              <a:buFontTx/>
              <a:buNone/>
            </a:pPr>
            <a:r>
              <a:rPr lang="hr-HR" altLang="en-US" sz="1600" i="1" dirty="0">
                <a:latin typeface="Monaco" pitchFamily="125" charset="0"/>
              </a:rPr>
              <a:t>	</a:t>
            </a:r>
            <a:r>
              <a:rPr lang="hr-HR" altLang="en-US" sz="1600" i="1" dirty="0">
                <a:solidFill>
                  <a:srgbClr val="000000"/>
                </a:solidFill>
                <a:latin typeface="Monaco" pitchFamily="125" charset="0"/>
              </a:rPr>
              <a:t>sum </a:t>
            </a:r>
            <a:r>
              <a:rPr lang="hr-HR" altLang="en-US" sz="1600" b="1" i="1" dirty="0">
                <a:solidFill>
                  <a:srgbClr val="CE5C00"/>
                </a:solidFill>
                <a:latin typeface="Monaco" pitchFamily="125" charset="0"/>
              </a:rPr>
              <a:t>:= </a:t>
            </a:r>
            <a:r>
              <a:rPr lang="hr-HR" altLang="en-US" sz="1600" b="1" i="1" dirty="0">
                <a:solidFill>
                  <a:srgbClr val="0000CF"/>
                </a:solidFill>
                <a:latin typeface="Monaco" pitchFamily="125" charset="0"/>
              </a:rPr>
              <a:t>0</a:t>
            </a:r>
          </a:p>
          <a:p>
            <a:pPr eaLnBrk="1" hangingPunct="1">
              <a:spcBef>
                <a:spcPct val="0"/>
              </a:spcBef>
              <a:buFontTx/>
              <a:buNone/>
            </a:pPr>
            <a:r>
              <a:rPr lang="sk-SK" altLang="en-US" sz="1600" i="1" dirty="0">
                <a:latin typeface="Monaco" pitchFamily="125" charset="0"/>
              </a:rPr>
              <a:t>	</a:t>
            </a:r>
            <a:r>
              <a:rPr lang="sk-SK" altLang="en-US" sz="1600" b="1" i="1" dirty="0">
                <a:solidFill>
                  <a:srgbClr val="204A87"/>
                </a:solidFill>
                <a:latin typeface="Monaco" pitchFamily="125" charset="0"/>
              </a:rPr>
              <a:t>for </a:t>
            </a:r>
            <a:r>
              <a:rPr lang="sk-SK" altLang="en-US" sz="1600" b="1" i="1" dirty="0">
                <a:solidFill>
                  <a:srgbClr val="000000"/>
                </a:solidFill>
                <a:latin typeface="Monaco" pitchFamily="125" charset="0"/>
              </a:rPr>
              <a:t>_, v </a:t>
            </a:r>
            <a:r>
              <a:rPr lang="sk-SK" altLang="en-US" sz="1600" b="1" i="1" dirty="0">
                <a:solidFill>
                  <a:srgbClr val="CE5C00"/>
                </a:solidFill>
                <a:latin typeface="Monaco" pitchFamily="125" charset="0"/>
              </a:rPr>
              <a:t>:= </a:t>
            </a:r>
            <a:r>
              <a:rPr lang="sk-SK" altLang="en-US" sz="1600" b="1" i="1" dirty="0">
                <a:solidFill>
                  <a:srgbClr val="204A87"/>
                </a:solidFill>
                <a:latin typeface="Monaco" pitchFamily="125" charset="0"/>
              </a:rPr>
              <a:t>range </a:t>
            </a:r>
            <a:r>
              <a:rPr lang="sk-SK" altLang="en-US" sz="1600" b="1" i="1" dirty="0">
                <a:solidFill>
                  <a:srgbClr val="000000"/>
                </a:solidFill>
                <a:latin typeface="Monaco" pitchFamily="125" charset="0"/>
              </a:rPr>
              <a:t>s {</a:t>
            </a:r>
          </a:p>
          <a:p>
            <a:pPr eaLnBrk="1" hangingPunct="1">
              <a:spcBef>
                <a:spcPct val="0"/>
              </a:spcBef>
              <a:buFontTx/>
              <a:buNone/>
            </a:pPr>
            <a:r>
              <a:rPr lang="mr-IN" altLang="en-US" sz="1600" i="1" dirty="0">
                <a:latin typeface="Monaco" pitchFamily="125" charset="0"/>
              </a:rPr>
              <a:t>		</a:t>
            </a:r>
            <a:r>
              <a:rPr lang="mr-IN" altLang="en-US" sz="1600" i="1" dirty="0">
                <a:solidFill>
                  <a:srgbClr val="000000"/>
                </a:solidFill>
                <a:latin typeface="Monaco" pitchFamily="125" charset="0"/>
              </a:rPr>
              <a:t>sum </a:t>
            </a:r>
            <a:r>
              <a:rPr lang="mr-IN" altLang="en-US" sz="1600" b="1" i="1" dirty="0">
                <a:solidFill>
                  <a:srgbClr val="CE5C00"/>
                </a:solidFill>
                <a:latin typeface="Monaco" pitchFamily="125" charset="0"/>
              </a:rPr>
              <a:t>+= </a:t>
            </a:r>
            <a:r>
              <a:rPr lang="mr-IN" altLang="en-US" sz="1600" b="1" i="1" dirty="0">
                <a:solidFill>
                  <a:srgbClr val="000000"/>
                </a:solidFill>
                <a:latin typeface="Monaco" pitchFamily="125" charset="0"/>
              </a:rPr>
              <a:t>v</a:t>
            </a:r>
          </a:p>
          <a:p>
            <a:pPr eaLnBrk="1" hangingPunct="1">
              <a:spcBef>
                <a:spcPct val="0"/>
              </a:spcBef>
              <a:buFontTx/>
              <a:buNone/>
            </a:pPr>
            <a:r>
              <a:rPr lang="mr-IN" altLang="en-US" sz="1600" i="1" dirty="0">
                <a:latin typeface="Monaco" pitchFamily="125" charset="0"/>
              </a:rPr>
              <a:t>	</a:t>
            </a:r>
            <a:r>
              <a:rPr lang="mr-IN"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i="1" dirty="0">
                <a:solidFill>
                  <a:srgbClr val="000000"/>
                </a:solidFill>
                <a:latin typeface="Monaco" pitchFamily="125" charset="0"/>
              </a:rPr>
              <a:t>c </a:t>
            </a:r>
            <a:r>
              <a:rPr lang="fr-FR" altLang="en-US" sz="1600" b="1" i="1" dirty="0">
                <a:solidFill>
                  <a:srgbClr val="CE5C00"/>
                </a:solidFill>
                <a:latin typeface="Monaco" pitchFamily="125" charset="0"/>
              </a:rPr>
              <a:t>&lt;- </a:t>
            </a:r>
            <a:r>
              <a:rPr lang="fr-FR" altLang="en-US" sz="1600" b="1" i="1" dirty="0" err="1">
                <a:solidFill>
                  <a:srgbClr val="000000"/>
                </a:solidFill>
                <a:latin typeface="Monaco" pitchFamily="125" charset="0"/>
              </a:rPr>
              <a:t>sum</a:t>
            </a:r>
            <a:r>
              <a:rPr lang="fr-FR" altLang="en-US" sz="1600" b="1" i="1" dirty="0">
                <a:solidFill>
                  <a:srgbClr val="000000"/>
                </a:solidFill>
                <a:latin typeface="Monaco" pitchFamily="125" charset="0"/>
              </a:rPr>
              <a:t> </a:t>
            </a:r>
            <a:r>
              <a:rPr lang="fr-FR" altLang="en-US" sz="1600" b="1" i="1" dirty="0">
                <a:solidFill>
                  <a:srgbClr val="8F5902"/>
                </a:solidFill>
                <a:latin typeface="Monaco" pitchFamily="125" charset="0"/>
              </a:rPr>
              <a:t>// </a:t>
            </a:r>
            <a:r>
              <a:rPr lang="fr-FR" altLang="en-US" sz="1600" b="1" i="1" dirty="0" err="1">
                <a:solidFill>
                  <a:srgbClr val="8F5902"/>
                </a:solidFill>
                <a:latin typeface="Monaco" pitchFamily="125" charset="0"/>
              </a:rPr>
              <a:t>send</a:t>
            </a:r>
            <a:r>
              <a:rPr lang="fr-FR" altLang="en-US" sz="1600" b="1" i="1" dirty="0">
                <a:solidFill>
                  <a:srgbClr val="8F5902"/>
                </a:solidFill>
                <a:latin typeface="Monaco" pitchFamily="125" charset="0"/>
              </a:rPr>
              <a:t> </a:t>
            </a:r>
            <a:r>
              <a:rPr lang="fr-FR" altLang="en-US" sz="1600" b="1" i="1" dirty="0" err="1">
                <a:solidFill>
                  <a:srgbClr val="8F5902"/>
                </a:solidFill>
                <a:latin typeface="Monaco" pitchFamily="125" charset="0"/>
              </a:rPr>
              <a:t>sum</a:t>
            </a:r>
            <a:r>
              <a:rPr lang="fr-FR" altLang="en-US" sz="1600" b="1" i="1" dirty="0">
                <a:solidFill>
                  <a:srgbClr val="8F5902"/>
                </a:solidFill>
                <a:latin typeface="Monaco" pitchFamily="125" charset="0"/>
              </a:rPr>
              <a:t> to c</a:t>
            </a:r>
          </a:p>
          <a:p>
            <a:pPr eaLnBrk="1" hangingPunct="1">
              <a:spcBef>
                <a:spcPct val="0"/>
              </a:spcBef>
              <a:buFontTx/>
              <a:buNone/>
            </a:pPr>
            <a:r>
              <a:rPr lang="fr-FR" altLang="en-US" sz="1600" b="1" i="1" dirty="0">
                <a:solidFill>
                  <a:srgbClr val="000000"/>
                </a:solidFill>
                <a:latin typeface="Monaco" pitchFamily="125" charset="0"/>
              </a:rPr>
              <a:t>}</a:t>
            </a:r>
          </a:p>
          <a:p>
            <a:pPr eaLnBrk="1" hangingPunct="1">
              <a:spcBef>
                <a:spcPct val="0"/>
              </a:spcBef>
              <a:buFontTx/>
              <a:buNone/>
            </a:pPr>
            <a:endParaRPr lang="fr-FR" altLang="en-US" sz="1600" i="1" dirty="0">
              <a:latin typeface="Monaco" pitchFamily="125" charset="0"/>
            </a:endParaRPr>
          </a:p>
          <a:p>
            <a:pPr eaLnBrk="1" hangingPunct="1">
              <a:spcBef>
                <a:spcPct val="0"/>
              </a:spcBef>
              <a:buFontTx/>
              <a:buNone/>
            </a:pPr>
            <a:r>
              <a:rPr lang="fr-FR" altLang="en-US" sz="1600" b="1" i="1" dirty="0" err="1">
                <a:solidFill>
                  <a:srgbClr val="204A87"/>
                </a:solidFill>
                <a:latin typeface="Monaco" pitchFamily="125" charset="0"/>
              </a:rPr>
              <a:t>func</a:t>
            </a:r>
            <a:r>
              <a:rPr lang="fr-FR" altLang="en-US" sz="1600" b="1" i="1" dirty="0">
                <a:solidFill>
                  <a:srgbClr val="204A87"/>
                </a:solidFill>
                <a:latin typeface="Monaco" pitchFamily="125" charset="0"/>
              </a:rPr>
              <a:t> </a:t>
            </a:r>
            <a:r>
              <a:rPr lang="fr-FR" altLang="en-US" sz="1600" b="1" i="1" dirty="0">
                <a:solidFill>
                  <a:srgbClr val="000000"/>
                </a:solidFill>
                <a:latin typeface="Monaco" pitchFamily="125" charset="0"/>
              </a:rPr>
              <a:t>main() {</a:t>
            </a:r>
          </a:p>
          <a:p>
            <a:pPr eaLnBrk="1" hangingPunct="1">
              <a:spcBef>
                <a:spcPct val="0"/>
              </a:spcBef>
              <a:buFontTx/>
              <a:buNone/>
            </a:pPr>
            <a:r>
              <a:rPr lang="mr-IN" altLang="en-US" sz="1600" i="1" dirty="0">
                <a:latin typeface="Monaco" pitchFamily="125" charset="0"/>
              </a:rPr>
              <a:t>	</a:t>
            </a:r>
            <a:r>
              <a:rPr lang="mr-IN" altLang="en-US" sz="1600" i="1" dirty="0">
                <a:solidFill>
                  <a:srgbClr val="000000"/>
                </a:solidFill>
                <a:latin typeface="Monaco" pitchFamily="125" charset="0"/>
              </a:rPr>
              <a:t>s </a:t>
            </a:r>
            <a:r>
              <a:rPr lang="mr-IN" altLang="en-US" sz="1600" b="1" i="1" dirty="0">
                <a:solidFill>
                  <a:srgbClr val="CE5C00"/>
                </a:solidFill>
                <a:latin typeface="Monaco" pitchFamily="125" charset="0"/>
              </a:rPr>
              <a:t>:= </a:t>
            </a:r>
            <a:r>
              <a:rPr lang="mr-IN" altLang="en-US" sz="1600" b="1" i="1" dirty="0">
                <a:solidFill>
                  <a:srgbClr val="000000"/>
                </a:solidFill>
                <a:latin typeface="Monaco" pitchFamily="125" charset="0"/>
              </a:rPr>
              <a:t>[]</a:t>
            </a:r>
            <a:r>
              <a:rPr lang="mr-IN" altLang="en-US" sz="1600" b="1" i="1" dirty="0">
                <a:solidFill>
                  <a:srgbClr val="204A87"/>
                </a:solidFill>
                <a:latin typeface="Monaco" pitchFamily="125" charset="0"/>
              </a:rPr>
              <a:t>int</a:t>
            </a:r>
            <a:r>
              <a:rPr lang="mr-IN" altLang="en-US" sz="1600" b="1" i="1" dirty="0">
                <a:solidFill>
                  <a:srgbClr val="000000"/>
                </a:solidFill>
                <a:latin typeface="Monaco" pitchFamily="125" charset="0"/>
              </a:rPr>
              <a:t>{</a:t>
            </a:r>
            <a:r>
              <a:rPr lang="mr-IN" altLang="en-US" sz="1600" b="1" i="1" dirty="0">
                <a:solidFill>
                  <a:srgbClr val="0000CF"/>
                </a:solidFill>
                <a:latin typeface="Monaco" pitchFamily="125" charset="0"/>
              </a:rPr>
              <a:t>7</a:t>
            </a:r>
            <a:r>
              <a:rPr lang="mr-IN" altLang="en-US" sz="1600" b="1" i="1" dirty="0">
                <a:solidFill>
                  <a:srgbClr val="000000"/>
                </a:solidFill>
                <a:latin typeface="Monaco" pitchFamily="125" charset="0"/>
              </a:rPr>
              <a:t>, </a:t>
            </a:r>
            <a:r>
              <a:rPr lang="mr-IN" altLang="en-US" sz="1600" b="1" i="1" dirty="0">
                <a:solidFill>
                  <a:srgbClr val="0000CF"/>
                </a:solidFill>
                <a:latin typeface="Monaco" pitchFamily="125" charset="0"/>
              </a:rPr>
              <a:t>2</a:t>
            </a:r>
            <a:r>
              <a:rPr lang="mr-IN" altLang="en-US" sz="1600" b="1" i="1" dirty="0">
                <a:solidFill>
                  <a:srgbClr val="000000"/>
                </a:solidFill>
                <a:latin typeface="Monaco" pitchFamily="125" charset="0"/>
              </a:rPr>
              <a:t>, </a:t>
            </a:r>
            <a:r>
              <a:rPr lang="mr-IN" altLang="en-US" sz="1600" b="1" i="1" dirty="0">
                <a:solidFill>
                  <a:srgbClr val="0000CF"/>
                </a:solidFill>
                <a:latin typeface="Monaco" pitchFamily="125" charset="0"/>
              </a:rPr>
              <a:t>8</a:t>
            </a:r>
            <a:r>
              <a:rPr lang="mr-IN" altLang="en-US" sz="1600" b="1" i="1" dirty="0">
                <a:solidFill>
                  <a:srgbClr val="000000"/>
                </a:solidFill>
                <a:latin typeface="Monaco" pitchFamily="125" charset="0"/>
              </a:rPr>
              <a:t>, </a:t>
            </a:r>
            <a:r>
              <a:rPr lang="mr-IN" altLang="en-US" sz="1600" b="1" i="1" dirty="0">
                <a:solidFill>
                  <a:srgbClr val="CE5C00"/>
                </a:solidFill>
                <a:latin typeface="Monaco" pitchFamily="125" charset="0"/>
              </a:rPr>
              <a:t>-</a:t>
            </a:r>
            <a:r>
              <a:rPr lang="mr-IN" altLang="en-US" sz="1600" b="1" i="1" dirty="0">
                <a:solidFill>
                  <a:srgbClr val="0000CF"/>
                </a:solidFill>
                <a:latin typeface="Monaco" pitchFamily="125" charset="0"/>
              </a:rPr>
              <a:t>9</a:t>
            </a:r>
            <a:r>
              <a:rPr lang="mr-IN" altLang="en-US" sz="1600" b="1" i="1" dirty="0">
                <a:solidFill>
                  <a:srgbClr val="000000"/>
                </a:solidFill>
                <a:latin typeface="Monaco" pitchFamily="125" charset="0"/>
              </a:rPr>
              <a:t>, </a:t>
            </a:r>
            <a:r>
              <a:rPr lang="mr-IN" altLang="en-US" sz="1600" b="1" i="1" dirty="0">
                <a:solidFill>
                  <a:srgbClr val="0000CF"/>
                </a:solidFill>
                <a:latin typeface="Monaco" pitchFamily="125" charset="0"/>
              </a:rPr>
              <a:t>4</a:t>
            </a:r>
            <a:r>
              <a:rPr lang="mr-IN" altLang="en-US" sz="1600" b="1" i="1" dirty="0">
                <a:solidFill>
                  <a:srgbClr val="000000"/>
                </a:solidFill>
                <a:latin typeface="Monaco" pitchFamily="125" charset="0"/>
              </a:rPr>
              <a:t>, </a:t>
            </a:r>
            <a:r>
              <a:rPr lang="mr-IN" altLang="en-US" sz="1600" b="1" i="1" dirty="0">
                <a:solidFill>
                  <a:srgbClr val="0000CF"/>
                </a:solidFill>
                <a:latin typeface="Monaco" pitchFamily="125" charset="0"/>
              </a:rPr>
              <a:t>0</a:t>
            </a:r>
            <a:r>
              <a:rPr lang="mr-IN" altLang="en-US" sz="1600" b="1" i="1" dirty="0">
                <a:solidFill>
                  <a:srgbClr val="000000"/>
                </a:solidFill>
                <a:latin typeface="Monaco" pitchFamily="125" charset="0"/>
              </a:rPr>
              <a:t>}</a:t>
            </a:r>
          </a:p>
          <a:p>
            <a:pPr eaLnBrk="1" hangingPunct="1">
              <a:spcBef>
                <a:spcPct val="0"/>
              </a:spcBef>
              <a:buFontTx/>
              <a:buNone/>
            </a:pPr>
            <a:endParaRPr lang="mr-IN" altLang="en-US" sz="1600" i="1" dirty="0">
              <a:latin typeface="Monaco" pitchFamily="125" charset="0"/>
            </a:endParaRPr>
          </a:p>
          <a:p>
            <a:pPr eaLnBrk="1" hangingPunct="1">
              <a:spcBef>
                <a:spcPct val="0"/>
              </a:spcBef>
              <a:buFontTx/>
              <a:buNone/>
            </a:pPr>
            <a:r>
              <a:rPr lang="fr-FR" altLang="en-US" sz="1600" i="1" dirty="0">
                <a:latin typeface="Monaco" pitchFamily="125" charset="0"/>
              </a:rPr>
              <a:t>	</a:t>
            </a:r>
            <a:r>
              <a:rPr lang="fr-FR" altLang="en-US" sz="1600" i="1" dirty="0">
                <a:solidFill>
                  <a:srgbClr val="000000"/>
                </a:solidFill>
                <a:latin typeface="Monaco" pitchFamily="125" charset="0"/>
              </a:rPr>
              <a:t>c </a:t>
            </a:r>
            <a:r>
              <a:rPr lang="fr-FR" altLang="en-US" sz="1600" b="1" i="1" dirty="0">
                <a:solidFill>
                  <a:srgbClr val="CE5C00"/>
                </a:solidFill>
                <a:latin typeface="Monaco" pitchFamily="125" charset="0"/>
              </a:rPr>
              <a:t>:= </a:t>
            </a:r>
            <a:r>
              <a:rPr lang="fr-FR" altLang="en-US" sz="1600" b="1" i="1" dirty="0" err="1">
                <a:solidFill>
                  <a:srgbClr val="204A87"/>
                </a:solidFill>
                <a:latin typeface="Monaco" pitchFamily="125" charset="0"/>
              </a:rPr>
              <a:t>make</a:t>
            </a:r>
            <a:r>
              <a:rPr lang="fr-FR" altLang="en-US" sz="1600" b="1" i="1" dirty="0">
                <a:solidFill>
                  <a:srgbClr val="000000"/>
                </a:solidFill>
                <a:latin typeface="Monaco" pitchFamily="125" charset="0"/>
              </a:rPr>
              <a:t>(</a:t>
            </a:r>
            <a:r>
              <a:rPr lang="fr-FR" altLang="en-US" sz="1600" b="1" i="1" dirty="0">
                <a:solidFill>
                  <a:srgbClr val="204A87"/>
                </a:solidFill>
                <a:latin typeface="Monaco" pitchFamily="125" charset="0"/>
              </a:rPr>
              <a:t>chan </a:t>
            </a:r>
            <a:r>
              <a:rPr lang="fr-FR" altLang="en-US" sz="1600" b="1" i="1" dirty="0" err="1">
                <a:solidFill>
                  <a:srgbClr val="204A87"/>
                </a:solidFill>
                <a:latin typeface="Monaco" pitchFamily="125" charset="0"/>
              </a:rPr>
              <a:t>int</a:t>
            </a:r>
            <a:r>
              <a:rPr lang="fr-FR" altLang="en-US" sz="1600" b="1" i="1" dirty="0">
                <a:solidFill>
                  <a:srgbClr val="000000"/>
                </a:solidFill>
                <a:latin typeface="Monaco" pitchFamily="125" charset="0"/>
              </a:rPr>
              <a:t>)</a:t>
            </a:r>
          </a:p>
          <a:p>
            <a:pPr eaLnBrk="1" hangingPunct="1">
              <a:spcBef>
                <a:spcPct val="0"/>
              </a:spcBef>
              <a:buFontTx/>
              <a:buNone/>
            </a:pPr>
            <a:r>
              <a:rPr lang="mr-IN" altLang="en-US" sz="1600" i="1" dirty="0">
                <a:latin typeface="Monaco" pitchFamily="125" charset="0"/>
              </a:rPr>
              <a:t>	</a:t>
            </a:r>
            <a:r>
              <a:rPr lang="mr-IN" altLang="en-US" sz="1600" b="1" i="1" dirty="0">
                <a:solidFill>
                  <a:srgbClr val="204A87"/>
                </a:solidFill>
                <a:latin typeface="Monaco" pitchFamily="125" charset="0"/>
              </a:rPr>
              <a:t>go </a:t>
            </a:r>
            <a:r>
              <a:rPr lang="mr-IN" altLang="en-US" sz="1600" b="1" i="1" dirty="0">
                <a:solidFill>
                  <a:srgbClr val="000000"/>
                </a:solidFill>
                <a:latin typeface="Monaco" pitchFamily="125" charset="0"/>
              </a:rPr>
              <a:t>sum(s[:</a:t>
            </a:r>
            <a:r>
              <a:rPr lang="mr-IN" altLang="en-US" sz="1600" b="1" i="1" dirty="0">
                <a:solidFill>
                  <a:srgbClr val="204A87"/>
                </a:solidFill>
                <a:latin typeface="Monaco" pitchFamily="125" charset="0"/>
              </a:rPr>
              <a:t>len</a:t>
            </a:r>
            <a:r>
              <a:rPr lang="mr-IN" altLang="en-US" sz="1600" b="1" i="1" dirty="0">
                <a:solidFill>
                  <a:srgbClr val="000000"/>
                </a:solidFill>
                <a:latin typeface="Monaco" pitchFamily="125" charset="0"/>
              </a:rPr>
              <a:t>(s)</a:t>
            </a:r>
            <a:r>
              <a:rPr lang="mr-IN" altLang="en-US" sz="1600" b="1" i="1" dirty="0">
                <a:solidFill>
                  <a:srgbClr val="CE5C00"/>
                </a:solidFill>
                <a:latin typeface="Monaco" pitchFamily="125" charset="0"/>
              </a:rPr>
              <a:t>/</a:t>
            </a:r>
            <a:r>
              <a:rPr lang="mr-IN" altLang="en-US" sz="1600" b="1" i="1" dirty="0">
                <a:solidFill>
                  <a:srgbClr val="0000CF"/>
                </a:solidFill>
                <a:latin typeface="Monaco" pitchFamily="125" charset="0"/>
              </a:rPr>
              <a:t>2</a:t>
            </a:r>
            <a:r>
              <a:rPr lang="mr-IN" altLang="en-US" sz="1600" b="1" i="1" dirty="0">
                <a:solidFill>
                  <a:srgbClr val="000000"/>
                </a:solidFill>
                <a:latin typeface="Monaco" pitchFamily="125" charset="0"/>
              </a:rPr>
              <a:t>], c)</a:t>
            </a:r>
          </a:p>
          <a:p>
            <a:pPr eaLnBrk="1" hangingPunct="1">
              <a:spcBef>
                <a:spcPct val="0"/>
              </a:spcBef>
              <a:buFontTx/>
              <a:buNone/>
            </a:pPr>
            <a:r>
              <a:rPr lang="mr-IN" altLang="en-US" sz="1600" i="1" dirty="0">
                <a:latin typeface="Monaco" pitchFamily="125" charset="0"/>
              </a:rPr>
              <a:t>	</a:t>
            </a:r>
            <a:r>
              <a:rPr lang="mr-IN" altLang="en-US" sz="1600" b="1" i="1" dirty="0">
                <a:solidFill>
                  <a:srgbClr val="204A87"/>
                </a:solidFill>
                <a:latin typeface="Monaco" pitchFamily="125" charset="0"/>
              </a:rPr>
              <a:t>go </a:t>
            </a:r>
            <a:r>
              <a:rPr lang="mr-IN" altLang="en-US" sz="1600" b="1" i="1" dirty="0">
                <a:solidFill>
                  <a:srgbClr val="000000"/>
                </a:solidFill>
                <a:latin typeface="Monaco" pitchFamily="125" charset="0"/>
              </a:rPr>
              <a:t>sum(s[</a:t>
            </a:r>
            <a:r>
              <a:rPr lang="mr-IN" altLang="en-US" sz="1600" b="1" i="1" dirty="0">
                <a:solidFill>
                  <a:srgbClr val="204A87"/>
                </a:solidFill>
                <a:latin typeface="Monaco" pitchFamily="125" charset="0"/>
              </a:rPr>
              <a:t>len</a:t>
            </a:r>
            <a:r>
              <a:rPr lang="mr-IN" altLang="en-US" sz="1600" b="1" i="1" dirty="0">
                <a:solidFill>
                  <a:srgbClr val="000000"/>
                </a:solidFill>
                <a:latin typeface="Monaco" pitchFamily="125" charset="0"/>
              </a:rPr>
              <a:t>(s)</a:t>
            </a:r>
            <a:r>
              <a:rPr lang="mr-IN" altLang="en-US" sz="1600" b="1" i="1" dirty="0">
                <a:solidFill>
                  <a:srgbClr val="CE5C00"/>
                </a:solidFill>
                <a:latin typeface="Monaco" pitchFamily="125" charset="0"/>
              </a:rPr>
              <a:t>/</a:t>
            </a:r>
            <a:r>
              <a:rPr lang="mr-IN" altLang="en-US" sz="1600" b="1" i="1" dirty="0">
                <a:solidFill>
                  <a:srgbClr val="0000CF"/>
                </a:solidFill>
                <a:latin typeface="Monaco" pitchFamily="125" charset="0"/>
              </a:rPr>
              <a:t>2</a:t>
            </a:r>
            <a:r>
              <a:rPr lang="mr-IN" altLang="en-US" sz="1600" b="1" i="1" dirty="0">
                <a:solidFill>
                  <a:srgbClr val="000000"/>
                </a:solidFill>
                <a:latin typeface="Monaco" pitchFamily="125" charset="0"/>
              </a:rPr>
              <a:t>:], c)</a:t>
            </a:r>
          </a:p>
          <a:p>
            <a:pPr eaLnBrk="1" hangingPunct="1">
              <a:spcBef>
                <a:spcPct val="0"/>
              </a:spcBef>
              <a:buFontTx/>
              <a:buNone/>
            </a:pPr>
            <a:r>
              <a:rPr lang="en-US" altLang="en-US" sz="1600" i="1" dirty="0">
                <a:latin typeface="Monaco" pitchFamily="125" charset="0"/>
              </a:rPr>
              <a:t>	</a:t>
            </a:r>
            <a:r>
              <a:rPr lang="en-US" altLang="en-US" sz="1600" i="1" dirty="0">
                <a:solidFill>
                  <a:srgbClr val="000000"/>
                </a:solidFill>
                <a:latin typeface="Monaco" pitchFamily="125" charset="0"/>
              </a:rPr>
              <a:t>x</a:t>
            </a:r>
            <a:r>
              <a:rPr lang="en-US" altLang="en-US" sz="1600" b="1" i="1" dirty="0">
                <a:solidFill>
                  <a:srgbClr val="000000"/>
                </a:solidFill>
                <a:latin typeface="Monaco" pitchFamily="125" charset="0"/>
              </a:rPr>
              <a:t>, y </a:t>
            </a:r>
            <a:r>
              <a:rPr lang="en-US" altLang="en-US" sz="1600" b="1" i="1" dirty="0">
                <a:solidFill>
                  <a:srgbClr val="CE5C00"/>
                </a:solidFill>
                <a:latin typeface="Monaco" pitchFamily="125" charset="0"/>
              </a:rPr>
              <a:t>:= &lt;-</a:t>
            </a:r>
            <a:r>
              <a:rPr lang="en-US" altLang="en-US" sz="1600" b="1" i="1" dirty="0">
                <a:solidFill>
                  <a:srgbClr val="000000"/>
                </a:solidFill>
                <a:latin typeface="Monaco" pitchFamily="125" charset="0"/>
              </a:rPr>
              <a:t>c, </a:t>
            </a:r>
            <a:r>
              <a:rPr lang="en-US" altLang="en-US" sz="1600" b="1" i="1" dirty="0">
                <a:solidFill>
                  <a:srgbClr val="CE5C00"/>
                </a:solidFill>
                <a:latin typeface="Monaco" pitchFamily="125" charset="0"/>
              </a:rPr>
              <a:t>&lt;-</a:t>
            </a:r>
            <a:r>
              <a:rPr lang="en-US" altLang="en-US" sz="1600" b="1" i="1" dirty="0">
                <a:solidFill>
                  <a:srgbClr val="000000"/>
                </a:solidFill>
                <a:latin typeface="Monaco" pitchFamily="125" charset="0"/>
              </a:rPr>
              <a:t>c </a:t>
            </a:r>
            <a:r>
              <a:rPr lang="en-US" altLang="en-US" sz="1600" b="1" i="1" dirty="0">
                <a:solidFill>
                  <a:srgbClr val="8F5902"/>
                </a:solidFill>
                <a:latin typeface="Monaco" pitchFamily="125" charset="0"/>
              </a:rPr>
              <a:t>// receive from c</a:t>
            </a:r>
          </a:p>
          <a:p>
            <a:pPr eaLnBrk="1" hangingPunct="1">
              <a:spcBef>
                <a:spcPct val="0"/>
              </a:spcBef>
              <a:buFontTx/>
              <a:buNone/>
            </a:pPr>
            <a:endParaRPr lang="en-US" altLang="en-US" sz="1600" i="1" dirty="0">
              <a:latin typeface="Monaco" pitchFamily="125" charset="0"/>
            </a:endParaRPr>
          </a:p>
          <a:p>
            <a:pPr eaLnBrk="1" hangingPunct="1">
              <a:spcBef>
                <a:spcPct val="0"/>
              </a:spcBef>
              <a:buFontTx/>
              <a:buNone/>
            </a:pPr>
            <a:r>
              <a:rPr lang="en-US" altLang="en-US" sz="1600" i="1" dirty="0">
                <a:latin typeface="Monaco" pitchFamily="125" charset="0"/>
              </a:rPr>
              <a:t>	</a:t>
            </a:r>
            <a:r>
              <a:rPr lang="en-US" altLang="en-US" sz="1600" i="1" dirty="0" err="1">
                <a:solidFill>
                  <a:srgbClr val="000000"/>
                </a:solidFill>
                <a:latin typeface="Monaco" pitchFamily="125" charset="0"/>
              </a:rPr>
              <a:t>fmt</a:t>
            </a:r>
            <a:r>
              <a:rPr lang="en-US" altLang="en-US" sz="1600" b="1" i="1" dirty="0" err="1">
                <a:solidFill>
                  <a:srgbClr val="000000"/>
                </a:solidFill>
                <a:latin typeface="Monaco" pitchFamily="125" charset="0"/>
              </a:rPr>
              <a:t>.Println</a:t>
            </a:r>
            <a:r>
              <a:rPr lang="en-US" altLang="en-US" sz="1600" b="1" i="1" dirty="0">
                <a:solidFill>
                  <a:srgbClr val="000000"/>
                </a:solidFill>
                <a:latin typeface="Monaco" pitchFamily="125" charset="0"/>
              </a:rPr>
              <a:t>(x, y, </a:t>
            </a:r>
            <a:r>
              <a:rPr lang="en-US" altLang="en-US" sz="1600" b="1" i="1" dirty="0" err="1">
                <a:solidFill>
                  <a:srgbClr val="000000"/>
                </a:solidFill>
                <a:latin typeface="Monaco" pitchFamily="125" charset="0"/>
              </a:rPr>
              <a:t>x</a:t>
            </a:r>
            <a:r>
              <a:rPr lang="en-US" altLang="en-US" sz="1600" b="1" i="1" dirty="0" err="1">
                <a:solidFill>
                  <a:srgbClr val="CE5C00"/>
                </a:solidFill>
                <a:latin typeface="Monaco" pitchFamily="125" charset="0"/>
              </a:rPr>
              <a:t>+</a:t>
            </a:r>
            <a:r>
              <a:rPr lang="en-US" altLang="en-US" sz="1600" b="1" i="1" dirty="0" err="1">
                <a:solidFill>
                  <a:srgbClr val="000000"/>
                </a:solidFill>
                <a:latin typeface="Monaco" pitchFamily="125" charset="0"/>
              </a:rPr>
              <a:t>y</a:t>
            </a:r>
            <a:r>
              <a:rPr lang="en-US" altLang="en-US" sz="1600" b="1" i="1" dirty="0">
                <a:solidFill>
                  <a:srgbClr val="000000"/>
                </a:solidFill>
                <a:latin typeface="Monaco" pitchFamily="125" charset="0"/>
              </a:rPr>
              <a:t>)</a:t>
            </a:r>
          </a:p>
          <a:p>
            <a:pPr eaLnBrk="1" hangingPunct="1">
              <a:spcBef>
                <a:spcPct val="0"/>
              </a:spcBef>
              <a:buFontTx/>
              <a:buNone/>
            </a:pPr>
            <a:r>
              <a:rPr lang="en-US" altLang="en-US" sz="1600" b="1" i="1" dirty="0">
                <a:solidFill>
                  <a:srgbClr val="000000"/>
                </a:solidFill>
                <a:latin typeface="Monaco" pitchFamily="125"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re 1">
            <a:extLst>
              <a:ext uri="{FF2B5EF4-FFF2-40B4-BE49-F238E27FC236}">
                <a16:creationId xmlns:a16="http://schemas.microsoft.com/office/drawing/2014/main" id="{99F16799-370D-8E0C-3324-66C2B96F1B2C}"/>
              </a:ext>
            </a:extLst>
          </p:cNvPr>
          <p:cNvSpPr>
            <a:spLocks noGrp="1" noChangeArrowheads="1"/>
          </p:cNvSpPr>
          <p:nvPr>
            <p:ph type="title"/>
          </p:nvPr>
        </p:nvSpPr>
        <p:spPr/>
        <p:txBody>
          <a:bodyPr/>
          <a:lstStyle/>
          <a:p>
            <a:r>
              <a:rPr lang="fr-FR" altLang="en-US"/>
              <a:t>Network Serialization</a:t>
            </a:r>
          </a:p>
        </p:txBody>
      </p:sp>
      <p:sp>
        <p:nvSpPr>
          <p:cNvPr id="25602" name="Espace réservé du contenu 2">
            <a:extLst>
              <a:ext uri="{FF2B5EF4-FFF2-40B4-BE49-F238E27FC236}">
                <a16:creationId xmlns:a16="http://schemas.microsoft.com/office/drawing/2014/main" id="{68BBF6B0-B7E5-0006-1EB1-2D55903E7F90}"/>
              </a:ext>
            </a:extLst>
          </p:cNvPr>
          <p:cNvSpPr>
            <a:spLocks noGrp="1" noChangeArrowheads="1"/>
          </p:cNvSpPr>
          <p:nvPr>
            <p:ph idx="1"/>
          </p:nvPr>
        </p:nvSpPr>
        <p:spPr/>
        <p:txBody>
          <a:bodyPr/>
          <a:lstStyle/>
          <a:p>
            <a:r>
              <a:rPr lang="fr-FR" altLang="en-US" dirty="0"/>
              <a:t>How to </a:t>
            </a:r>
            <a:r>
              <a:rPr lang="fr-FR" altLang="en-US" dirty="0" err="1"/>
              <a:t>send</a:t>
            </a:r>
            <a:r>
              <a:rPr lang="fr-FR" altLang="en-US" dirty="0"/>
              <a:t> a block over the network to </a:t>
            </a:r>
            <a:r>
              <a:rPr lang="fr-FR" altLang="en-US" dirty="0" err="1"/>
              <a:t>other</a:t>
            </a:r>
            <a:r>
              <a:rPr lang="fr-FR" altLang="en-US" dirty="0"/>
              <a:t> </a:t>
            </a:r>
            <a:r>
              <a:rPr lang="fr-FR" altLang="en-US" dirty="0" err="1"/>
              <a:t>peers</a:t>
            </a:r>
            <a:r>
              <a:rPr lang="fr-FR" altLang="en-US" dirty="0"/>
              <a:t>. </a:t>
            </a:r>
          </a:p>
          <a:p>
            <a:endParaRPr lang="fr-FR" altLang="en-US" dirty="0"/>
          </a:p>
          <a:p>
            <a:r>
              <a:rPr lang="fr-FR" altLang="en-US" dirty="0"/>
              <a:t>One option, do </a:t>
            </a:r>
            <a:r>
              <a:rPr lang="fr-FR" altLang="en-US" dirty="0" err="1"/>
              <a:t>it</a:t>
            </a:r>
            <a:r>
              <a:rPr lang="fr-FR" altLang="en-US" dirty="0"/>
              <a:t> all </a:t>
            </a:r>
            <a:r>
              <a:rPr lang="fr-FR" altLang="en-US" dirty="0" err="1"/>
              <a:t>ourselves</a:t>
            </a:r>
            <a:endParaRPr lang="fr-FR" altLang="en-US" dirty="0"/>
          </a:p>
          <a:p>
            <a:pPr lvl="1"/>
            <a:r>
              <a:rPr lang="fr-FR" altLang="en-US" dirty="0" err="1"/>
              <a:t>Define</a:t>
            </a:r>
            <a:r>
              <a:rPr lang="fr-FR" altLang="en-US" dirty="0"/>
              <a:t> a </a:t>
            </a:r>
            <a:r>
              <a:rPr lang="fr-FR" altLang="en-US" dirty="0" err="1"/>
              <a:t>protocol</a:t>
            </a:r>
            <a:r>
              <a:rPr lang="fr-FR" altLang="en-US" dirty="0"/>
              <a:t>, </a:t>
            </a:r>
            <a:r>
              <a:rPr lang="fr-FR" altLang="en-US" dirty="0" err="1"/>
              <a:t>delimiters</a:t>
            </a:r>
            <a:r>
              <a:rPr lang="fr-FR" altLang="en-US" dirty="0"/>
              <a:t> </a:t>
            </a:r>
          </a:p>
          <a:p>
            <a:pPr lvl="1"/>
            <a:r>
              <a:rPr lang="fr-FR" altLang="en-US" dirty="0" err="1"/>
              <a:t>write</a:t>
            </a:r>
            <a:r>
              <a:rPr lang="fr-FR" altLang="en-US" dirty="0"/>
              <a:t>/</a:t>
            </a:r>
            <a:r>
              <a:rPr lang="fr-FR" altLang="en-US" dirty="0" err="1"/>
              <a:t>read</a:t>
            </a:r>
            <a:r>
              <a:rPr lang="fr-FR" altLang="en-US" dirty="0"/>
              <a:t> to/</a:t>
            </a:r>
            <a:r>
              <a:rPr lang="fr-FR" altLang="en-US" dirty="0" err="1"/>
              <a:t>from</a:t>
            </a:r>
            <a:r>
              <a:rPr lang="fr-FR" altLang="en-US" dirty="0"/>
              <a:t> connections</a:t>
            </a:r>
          </a:p>
          <a:p>
            <a:pPr lvl="1"/>
            <a:r>
              <a:rPr lang="fr-FR" altLang="en-US" dirty="0"/>
              <a:t>Fix </a:t>
            </a:r>
            <a:r>
              <a:rPr lang="fr-FR" altLang="en-US" dirty="0" err="1"/>
              <a:t>previousPointers</a:t>
            </a:r>
            <a:r>
              <a:rPr lang="fr-FR" altLang="en-US" dirty="0"/>
              <a:t> </a:t>
            </a:r>
            <a:r>
              <a:rPr lang="fr-FR" altLang="en-US" dirty="0" err="1"/>
              <a:t>ourselves</a:t>
            </a:r>
            <a:endParaRPr lang="fr-FR" altLang="en-US" dirty="0"/>
          </a:p>
          <a:p>
            <a:endParaRPr lang="fr-FR"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re 1">
            <a:extLst>
              <a:ext uri="{FF2B5EF4-FFF2-40B4-BE49-F238E27FC236}">
                <a16:creationId xmlns:a16="http://schemas.microsoft.com/office/drawing/2014/main" id="{BE78F7B6-3C09-FFB8-5A4C-EEF08A6F4DC8}"/>
              </a:ext>
            </a:extLst>
          </p:cNvPr>
          <p:cNvSpPr>
            <a:spLocks noGrp="1" noChangeArrowheads="1"/>
          </p:cNvSpPr>
          <p:nvPr>
            <p:ph type="title"/>
          </p:nvPr>
        </p:nvSpPr>
        <p:spPr/>
        <p:txBody>
          <a:bodyPr/>
          <a:lstStyle/>
          <a:p>
            <a:r>
              <a:rPr lang="fr-FR" altLang="en-US"/>
              <a:t>Network Serialization</a:t>
            </a:r>
          </a:p>
        </p:txBody>
      </p:sp>
      <p:sp>
        <p:nvSpPr>
          <p:cNvPr id="26626" name="Espace réservé du contenu 2">
            <a:extLst>
              <a:ext uri="{FF2B5EF4-FFF2-40B4-BE49-F238E27FC236}">
                <a16:creationId xmlns:a16="http://schemas.microsoft.com/office/drawing/2014/main" id="{4AD5FC89-6F2C-13DC-F252-BC0B1C90F099}"/>
              </a:ext>
            </a:extLst>
          </p:cNvPr>
          <p:cNvSpPr>
            <a:spLocks noGrp="1" noChangeArrowheads="1"/>
          </p:cNvSpPr>
          <p:nvPr>
            <p:ph idx="1"/>
          </p:nvPr>
        </p:nvSpPr>
        <p:spPr/>
        <p:txBody>
          <a:bodyPr/>
          <a:lstStyle/>
          <a:p>
            <a:r>
              <a:rPr lang="fr-FR" altLang="en-US" dirty="0" err="1"/>
              <a:t>Alternatively</a:t>
            </a:r>
            <a:r>
              <a:rPr lang="fr-FR" altLang="en-US" dirty="0"/>
              <a:t>, use </a:t>
            </a:r>
            <a:r>
              <a:rPr lang="fr-FR" altLang="en-US" dirty="0" err="1"/>
              <a:t>gob</a:t>
            </a:r>
            <a:r>
              <a:rPr lang="fr-FR" altLang="en-US" dirty="0"/>
              <a:t> package.</a:t>
            </a:r>
          </a:p>
          <a:p>
            <a:r>
              <a:rPr lang="fr-FR" altLang="en-US" dirty="0"/>
              <a:t>Package </a:t>
            </a:r>
            <a:r>
              <a:rPr lang="fr-FR" altLang="en-US" dirty="0" err="1"/>
              <a:t>gob</a:t>
            </a:r>
            <a:r>
              <a:rPr lang="fr-FR" altLang="en-US" dirty="0"/>
              <a:t> manages </a:t>
            </a:r>
            <a:r>
              <a:rPr lang="fr-FR" altLang="en-US" dirty="0" err="1"/>
              <a:t>streams</a:t>
            </a:r>
            <a:r>
              <a:rPr lang="fr-FR" altLang="en-US" dirty="0"/>
              <a:t> of </a:t>
            </a:r>
            <a:r>
              <a:rPr lang="fr-FR" altLang="en-US" dirty="0" err="1"/>
              <a:t>gobs</a:t>
            </a:r>
            <a:r>
              <a:rPr lang="fr-FR" altLang="en-US" dirty="0"/>
              <a:t> - </a:t>
            </a:r>
            <a:r>
              <a:rPr lang="fr-FR" altLang="en-US" dirty="0" err="1"/>
              <a:t>binary</a:t>
            </a:r>
            <a:r>
              <a:rPr lang="fr-FR" altLang="en-US" dirty="0"/>
              <a:t> values </a:t>
            </a:r>
            <a:r>
              <a:rPr lang="fr-FR" altLang="en-US" dirty="0" err="1"/>
              <a:t>exchanged</a:t>
            </a:r>
            <a:r>
              <a:rPr lang="fr-FR" altLang="en-US" dirty="0"/>
              <a:t> </a:t>
            </a:r>
            <a:r>
              <a:rPr lang="fr-FR" altLang="en-US" dirty="0" err="1"/>
              <a:t>between</a:t>
            </a:r>
            <a:r>
              <a:rPr lang="fr-FR" altLang="en-US" dirty="0"/>
              <a:t> an Encoder (</a:t>
            </a:r>
            <a:r>
              <a:rPr lang="fr-FR" altLang="en-US" dirty="0" err="1"/>
              <a:t>transmitter</a:t>
            </a:r>
            <a:r>
              <a:rPr lang="fr-FR" altLang="en-US" dirty="0"/>
              <a:t>) and a </a:t>
            </a:r>
            <a:r>
              <a:rPr lang="fr-FR" altLang="en-US" dirty="0" err="1"/>
              <a:t>Decoder</a:t>
            </a:r>
            <a:r>
              <a:rPr lang="fr-FR" altLang="en-US" dirty="0"/>
              <a:t> (</a:t>
            </a:r>
            <a:r>
              <a:rPr lang="fr-FR" altLang="en-US" dirty="0" err="1"/>
              <a:t>receiver</a:t>
            </a:r>
            <a:r>
              <a:rPr lang="fr-FR" altLang="en-US"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re 1">
            <a:extLst>
              <a:ext uri="{FF2B5EF4-FFF2-40B4-BE49-F238E27FC236}">
                <a16:creationId xmlns:a16="http://schemas.microsoft.com/office/drawing/2014/main" id="{9D0AB566-947F-B308-6134-1BA394ED430B}"/>
              </a:ext>
            </a:extLst>
          </p:cNvPr>
          <p:cNvSpPr>
            <a:spLocks noGrp="1" noChangeArrowheads="1"/>
          </p:cNvSpPr>
          <p:nvPr>
            <p:ph type="title"/>
          </p:nvPr>
        </p:nvSpPr>
        <p:spPr/>
        <p:txBody>
          <a:bodyPr/>
          <a:lstStyle/>
          <a:p>
            <a:r>
              <a:rPr lang="fr-FR" altLang="en-US"/>
              <a:t>An example would help  </a:t>
            </a:r>
            <a:r>
              <a:rPr lang="fr-FR" altLang="en-US" sz="2400" i="1"/>
              <a:t>server.go</a:t>
            </a:r>
            <a:endParaRPr lang="fr-FR" altLang="en-US" i="1"/>
          </a:p>
        </p:txBody>
      </p:sp>
      <p:sp>
        <p:nvSpPr>
          <p:cNvPr id="27650" name="Rectangle 3">
            <a:extLst>
              <a:ext uri="{FF2B5EF4-FFF2-40B4-BE49-F238E27FC236}">
                <a16:creationId xmlns:a16="http://schemas.microsoft.com/office/drawing/2014/main" id="{18BB13F9-1E32-ACCF-B59C-6254686ECDE9}"/>
              </a:ext>
            </a:extLst>
          </p:cNvPr>
          <p:cNvSpPr>
            <a:spLocks noChangeArrowheads="1"/>
          </p:cNvSpPr>
          <p:nvPr/>
        </p:nvSpPr>
        <p:spPr bwMode="auto">
          <a:xfrm>
            <a:off x="457200" y="1349375"/>
            <a:ext cx="7848600" cy="550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600" b="1" i="1" dirty="0">
                <a:solidFill>
                  <a:srgbClr val="204A87"/>
                </a:solidFill>
                <a:latin typeface="Monaco" pitchFamily="125" charset="0"/>
              </a:rPr>
              <a:t>import </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i="1" dirty="0">
                <a:solidFill>
                  <a:srgbClr val="4E9A06"/>
                </a:solidFill>
                <a:latin typeface="Monaco" pitchFamily="125" charset="0"/>
              </a:rPr>
              <a:t>"</a:t>
            </a:r>
            <a:r>
              <a:rPr lang="fr-FR" altLang="en-US" sz="1600" i="1" dirty="0" err="1">
                <a:solidFill>
                  <a:srgbClr val="4E9A06"/>
                </a:solidFill>
                <a:latin typeface="Monaco" pitchFamily="125" charset="0"/>
              </a:rPr>
              <a:t>encoding</a:t>
            </a:r>
            <a:r>
              <a:rPr lang="fr-FR" altLang="en-US" sz="1600" i="1" dirty="0">
                <a:solidFill>
                  <a:srgbClr val="4E9A06"/>
                </a:solidFill>
                <a:latin typeface="Monaco" pitchFamily="125" charset="0"/>
              </a:rPr>
              <a:t>/</a:t>
            </a:r>
            <a:r>
              <a:rPr lang="fr-FR" altLang="en-US" sz="1600" i="1" dirty="0" err="1">
                <a:solidFill>
                  <a:srgbClr val="4E9A06"/>
                </a:solidFill>
                <a:latin typeface="Monaco" pitchFamily="125" charset="0"/>
              </a:rPr>
              <a:t>gob</a:t>
            </a:r>
            <a:r>
              <a:rPr lang="fr-FR" altLang="en-US" sz="1600" i="1" dirty="0">
                <a:solidFill>
                  <a:srgbClr val="4E9A06"/>
                </a:solidFill>
                <a:latin typeface="Monaco" pitchFamily="125" charset="0"/>
              </a:rPr>
              <a:t>"</a:t>
            </a:r>
          </a:p>
          <a:p>
            <a:pPr eaLnBrk="1" hangingPunct="1">
              <a:spcBef>
                <a:spcPct val="0"/>
              </a:spcBef>
              <a:buFontTx/>
              <a:buNone/>
            </a:pPr>
            <a:r>
              <a:rPr lang="fr-FR" altLang="en-US" sz="1600" b="1" i="1" dirty="0">
                <a:solidFill>
                  <a:srgbClr val="CE5C00"/>
                </a:solidFill>
                <a:latin typeface="Monaco" pitchFamily="125" charset="0"/>
              </a:rPr>
              <a:t>...</a:t>
            </a:r>
          </a:p>
          <a:p>
            <a:pPr eaLnBrk="1" hangingPunct="1">
              <a:spcBef>
                <a:spcPct val="0"/>
              </a:spcBef>
              <a:buFontTx/>
              <a:buNone/>
            </a:pPr>
            <a:r>
              <a:rPr lang="mr-IN" altLang="en-US" sz="1600" b="1" i="1" dirty="0">
                <a:solidFill>
                  <a:srgbClr val="000000"/>
                </a:solidFill>
                <a:latin typeface="Monaco" pitchFamily="125" charset="0"/>
              </a:rPr>
              <a:t>)</a:t>
            </a:r>
          </a:p>
          <a:p>
            <a:pPr eaLnBrk="1" hangingPunct="1">
              <a:spcBef>
                <a:spcPct val="0"/>
              </a:spcBef>
              <a:buFontTx/>
              <a:buNone/>
            </a:pPr>
            <a:r>
              <a:rPr lang="fr-FR" altLang="en-US" sz="1600" b="1" i="1" dirty="0">
                <a:solidFill>
                  <a:srgbClr val="204A87"/>
                </a:solidFill>
                <a:latin typeface="Monaco" pitchFamily="125" charset="0"/>
              </a:rPr>
              <a:t>type </a:t>
            </a:r>
            <a:r>
              <a:rPr lang="fr-FR" altLang="en-US" sz="1600" b="1" i="1" dirty="0">
                <a:solidFill>
                  <a:srgbClr val="000000"/>
                </a:solidFill>
                <a:latin typeface="Monaco" pitchFamily="125" charset="0"/>
              </a:rPr>
              <a:t>Block </a:t>
            </a:r>
            <a:r>
              <a:rPr lang="fr-FR" altLang="en-US" sz="1600" b="1" i="1" dirty="0" err="1">
                <a:solidFill>
                  <a:srgbClr val="204A87"/>
                </a:solidFill>
                <a:latin typeface="Monaco" pitchFamily="125" charset="0"/>
              </a:rPr>
              <a:t>struct</a:t>
            </a:r>
            <a:r>
              <a:rPr lang="fr-FR" altLang="en-US" sz="1600" b="1" i="1" dirty="0">
                <a:solidFill>
                  <a:srgbClr val="204A87"/>
                </a:solidFill>
                <a:latin typeface="Monaco" pitchFamily="125" charset="0"/>
              </a:rPr>
              <a:t> </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i="1" dirty="0">
                <a:solidFill>
                  <a:srgbClr val="000000"/>
                </a:solidFill>
                <a:latin typeface="Monaco" pitchFamily="125" charset="0"/>
              </a:rPr>
              <a:t>Transaction </a:t>
            </a:r>
            <a:r>
              <a:rPr lang="fr-FR" altLang="en-US" sz="1600" b="1" i="1" dirty="0">
                <a:solidFill>
                  <a:srgbClr val="204A87"/>
                </a:solidFill>
                <a:latin typeface="Monaco" pitchFamily="125" charset="0"/>
              </a:rPr>
              <a:t>string</a:t>
            </a:r>
          </a:p>
          <a:p>
            <a:pPr eaLnBrk="1" hangingPunct="1">
              <a:spcBef>
                <a:spcPct val="0"/>
              </a:spcBef>
              <a:buFontTx/>
              <a:buNone/>
            </a:pPr>
            <a:r>
              <a:rPr lang="fr-FR" altLang="en-US" sz="1600" i="1" dirty="0">
                <a:latin typeface="Monaco" pitchFamily="125" charset="0"/>
              </a:rPr>
              <a:t>	</a:t>
            </a:r>
            <a:r>
              <a:rPr lang="fr-FR" altLang="en-US" sz="1600" i="1" dirty="0" err="1">
                <a:solidFill>
                  <a:srgbClr val="000000"/>
                </a:solidFill>
                <a:latin typeface="Monaco" pitchFamily="125" charset="0"/>
              </a:rPr>
              <a:t>PrevPointer</a:t>
            </a:r>
            <a:r>
              <a:rPr lang="fr-FR" altLang="en-US" sz="1600" i="1" dirty="0">
                <a:solidFill>
                  <a:srgbClr val="000000"/>
                </a:solidFill>
                <a:latin typeface="Monaco" pitchFamily="125" charset="0"/>
              </a:rPr>
              <a:t> </a:t>
            </a:r>
            <a:r>
              <a:rPr lang="fr-FR" altLang="en-US" sz="1600" b="1" i="1" dirty="0">
                <a:solidFill>
                  <a:srgbClr val="CE5C00"/>
                </a:solidFill>
                <a:latin typeface="Monaco" pitchFamily="125" charset="0"/>
              </a:rPr>
              <a:t>*</a:t>
            </a:r>
            <a:r>
              <a:rPr lang="fr-FR" altLang="en-US" sz="1600" b="1" i="1" dirty="0">
                <a:solidFill>
                  <a:srgbClr val="000000"/>
                </a:solidFill>
                <a:latin typeface="Monaco" pitchFamily="125" charset="0"/>
              </a:rPr>
              <a:t>Block</a:t>
            </a:r>
          </a:p>
          <a:p>
            <a:pPr eaLnBrk="1" hangingPunct="1">
              <a:spcBef>
                <a:spcPct val="0"/>
              </a:spcBef>
              <a:buFontTx/>
              <a:buNone/>
            </a:pPr>
            <a:r>
              <a:rPr lang="fr-FR" altLang="en-US" sz="1600" b="1" i="1" dirty="0">
                <a:solidFill>
                  <a:srgbClr val="000000"/>
                </a:solidFill>
                <a:latin typeface="Monaco" pitchFamily="125" charset="0"/>
              </a:rPr>
              <a:t>}</a:t>
            </a:r>
          </a:p>
          <a:p>
            <a:pPr eaLnBrk="1" hangingPunct="1">
              <a:spcBef>
                <a:spcPct val="0"/>
              </a:spcBef>
              <a:buFontTx/>
              <a:buNone/>
            </a:pPr>
            <a:r>
              <a:rPr lang="fr-FR" altLang="en-US" sz="1600" b="1" i="1" dirty="0" err="1">
                <a:solidFill>
                  <a:srgbClr val="204A87"/>
                </a:solidFill>
                <a:latin typeface="Monaco" pitchFamily="125" charset="0"/>
              </a:rPr>
              <a:t>func</a:t>
            </a:r>
            <a:r>
              <a:rPr lang="fr-FR" altLang="en-US" sz="1600" b="1" i="1" dirty="0">
                <a:solidFill>
                  <a:srgbClr val="204A87"/>
                </a:solidFill>
                <a:latin typeface="Monaco" pitchFamily="125" charset="0"/>
              </a:rPr>
              <a:t> </a:t>
            </a:r>
            <a:r>
              <a:rPr lang="fr-FR" altLang="en-US" sz="1600" b="1" i="1" dirty="0">
                <a:solidFill>
                  <a:srgbClr val="000000"/>
                </a:solidFill>
                <a:latin typeface="Monaco" pitchFamily="125" charset="0"/>
              </a:rPr>
              <a:t>main() {</a:t>
            </a:r>
          </a:p>
          <a:p>
            <a:pPr eaLnBrk="1" hangingPunct="1">
              <a:spcBef>
                <a:spcPct val="0"/>
              </a:spcBef>
              <a:buFontTx/>
              <a:buNone/>
            </a:pPr>
            <a:r>
              <a:rPr lang="mr-IN" altLang="en-US" sz="1600" i="1" dirty="0">
                <a:latin typeface="Monaco" pitchFamily="125" charset="0"/>
              </a:rPr>
              <a:t>	</a:t>
            </a:r>
            <a:r>
              <a:rPr lang="mr-IN" altLang="en-US" sz="1600" i="1" dirty="0">
                <a:solidFill>
                  <a:srgbClr val="000000"/>
                </a:solidFill>
                <a:latin typeface="Monaco" pitchFamily="125" charset="0"/>
              </a:rPr>
              <a:t>ln</a:t>
            </a:r>
            <a:r>
              <a:rPr lang="mr-IN" altLang="en-US" sz="1600" b="1" i="1" dirty="0">
                <a:solidFill>
                  <a:srgbClr val="000000"/>
                </a:solidFill>
                <a:latin typeface="Monaco" pitchFamily="125" charset="0"/>
              </a:rPr>
              <a:t>, err </a:t>
            </a:r>
            <a:r>
              <a:rPr lang="mr-IN" altLang="en-US" sz="1600" b="1" i="1" dirty="0">
                <a:solidFill>
                  <a:srgbClr val="CE5C00"/>
                </a:solidFill>
                <a:latin typeface="Monaco" pitchFamily="125" charset="0"/>
              </a:rPr>
              <a:t>:= </a:t>
            </a:r>
            <a:r>
              <a:rPr lang="mr-IN" altLang="en-US" sz="1600" b="1" i="1" dirty="0">
                <a:solidFill>
                  <a:srgbClr val="000000"/>
                </a:solidFill>
                <a:latin typeface="Monaco" pitchFamily="125" charset="0"/>
              </a:rPr>
              <a:t>net.Listen(</a:t>
            </a:r>
            <a:r>
              <a:rPr lang="mr-IN" altLang="en-US" sz="1600" b="1" i="1" dirty="0">
                <a:solidFill>
                  <a:srgbClr val="4E9A06"/>
                </a:solidFill>
                <a:latin typeface="Monaco" pitchFamily="125" charset="0"/>
              </a:rPr>
              <a:t>"tcp"</a:t>
            </a:r>
            <a:r>
              <a:rPr lang="mr-IN" altLang="en-US" sz="1600" b="1" i="1" dirty="0">
                <a:solidFill>
                  <a:srgbClr val="000000"/>
                </a:solidFill>
                <a:latin typeface="Monaco" pitchFamily="125" charset="0"/>
              </a:rPr>
              <a:t>, </a:t>
            </a:r>
            <a:r>
              <a:rPr lang="mr-IN" altLang="en-US" sz="1600" b="1" i="1" dirty="0">
                <a:solidFill>
                  <a:srgbClr val="4E9A06"/>
                </a:solidFill>
                <a:latin typeface="Monaco" pitchFamily="125" charset="0"/>
              </a:rPr>
              <a:t>":6000"</a:t>
            </a:r>
            <a:r>
              <a:rPr lang="mr-IN"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b="1" i="1" dirty="0">
                <a:solidFill>
                  <a:srgbClr val="204A87"/>
                </a:solidFill>
                <a:latin typeface="Monaco" pitchFamily="125" charset="0"/>
              </a:rPr>
              <a:t>if </a:t>
            </a:r>
            <a:r>
              <a:rPr lang="fr-FR" altLang="en-US" sz="1600" b="1" i="1" dirty="0" err="1">
                <a:solidFill>
                  <a:srgbClr val="000000"/>
                </a:solidFill>
                <a:latin typeface="Monaco" pitchFamily="125" charset="0"/>
              </a:rPr>
              <a:t>err</a:t>
            </a:r>
            <a:r>
              <a:rPr lang="fr-FR" altLang="en-US" sz="1600" b="1" i="1" dirty="0">
                <a:solidFill>
                  <a:srgbClr val="000000"/>
                </a:solidFill>
                <a:latin typeface="Monaco" pitchFamily="125" charset="0"/>
              </a:rPr>
              <a:t> </a:t>
            </a:r>
            <a:r>
              <a:rPr lang="fr-FR" altLang="en-US" sz="1600" b="1" i="1" dirty="0">
                <a:solidFill>
                  <a:srgbClr val="CE5C00"/>
                </a:solidFill>
                <a:latin typeface="Monaco" pitchFamily="125" charset="0"/>
              </a:rPr>
              <a:t>!= </a:t>
            </a:r>
            <a:r>
              <a:rPr lang="fr-FR" altLang="en-US" sz="1600" b="1" i="1" dirty="0" err="1">
                <a:solidFill>
                  <a:srgbClr val="204A87"/>
                </a:solidFill>
                <a:latin typeface="Monaco" pitchFamily="125" charset="0"/>
              </a:rPr>
              <a:t>nil</a:t>
            </a:r>
            <a:r>
              <a:rPr lang="fr-FR" altLang="en-US" sz="1600" b="1" i="1" dirty="0">
                <a:solidFill>
                  <a:srgbClr val="204A87"/>
                </a:solidFill>
                <a:latin typeface="Monaco" pitchFamily="125" charset="0"/>
              </a:rPr>
              <a:t> </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i="1" dirty="0" err="1">
                <a:solidFill>
                  <a:srgbClr val="000000"/>
                </a:solidFill>
                <a:latin typeface="Monaco" pitchFamily="125" charset="0"/>
              </a:rPr>
              <a:t>log</a:t>
            </a:r>
            <a:r>
              <a:rPr lang="fr-FR" altLang="en-US" sz="1600" b="1" i="1" dirty="0" err="1">
                <a:solidFill>
                  <a:srgbClr val="000000"/>
                </a:solidFill>
                <a:latin typeface="Monaco" pitchFamily="125" charset="0"/>
              </a:rPr>
              <a:t>.Fatal</a:t>
            </a:r>
            <a:r>
              <a:rPr lang="fr-FR" altLang="en-US" sz="1600" b="1" i="1" dirty="0">
                <a:solidFill>
                  <a:srgbClr val="000000"/>
                </a:solidFill>
                <a:latin typeface="Monaco" pitchFamily="125" charset="0"/>
              </a:rPr>
              <a:t>(</a:t>
            </a:r>
            <a:r>
              <a:rPr lang="fr-FR" altLang="en-US" sz="1600" b="1" i="1" dirty="0" err="1">
                <a:solidFill>
                  <a:srgbClr val="000000"/>
                </a:solidFill>
                <a:latin typeface="Monaco" pitchFamily="125" charset="0"/>
              </a:rPr>
              <a:t>err</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b="1" i="1" dirty="0">
                <a:solidFill>
                  <a:srgbClr val="000000"/>
                </a:solidFill>
                <a:latin typeface="Monaco" pitchFamily="125" charset="0"/>
              </a:rPr>
              <a:t>}</a:t>
            </a:r>
          </a:p>
          <a:p>
            <a:pPr eaLnBrk="1" hangingPunct="1">
              <a:spcBef>
                <a:spcPct val="0"/>
              </a:spcBef>
              <a:buFontTx/>
              <a:buNone/>
            </a:pPr>
            <a:r>
              <a:rPr lang="en-US" altLang="en-US" sz="1600" i="1" dirty="0">
                <a:latin typeface="Monaco" pitchFamily="125" charset="0"/>
              </a:rPr>
              <a:t>	</a:t>
            </a:r>
            <a:r>
              <a:rPr lang="en-US" altLang="en-US" sz="1600" b="1" i="1" dirty="0">
                <a:solidFill>
                  <a:srgbClr val="204A87"/>
                </a:solidFill>
                <a:latin typeface="Monaco" pitchFamily="125" charset="0"/>
              </a:rPr>
              <a:t>for </a:t>
            </a:r>
            <a:r>
              <a:rPr lang="en-US" altLang="en-US" sz="1600" b="1" i="1" dirty="0">
                <a:solidFill>
                  <a:srgbClr val="000000"/>
                </a:solidFill>
                <a:latin typeface="Monaco" pitchFamily="125" charset="0"/>
              </a:rPr>
              <a:t>{</a:t>
            </a:r>
          </a:p>
          <a:p>
            <a:pPr eaLnBrk="1" hangingPunct="1">
              <a:spcBef>
                <a:spcPct val="0"/>
              </a:spcBef>
              <a:buFontTx/>
              <a:buNone/>
            </a:pPr>
            <a:r>
              <a:rPr lang="en-US" altLang="en-US" sz="1600" i="1" dirty="0">
                <a:latin typeface="Monaco" pitchFamily="125" charset="0"/>
              </a:rPr>
              <a:t>		</a:t>
            </a:r>
            <a:r>
              <a:rPr lang="en-US" altLang="en-US" sz="1600" i="1" dirty="0">
                <a:solidFill>
                  <a:srgbClr val="000000"/>
                </a:solidFill>
                <a:latin typeface="Monaco" pitchFamily="125" charset="0"/>
              </a:rPr>
              <a:t>conn</a:t>
            </a:r>
            <a:r>
              <a:rPr lang="en-US" altLang="en-US" sz="1600" b="1" i="1" dirty="0">
                <a:solidFill>
                  <a:srgbClr val="000000"/>
                </a:solidFill>
                <a:latin typeface="Monaco" pitchFamily="125" charset="0"/>
              </a:rPr>
              <a:t>, err </a:t>
            </a:r>
            <a:r>
              <a:rPr lang="en-US" altLang="en-US" sz="1600" b="1" i="1" dirty="0">
                <a:solidFill>
                  <a:srgbClr val="CE5C00"/>
                </a:solidFill>
                <a:latin typeface="Monaco" pitchFamily="125" charset="0"/>
              </a:rPr>
              <a:t>:= </a:t>
            </a:r>
            <a:r>
              <a:rPr lang="en-US" altLang="en-US" sz="1600" b="1" i="1" dirty="0" err="1">
                <a:solidFill>
                  <a:srgbClr val="000000"/>
                </a:solidFill>
                <a:latin typeface="Monaco" pitchFamily="125" charset="0"/>
              </a:rPr>
              <a:t>ln.Accept</a:t>
            </a:r>
            <a:r>
              <a:rPr lang="en-US"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b="1" i="1" dirty="0">
                <a:solidFill>
                  <a:srgbClr val="204A87"/>
                </a:solidFill>
                <a:latin typeface="Monaco" pitchFamily="125" charset="0"/>
              </a:rPr>
              <a:t>if </a:t>
            </a:r>
            <a:r>
              <a:rPr lang="fr-FR" altLang="en-US" sz="1600" b="1" i="1" dirty="0" err="1">
                <a:solidFill>
                  <a:srgbClr val="000000"/>
                </a:solidFill>
                <a:latin typeface="Monaco" pitchFamily="125" charset="0"/>
              </a:rPr>
              <a:t>err</a:t>
            </a:r>
            <a:r>
              <a:rPr lang="fr-FR" altLang="en-US" sz="1600" b="1" i="1" dirty="0">
                <a:solidFill>
                  <a:srgbClr val="000000"/>
                </a:solidFill>
                <a:latin typeface="Monaco" pitchFamily="125" charset="0"/>
              </a:rPr>
              <a:t> </a:t>
            </a:r>
            <a:r>
              <a:rPr lang="fr-FR" altLang="en-US" sz="1600" b="1" i="1" dirty="0">
                <a:solidFill>
                  <a:srgbClr val="CE5C00"/>
                </a:solidFill>
                <a:latin typeface="Monaco" pitchFamily="125" charset="0"/>
              </a:rPr>
              <a:t>!= </a:t>
            </a:r>
            <a:r>
              <a:rPr lang="fr-FR" altLang="en-US" sz="1600" b="1" i="1" dirty="0" err="1">
                <a:solidFill>
                  <a:srgbClr val="204A87"/>
                </a:solidFill>
                <a:latin typeface="Monaco" pitchFamily="125" charset="0"/>
              </a:rPr>
              <a:t>nil</a:t>
            </a:r>
            <a:r>
              <a:rPr lang="fr-FR" altLang="en-US" sz="1600" b="1" i="1" dirty="0">
                <a:solidFill>
                  <a:srgbClr val="204A87"/>
                </a:solidFill>
                <a:latin typeface="Monaco" pitchFamily="125" charset="0"/>
              </a:rPr>
              <a:t> </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i="1" dirty="0" err="1">
                <a:solidFill>
                  <a:srgbClr val="000000"/>
                </a:solidFill>
                <a:latin typeface="Monaco" pitchFamily="125" charset="0"/>
              </a:rPr>
              <a:t>log</a:t>
            </a:r>
            <a:r>
              <a:rPr lang="fr-FR" altLang="en-US" sz="1600" b="1" i="1" dirty="0" err="1">
                <a:solidFill>
                  <a:srgbClr val="000000"/>
                </a:solidFill>
                <a:latin typeface="Monaco" pitchFamily="125" charset="0"/>
              </a:rPr>
              <a:t>.Println</a:t>
            </a:r>
            <a:r>
              <a:rPr lang="fr-FR" altLang="en-US" sz="1600" b="1" i="1" dirty="0">
                <a:solidFill>
                  <a:srgbClr val="000000"/>
                </a:solidFill>
                <a:latin typeface="Monaco" pitchFamily="125" charset="0"/>
              </a:rPr>
              <a:t>(</a:t>
            </a:r>
            <a:r>
              <a:rPr lang="fr-FR" altLang="en-US" sz="1600" b="1" i="1" dirty="0" err="1">
                <a:solidFill>
                  <a:srgbClr val="000000"/>
                </a:solidFill>
                <a:latin typeface="Monaco" pitchFamily="125" charset="0"/>
              </a:rPr>
              <a:t>err</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b="1" i="1" dirty="0">
                <a:solidFill>
                  <a:srgbClr val="204A87"/>
                </a:solidFill>
                <a:latin typeface="Monaco" pitchFamily="125" charset="0"/>
              </a:rPr>
              <a:t>continue</a:t>
            </a:r>
          </a:p>
          <a:p>
            <a:pPr eaLnBrk="1" hangingPunct="1">
              <a:spcBef>
                <a:spcPct val="0"/>
              </a:spcBef>
              <a:buFontTx/>
              <a:buNone/>
            </a:pPr>
            <a:r>
              <a:rPr lang="fr-FR" altLang="en-US" sz="1600" i="1" dirty="0">
                <a:latin typeface="Monaco" pitchFamily="125" charset="0"/>
              </a:rPr>
              <a:t>		</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b="1" i="1" dirty="0">
                <a:solidFill>
                  <a:srgbClr val="204A87"/>
                </a:solidFill>
                <a:latin typeface="Monaco" pitchFamily="125" charset="0"/>
              </a:rPr>
              <a:t>go </a:t>
            </a:r>
            <a:r>
              <a:rPr lang="fr-FR" altLang="en-US" sz="1600" b="1" i="1" dirty="0" err="1">
                <a:solidFill>
                  <a:srgbClr val="000000"/>
                </a:solidFill>
                <a:latin typeface="Monaco" pitchFamily="125" charset="0"/>
              </a:rPr>
              <a:t>handleConnection</a:t>
            </a:r>
            <a:r>
              <a:rPr lang="fr-FR" altLang="en-US" sz="1600" b="1" i="1" dirty="0">
                <a:solidFill>
                  <a:srgbClr val="000000"/>
                </a:solidFill>
                <a:latin typeface="Monaco" pitchFamily="125" charset="0"/>
              </a:rPr>
              <a:t>(</a:t>
            </a:r>
            <a:r>
              <a:rPr lang="fr-FR" altLang="en-US" sz="1600" b="1" i="1" dirty="0" err="1">
                <a:solidFill>
                  <a:srgbClr val="000000"/>
                </a:solidFill>
                <a:latin typeface="Monaco" pitchFamily="125" charset="0"/>
              </a:rPr>
              <a:t>conn</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b="1" i="1" dirty="0">
                <a:solidFill>
                  <a:srgbClr val="000000"/>
                </a:solidFill>
                <a:latin typeface="Monaco" pitchFamily="125" charset="0"/>
              </a:rPr>
              <a:t>}</a:t>
            </a:r>
          </a:p>
          <a:p>
            <a:pPr eaLnBrk="1" hangingPunct="1">
              <a:spcBef>
                <a:spcPct val="0"/>
              </a:spcBef>
              <a:buFontTx/>
              <a:buNone/>
            </a:pPr>
            <a:r>
              <a:rPr lang="fr-FR" altLang="en-US" sz="1600" b="1" i="1" dirty="0">
                <a:solidFill>
                  <a:srgbClr val="000000"/>
                </a:solidFill>
                <a:latin typeface="Monaco" pitchFamily="125" charset="0"/>
              </a:rPr>
              <a:t>}</a:t>
            </a:r>
            <a:endParaRPr lang="en-US" altLang="en-US" sz="1600" b="1" i="1" dirty="0">
              <a:solidFill>
                <a:srgbClr val="000000"/>
              </a:solidFill>
              <a:latin typeface="Monaco" pitchFamily="125"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re 1">
            <a:extLst>
              <a:ext uri="{FF2B5EF4-FFF2-40B4-BE49-F238E27FC236}">
                <a16:creationId xmlns:a16="http://schemas.microsoft.com/office/drawing/2014/main" id="{899ECA15-56AF-0D0B-C3B3-42CD15F42964}"/>
              </a:ext>
            </a:extLst>
          </p:cNvPr>
          <p:cNvSpPr>
            <a:spLocks noGrp="1" noChangeArrowheads="1"/>
          </p:cNvSpPr>
          <p:nvPr>
            <p:ph type="title"/>
          </p:nvPr>
        </p:nvSpPr>
        <p:spPr/>
        <p:txBody>
          <a:bodyPr/>
          <a:lstStyle/>
          <a:p>
            <a:r>
              <a:rPr lang="fr-FR" altLang="en-US" i="1"/>
              <a:t>server.go</a:t>
            </a:r>
            <a:endParaRPr lang="fr-FR" altLang="en-US" sz="4800"/>
          </a:p>
        </p:txBody>
      </p:sp>
      <p:sp>
        <p:nvSpPr>
          <p:cNvPr id="28674" name="Rectangle 3">
            <a:extLst>
              <a:ext uri="{FF2B5EF4-FFF2-40B4-BE49-F238E27FC236}">
                <a16:creationId xmlns:a16="http://schemas.microsoft.com/office/drawing/2014/main" id="{AFBE5D00-5887-0011-0CEB-D9617C7CB314}"/>
              </a:ext>
            </a:extLst>
          </p:cNvPr>
          <p:cNvSpPr>
            <a:spLocks noChangeArrowheads="1"/>
          </p:cNvSpPr>
          <p:nvPr/>
        </p:nvSpPr>
        <p:spPr bwMode="auto">
          <a:xfrm>
            <a:off x="381000" y="1981200"/>
            <a:ext cx="78486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b="1" i="1" dirty="0" err="1">
                <a:solidFill>
                  <a:srgbClr val="204A87"/>
                </a:solidFill>
                <a:latin typeface="Monaco" pitchFamily="125" charset="0"/>
              </a:rPr>
              <a:t>func</a:t>
            </a:r>
            <a:r>
              <a:rPr lang="fr-FR" altLang="en-US" sz="1800" b="1" i="1" dirty="0">
                <a:solidFill>
                  <a:srgbClr val="204A87"/>
                </a:solidFill>
                <a:latin typeface="Monaco" pitchFamily="125" charset="0"/>
              </a:rPr>
              <a:t> </a:t>
            </a:r>
            <a:r>
              <a:rPr lang="fr-FR" altLang="en-US" sz="1800" b="1" i="1" dirty="0" err="1">
                <a:solidFill>
                  <a:srgbClr val="000000"/>
                </a:solidFill>
                <a:latin typeface="Monaco" pitchFamily="125" charset="0"/>
              </a:rPr>
              <a:t>handleConnection</a:t>
            </a:r>
            <a:r>
              <a:rPr lang="fr-FR" altLang="en-US" sz="1800" b="1" i="1" dirty="0">
                <a:solidFill>
                  <a:srgbClr val="000000"/>
                </a:solidFill>
                <a:latin typeface="Monaco" pitchFamily="125" charset="0"/>
              </a:rPr>
              <a:t>(c </a:t>
            </a:r>
            <a:r>
              <a:rPr lang="fr-FR" altLang="en-US" sz="1800" b="1" i="1" dirty="0" err="1">
                <a:solidFill>
                  <a:srgbClr val="000000"/>
                </a:solidFill>
                <a:latin typeface="Monaco" pitchFamily="125" charset="0"/>
              </a:rPr>
              <a:t>net.Conn</a:t>
            </a:r>
            <a:r>
              <a:rPr lang="fr-FR" altLang="en-US" sz="1800" b="1" i="1" dirty="0">
                <a:solidFill>
                  <a:srgbClr val="000000"/>
                </a:solidFill>
                <a:latin typeface="Monaco" pitchFamily="125" charset="0"/>
              </a:rPr>
              <a:t>) {</a:t>
            </a:r>
          </a:p>
          <a:p>
            <a:pPr eaLnBrk="1" hangingPunct="1">
              <a:spcBef>
                <a:spcPct val="0"/>
              </a:spcBef>
              <a:buFontTx/>
              <a:buNone/>
            </a:pPr>
            <a:endParaRPr lang="fr-FR" altLang="en-US" sz="1800" i="1" dirty="0">
              <a:latin typeface="Monaco" pitchFamily="125" charset="0"/>
            </a:endParaRPr>
          </a:p>
          <a:p>
            <a:pPr eaLnBrk="1" hangingPunct="1">
              <a:spcBef>
                <a:spcPct val="0"/>
              </a:spcBef>
              <a:buFontTx/>
              <a:buNone/>
            </a:pPr>
            <a:r>
              <a:rPr lang="fr-FR" altLang="en-US" sz="1800" i="1" dirty="0">
                <a:latin typeface="Monaco" pitchFamily="125" charset="0"/>
              </a:rPr>
              <a:t>	</a:t>
            </a:r>
            <a:r>
              <a:rPr lang="fr-FR" altLang="en-US" sz="1800" i="1" dirty="0" err="1">
                <a:solidFill>
                  <a:srgbClr val="000000"/>
                </a:solidFill>
                <a:latin typeface="Monaco" pitchFamily="125" charset="0"/>
              </a:rPr>
              <a:t>log</a:t>
            </a:r>
            <a:r>
              <a:rPr lang="fr-FR" altLang="en-US" sz="1800" b="1" i="1" dirty="0" err="1">
                <a:solidFill>
                  <a:srgbClr val="000000"/>
                </a:solidFill>
                <a:latin typeface="Monaco" pitchFamily="125" charset="0"/>
              </a:rPr>
              <a:t>.Println</a:t>
            </a:r>
            <a:r>
              <a:rPr lang="fr-FR" altLang="en-US" sz="1800" b="1" i="1" dirty="0">
                <a:solidFill>
                  <a:srgbClr val="000000"/>
                </a:solidFill>
                <a:latin typeface="Monaco" pitchFamily="125" charset="0"/>
              </a:rPr>
              <a:t>(</a:t>
            </a:r>
            <a:r>
              <a:rPr lang="fr-FR" altLang="en-US" sz="1800" b="1" i="1" dirty="0">
                <a:solidFill>
                  <a:srgbClr val="4E9A06"/>
                </a:solidFill>
                <a:latin typeface="Monaco" pitchFamily="125" charset="0"/>
              </a:rPr>
              <a:t>"A client has </a:t>
            </a:r>
            <a:r>
              <a:rPr lang="fr-FR" altLang="en-US" sz="1800" b="1" i="1" dirty="0" err="1">
                <a:solidFill>
                  <a:srgbClr val="4E9A06"/>
                </a:solidFill>
                <a:latin typeface="Monaco" pitchFamily="125" charset="0"/>
              </a:rPr>
              <a:t>connected</a:t>
            </a:r>
            <a:r>
              <a:rPr lang="fr-FR" altLang="en-US" sz="1800" b="1" i="1" dirty="0">
                <a:solidFill>
                  <a:srgbClr val="4E9A06"/>
                </a:solidFill>
                <a:latin typeface="Monaco" pitchFamily="125" charset="0"/>
              </a:rPr>
              <a:t>"</a:t>
            </a:r>
            <a:r>
              <a:rPr lang="fr-FR" altLang="en-US" sz="1800" b="1" i="1" dirty="0">
                <a:solidFill>
                  <a:srgbClr val="000000"/>
                </a:solidFill>
                <a:latin typeface="Monaco" pitchFamily="125" charset="0"/>
              </a:rPr>
              <a:t>, </a:t>
            </a:r>
            <a:r>
              <a:rPr lang="fr-FR" altLang="en-US" sz="1800" b="1" i="1" dirty="0" err="1">
                <a:solidFill>
                  <a:srgbClr val="000000"/>
                </a:solidFill>
                <a:latin typeface="Monaco" pitchFamily="125" charset="0"/>
              </a:rPr>
              <a:t>c.RemoteAddr</a:t>
            </a:r>
            <a:r>
              <a:rPr lang="fr-FR" altLang="en-US" sz="1800" b="1" i="1" dirty="0">
                <a:solidFill>
                  <a:srgbClr val="000000"/>
                </a:solidFill>
                <a:latin typeface="Monaco" pitchFamily="125" charset="0"/>
              </a:rPr>
              <a:t>())</a:t>
            </a:r>
          </a:p>
          <a:p>
            <a:pPr eaLnBrk="1" hangingPunct="1">
              <a:spcBef>
                <a:spcPct val="0"/>
              </a:spcBef>
              <a:buFontTx/>
              <a:buNone/>
            </a:pPr>
            <a:r>
              <a:rPr lang="fr-FR" altLang="en-US" sz="1800" i="1" dirty="0">
                <a:latin typeface="Monaco" pitchFamily="125" charset="0"/>
              </a:rPr>
              <a:t>	</a:t>
            </a:r>
            <a:r>
              <a:rPr lang="fr-FR" altLang="en-US" sz="1800" i="1" dirty="0">
                <a:solidFill>
                  <a:srgbClr val="000000"/>
                </a:solidFill>
                <a:latin typeface="Monaco" pitchFamily="125" charset="0"/>
              </a:rPr>
              <a:t>block1 </a:t>
            </a:r>
            <a:r>
              <a:rPr lang="fr-FR" altLang="en-US" sz="1800" b="1" i="1" dirty="0">
                <a:solidFill>
                  <a:srgbClr val="CE5C00"/>
                </a:solidFill>
                <a:latin typeface="Monaco" pitchFamily="125" charset="0"/>
              </a:rPr>
              <a:t>:= &amp;</a:t>
            </a:r>
            <a:r>
              <a:rPr lang="fr-FR" altLang="en-US" sz="1800" b="1" i="1" dirty="0">
                <a:solidFill>
                  <a:srgbClr val="000000"/>
                </a:solidFill>
                <a:latin typeface="Monaco" pitchFamily="125" charset="0"/>
              </a:rPr>
              <a:t>Block{</a:t>
            </a:r>
            <a:r>
              <a:rPr lang="fr-FR" altLang="en-US" sz="1800" b="1" i="1" dirty="0">
                <a:solidFill>
                  <a:srgbClr val="4E9A06"/>
                </a:solidFill>
                <a:latin typeface="Monaco" pitchFamily="125" charset="0"/>
              </a:rPr>
              <a:t>"Satoshis100"</a:t>
            </a:r>
            <a:r>
              <a:rPr lang="fr-FR" altLang="en-US" sz="1800" b="1" i="1" dirty="0">
                <a:solidFill>
                  <a:srgbClr val="000000"/>
                </a:solidFill>
                <a:latin typeface="Monaco" pitchFamily="125" charset="0"/>
              </a:rPr>
              <a:t>, </a:t>
            </a:r>
            <a:r>
              <a:rPr lang="fr-FR" altLang="en-US" sz="1800" b="1" i="1" dirty="0" err="1">
                <a:solidFill>
                  <a:srgbClr val="204A87"/>
                </a:solidFill>
                <a:latin typeface="Monaco" pitchFamily="125" charset="0"/>
              </a:rPr>
              <a:t>nil</a:t>
            </a:r>
            <a:r>
              <a:rPr lang="fr-FR" altLang="en-US" sz="1800" b="1" i="1" dirty="0">
                <a:solidFill>
                  <a:srgbClr val="000000"/>
                </a:solidFill>
                <a:latin typeface="Monaco" pitchFamily="125" charset="0"/>
              </a:rPr>
              <a:t>}</a:t>
            </a:r>
          </a:p>
          <a:p>
            <a:pPr eaLnBrk="1" hangingPunct="1">
              <a:spcBef>
                <a:spcPct val="0"/>
              </a:spcBef>
              <a:buFontTx/>
              <a:buNone/>
            </a:pPr>
            <a:r>
              <a:rPr lang="fr-FR" altLang="en-US" sz="1800" i="1" dirty="0">
                <a:latin typeface="Monaco" pitchFamily="125" charset="0"/>
              </a:rPr>
              <a:t>	</a:t>
            </a:r>
            <a:r>
              <a:rPr lang="fr-FR" altLang="en-US" sz="1800" i="1" dirty="0">
                <a:solidFill>
                  <a:srgbClr val="000000"/>
                </a:solidFill>
                <a:latin typeface="Monaco" pitchFamily="125" charset="0"/>
              </a:rPr>
              <a:t>block2 </a:t>
            </a:r>
            <a:r>
              <a:rPr lang="fr-FR" altLang="en-US" sz="1800" b="1" i="1" dirty="0">
                <a:solidFill>
                  <a:srgbClr val="CE5C00"/>
                </a:solidFill>
                <a:latin typeface="Monaco" pitchFamily="125" charset="0"/>
              </a:rPr>
              <a:t>:= &amp;</a:t>
            </a:r>
            <a:r>
              <a:rPr lang="fr-FR" altLang="en-US" sz="1800" b="1" i="1" dirty="0">
                <a:solidFill>
                  <a:srgbClr val="000000"/>
                </a:solidFill>
                <a:latin typeface="Monaco" pitchFamily="125" charset="0"/>
              </a:rPr>
              <a:t>Block{</a:t>
            </a:r>
            <a:r>
              <a:rPr lang="fr-FR" altLang="en-US" sz="1800" b="1" i="1" dirty="0">
                <a:solidFill>
                  <a:srgbClr val="4E9A06"/>
                </a:solidFill>
                <a:latin typeface="Monaco" pitchFamily="125" charset="0"/>
              </a:rPr>
              <a:t>"Satoshi50Alice50"</a:t>
            </a:r>
            <a:r>
              <a:rPr lang="fr-FR" altLang="en-US" sz="1800" b="1" i="1" dirty="0">
                <a:solidFill>
                  <a:srgbClr val="000000"/>
                </a:solidFill>
                <a:latin typeface="Monaco" pitchFamily="125" charset="0"/>
              </a:rPr>
              <a:t>, block1}</a:t>
            </a:r>
          </a:p>
          <a:p>
            <a:pPr eaLnBrk="1" hangingPunct="1">
              <a:spcBef>
                <a:spcPct val="0"/>
              </a:spcBef>
              <a:buFontTx/>
              <a:buNone/>
            </a:pPr>
            <a:endParaRPr lang="fr-FR" altLang="en-US" sz="1800" i="1" dirty="0">
              <a:latin typeface="Monaco" pitchFamily="125" charset="0"/>
            </a:endParaRPr>
          </a:p>
          <a:p>
            <a:pPr eaLnBrk="1" hangingPunct="1">
              <a:spcBef>
                <a:spcPct val="0"/>
              </a:spcBef>
              <a:buFontTx/>
              <a:buNone/>
            </a:pPr>
            <a:r>
              <a:rPr lang="fr-FR" altLang="en-US" sz="1800" i="1" dirty="0">
                <a:latin typeface="Monaco" pitchFamily="125" charset="0"/>
              </a:rPr>
              <a:t>	</a:t>
            </a:r>
            <a:r>
              <a:rPr lang="fr-FR" altLang="en-US" sz="1800" i="1" dirty="0" err="1">
                <a:solidFill>
                  <a:srgbClr val="000000"/>
                </a:solidFill>
                <a:latin typeface="Monaco" pitchFamily="125" charset="0"/>
              </a:rPr>
              <a:t>gobEncoder</a:t>
            </a:r>
            <a:r>
              <a:rPr lang="fr-FR" altLang="en-US" sz="1800" i="1" dirty="0">
                <a:solidFill>
                  <a:srgbClr val="000000"/>
                </a:solidFill>
                <a:latin typeface="Monaco" pitchFamily="125" charset="0"/>
              </a:rPr>
              <a:t> </a:t>
            </a:r>
            <a:r>
              <a:rPr lang="fr-FR" altLang="en-US" sz="1800" b="1" i="1" dirty="0">
                <a:solidFill>
                  <a:srgbClr val="CE5C00"/>
                </a:solidFill>
                <a:latin typeface="Monaco" pitchFamily="125" charset="0"/>
              </a:rPr>
              <a:t>:= </a:t>
            </a:r>
            <a:r>
              <a:rPr lang="fr-FR" altLang="en-US" sz="1800" b="1" i="1" dirty="0" err="1">
                <a:solidFill>
                  <a:srgbClr val="000000"/>
                </a:solidFill>
                <a:latin typeface="Monaco" pitchFamily="125" charset="0"/>
              </a:rPr>
              <a:t>gob.NewEncoder</a:t>
            </a:r>
            <a:r>
              <a:rPr lang="fr-FR" altLang="en-US" sz="1800" b="1" i="1" dirty="0">
                <a:solidFill>
                  <a:srgbClr val="000000"/>
                </a:solidFill>
                <a:latin typeface="Monaco" pitchFamily="125" charset="0"/>
              </a:rPr>
              <a:t>(c)</a:t>
            </a:r>
          </a:p>
          <a:p>
            <a:pPr eaLnBrk="1" hangingPunct="1">
              <a:spcBef>
                <a:spcPct val="0"/>
              </a:spcBef>
              <a:buFontTx/>
              <a:buNone/>
            </a:pPr>
            <a:r>
              <a:rPr lang="fr-FR" altLang="en-US" sz="1800" i="1" dirty="0">
                <a:latin typeface="Monaco" pitchFamily="125" charset="0"/>
              </a:rPr>
              <a:t>	</a:t>
            </a:r>
            <a:r>
              <a:rPr lang="fr-FR" altLang="en-US" sz="1800" i="1" dirty="0" err="1">
                <a:solidFill>
                  <a:srgbClr val="000000"/>
                </a:solidFill>
                <a:latin typeface="Monaco" pitchFamily="125" charset="0"/>
              </a:rPr>
              <a:t>err</a:t>
            </a:r>
            <a:r>
              <a:rPr lang="fr-FR" altLang="en-US" sz="1800" i="1" dirty="0">
                <a:solidFill>
                  <a:srgbClr val="000000"/>
                </a:solidFill>
                <a:latin typeface="Monaco" pitchFamily="125" charset="0"/>
              </a:rPr>
              <a:t> </a:t>
            </a:r>
            <a:r>
              <a:rPr lang="fr-FR" altLang="en-US" sz="1800" b="1" i="1" dirty="0">
                <a:solidFill>
                  <a:srgbClr val="CE5C00"/>
                </a:solidFill>
                <a:latin typeface="Monaco" pitchFamily="125" charset="0"/>
              </a:rPr>
              <a:t>:= </a:t>
            </a:r>
            <a:r>
              <a:rPr lang="fr-FR" altLang="en-US" sz="1800" b="1" i="1" dirty="0" err="1">
                <a:solidFill>
                  <a:srgbClr val="000000"/>
                </a:solidFill>
                <a:latin typeface="Monaco" pitchFamily="125" charset="0"/>
              </a:rPr>
              <a:t>gobEncoder.Encode</a:t>
            </a:r>
            <a:r>
              <a:rPr lang="fr-FR" altLang="en-US" sz="1800" b="1" i="1" dirty="0">
                <a:solidFill>
                  <a:srgbClr val="000000"/>
                </a:solidFill>
                <a:latin typeface="Monaco" pitchFamily="125" charset="0"/>
              </a:rPr>
              <a:t>(block2)</a:t>
            </a:r>
          </a:p>
          <a:p>
            <a:pPr eaLnBrk="1" hangingPunct="1">
              <a:spcBef>
                <a:spcPct val="0"/>
              </a:spcBef>
              <a:buFontTx/>
              <a:buNone/>
            </a:pPr>
            <a:r>
              <a:rPr lang="fr-FR" altLang="en-US" sz="1800" i="1" dirty="0">
                <a:latin typeface="Monaco" pitchFamily="125" charset="0"/>
              </a:rPr>
              <a:t>	</a:t>
            </a:r>
            <a:r>
              <a:rPr lang="fr-FR" altLang="en-US" sz="1800" b="1" i="1" dirty="0">
                <a:solidFill>
                  <a:srgbClr val="204A87"/>
                </a:solidFill>
                <a:latin typeface="Monaco" pitchFamily="125" charset="0"/>
              </a:rPr>
              <a:t>if </a:t>
            </a:r>
            <a:r>
              <a:rPr lang="fr-FR" altLang="en-US" sz="1800" b="1" i="1" dirty="0" err="1">
                <a:solidFill>
                  <a:srgbClr val="000000"/>
                </a:solidFill>
                <a:latin typeface="Monaco" pitchFamily="125" charset="0"/>
              </a:rPr>
              <a:t>err</a:t>
            </a:r>
            <a:r>
              <a:rPr lang="fr-FR" altLang="en-US" sz="1800" b="1" i="1" dirty="0">
                <a:solidFill>
                  <a:srgbClr val="000000"/>
                </a:solidFill>
                <a:latin typeface="Monaco" pitchFamily="125" charset="0"/>
              </a:rPr>
              <a:t> </a:t>
            </a:r>
            <a:r>
              <a:rPr lang="fr-FR" altLang="en-US" sz="1800" b="1" i="1" dirty="0">
                <a:solidFill>
                  <a:srgbClr val="CE5C00"/>
                </a:solidFill>
                <a:latin typeface="Monaco" pitchFamily="125" charset="0"/>
              </a:rPr>
              <a:t>!= </a:t>
            </a:r>
            <a:r>
              <a:rPr lang="fr-FR" altLang="en-US" sz="1800" b="1" i="1" dirty="0" err="1">
                <a:solidFill>
                  <a:srgbClr val="204A87"/>
                </a:solidFill>
                <a:latin typeface="Monaco" pitchFamily="125" charset="0"/>
              </a:rPr>
              <a:t>nil</a:t>
            </a:r>
            <a:r>
              <a:rPr lang="fr-FR" altLang="en-US" sz="1800" b="1" i="1" dirty="0">
                <a:solidFill>
                  <a:srgbClr val="204A87"/>
                </a:solidFill>
                <a:latin typeface="Monaco" pitchFamily="125" charset="0"/>
              </a:rPr>
              <a:t> </a:t>
            </a:r>
            <a:r>
              <a:rPr lang="fr-FR" altLang="en-US" sz="1800" b="1" i="1" dirty="0">
                <a:solidFill>
                  <a:srgbClr val="000000"/>
                </a:solidFill>
                <a:latin typeface="Monaco" pitchFamily="125" charset="0"/>
              </a:rPr>
              <a:t>{</a:t>
            </a:r>
          </a:p>
          <a:p>
            <a:pPr eaLnBrk="1" hangingPunct="1">
              <a:spcBef>
                <a:spcPct val="0"/>
              </a:spcBef>
              <a:buFontTx/>
              <a:buNone/>
            </a:pPr>
            <a:r>
              <a:rPr lang="fr-FR" altLang="en-US" sz="1800" i="1" dirty="0">
                <a:latin typeface="Monaco" pitchFamily="125" charset="0"/>
              </a:rPr>
              <a:t>		</a:t>
            </a:r>
            <a:r>
              <a:rPr lang="fr-FR" altLang="en-US" sz="1800" i="1" dirty="0" err="1">
                <a:solidFill>
                  <a:srgbClr val="000000"/>
                </a:solidFill>
                <a:latin typeface="Monaco" pitchFamily="125" charset="0"/>
              </a:rPr>
              <a:t>log</a:t>
            </a:r>
            <a:r>
              <a:rPr lang="fr-FR" altLang="en-US" sz="1800" b="1" i="1" dirty="0" err="1">
                <a:solidFill>
                  <a:srgbClr val="000000"/>
                </a:solidFill>
                <a:latin typeface="Monaco" pitchFamily="125" charset="0"/>
              </a:rPr>
              <a:t>.Println</a:t>
            </a:r>
            <a:r>
              <a:rPr lang="fr-FR" altLang="en-US" sz="1800" b="1" i="1" dirty="0">
                <a:solidFill>
                  <a:srgbClr val="000000"/>
                </a:solidFill>
                <a:latin typeface="Monaco" pitchFamily="125" charset="0"/>
              </a:rPr>
              <a:t>(</a:t>
            </a:r>
            <a:r>
              <a:rPr lang="fr-FR" altLang="en-US" sz="1800" b="1" i="1" dirty="0" err="1">
                <a:solidFill>
                  <a:srgbClr val="000000"/>
                </a:solidFill>
                <a:latin typeface="Monaco" pitchFamily="125" charset="0"/>
              </a:rPr>
              <a:t>err</a:t>
            </a:r>
            <a:r>
              <a:rPr lang="fr-FR" altLang="en-US" sz="1800" b="1" i="1" dirty="0">
                <a:solidFill>
                  <a:srgbClr val="000000"/>
                </a:solidFill>
                <a:latin typeface="Monaco" pitchFamily="125" charset="0"/>
              </a:rPr>
              <a:t>)</a:t>
            </a:r>
          </a:p>
          <a:p>
            <a:pPr eaLnBrk="1" hangingPunct="1">
              <a:spcBef>
                <a:spcPct val="0"/>
              </a:spcBef>
              <a:buFontTx/>
              <a:buNone/>
            </a:pPr>
            <a:r>
              <a:rPr lang="fr-FR" altLang="en-US" sz="1800" i="1" dirty="0">
                <a:latin typeface="Monaco" pitchFamily="125" charset="0"/>
              </a:rPr>
              <a:t>	</a:t>
            </a:r>
            <a:r>
              <a:rPr lang="fr-FR" altLang="en-US" sz="1800" b="1" i="1" dirty="0">
                <a:solidFill>
                  <a:srgbClr val="000000"/>
                </a:solidFill>
                <a:latin typeface="Monaco" pitchFamily="125" charset="0"/>
              </a:rPr>
              <a:t>}</a:t>
            </a:r>
          </a:p>
          <a:p>
            <a:pPr eaLnBrk="1" hangingPunct="1">
              <a:spcBef>
                <a:spcPct val="0"/>
              </a:spcBef>
              <a:buFontTx/>
              <a:buNone/>
            </a:pPr>
            <a:r>
              <a:rPr lang="fr-FR" altLang="en-US" sz="1800" b="1" i="1" dirty="0">
                <a:solidFill>
                  <a:srgbClr val="000000"/>
                </a:solidFill>
                <a:latin typeface="Monaco" pitchFamily="125"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re 1">
            <a:extLst>
              <a:ext uri="{FF2B5EF4-FFF2-40B4-BE49-F238E27FC236}">
                <a16:creationId xmlns:a16="http://schemas.microsoft.com/office/drawing/2014/main" id="{E0A6A42C-6F8C-48BB-33C9-C447CF591D0F}"/>
              </a:ext>
            </a:extLst>
          </p:cNvPr>
          <p:cNvSpPr>
            <a:spLocks noGrp="1" noChangeArrowheads="1"/>
          </p:cNvSpPr>
          <p:nvPr>
            <p:ph type="title"/>
          </p:nvPr>
        </p:nvSpPr>
        <p:spPr/>
        <p:txBody>
          <a:bodyPr/>
          <a:lstStyle/>
          <a:p>
            <a:r>
              <a:rPr lang="fr-FR" altLang="en-US" i="1"/>
              <a:t>client.go</a:t>
            </a:r>
            <a:endParaRPr lang="fr-FR" altLang="en-US" sz="4800"/>
          </a:p>
        </p:txBody>
      </p:sp>
      <p:sp>
        <p:nvSpPr>
          <p:cNvPr id="29698" name="Rectangle 3">
            <a:extLst>
              <a:ext uri="{FF2B5EF4-FFF2-40B4-BE49-F238E27FC236}">
                <a16:creationId xmlns:a16="http://schemas.microsoft.com/office/drawing/2014/main" id="{E4E3E6C2-8C9C-E7F4-E37B-499D2E2DBC17}"/>
              </a:ext>
            </a:extLst>
          </p:cNvPr>
          <p:cNvSpPr>
            <a:spLocks noChangeArrowheads="1"/>
          </p:cNvSpPr>
          <p:nvPr/>
        </p:nvSpPr>
        <p:spPr bwMode="auto">
          <a:xfrm>
            <a:off x="381000" y="1600200"/>
            <a:ext cx="7848600"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600" b="1" i="1" dirty="0">
                <a:solidFill>
                  <a:srgbClr val="204A87"/>
                </a:solidFill>
                <a:latin typeface="Monaco" pitchFamily="125" charset="0"/>
              </a:rPr>
              <a:t>type </a:t>
            </a:r>
            <a:r>
              <a:rPr lang="fr-FR" altLang="en-US" sz="1600" b="1" i="1" dirty="0">
                <a:solidFill>
                  <a:srgbClr val="000000"/>
                </a:solidFill>
                <a:latin typeface="Monaco" pitchFamily="125" charset="0"/>
              </a:rPr>
              <a:t>Block </a:t>
            </a:r>
            <a:r>
              <a:rPr lang="fr-FR" altLang="en-US" sz="1600" b="1" i="1" dirty="0" err="1">
                <a:solidFill>
                  <a:srgbClr val="204A87"/>
                </a:solidFill>
                <a:latin typeface="Monaco" pitchFamily="125" charset="0"/>
              </a:rPr>
              <a:t>struct</a:t>
            </a:r>
            <a:r>
              <a:rPr lang="fr-FR" altLang="en-US" sz="1600" b="1" i="1" dirty="0">
                <a:solidFill>
                  <a:srgbClr val="204A87"/>
                </a:solidFill>
                <a:latin typeface="Monaco" pitchFamily="125" charset="0"/>
              </a:rPr>
              <a:t> </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i="1" dirty="0">
                <a:solidFill>
                  <a:srgbClr val="000000"/>
                </a:solidFill>
                <a:latin typeface="Monaco" pitchFamily="125" charset="0"/>
              </a:rPr>
              <a:t>Transaction </a:t>
            </a:r>
            <a:r>
              <a:rPr lang="fr-FR" altLang="en-US" sz="1600" b="1" i="1" dirty="0">
                <a:solidFill>
                  <a:srgbClr val="204A87"/>
                </a:solidFill>
                <a:latin typeface="Monaco" pitchFamily="125" charset="0"/>
              </a:rPr>
              <a:t>string</a:t>
            </a:r>
          </a:p>
          <a:p>
            <a:pPr eaLnBrk="1" hangingPunct="1">
              <a:spcBef>
                <a:spcPct val="0"/>
              </a:spcBef>
              <a:buFontTx/>
              <a:buNone/>
            </a:pPr>
            <a:r>
              <a:rPr lang="fr-FR" altLang="en-US" sz="1600" i="1" dirty="0">
                <a:latin typeface="Monaco" pitchFamily="125" charset="0"/>
              </a:rPr>
              <a:t>	</a:t>
            </a:r>
            <a:r>
              <a:rPr lang="fr-FR" altLang="en-US" sz="1600" i="1" dirty="0" err="1">
                <a:solidFill>
                  <a:srgbClr val="000000"/>
                </a:solidFill>
                <a:latin typeface="Monaco" pitchFamily="125" charset="0"/>
              </a:rPr>
              <a:t>PrevPointer</a:t>
            </a:r>
            <a:r>
              <a:rPr lang="fr-FR" altLang="en-US" sz="1600" i="1" dirty="0">
                <a:solidFill>
                  <a:srgbClr val="000000"/>
                </a:solidFill>
                <a:latin typeface="Monaco" pitchFamily="125" charset="0"/>
              </a:rPr>
              <a:t> </a:t>
            </a:r>
            <a:r>
              <a:rPr lang="fr-FR" altLang="en-US" sz="1600" b="1" i="1" dirty="0">
                <a:solidFill>
                  <a:srgbClr val="CE5C00"/>
                </a:solidFill>
                <a:latin typeface="Monaco" pitchFamily="125" charset="0"/>
              </a:rPr>
              <a:t>*</a:t>
            </a:r>
            <a:r>
              <a:rPr lang="fr-FR" altLang="en-US" sz="1600" b="1" i="1" dirty="0">
                <a:solidFill>
                  <a:srgbClr val="000000"/>
                </a:solidFill>
                <a:latin typeface="Monaco" pitchFamily="125" charset="0"/>
              </a:rPr>
              <a:t>Block</a:t>
            </a:r>
          </a:p>
          <a:p>
            <a:pPr eaLnBrk="1" hangingPunct="1">
              <a:spcBef>
                <a:spcPct val="0"/>
              </a:spcBef>
              <a:buFontTx/>
              <a:buNone/>
            </a:pPr>
            <a:r>
              <a:rPr lang="fr-FR" altLang="en-US" sz="1600" b="1" i="1" dirty="0">
                <a:solidFill>
                  <a:srgbClr val="000000"/>
                </a:solidFill>
                <a:latin typeface="Monaco" pitchFamily="125" charset="0"/>
              </a:rPr>
              <a:t>}</a:t>
            </a:r>
          </a:p>
          <a:p>
            <a:pPr eaLnBrk="1" hangingPunct="1">
              <a:spcBef>
                <a:spcPct val="0"/>
              </a:spcBef>
              <a:buFontTx/>
              <a:buNone/>
            </a:pPr>
            <a:endParaRPr lang="fr-FR" altLang="en-US" sz="1600" i="1" dirty="0">
              <a:latin typeface="Monaco" pitchFamily="125" charset="0"/>
            </a:endParaRPr>
          </a:p>
          <a:p>
            <a:pPr eaLnBrk="1" hangingPunct="1">
              <a:spcBef>
                <a:spcPct val="0"/>
              </a:spcBef>
              <a:buFontTx/>
              <a:buNone/>
            </a:pPr>
            <a:r>
              <a:rPr lang="fr-FR" altLang="en-US" sz="1600" b="1" i="1" dirty="0" err="1">
                <a:solidFill>
                  <a:srgbClr val="204A87"/>
                </a:solidFill>
                <a:latin typeface="Monaco" pitchFamily="125" charset="0"/>
              </a:rPr>
              <a:t>func</a:t>
            </a:r>
            <a:r>
              <a:rPr lang="fr-FR" altLang="en-US" sz="1600" b="1" i="1" dirty="0">
                <a:solidFill>
                  <a:srgbClr val="204A87"/>
                </a:solidFill>
                <a:latin typeface="Monaco" pitchFamily="125" charset="0"/>
              </a:rPr>
              <a:t> </a:t>
            </a:r>
            <a:r>
              <a:rPr lang="fr-FR" altLang="en-US" sz="1600" b="1" i="1" dirty="0">
                <a:solidFill>
                  <a:srgbClr val="000000"/>
                </a:solidFill>
                <a:latin typeface="Monaco" pitchFamily="125" charset="0"/>
              </a:rPr>
              <a:t>main() {</a:t>
            </a:r>
          </a:p>
          <a:p>
            <a:pPr eaLnBrk="1" hangingPunct="1">
              <a:spcBef>
                <a:spcPct val="0"/>
              </a:spcBef>
              <a:buFontTx/>
              <a:buNone/>
            </a:pPr>
            <a:r>
              <a:rPr lang="fr-FR" altLang="en-US" sz="1600" i="1" dirty="0">
                <a:latin typeface="Monaco" pitchFamily="125" charset="0"/>
              </a:rPr>
              <a:t>	</a:t>
            </a:r>
            <a:r>
              <a:rPr lang="fr-FR" altLang="en-US" sz="1600" i="1" dirty="0" err="1">
                <a:solidFill>
                  <a:srgbClr val="000000"/>
                </a:solidFill>
                <a:latin typeface="Monaco" pitchFamily="125" charset="0"/>
              </a:rPr>
              <a:t>conn</a:t>
            </a:r>
            <a:r>
              <a:rPr lang="fr-FR" altLang="en-US" sz="1600" b="1" i="1" dirty="0">
                <a:solidFill>
                  <a:srgbClr val="000000"/>
                </a:solidFill>
                <a:latin typeface="Monaco" pitchFamily="125" charset="0"/>
              </a:rPr>
              <a:t>, </a:t>
            </a:r>
            <a:r>
              <a:rPr lang="fr-FR" altLang="en-US" sz="1600" b="1" i="1" dirty="0" err="1">
                <a:solidFill>
                  <a:srgbClr val="000000"/>
                </a:solidFill>
                <a:latin typeface="Monaco" pitchFamily="125" charset="0"/>
              </a:rPr>
              <a:t>err</a:t>
            </a:r>
            <a:r>
              <a:rPr lang="fr-FR" altLang="en-US" sz="1600" b="1" i="1" dirty="0">
                <a:solidFill>
                  <a:srgbClr val="000000"/>
                </a:solidFill>
                <a:latin typeface="Monaco" pitchFamily="125" charset="0"/>
              </a:rPr>
              <a:t> </a:t>
            </a:r>
            <a:r>
              <a:rPr lang="fr-FR" altLang="en-US" sz="1600" b="1" i="1" dirty="0">
                <a:solidFill>
                  <a:srgbClr val="CE5C00"/>
                </a:solidFill>
                <a:latin typeface="Monaco" pitchFamily="125" charset="0"/>
              </a:rPr>
              <a:t>:= </a:t>
            </a:r>
            <a:r>
              <a:rPr lang="fr-FR" altLang="en-US" sz="1600" b="1" i="1" dirty="0" err="1">
                <a:solidFill>
                  <a:srgbClr val="000000"/>
                </a:solidFill>
                <a:latin typeface="Monaco" pitchFamily="125" charset="0"/>
              </a:rPr>
              <a:t>net.Dial</a:t>
            </a:r>
            <a:r>
              <a:rPr lang="fr-FR" altLang="en-US" sz="1600" b="1" i="1" dirty="0">
                <a:solidFill>
                  <a:srgbClr val="000000"/>
                </a:solidFill>
                <a:latin typeface="Monaco" pitchFamily="125" charset="0"/>
              </a:rPr>
              <a:t>(</a:t>
            </a:r>
            <a:r>
              <a:rPr lang="fr-FR" altLang="en-US" sz="1600" b="1" i="1" dirty="0">
                <a:solidFill>
                  <a:srgbClr val="4E9A06"/>
                </a:solidFill>
                <a:latin typeface="Monaco" pitchFamily="125" charset="0"/>
              </a:rPr>
              <a:t>"</a:t>
            </a:r>
            <a:r>
              <a:rPr lang="fr-FR" altLang="en-US" sz="1600" b="1" i="1" dirty="0" err="1">
                <a:solidFill>
                  <a:srgbClr val="4E9A06"/>
                </a:solidFill>
                <a:latin typeface="Monaco" pitchFamily="125" charset="0"/>
              </a:rPr>
              <a:t>tcp</a:t>
            </a:r>
            <a:r>
              <a:rPr lang="fr-FR" altLang="en-US" sz="1600" b="1" i="1" dirty="0">
                <a:solidFill>
                  <a:srgbClr val="4E9A06"/>
                </a:solidFill>
                <a:latin typeface="Monaco" pitchFamily="125" charset="0"/>
              </a:rPr>
              <a:t>"</a:t>
            </a:r>
            <a:r>
              <a:rPr lang="fr-FR" altLang="en-US" sz="1600" b="1" i="1" dirty="0">
                <a:solidFill>
                  <a:srgbClr val="000000"/>
                </a:solidFill>
                <a:latin typeface="Monaco" pitchFamily="125" charset="0"/>
              </a:rPr>
              <a:t>, </a:t>
            </a:r>
            <a:r>
              <a:rPr lang="fr-FR" altLang="en-US" sz="1600" b="1" i="1" dirty="0">
                <a:solidFill>
                  <a:srgbClr val="4E9A06"/>
                </a:solidFill>
                <a:latin typeface="Monaco" pitchFamily="125" charset="0"/>
              </a:rPr>
              <a:t>"localhost:6000"</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b="1" i="1" dirty="0">
                <a:solidFill>
                  <a:srgbClr val="204A87"/>
                </a:solidFill>
                <a:latin typeface="Monaco" pitchFamily="125" charset="0"/>
              </a:rPr>
              <a:t>if </a:t>
            </a:r>
            <a:r>
              <a:rPr lang="fr-FR" altLang="en-US" sz="1600" b="1" i="1" dirty="0" err="1">
                <a:solidFill>
                  <a:srgbClr val="000000"/>
                </a:solidFill>
                <a:latin typeface="Monaco" pitchFamily="125" charset="0"/>
              </a:rPr>
              <a:t>err</a:t>
            </a:r>
            <a:r>
              <a:rPr lang="fr-FR" altLang="en-US" sz="1600" b="1" i="1" dirty="0">
                <a:solidFill>
                  <a:srgbClr val="000000"/>
                </a:solidFill>
                <a:latin typeface="Monaco" pitchFamily="125" charset="0"/>
              </a:rPr>
              <a:t> </a:t>
            </a:r>
            <a:r>
              <a:rPr lang="fr-FR" altLang="en-US" sz="1600" b="1" i="1" dirty="0">
                <a:solidFill>
                  <a:srgbClr val="CE5C00"/>
                </a:solidFill>
                <a:latin typeface="Monaco" pitchFamily="125" charset="0"/>
              </a:rPr>
              <a:t>!= </a:t>
            </a:r>
            <a:r>
              <a:rPr lang="fr-FR" altLang="en-US" sz="1600" b="1" i="1" dirty="0" err="1">
                <a:solidFill>
                  <a:srgbClr val="204A87"/>
                </a:solidFill>
                <a:latin typeface="Monaco" pitchFamily="125" charset="0"/>
              </a:rPr>
              <a:t>nil</a:t>
            </a:r>
            <a:r>
              <a:rPr lang="fr-FR" altLang="en-US" sz="1600" b="1" i="1" dirty="0">
                <a:solidFill>
                  <a:srgbClr val="204A87"/>
                </a:solidFill>
                <a:latin typeface="Monaco" pitchFamily="125" charset="0"/>
              </a:rPr>
              <a:t> </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i="1" dirty="0">
                <a:solidFill>
                  <a:srgbClr val="8F5902"/>
                </a:solidFill>
                <a:latin typeface="Monaco" pitchFamily="125" charset="0"/>
              </a:rPr>
              <a:t>//</a:t>
            </a:r>
            <a:r>
              <a:rPr lang="fr-FR" altLang="en-US" sz="1600" i="1" dirty="0" err="1">
                <a:solidFill>
                  <a:srgbClr val="8F5902"/>
                </a:solidFill>
                <a:latin typeface="Monaco" pitchFamily="125" charset="0"/>
              </a:rPr>
              <a:t>handle</a:t>
            </a:r>
            <a:r>
              <a:rPr lang="fr-FR" altLang="en-US" sz="1600" i="1" dirty="0">
                <a:solidFill>
                  <a:srgbClr val="8F5902"/>
                </a:solidFill>
                <a:latin typeface="Monaco" pitchFamily="125" charset="0"/>
              </a:rPr>
              <a:t> </a:t>
            </a:r>
            <a:r>
              <a:rPr lang="fr-FR" altLang="en-US" sz="1600" i="1" dirty="0" err="1">
                <a:solidFill>
                  <a:srgbClr val="8F5902"/>
                </a:solidFill>
                <a:latin typeface="Monaco" pitchFamily="125" charset="0"/>
              </a:rPr>
              <a:t>error</a:t>
            </a:r>
            <a:endParaRPr lang="fr-FR" altLang="en-US" sz="1600" i="1" dirty="0">
              <a:solidFill>
                <a:srgbClr val="8F5902"/>
              </a:solidFill>
              <a:latin typeface="Monaco" pitchFamily="125" charset="0"/>
            </a:endParaRPr>
          </a:p>
          <a:p>
            <a:pPr eaLnBrk="1" hangingPunct="1">
              <a:spcBef>
                <a:spcPct val="0"/>
              </a:spcBef>
              <a:buFontTx/>
              <a:buNone/>
            </a:pPr>
            <a:r>
              <a:rPr lang="fr-FR" altLang="en-US" sz="1600" i="1" dirty="0">
                <a:latin typeface="Monaco" pitchFamily="125" charset="0"/>
              </a:rPr>
              <a:t>	</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b="1" i="1" dirty="0">
                <a:solidFill>
                  <a:srgbClr val="204A87"/>
                </a:solidFill>
                <a:latin typeface="Monaco" pitchFamily="125" charset="0"/>
              </a:rPr>
              <a:t>var </a:t>
            </a:r>
            <a:r>
              <a:rPr lang="fr-FR" altLang="en-US" sz="1600" b="1" i="1" dirty="0" err="1">
                <a:solidFill>
                  <a:srgbClr val="000000"/>
                </a:solidFill>
                <a:latin typeface="Monaco" pitchFamily="125" charset="0"/>
              </a:rPr>
              <a:t>recvdBlock</a:t>
            </a:r>
            <a:r>
              <a:rPr lang="fr-FR" altLang="en-US" sz="1600" b="1" i="1" dirty="0">
                <a:solidFill>
                  <a:srgbClr val="000000"/>
                </a:solidFill>
                <a:latin typeface="Monaco" pitchFamily="125" charset="0"/>
              </a:rPr>
              <a:t> Block</a:t>
            </a:r>
          </a:p>
          <a:p>
            <a:pPr eaLnBrk="1" hangingPunct="1">
              <a:spcBef>
                <a:spcPct val="0"/>
              </a:spcBef>
              <a:buFontTx/>
              <a:buNone/>
            </a:pPr>
            <a:r>
              <a:rPr lang="fr-FR" altLang="en-US" sz="1600" i="1" dirty="0">
                <a:latin typeface="Monaco" pitchFamily="125" charset="0"/>
              </a:rPr>
              <a:t>	</a:t>
            </a:r>
            <a:r>
              <a:rPr lang="fr-FR" altLang="en-US" sz="1600" i="1" dirty="0" err="1">
                <a:solidFill>
                  <a:srgbClr val="000000"/>
                </a:solidFill>
                <a:latin typeface="Monaco" pitchFamily="125" charset="0"/>
              </a:rPr>
              <a:t>dec</a:t>
            </a:r>
            <a:r>
              <a:rPr lang="fr-FR" altLang="en-US" sz="1600" i="1" dirty="0">
                <a:solidFill>
                  <a:srgbClr val="000000"/>
                </a:solidFill>
                <a:latin typeface="Monaco" pitchFamily="125" charset="0"/>
              </a:rPr>
              <a:t> </a:t>
            </a:r>
            <a:r>
              <a:rPr lang="fr-FR" altLang="en-US" sz="1600" b="1" i="1" dirty="0">
                <a:solidFill>
                  <a:srgbClr val="CE5C00"/>
                </a:solidFill>
                <a:latin typeface="Monaco" pitchFamily="125" charset="0"/>
              </a:rPr>
              <a:t>:= </a:t>
            </a:r>
            <a:r>
              <a:rPr lang="fr-FR" altLang="en-US" sz="1600" b="1" i="1" dirty="0" err="1">
                <a:solidFill>
                  <a:srgbClr val="000000"/>
                </a:solidFill>
                <a:latin typeface="Monaco" pitchFamily="125" charset="0"/>
              </a:rPr>
              <a:t>gob.NewDecoder</a:t>
            </a:r>
            <a:r>
              <a:rPr lang="fr-FR" altLang="en-US" sz="1600" b="1" i="1" dirty="0">
                <a:solidFill>
                  <a:srgbClr val="000000"/>
                </a:solidFill>
                <a:latin typeface="Monaco" pitchFamily="125" charset="0"/>
              </a:rPr>
              <a:t>(</a:t>
            </a:r>
            <a:r>
              <a:rPr lang="fr-FR" altLang="en-US" sz="1600" b="1" i="1" dirty="0" err="1">
                <a:solidFill>
                  <a:srgbClr val="000000"/>
                </a:solidFill>
                <a:latin typeface="Monaco" pitchFamily="125" charset="0"/>
              </a:rPr>
              <a:t>conn</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i="1" dirty="0" err="1">
                <a:solidFill>
                  <a:srgbClr val="000000"/>
                </a:solidFill>
                <a:latin typeface="Monaco" pitchFamily="125" charset="0"/>
              </a:rPr>
              <a:t>err</a:t>
            </a:r>
            <a:r>
              <a:rPr lang="fr-FR" altLang="en-US" sz="1600" i="1" dirty="0">
                <a:solidFill>
                  <a:srgbClr val="000000"/>
                </a:solidFill>
                <a:latin typeface="Monaco" pitchFamily="125" charset="0"/>
              </a:rPr>
              <a:t> </a:t>
            </a:r>
            <a:r>
              <a:rPr lang="fr-FR" altLang="en-US" sz="1600" b="1" i="1" dirty="0">
                <a:solidFill>
                  <a:srgbClr val="000000"/>
                </a:solidFill>
                <a:latin typeface="Monaco" pitchFamily="125" charset="0"/>
              </a:rPr>
              <a:t>= </a:t>
            </a:r>
            <a:r>
              <a:rPr lang="fr-FR" altLang="en-US" sz="1600" b="1" i="1" dirty="0" err="1">
                <a:solidFill>
                  <a:srgbClr val="000000"/>
                </a:solidFill>
                <a:latin typeface="Monaco" pitchFamily="125" charset="0"/>
              </a:rPr>
              <a:t>dec.Decode</a:t>
            </a:r>
            <a:r>
              <a:rPr lang="fr-FR" altLang="en-US" sz="1600" b="1" i="1" dirty="0">
                <a:solidFill>
                  <a:srgbClr val="000000"/>
                </a:solidFill>
                <a:latin typeface="Monaco" pitchFamily="125" charset="0"/>
              </a:rPr>
              <a:t>(</a:t>
            </a:r>
            <a:r>
              <a:rPr lang="fr-FR" altLang="en-US" sz="1600" b="1" i="1" dirty="0">
                <a:solidFill>
                  <a:srgbClr val="CE5C00"/>
                </a:solidFill>
                <a:latin typeface="Monaco" pitchFamily="125" charset="0"/>
              </a:rPr>
              <a:t>&amp;</a:t>
            </a:r>
            <a:r>
              <a:rPr lang="fr-FR" altLang="en-US" sz="1600" b="1" i="1" dirty="0" err="1">
                <a:solidFill>
                  <a:srgbClr val="000000"/>
                </a:solidFill>
                <a:latin typeface="Monaco" pitchFamily="125" charset="0"/>
              </a:rPr>
              <a:t>recvdBlock</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b="1" i="1" dirty="0">
                <a:solidFill>
                  <a:srgbClr val="204A87"/>
                </a:solidFill>
                <a:latin typeface="Monaco" pitchFamily="125" charset="0"/>
              </a:rPr>
              <a:t>if </a:t>
            </a:r>
            <a:r>
              <a:rPr lang="fr-FR" altLang="en-US" sz="1600" b="1" i="1" dirty="0" err="1">
                <a:solidFill>
                  <a:srgbClr val="000000"/>
                </a:solidFill>
                <a:latin typeface="Monaco" pitchFamily="125" charset="0"/>
              </a:rPr>
              <a:t>err</a:t>
            </a:r>
            <a:r>
              <a:rPr lang="fr-FR" altLang="en-US" sz="1600" b="1" i="1" dirty="0">
                <a:solidFill>
                  <a:srgbClr val="000000"/>
                </a:solidFill>
                <a:latin typeface="Monaco" pitchFamily="125" charset="0"/>
              </a:rPr>
              <a:t> </a:t>
            </a:r>
            <a:r>
              <a:rPr lang="fr-FR" altLang="en-US" sz="1600" b="1" i="1" dirty="0">
                <a:solidFill>
                  <a:srgbClr val="CE5C00"/>
                </a:solidFill>
                <a:latin typeface="Monaco" pitchFamily="125" charset="0"/>
              </a:rPr>
              <a:t>!= </a:t>
            </a:r>
            <a:r>
              <a:rPr lang="fr-FR" altLang="en-US" sz="1600" b="1" i="1" dirty="0" err="1">
                <a:solidFill>
                  <a:srgbClr val="204A87"/>
                </a:solidFill>
                <a:latin typeface="Monaco" pitchFamily="125" charset="0"/>
              </a:rPr>
              <a:t>nil</a:t>
            </a:r>
            <a:r>
              <a:rPr lang="fr-FR" altLang="en-US" sz="1600" b="1" i="1" dirty="0">
                <a:solidFill>
                  <a:srgbClr val="204A87"/>
                </a:solidFill>
                <a:latin typeface="Monaco" pitchFamily="125" charset="0"/>
              </a:rPr>
              <a:t> </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i="1" dirty="0">
                <a:solidFill>
                  <a:srgbClr val="8F5902"/>
                </a:solidFill>
                <a:latin typeface="Monaco" pitchFamily="125" charset="0"/>
              </a:rPr>
              <a:t>//</a:t>
            </a:r>
            <a:r>
              <a:rPr lang="fr-FR" altLang="en-US" sz="1600" i="1" dirty="0" err="1">
                <a:solidFill>
                  <a:srgbClr val="8F5902"/>
                </a:solidFill>
                <a:latin typeface="Monaco" pitchFamily="125" charset="0"/>
              </a:rPr>
              <a:t>handle</a:t>
            </a:r>
            <a:r>
              <a:rPr lang="fr-FR" altLang="en-US" sz="1600" i="1" dirty="0">
                <a:solidFill>
                  <a:srgbClr val="8F5902"/>
                </a:solidFill>
                <a:latin typeface="Monaco" pitchFamily="125" charset="0"/>
              </a:rPr>
              <a:t> </a:t>
            </a:r>
            <a:r>
              <a:rPr lang="fr-FR" altLang="en-US" sz="1600" i="1" dirty="0" err="1">
                <a:solidFill>
                  <a:srgbClr val="8F5902"/>
                </a:solidFill>
                <a:latin typeface="Monaco" pitchFamily="125" charset="0"/>
              </a:rPr>
              <a:t>error</a:t>
            </a:r>
            <a:endParaRPr lang="fr-FR" altLang="en-US" sz="1600" i="1" dirty="0">
              <a:solidFill>
                <a:srgbClr val="8F5902"/>
              </a:solidFill>
              <a:latin typeface="Monaco" pitchFamily="125" charset="0"/>
            </a:endParaRPr>
          </a:p>
          <a:p>
            <a:pPr eaLnBrk="1" hangingPunct="1">
              <a:spcBef>
                <a:spcPct val="0"/>
              </a:spcBef>
              <a:buFontTx/>
              <a:buNone/>
            </a:pPr>
            <a:r>
              <a:rPr lang="fr-FR" altLang="en-US" sz="1600" i="1" dirty="0">
                <a:latin typeface="Monaco" pitchFamily="125" charset="0"/>
              </a:rPr>
              <a:t>	</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i="1" dirty="0" err="1">
                <a:solidFill>
                  <a:srgbClr val="000000"/>
                </a:solidFill>
                <a:latin typeface="Monaco" pitchFamily="125" charset="0"/>
              </a:rPr>
              <a:t>fmt</a:t>
            </a:r>
            <a:r>
              <a:rPr lang="fr-FR" altLang="en-US" sz="1600" b="1" i="1" dirty="0" err="1">
                <a:solidFill>
                  <a:srgbClr val="000000"/>
                </a:solidFill>
                <a:latin typeface="Monaco" pitchFamily="125" charset="0"/>
              </a:rPr>
              <a:t>.Println</a:t>
            </a:r>
            <a:r>
              <a:rPr lang="fr-FR" altLang="en-US" sz="1600" b="1" i="1" dirty="0">
                <a:solidFill>
                  <a:srgbClr val="000000"/>
                </a:solidFill>
                <a:latin typeface="Monaco" pitchFamily="125" charset="0"/>
              </a:rPr>
              <a:t>(</a:t>
            </a:r>
            <a:r>
              <a:rPr lang="fr-FR" altLang="en-US" sz="1600" b="1" i="1" dirty="0" err="1">
                <a:solidFill>
                  <a:srgbClr val="000000"/>
                </a:solidFill>
                <a:latin typeface="Monaco" pitchFamily="125" charset="0"/>
              </a:rPr>
              <a:t>recvdBlock.Transaction</a:t>
            </a:r>
            <a:r>
              <a:rPr lang="fr-FR" altLang="en-US" sz="1600" b="1" i="1" dirty="0">
                <a:solidFill>
                  <a:srgbClr val="000000"/>
                </a:solidFill>
                <a:latin typeface="Monaco" pitchFamily="125" charset="0"/>
              </a:rPr>
              <a:t>)</a:t>
            </a:r>
          </a:p>
          <a:p>
            <a:pPr eaLnBrk="1" hangingPunct="1">
              <a:spcBef>
                <a:spcPct val="0"/>
              </a:spcBef>
              <a:buFontTx/>
              <a:buNone/>
            </a:pPr>
            <a:r>
              <a:rPr lang="fr-FR" altLang="en-US" sz="1600" i="1" dirty="0">
                <a:latin typeface="Monaco" pitchFamily="125" charset="0"/>
              </a:rPr>
              <a:t>	</a:t>
            </a:r>
            <a:r>
              <a:rPr lang="fr-FR" altLang="en-US" sz="1600" i="1" dirty="0" err="1">
                <a:solidFill>
                  <a:srgbClr val="000000"/>
                </a:solidFill>
                <a:latin typeface="Monaco" pitchFamily="125" charset="0"/>
              </a:rPr>
              <a:t>fmt</a:t>
            </a:r>
            <a:r>
              <a:rPr lang="fr-FR" altLang="en-US" sz="1600" b="1" i="1" dirty="0" err="1">
                <a:solidFill>
                  <a:srgbClr val="000000"/>
                </a:solidFill>
                <a:latin typeface="Monaco" pitchFamily="125" charset="0"/>
              </a:rPr>
              <a:t>.Println</a:t>
            </a:r>
            <a:r>
              <a:rPr lang="fr-FR" altLang="en-US" sz="1600" b="1" i="1" dirty="0">
                <a:solidFill>
                  <a:srgbClr val="000000"/>
                </a:solidFill>
                <a:latin typeface="Monaco" pitchFamily="125" charset="0"/>
              </a:rPr>
              <a:t>(</a:t>
            </a:r>
            <a:r>
              <a:rPr lang="fr-FR" altLang="en-US" sz="1600" b="1" i="1" dirty="0" err="1">
                <a:solidFill>
                  <a:srgbClr val="000000"/>
                </a:solidFill>
                <a:latin typeface="Monaco" pitchFamily="125" charset="0"/>
              </a:rPr>
              <a:t>recvdBlock.PrevPointer.Transaction</a:t>
            </a:r>
            <a:r>
              <a:rPr lang="fr-FR" altLang="en-US" sz="1600" b="1" i="1" dirty="0">
                <a:solidFill>
                  <a:srgbClr val="000000"/>
                </a:solidFill>
                <a:latin typeface="Monaco" pitchFamily="125" charset="0"/>
              </a:rPr>
              <a:t>)</a:t>
            </a:r>
          </a:p>
          <a:p>
            <a:pPr eaLnBrk="1" hangingPunct="1">
              <a:spcBef>
                <a:spcPct val="0"/>
              </a:spcBef>
              <a:buFontTx/>
              <a:buNone/>
            </a:pPr>
            <a:r>
              <a:rPr lang="fr-FR" altLang="en-US" sz="1600" b="1" i="1" dirty="0">
                <a:solidFill>
                  <a:srgbClr val="000000"/>
                </a:solidFill>
                <a:latin typeface="Monaco" pitchFamily="125" charset="0"/>
              </a:rPr>
              <a:t>}</a:t>
            </a:r>
          </a:p>
          <a:p>
            <a:pPr eaLnBrk="1" hangingPunct="1">
              <a:spcBef>
                <a:spcPct val="0"/>
              </a:spcBef>
              <a:buFontTx/>
              <a:buNone/>
            </a:pPr>
            <a:endParaRPr lang="fr-FR" altLang="en-US" sz="1600" b="1" i="1" dirty="0">
              <a:solidFill>
                <a:srgbClr val="000000"/>
              </a:solidFill>
              <a:latin typeface="Monaco" pitchFamily="125"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re 1">
            <a:extLst>
              <a:ext uri="{FF2B5EF4-FFF2-40B4-BE49-F238E27FC236}">
                <a16:creationId xmlns:a16="http://schemas.microsoft.com/office/drawing/2014/main" id="{DB26170D-BCC0-E133-FF96-3A8F6C8DFA2A}"/>
              </a:ext>
            </a:extLst>
          </p:cNvPr>
          <p:cNvSpPr>
            <a:spLocks noGrp="1" noChangeArrowheads="1"/>
          </p:cNvSpPr>
          <p:nvPr>
            <p:ph type="title"/>
          </p:nvPr>
        </p:nvSpPr>
        <p:spPr/>
        <p:txBody>
          <a:bodyPr/>
          <a:lstStyle/>
          <a:p>
            <a:r>
              <a:rPr lang="fr-FR" altLang="en-US"/>
              <a:t>Putting it all together</a:t>
            </a:r>
          </a:p>
        </p:txBody>
      </p:sp>
      <p:sp>
        <p:nvSpPr>
          <p:cNvPr id="30722" name="Espace réservé du contenu 2">
            <a:extLst>
              <a:ext uri="{FF2B5EF4-FFF2-40B4-BE49-F238E27FC236}">
                <a16:creationId xmlns:a16="http://schemas.microsoft.com/office/drawing/2014/main" id="{9DACDB39-4C9E-D56F-483B-CCDE3233ABE4}"/>
              </a:ext>
            </a:extLst>
          </p:cNvPr>
          <p:cNvSpPr>
            <a:spLocks noGrp="1" noChangeArrowheads="1"/>
          </p:cNvSpPr>
          <p:nvPr>
            <p:ph idx="1"/>
          </p:nvPr>
        </p:nvSpPr>
        <p:spPr/>
        <p:txBody>
          <a:bodyPr/>
          <a:lstStyle/>
          <a:p>
            <a:r>
              <a:rPr lang="fr-FR" altLang="en-US"/>
              <a:t>Send blockChain to other peer once they connect !!</a:t>
            </a:r>
          </a:p>
        </p:txBody>
      </p:sp>
    </p:spTree>
  </p:cSld>
  <p:clrMapOvr>
    <a:masterClrMapping/>
  </p:clrMapOvr>
</p:sld>
</file>

<file path=ppt/theme/theme1.xml><?xml version="1.0" encoding="utf-8"?>
<a:theme xmlns:a="http://schemas.openxmlformats.org/drawingml/2006/main" name="Lecture6 (Number System)">
  <a:themeElements>
    <a:clrScheme name="Lecture6 (Number Syste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ecture6 (Number System)">
      <a:majorFont>
        <a:latin typeface="Trebuchet MS"/>
        <a:ea typeface="ＭＳ Ｐゴシック"/>
        <a:cs typeface=""/>
      </a:majorFont>
      <a:minorFont>
        <a:latin typeface="Arial"/>
        <a:ea typeface="ＭＳ Ｐゴシック"/>
        <a:cs typeface=""/>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Lecture6 (Number Syste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cture6 (Number Syste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cture6 (Number Syste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cture6 (Number Syste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cture6 (Number Syste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cture6 (Number Syste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cture6 (Number Syste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cture6 (Number Syste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cture6 (Number Syste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cture6 (Number Syste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cture6 (Number Syste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cture6 (Number Syste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28530</TotalTime>
  <Words>6402</Words>
  <Application>Microsoft Office PowerPoint</Application>
  <PresentationFormat>On-screen Show (4:3)</PresentationFormat>
  <Paragraphs>819</Paragraphs>
  <Slides>16</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Monaco</vt:lpstr>
      <vt:lpstr>Trebuchet MS</vt:lpstr>
      <vt:lpstr>Lecture6 (Number System)</vt:lpstr>
      <vt:lpstr>Lecture 09  Network Programming using Golang</vt:lpstr>
      <vt:lpstr>The net package</vt:lpstr>
      <vt:lpstr>The net package</vt:lpstr>
      <vt:lpstr>The net package</vt:lpstr>
      <vt:lpstr>What does the following code do?</vt:lpstr>
      <vt:lpstr>PowerPoint Presentation</vt:lpstr>
      <vt:lpstr>What does the following code do?</vt:lpstr>
      <vt:lpstr>PowerPoint Presentation</vt:lpstr>
      <vt:lpstr>Goroutines </vt:lpstr>
      <vt:lpstr>Channels</vt:lpstr>
      <vt:lpstr>Network Serialization</vt:lpstr>
      <vt:lpstr>Network Serialization</vt:lpstr>
      <vt:lpstr>An example would help  server.go</vt:lpstr>
      <vt:lpstr>server.go</vt:lpstr>
      <vt:lpstr>client.go</vt:lpstr>
      <vt:lpstr>Putting it all together</vt:lpstr>
    </vt:vector>
  </TitlesOfParts>
  <Manager/>
  <Company>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Ehtesham Zahoor</dc:creator>
  <cp:keywords/>
  <dc:description/>
  <cp:lastModifiedBy>Asif Muhammad</cp:lastModifiedBy>
  <cp:revision>775</cp:revision>
  <dcterms:created xsi:type="dcterms:W3CDTF">2006-05-16T22:38:36Z</dcterms:created>
  <dcterms:modified xsi:type="dcterms:W3CDTF">2023-10-24T04:36:55Z</dcterms:modified>
  <cp:category/>
</cp:coreProperties>
</file>