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5"/>
  </p:notesMasterIdLst>
  <p:sldIdLst>
    <p:sldId id="273" r:id="rId2"/>
    <p:sldId id="257" r:id="rId3"/>
    <p:sldId id="258" r:id="rId4"/>
    <p:sldId id="259" r:id="rId5"/>
    <p:sldId id="260" r:id="rId6"/>
    <p:sldId id="261" r:id="rId7"/>
    <p:sldId id="262" r:id="rId8"/>
    <p:sldId id="263" r:id="rId9"/>
    <p:sldId id="264" r:id="rId10"/>
    <p:sldId id="265" r:id="rId11"/>
    <p:sldId id="266" r:id="rId12"/>
    <p:sldId id="268" r:id="rId13"/>
    <p:sldId id="272" r:id="rId14"/>
  </p:sldIdLst>
  <p:sldSz cx="9144000" cy="6858000" type="screen4x3"/>
  <p:notesSz cx="6858000" cy="9144000"/>
  <p:embeddedFontLst>
    <p:embeddedFont>
      <p:font typeface="Economica" panose="020B0604020202020204" charset="0"/>
      <p:regular r:id="rId16"/>
      <p:bold r:id="rId17"/>
      <p:italic r:id="rId18"/>
      <p:boldItalic r:id="rId19"/>
    </p:embeddedFont>
    <p:embeddedFont>
      <p:font typeface="Open Sans" panose="020B06060305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7EA0D638-61AF-4632-AECE-21AB4101BD2D}">
          <p14:sldIdLst>
            <p14:sldId id="273"/>
            <p14:sldId id="257"/>
            <p14:sldId id="258"/>
            <p14:sldId id="259"/>
            <p14:sldId id="260"/>
            <p14:sldId id="261"/>
            <p14:sldId id="262"/>
            <p14:sldId id="263"/>
            <p14:sldId id="264"/>
            <p14:sldId id="265"/>
            <p14:sldId id="266"/>
            <p14:sldId id="268"/>
            <p14:sldId id="272"/>
          </p14:sldIdLst>
        </p14:section>
      </p14:sectionLst>
    </p:ex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 name="Google Shape;7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7" name="Google Shape;7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2: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2</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84" name="Google Shape;8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3: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3</a:t>
            </a:fld>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73b7e3177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73b7e31770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g73b7e31770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4</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73b7e31770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73b7e31770_0_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73b7e31770_0_39: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5</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3b7e31770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73b7e31770_0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73b7e31770_0_3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6</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73b7e31770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73b7e31770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73b7e31770_0_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7</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73b7e31770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73b7e31770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73b7e31770_0_4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8</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73b7e31770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73b7e31770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73b7e31770_0_2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9</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73b7e31770_0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73b7e31770_0_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73b7e31770_0_5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10</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73b7e31770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73b7e31770_0_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73b7e31770_0_6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11</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73b7e31770_0_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73b7e31770_0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73b7e31770_0_7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12</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86" name="Google Shape;186;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26: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13</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5" name="Google Shape;15;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6" name="Google Shape;16;p2"/>
          <p:cNvSpPr txBox="1">
            <a:spLocks noGrp="1"/>
          </p:cNvSpPr>
          <p:nvPr>
            <p:ph type="ctrTitle"/>
          </p:nvPr>
        </p:nvSpPr>
        <p:spPr>
          <a:xfrm>
            <a:off x="3044700" y="1925674"/>
            <a:ext cx="3054600" cy="204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7" name="Google Shape;17;p2"/>
          <p:cNvSpPr txBox="1">
            <a:spLocks noGrp="1"/>
          </p:cNvSpPr>
          <p:nvPr>
            <p:ph type="subTitle" idx="1"/>
          </p:nvPr>
        </p:nvSpPr>
        <p:spPr>
          <a:xfrm>
            <a:off x="3044700" y="4155440"/>
            <a:ext cx="3054600" cy="9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8" name="Google Shape;18;p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3"/>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 name="Google Shape;22;p3"/>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3" name="Google Shape;23;p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6" name="Google Shape;26;p4"/>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8" name="Google Shape;28;p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1" name="Google Shape;31;p5"/>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5"/>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6" name="Google Shape;36;p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9" name="Google Shape;39;p7"/>
          <p:cNvSpPr txBox="1">
            <a:spLocks noGrp="1"/>
          </p:cNvSpPr>
          <p:nvPr>
            <p:ph type="body" idx="1"/>
          </p:nvPr>
        </p:nvSpPr>
        <p:spPr>
          <a:xfrm>
            <a:off x="311700" y="1865867"/>
            <a:ext cx="2808000" cy="3713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8"/>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9" name="Google Shape;49;p9"/>
          <p:cNvSpPr txBox="1">
            <a:spLocks noGrp="1"/>
          </p:cNvSpPr>
          <p:nvPr>
            <p:ph type="subTitle" idx="1"/>
          </p:nvPr>
        </p:nvSpPr>
        <p:spPr>
          <a:xfrm>
            <a:off x="265500" y="3692001"/>
            <a:ext cx="4045200" cy="209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50" name="Google Shape;50;p9"/>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9500" y="5625233"/>
            <a:ext cx="5998800" cy="7983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4" name="Google Shape;54;p1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1"/>
          <p:cNvSpPr txBox="1">
            <a:spLocks noGrp="1"/>
          </p:cNvSpPr>
          <p:nvPr>
            <p:ph type="title" hasCustomPrompt="1"/>
          </p:nvPr>
        </p:nvSpPr>
        <p:spPr>
          <a:xfrm>
            <a:off x="311700" y="1276167"/>
            <a:ext cx="8520600" cy="2838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8" name="Google Shape;58;p11"/>
          <p:cNvSpPr txBox="1">
            <a:spLocks noGrp="1"/>
          </p:cNvSpPr>
          <p:nvPr>
            <p:ph type="body" idx="1"/>
          </p:nvPr>
        </p:nvSpPr>
        <p:spPr>
          <a:xfrm>
            <a:off x="311700" y="4216000"/>
            <a:ext cx="8520600" cy="14289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5" name="Google Shape;65;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Key_exchange"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en.wikipedia.org/wiki/Cryptography"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2869375" y="1183554"/>
            <a:ext cx="4114801" cy="204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600" dirty="0"/>
              <a:t>Digital Signature </a:t>
            </a:r>
            <a:endParaRPr sz="4600" dirty="0"/>
          </a:p>
        </p:txBody>
      </p:sp>
      <p:sp>
        <p:nvSpPr>
          <p:cNvPr id="73" name="Google Shape;73;p14"/>
          <p:cNvSpPr txBox="1">
            <a:spLocks noGrp="1"/>
          </p:cNvSpPr>
          <p:nvPr>
            <p:ph type="subTitle" idx="1"/>
          </p:nvPr>
        </p:nvSpPr>
        <p:spPr>
          <a:xfrm>
            <a:off x="1673087" y="4607646"/>
            <a:ext cx="4114800" cy="10668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800"/>
              <a:buNone/>
            </a:pPr>
            <a:r>
              <a:rPr lang="en-US" sz="2800" b="1" i="0" u="none">
                <a:solidFill>
                  <a:schemeClr val="dk1"/>
                </a:solidFill>
                <a:latin typeface="Calibri"/>
                <a:ea typeface="Calibri"/>
                <a:cs typeface="Calibri"/>
                <a:sym typeface="Calibri"/>
              </a:rPr>
              <a:t>       </a:t>
            </a:r>
            <a:endParaRPr/>
          </a:p>
          <a:p>
            <a:pPr marL="0" lvl="0" indent="0" algn="ctr" rtl="0">
              <a:lnSpc>
                <a:spcPct val="100000"/>
              </a:lnSpc>
              <a:spcBef>
                <a:spcPts val="560"/>
              </a:spcBef>
              <a:spcAft>
                <a:spcPts val="0"/>
              </a:spcAft>
              <a:buClr>
                <a:schemeClr val="dk1"/>
              </a:buClr>
              <a:buSzPts val="2800"/>
              <a:buNone/>
            </a:pPr>
            <a:r>
              <a:rPr lang="en-US" sz="2800" b="1" i="0" u="none">
                <a:solidFill>
                  <a:schemeClr val="dk1"/>
                </a:solidFill>
                <a:latin typeface="Calibri"/>
                <a:ea typeface="Calibri"/>
                <a:cs typeface="Calibri"/>
                <a:sym typeface="Calibri"/>
              </a:rPr>
              <a:t>          </a:t>
            </a:r>
            <a:endParaRPr/>
          </a:p>
        </p:txBody>
      </p:sp>
      <p:sp>
        <p:nvSpPr>
          <p:cNvPr id="3" name="Rectangle 3">
            <a:extLst>
              <a:ext uri="{FF2B5EF4-FFF2-40B4-BE49-F238E27FC236}">
                <a16:creationId xmlns:a16="http://schemas.microsoft.com/office/drawing/2014/main" id="{7D2FA42E-0317-402D-F7FB-889DEF7F9702}"/>
              </a:ext>
            </a:extLst>
          </p:cNvPr>
          <p:cNvSpPr txBox="1">
            <a:spLocks noChangeArrowheads="1"/>
          </p:cNvSpPr>
          <p:nvPr/>
        </p:nvSpPr>
        <p:spPr>
          <a:xfrm>
            <a:off x="0" y="5477196"/>
            <a:ext cx="4114800" cy="1269145"/>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1pPr>
            <a:lvl2pPr marL="914400" marR="0" lvl="1"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2pPr>
            <a:lvl3pPr marL="1371600" marR="0" lvl="2"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3pPr>
            <a:lvl4pPr marL="1828800" marR="0" lvl="3"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4pPr>
            <a:lvl5pPr marL="2286000" marR="0" lvl="4"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5pPr>
            <a:lvl6pPr marL="2743200" marR="0" lvl="5"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6pPr>
            <a:lvl7pPr marL="3200400" marR="0" lvl="6"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7pPr>
            <a:lvl8pPr marL="3657600" marR="0" lvl="7"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8pPr>
            <a:lvl9pPr marL="4114800" marR="0" lvl="8"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9pPr>
          </a:lstStyle>
          <a:p>
            <a:pPr algn="l">
              <a:lnSpc>
                <a:spcPct val="90000"/>
              </a:lnSpc>
              <a:defRPr/>
            </a:pPr>
            <a:endParaRPr lang="en-US" altLang="zh-TW" sz="15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400"/>
              <a:buNone/>
            </a:pPr>
            <a:r>
              <a:rPr lang="en-US" sz="4600"/>
              <a:t>Outline</a:t>
            </a:r>
            <a:endParaRPr/>
          </a:p>
        </p:txBody>
      </p:sp>
      <p:sp>
        <p:nvSpPr>
          <p:cNvPr id="81" name="Google Shape;81;p15"/>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lvl="0" indent="-419100" algn="l" rtl="0">
              <a:lnSpc>
                <a:spcPct val="115000"/>
              </a:lnSpc>
              <a:spcBef>
                <a:spcPts val="0"/>
              </a:spcBef>
              <a:spcAft>
                <a:spcPts val="0"/>
              </a:spcAft>
              <a:buSzPts val="3000"/>
              <a:buFont typeface="Economica"/>
              <a:buChar char="●"/>
            </a:pPr>
            <a:r>
              <a:rPr lang="en-US" sz="3000" dirty="0">
                <a:latin typeface="Economica"/>
                <a:ea typeface="Economica"/>
                <a:cs typeface="Economica"/>
                <a:sym typeface="Economica"/>
              </a:rPr>
              <a:t>What is Digital Signature?</a:t>
            </a:r>
            <a:endParaRPr sz="3000" dirty="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dirty="0">
                <a:latin typeface="Economica"/>
                <a:ea typeface="Economica"/>
                <a:cs typeface="Economica"/>
                <a:sym typeface="Economica"/>
              </a:rPr>
              <a:t>Purpose</a:t>
            </a:r>
            <a:endParaRPr sz="3000" dirty="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dirty="0">
                <a:latin typeface="Economica"/>
                <a:ea typeface="Economica"/>
                <a:cs typeface="Economica"/>
                <a:sym typeface="Economica"/>
              </a:rPr>
              <a:t>How does Digital Signature work?</a:t>
            </a:r>
            <a:endParaRPr sz="3000" dirty="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dirty="0">
                <a:latin typeface="Economica"/>
                <a:ea typeface="Economica"/>
                <a:cs typeface="Economica"/>
                <a:sym typeface="Economica"/>
              </a:rPr>
              <a:t>Digital Signature Process</a:t>
            </a:r>
            <a:endParaRPr sz="3000" dirty="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dirty="0">
                <a:latin typeface="Economica"/>
                <a:ea typeface="Economica"/>
                <a:cs typeface="Economica"/>
                <a:sym typeface="Economica"/>
              </a:rPr>
              <a:t>DH Key Exchange Algorithm</a:t>
            </a:r>
            <a:endParaRPr sz="3000" dirty="0">
              <a:latin typeface="Economica"/>
              <a:ea typeface="Economica"/>
              <a:cs typeface="Economica"/>
              <a:sym typeface="Economica"/>
            </a:endParaRPr>
          </a:p>
          <a:p>
            <a:pPr marL="0" lvl="0" indent="0" algn="l" rtl="0">
              <a:lnSpc>
                <a:spcPct val="115000"/>
              </a:lnSpc>
              <a:spcBef>
                <a:spcPts val="0"/>
              </a:spcBef>
              <a:spcAft>
                <a:spcPts val="0"/>
              </a:spcAft>
              <a:buSzPts val="1800"/>
              <a:buNone/>
            </a:pPr>
            <a:endParaRPr sz="3000" dirty="0">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US"/>
              <a:t>What is Digital Signature?</a:t>
            </a:r>
            <a:endParaRPr/>
          </a:p>
        </p:txBody>
      </p:sp>
      <p:sp>
        <p:nvSpPr>
          <p:cNvPr id="88" name="Google Shape;88;p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Digital Signature is one of the core building blocks of Cryptocurrency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It involves the use of mathematical algorithm to sign and validate the authenticity of a document, file or software instead of pen and paper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digital signature is used to make sure that the file(s) sent digitally belongs to a designated source and reaches the intended receiver in its original format without any tampering</a:t>
            </a:r>
            <a:endParaRPr sz="2400">
              <a:solidFill>
                <a:srgbClr val="1F497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What we want from Digital Signatures?</a:t>
            </a:r>
            <a:endParaRPr/>
          </a:p>
        </p:txBody>
      </p:sp>
      <p:sp>
        <p:nvSpPr>
          <p:cNvPr id="95" name="Google Shape;95;p17"/>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3600">
              <a:solidFill>
                <a:srgbClr val="444444"/>
              </a:solidFill>
              <a:latin typeface="Economica"/>
              <a:ea typeface="Economica"/>
              <a:cs typeface="Economica"/>
              <a:sym typeface="Economica"/>
            </a:endParaRPr>
          </a:p>
          <a:p>
            <a:pPr marL="0" lvl="0" indent="0" algn="ctr" rtl="0">
              <a:spcBef>
                <a:spcPts val="0"/>
              </a:spcBef>
              <a:spcAft>
                <a:spcPts val="0"/>
              </a:spcAft>
              <a:buNone/>
            </a:pPr>
            <a:r>
              <a:rPr lang="en-US" sz="3600">
                <a:solidFill>
                  <a:srgbClr val="444444"/>
                </a:solidFill>
                <a:latin typeface="Economica"/>
                <a:ea typeface="Economica"/>
                <a:cs typeface="Economica"/>
                <a:sym typeface="Economica"/>
              </a:rPr>
              <a:t>Only you can sign, but anyone can verify</a:t>
            </a:r>
            <a:endParaRPr sz="3600">
              <a:solidFill>
                <a:srgbClr val="444444"/>
              </a:solidFill>
              <a:latin typeface="Economica"/>
              <a:ea typeface="Economica"/>
              <a:cs typeface="Economica"/>
              <a:sym typeface="Economica"/>
            </a:endParaRPr>
          </a:p>
          <a:p>
            <a:pPr marL="0" lvl="0" indent="0" algn="ctr" rtl="0">
              <a:spcBef>
                <a:spcPts val="0"/>
              </a:spcBef>
              <a:spcAft>
                <a:spcPts val="0"/>
              </a:spcAft>
              <a:buNone/>
            </a:pPr>
            <a:endParaRPr sz="3600">
              <a:solidFill>
                <a:srgbClr val="444444"/>
              </a:solidFill>
              <a:latin typeface="Economica"/>
              <a:ea typeface="Economica"/>
              <a:cs typeface="Economica"/>
              <a:sym typeface="Economica"/>
            </a:endParaRPr>
          </a:p>
          <a:p>
            <a:pPr marL="0" lvl="0" indent="0" algn="ctr" rtl="0">
              <a:spcBef>
                <a:spcPts val="0"/>
              </a:spcBef>
              <a:spcAft>
                <a:spcPts val="0"/>
              </a:spcAft>
              <a:buNone/>
            </a:pPr>
            <a:r>
              <a:rPr lang="en-US" sz="3600">
                <a:solidFill>
                  <a:srgbClr val="444444"/>
                </a:solidFill>
                <a:latin typeface="Economica"/>
                <a:ea typeface="Economica"/>
                <a:cs typeface="Economica"/>
                <a:sym typeface="Economica"/>
              </a:rPr>
              <a:t>Signature is tied to a particular document</a:t>
            </a:r>
            <a:endParaRPr sz="3600">
              <a:solidFill>
                <a:srgbClr val="444444"/>
              </a:solidFill>
              <a:latin typeface="Economica"/>
              <a:ea typeface="Economica"/>
              <a:cs typeface="Economica"/>
              <a:sym typeface="Economica"/>
            </a:endParaRPr>
          </a:p>
          <a:p>
            <a:pPr marL="0" lvl="0" indent="0" algn="ctr" rtl="0">
              <a:spcBef>
                <a:spcPts val="0"/>
              </a:spcBef>
              <a:spcAft>
                <a:spcPts val="0"/>
              </a:spcAft>
              <a:buNone/>
            </a:pPr>
            <a:r>
              <a:rPr lang="en-US" sz="2400">
                <a:solidFill>
                  <a:srgbClr val="444444"/>
                </a:solidFill>
                <a:latin typeface="Economica"/>
                <a:ea typeface="Economica"/>
                <a:cs typeface="Economica"/>
                <a:sym typeface="Economica"/>
              </a:rPr>
              <a:t>can't be cut-and-pasted to another document</a:t>
            </a:r>
            <a:endParaRPr sz="2400">
              <a:solidFill>
                <a:srgbClr val="444444"/>
              </a:solidFill>
              <a:latin typeface="Economica"/>
              <a:ea typeface="Economica"/>
              <a:cs typeface="Economica"/>
              <a:sym typeface="Economic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How does Digital Signatures work?</a:t>
            </a:r>
            <a:endParaRPr/>
          </a:p>
        </p:txBody>
      </p:sp>
      <p:sp>
        <p:nvSpPr>
          <p:cNvPr id="102" name="Google Shape;102;p1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sender generates a private key and public key</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They sign the message with the signature and send their public key, the signature and the message to the network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node or receiver then checks using the verification algorithm that the message has been signed by the sender, which can only be done by the holder of the private key to the public key that is sent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p>
        </p:txBody>
      </p:sp>
      <p:sp>
        <p:nvSpPr>
          <p:cNvPr id="109" name="Google Shape;109;p1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10" name="Google Shape;110;p19"/>
          <p:cNvPicPr preferRelativeResize="0"/>
          <p:nvPr/>
        </p:nvPicPr>
        <p:blipFill>
          <a:blip r:embed="rId3">
            <a:alphaModFix/>
          </a:blip>
          <a:stretch>
            <a:fillRect/>
          </a:stretch>
        </p:blipFill>
        <p:spPr>
          <a:xfrm>
            <a:off x="85725" y="633413"/>
            <a:ext cx="8972550" cy="5591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Digital Signature Process</a:t>
            </a:r>
            <a:endParaRPr/>
          </a:p>
        </p:txBody>
      </p:sp>
      <p:sp>
        <p:nvSpPr>
          <p:cNvPr id="117" name="Google Shape;117;p20"/>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US" sz="2600">
                <a:solidFill>
                  <a:srgbClr val="444444"/>
                </a:solidFill>
                <a:latin typeface="Economica"/>
                <a:ea typeface="Economica"/>
                <a:cs typeface="Economica"/>
                <a:sym typeface="Economica"/>
              </a:rPr>
              <a:t>Generate Keys</a:t>
            </a:r>
            <a:endParaRPr sz="2600">
              <a:solidFill>
                <a:srgbClr val="444444"/>
              </a:solidFill>
              <a:latin typeface="Economica"/>
              <a:ea typeface="Economica"/>
              <a:cs typeface="Economica"/>
              <a:sym typeface="Economica"/>
            </a:endParaRPr>
          </a:p>
          <a:p>
            <a:pPr marL="914400" lvl="1" indent="-317500" algn="l" rtl="0">
              <a:spcBef>
                <a:spcPts val="0"/>
              </a:spcBef>
              <a:spcAft>
                <a:spcPts val="0"/>
              </a:spcAft>
              <a:buSzPts val="1400"/>
              <a:buChar char="○"/>
            </a:pPr>
            <a:r>
              <a:rPr lang="en-US" sz="2600">
                <a:solidFill>
                  <a:srgbClr val="444444"/>
                </a:solidFill>
                <a:latin typeface="Economica"/>
                <a:ea typeface="Economica"/>
                <a:cs typeface="Economica"/>
                <a:sym typeface="Economica"/>
              </a:rPr>
              <a:t>(sk, pk) := generateKeys(key_size)</a:t>
            </a:r>
            <a:endParaRPr sz="2600">
              <a:solidFill>
                <a:srgbClr val="444444"/>
              </a:solidFill>
              <a:latin typeface="Economica"/>
              <a:ea typeface="Economica"/>
              <a:cs typeface="Economica"/>
              <a:sym typeface="Economica"/>
            </a:endParaRPr>
          </a:p>
          <a:p>
            <a:pPr marL="1371600" lvl="2" indent="-317500" algn="l" rtl="0">
              <a:spcBef>
                <a:spcPts val="0"/>
              </a:spcBef>
              <a:spcAft>
                <a:spcPts val="0"/>
              </a:spcAft>
              <a:buSzPts val="1400"/>
              <a:buAutoNum type="romanLcPeriod"/>
            </a:pPr>
            <a:r>
              <a:rPr lang="en-US" sz="2600">
                <a:solidFill>
                  <a:srgbClr val="444444"/>
                </a:solidFill>
                <a:latin typeface="Economica"/>
                <a:ea typeface="Economica"/>
                <a:cs typeface="Economica"/>
                <a:sym typeface="Economica"/>
              </a:rPr>
              <a:t>sk = Secret Signing Key</a:t>
            </a:r>
            <a:endParaRPr sz="2600">
              <a:solidFill>
                <a:srgbClr val="444444"/>
              </a:solidFill>
              <a:latin typeface="Economica"/>
              <a:ea typeface="Economica"/>
              <a:cs typeface="Economica"/>
              <a:sym typeface="Economica"/>
            </a:endParaRPr>
          </a:p>
          <a:p>
            <a:pPr marL="1371600" lvl="2" indent="-317500" algn="l" rtl="0">
              <a:spcBef>
                <a:spcPts val="0"/>
              </a:spcBef>
              <a:spcAft>
                <a:spcPts val="0"/>
              </a:spcAft>
              <a:buSzPts val="1400"/>
              <a:buAutoNum type="romanLcPeriod"/>
            </a:pPr>
            <a:r>
              <a:rPr lang="en-US" sz="2600">
                <a:solidFill>
                  <a:srgbClr val="444444"/>
                </a:solidFill>
                <a:latin typeface="Economica"/>
                <a:ea typeface="Economica"/>
                <a:cs typeface="Economica"/>
                <a:sym typeface="Economica"/>
              </a:rPr>
              <a:t>pk = Public Verification Key</a:t>
            </a:r>
            <a:endParaRPr sz="2600">
              <a:solidFill>
                <a:srgbClr val="444444"/>
              </a:solidFill>
              <a:latin typeface="Economica"/>
              <a:ea typeface="Economica"/>
              <a:cs typeface="Economica"/>
              <a:sym typeface="Economica"/>
            </a:endParaRPr>
          </a:p>
          <a:p>
            <a:pPr marL="457200" lvl="0" indent="-342900" algn="l" rtl="0">
              <a:spcBef>
                <a:spcPts val="0"/>
              </a:spcBef>
              <a:spcAft>
                <a:spcPts val="0"/>
              </a:spcAft>
              <a:buSzPts val="1800"/>
              <a:buAutoNum type="arabicPeriod"/>
            </a:pPr>
            <a:r>
              <a:rPr lang="en-US" sz="2600">
                <a:solidFill>
                  <a:srgbClr val="444444"/>
                </a:solidFill>
                <a:latin typeface="Economica"/>
                <a:ea typeface="Economica"/>
                <a:cs typeface="Economica"/>
                <a:sym typeface="Economica"/>
              </a:rPr>
              <a:t>Create Signature</a:t>
            </a:r>
            <a:endParaRPr sz="2600">
              <a:solidFill>
                <a:srgbClr val="444444"/>
              </a:solidFill>
              <a:latin typeface="Economica"/>
              <a:ea typeface="Economica"/>
              <a:cs typeface="Economica"/>
              <a:sym typeface="Economica"/>
            </a:endParaRPr>
          </a:p>
          <a:p>
            <a:pPr marL="914400" lvl="1" indent="-317500" algn="l" rtl="0">
              <a:spcBef>
                <a:spcPts val="0"/>
              </a:spcBef>
              <a:spcAft>
                <a:spcPts val="0"/>
              </a:spcAft>
              <a:buSzPts val="1400"/>
              <a:buChar char="○"/>
            </a:pPr>
            <a:r>
              <a:rPr lang="en-US" sz="2600">
                <a:solidFill>
                  <a:srgbClr val="444444"/>
                </a:solidFill>
                <a:latin typeface="Economica"/>
                <a:ea typeface="Economica"/>
                <a:cs typeface="Economica"/>
                <a:sym typeface="Economica"/>
              </a:rPr>
              <a:t>sig := sign(sk, message)</a:t>
            </a:r>
            <a:endParaRPr sz="2600">
              <a:solidFill>
                <a:srgbClr val="444444"/>
              </a:solidFill>
              <a:latin typeface="Economica"/>
              <a:ea typeface="Economica"/>
              <a:cs typeface="Economica"/>
              <a:sym typeface="Economica"/>
            </a:endParaRPr>
          </a:p>
          <a:p>
            <a:pPr marL="457200" lvl="0" indent="-342900" algn="l" rtl="0">
              <a:spcBef>
                <a:spcPts val="0"/>
              </a:spcBef>
              <a:spcAft>
                <a:spcPts val="0"/>
              </a:spcAft>
              <a:buSzPts val="1800"/>
              <a:buAutoNum type="arabicPeriod"/>
            </a:pPr>
            <a:r>
              <a:rPr lang="en-US" sz="2600">
                <a:solidFill>
                  <a:srgbClr val="444444"/>
                </a:solidFill>
                <a:latin typeface="Economica"/>
                <a:ea typeface="Economica"/>
                <a:cs typeface="Economica"/>
                <a:sym typeface="Economica"/>
              </a:rPr>
              <a:t>Verify Signature</a:t>
            </a:r>
            <a:endParaRPr sz="2600">
              <a:solidFill>
                <a:srgbClr val="444444"/>
              </a:solidFill>
              <a:latin typeface="Economica"/>
              <a:ea typeface="Economica"/>
              <a:cs typeface="Economica"/>
              <a:sym typeface="Economica"/>
            </a:endParaRPr>
          </a:p>
          <a:p>
            <a:pPr marL="914400" lvl="1" indent="-317500" algn="l" rtl="0">
              <a:spcBef>
                <a:spcPts val="0"/>
              </a:spcBef>
              <a:spcAft>
                <a:spcPts val="0"/>
              </a:spcAft>
              <a:buSzPts val="1400"/>
              <a:buChar char="○"/>
            </a:pPr>
            <a:r>
              <a:rPr lang="en-US" sz="2600">
                <a:solidFill>
                  <a:srgbClr val="444444"/>
                </a:solidFill>
                <a:latin typeface="Economica"/>
                <a:ea typeface="Economica"/>
                <a:cs typeface="Economica"/>
                <a:sym typeface="Economica"/>
              </a:rPr>
              <a:t>isValid := verify(pk, message, sig)</a:t>
            </a:r>
            <a:endParaRPr sz="2600">
              <a:solidFill>
                <a:srgbClr val="444444"/>
              </a:solidFill>
              <a:latin typeface="Economica"/>
              <a:ea typeface="Economica"/>
              <a:cs typeface="Economica"/>
              <a:sym typeface="Economic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Public and Private Keys</a:t>
            </a:r>
            <a:endParaRPr/>
          </a:p>
        </p:txBody>
      </p:sp>
      <p:sp>
        <p:nvSpPr>
          <p:cNvPr id="124" name="Google Shape;124;p21"/>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2600">
                <a:solidFill>
                  <a:srgbClr val="444444"/>
                </a:solidFill>
                <a:latin typeface="Economica"/>
                <a:ea typeface="Economica"/>
                <a:cs typeface="Economica"/>
                <a:sym typeface="Economica"/>
              </a:rPr>
              <a:t>3048 0241 00C9 18FA CF8D EB2D EFD5 FD37 89B9 E069 EA97 FC20 5E35 F577 EE31 C4FB C6E4 4811 7D86 BC8F BAFA 362F 922B F01B 2F40 C744 2654 C0DD 2881 D673 CA2B 4003 C266 E2CD CB02 0301 0001 F684 B7F0</a:t>
            </a:r>
            <a:endParaRPr sz="2600">
              <a:solidFill>
                <a:srgbClr val="444444"/>
              </a:solidFill>
              <a:latin typeface="Economica"/>
              <a:ea typeface="Economica"/>
              <a:cs typeface="Economica"/>
              <a:sym typeface="Economica"/>
            </a:endParaRPr>
          </a:p>
          <a:p>
            <a:pPr marL="0" lvl="0" indent="0" algn="just" rtl="0">
              <a:spcBef>
                <a:spcPts val="0"/>
              </a:spcBef>
              <a:spcAft>
                <a:spcPts val="0"/>
              </a:spcAft>
              <a:buNone/>
            </a:pP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Very long randomized numbers</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Both keys have mathematical relation, i.e. a private key is a single unsigned 256 bit integer and a public key is a number that corresponds to private key</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Whatever is encrypted with a Public Key may only be decrypted by its corresponding Private Key and vice versa</a:t>
            </a:r>
            <a:endParaRPr sz="2600">
              <a:solidFill>
                <a:srgbClr val="444444"/>
              </a:solidFill>
              <a:latin typeface="Economica"/>
              <a:ea typeface="Economica"/>
              <a:cs typeface="Economica"/>
              <a:sym typeface="Economic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Public Key as Identity</a:t>
            </a:r>
            <a:endParaRPr/>
          </a:p>
        </p:txBody>
      </p:sp>
      <p:sp>
        <p:nvSpPr>
          <p:cNvPr id="131" name="Google Shape;131;p22"/>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Public Key is a unique string which can only be created once by a person</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It means that a public key can be used as an identity just like CNIC</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author of public key also holds the secret (private) key so they can claim the ownership of the public key and use it as their identity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If anybody tries to use someone else’s public key as their own identity, they will not have the secret key to back their claim; hence their fraud will be uncovered instantly</a:t>
            </a:r>
            <a:endParaRPr/>
          </a:p>
          <a:p>
            <a:pPr marL="0" lvl="0" indent="0" algn="l" rtl="0">
              <a:spcBef>
                <a:spcPts val="0"/>
              </a:spcBef>
              <a:spcAft>
                <a:spcPts val="0"/>
              </a:spcAft>
              <a:buNone/>
            </a:pPr>
            <a:endParaRPr/>
          </a:p>
          <a:p>
            <a:pPr marL="0" lvl="0" indent="0" algn="just" rtl="0">
              <a:spcBef>
                <a:spcPts val="0"/>
              </a:spcBef>
              <a:spcAft>
                <a:spcPts val="0"/>
              </a:spcAft>
              <a:buNone/>
            </a:pPr>
            <a:r>
              <a:rPr lang="en-US" sz="2000" b="1">
                <a:solidFill>
                  <a:srgbClr val="444444"/>
                </a:solidFill>
                <a:latin typeface="Economica"/>
                <a:ea typeface="Economica"/>
                <a:cs typeface="Economica"/>
                <a:sym typeface="Economica"/>
              </a:rPr>
              <a:t>Benefit:</a:t>
            </a:r>
            <a:r>
              <a:rPr lang="en-US" sz="2000">
                <a:solidFill>
                  <a:srgbClr val="444444"/>
                </a:solidFill>
                <a:latin typeface="Economica"/>
                <a:ea typeface="Economica"/>
                <a:cs typeface="Economica"/>
                <a:sym typeface="Economica"/>
              </a:rPr>
              <a:t> People can maintain unique digital presence without disclosing their real-world identity</a:t>
            </a:r>
            <a:endParaRPr sz="2000">
              <a:solidFill>
                <a:srgbClr val="444444"/>
              </a:solidFill>
              <a:latin typeface="Economica"/>
              <a:ea typeface="Economica"/>
              <a:cs typeface="Economica"/>
              <a:sym typeface="Economica"/>
            </a:endParaRPr>
          </a:p>
          <a:p>
            <a:pPr marL="0" lvl="0" indent="0" algn="just" rtl="0">
              <a:spcBef>
                <a:spcPts val="0"/>
              </a:spcBef>
              <a:spcAft>
                <a:spcPts val="0"/>
              </a:spcAft>
              <a:buNone/>
            </a:pPr>
            <a:r>
              <a:rPr lang="en-US" sz="2000" b="1">
                <a:solidFill>
                  <a:srgbClr val="444444"/>
                </a:solidFill>
                <a:latin typeface="Economica"/>
                <a:ea typeface="Economica"/>
                <a:cs typeface="Economica"/>
                <a:sym typeface="Economica"/>
              </a:rPr>
              <a:t>Drawback:</a:t>
            </a:r>
            <a:r>
              <a:rPr lang="en-US" sz="2000">
                <a:solidFill>
                  <a:srgbClr val="444444"/>
                </a:solidFill>
                <a:latin typeface="Economica"/>
                <a:ea typeface="Economica"/>
                <a:cs typeface="Economica"/>
                <a:sym typeface="Economica"/>
              </a:rPr>
              <a:t> Anybody can create new public keys anytime, which means they can keep multiple identities simultaneously</a:t>
            </a:r>
            <a:endParaRPr sz="2000">
              <a:solidFill>
                <a:srgbClr val="444444"/>
              </a:solidFill>
              <a:latin typeface="Economica"/>
              <a:ea typeface="Economica"/>
              <a:cs typeface="Economica"/>
              <a:sym typeface="Economic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Signature</a:t>
            </a:r>
            <a:endParaRPr/>
          </a:p>
        </p:txBody>
      </p:sp>
      <p:sp>
        <p:nvSpPr>
          <p:cNvPr id="138" name="Google Shape;138;p23"/>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42900" algn="just" rtl="0">
              <a:spcBef>
                <a:spcPts val="0"/>
              </a:spcBef>
              <a:spcAft>
                <a:spcPts val="0"/>
              </a:spcAft>
              <a:buSzPts val="1800"/>
              <a:buChar char="●"/>
            </a:pPr>
            <a:r>
              <a:rPr lang="en-US" sz="2600">
                <a:solidFill>
                  <a:srgbClr val="444444"/>
                </a:solidFill>
                <a:latin typeface="Economica"/>
                <a:ea typeface="Economica"/>
                <a:cs typeface="Economica"/>
                <a:sym typeface="Economica"/>
              </a:rPr>
              <a:t>Uses Elliptic Curve Digital Signature Algorithm (ECDSA) to create an unforgeable signature </a:t>
            </a:r>
            <a:endParaRPr sz="2600">
              <a:solidFill>
                <a:srgbClr val="444444"/>
              </a:solidFill>
              <a:latin typeface="Economica"/>
              <a:ea typeface="Economica"/>
              <a:cs typeface="Economica"/>
              <a:sym typeface="Economica"/>
            </a:endParaRPr>
          </a:p>
          <a:p>
            <a:pPr marL="457200" marR="0" lvl="0" indent="-342900" algn="just" rtl="0">
              <a:lnSpc>
                <a:spcPct val="115000"/>
              </a:lnSpc>
              <a:spcBef>
                <a:spcPts val="0"/>
              </a:spcBef>
              <a:spcAft>
                <a:spcPts val="0"/>
              </a:spcAft>
              <a:buSzPts val="1800"/>
              <a:buChar char="●"/>
            </a:pPr>
            <a:r>
              <a:rPr lang="en-US" sz="2600">
                <a:solidFill>
                  <a:srgbClr val="444444"/>
                </a:solidFill>
                <a:latin typeface="Economica"/>
                <a:ea typeface="Economica"/>
                <a:cs typeface="Economica"/>
                <a:sym typeface="Economica"/>
              </a:rPr>
              <a:t>ECDSA is the algorithm used by Bitcoin to make sure every Bitcoin belongs to and can be spent by its rightful owner</a:t>
            </a:r>
            <a:endParaRPr sz="2600">
              <a:solidFill>
                <a:srgbClr val="444444"/>
              </a:solidFill>
              <a:latin typeface="Economica"/>
              <a:ea typeface="Economica"/>
              <a:cs typeface="Economica"/>
              <a:sym typeface="Economica"/>
            </a:endParaRPr>
          </a:p>
          <a:p>
            <a:pPr marL="457200" marR="0" lvl="0" indent="-342900" algn="just" rtl="0">
              <a:lnSpc>
                <a:spcPct val="115000"/>
              </a:lnSpc>
              <a:spcBef>
                <a:spcPts val="0"/>
              </a:spcBef>
              <a:spcAft>
                <a:spcPts val="0"/>
              </a:spcAft>
              <a:buSzPts val="1800"/>
              <a:buChar char="●"/>
            </a:pPr>
            <a:r>
              <a:rPr lang="en-US" sz="2600">
                <a:solidFill>
                  <a:srgbClr val="444444"/>
                </a:solidFill>
                <a:latin typeface="Economica"/>
                <a:ea typeface="Economica"/>
                <a:cs typeface="Economica"/>
                <a:sym typeface="Economica"/>
              </a:rPr>
              <a:t>Signature interlaces the message with private key in such way that both are inseparable</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This ensures that a specific signature is for a specific message only</a:t>
            </a:r>
            <a:endParaRPr sz="2600">
              <a:solidFill>
                <a:srgbClr val="444444"/>
              </a:solidFill>
              <a:latin typeface="Economica"/>
              <a:ea typeface="Economica"/>
              <a:cs typeface="Economica"/>
              <a:sym typeface="Economic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p>
        </p:txBody>
      </p:sp>
      <p:sp>
        <p:nvSpPr>
          <p:cNvPr id="145" name="Google Shape;145;p2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46" name="Google Shape;146;p24"/>
          <p:cNvPicPr preferRelativeResize="0"/>
          <p:nvPr/>
        </p:nvPicPr>
        <p:blipFill>
          <a:blip r:embed="rId3">
            <a:alphaModFix/>
          </a:blip>
          <a:stretch>
            <a:fillRect/>
          </a:stretch>
        </p:blipFill>
        <p:spPr>
          <a:xfrm>
            <a:off x="0" y="0"/>
            <a:ext cx="9069901" cy="68580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Diffie-Hellman Key Exchange Algorithm</a:t>
            </a:r>
            <a:endParaRPr/>
          </a:p>
        </p:txBody>
      </p:sp>
      <p:sp>
        <p:nvSpPr>
          <p:cNvPr id="161" name="Google Shape;161;p2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Diffie–Hellman key exchange is a method of securely exchanging cryptographic keys over a public channel</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Presented in 1977, DH is one of the earliest practical examples of public </a:t>
            </a:r>
            <a:r>
              <a:rPr lang="en-US" sz="2600">
                <a:solidFill>
                  <a:srgbClr val="444444"/>
                </a:solidFill>
                <a:uFill>
                  <a:noFill/>
                </a:uFill>
                <a:latin typeface="Economica"/>
                <a:ea typeface="Economica"/>
                <a:cs typeface="Economica"/>
                <a:sym typeface="Economica"/>
                <a:hlinkClick r:id="rId3">
                  <a:extLst>
                    <a:ext uri="{A12FA001-AC4F-418D-AE19-62706E023703}">
                      <ahyp:hlinkClr xmlns:ahyp="http://schemas.microsoft.com/office/drawing/2018/hyperlinkcolor" val="tx"/>
                    </a:ext>
                  </a:extLst>
                </a:hlinkClick>
              </a:rPr>
              <a:t>key exchange</a:t>
            </a:r>
            <a:r>
              <a:rPr lang="en-US" sz="2600">
                <a:solidFill>
                  <a:srgbClr val="444444"/>
                </a:solidFill>
                <a:latin typeface="Economica"/>
                <a:ea typeface="Economica"/>
                <a:cs typeface="Economica"/>
                <a:sym typeface="Economica"/>
              </a:rPr>
              <a:t> implemented within the field of </a:t>
            </a:r>
            <a:r>
              <a:rPr lang="en-US" sz="2600">
                <a:solidFill>
                  <a:srgbClr val="444444"/>
                </a:solidFill>
                <a:uFill>
                  <a:noFill/>
                </a:uFill>
                <a:latin typeface="Economica"/>
                <a:ea typeface="Economica"/>
                <a:cs typeface="Economica"/>
                <a:sym typeface="Economica"/>
                <a:hlinkClick r:id="rId4">
                  <a:extLst>
                    <a:ext uri="{A12FA001-AC4F-418D-AE19-62706E023703}">
                      <ahyp:hlinkClr xmlns:ahyp="http://schemas.microsoft.com/office/drawing/2018/hyperlinkcolor" val="tx"/>
                    </a:ext>
                  </a:extLst>
                </a:hlinkClick>
              </a:rPr>
              <a:t>cryptography</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Authors won the Turing Award (2015) for this algorithm, which was first ever for anyone from Cryptography field</a:t>
            </a:r>
            <a:endParaRPr sz="2600">
              <a:solidFill>
                <a:srgbClr val="444444"/>
              </a:solidFill>
              <a:latin typeface="Economica"/>
              <a:ea typeface="Economica"/>
              <a:cs typeface="Economica"/>
              <a:sym typeface="Economic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421233"/>
            <a:ext cx="8520600" cy="1108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Reference Book</a:t>
            </a:r>
            <a:endParaRPr/>
          </a:p>
        </p:txBody>
      </p:sp>
      <p:sp>
        <p:nvSpPr>
          <p:cNvPr id="190" name="Google Shape;190;p30"/>
          <p:cNvSpPr txBox="1">
            <a:spLocks noGrp="1"/>
          </p:cNvSpPr>
          <p:nvPr>
            <p:ph type="body" idx="1"/>
          </p:nvPr>
        </p:nvSpPr>
        <p:spPr>
          <a:xfrm>
            <a:off x="311700" y="1633633"/>
            <a:ext cx="8520600" cy="44721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360"/>
              </a:spcBef>
              <a:spcAft>
                <a:spcPts val="0"/>
              </a:spcAft>
              <a:buSzPts val="1800"/>
              <a:buNone/>
            </a:pPr>
            <a:r>
              <a:rPr lang="en-US" sz="3600" b="1">
                <a:latin typeface="Economica"/>
                <a:ea typeface="Economica"/>
                <a:cs typeface="Economica"/>
                <a:sym typeface="Economica"/>
              </a:rPr>
              <a:t>Bitcoin and Cryptocurrency Technologies</a:t>
            </a:r>
            <a:endParaRPr sz="3600" b="1">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Authors:</a:t>
            </a:r>
            <a:r>
              <a:rPr lang="en-US" sz="3000">
                <a:latin typeface="Economica"/>
                <a:ea typeface="Economica"/>
                <a:cs typeface="Economica"/>
                <a:sym typeface="Economica"/>
              </a:rPr>
              <a:t> Arvind Narayanan, Joseph Bonneau, Edward Felten, Andrew Miller, Steven Goldfeder</a:t>
            </a: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Publisher:</a:t>
            </a:r>
            <a:r>
              <a:rPr lang="en-US" sz="3000">
                <a:latin typeface="Economica"/>
                <a:ea typeface="Economica"/>
                <a:cs typeface="Economica"/>
                <a:sym typeface="Economica"/>
              </a:rPr>
              <a:t> Princeton University Press</a:t>
            </a:r>
            <a:endParaRPr sz="3000">
              <a:solidFill>
                <a:srgbClr val="577688"/>
              </a:solidFill>
              <a:highlight>
                <a:srgbClr val="F6FBFC"/>
              </a:highlight>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642</Words>
  <Application>Microsoft Office PowerPoint</Application>
  <PresentationFormat>On-screen Show (4:3)</PresentationFormat>
  <Paragraphs>73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Economica</vt:lpstr>
      <vt:lpstr>Arial</vt:lpstr>
      <vt:lpstr>Open Sans</vt:lpstr>
      <vt:lpstr>Luxe</vt:lpstr>
      <vt:lpstr>Digital Signature </vt:lpstr>
      <vt:lpstr>Outline</vt:lpstr>
      <vt:lpstr>What is Digital Signature?</vt:lpstr>
      <vt:lpstr>What we want from Digital Signatures?</vt:lpstr>
      <vt:lpstr>How does Digital Signatures work?</vt:lpstr>
      <vt:lpstr>PowerPoint Presentation</vt:lpstr>
      <vt:lpstr>Digital Signature Process</vt:lpstr>
      <vt:lpstr>Public and Private Keys</vt:lpstr>
      <vt:lpstr>Public Key as Identity</vt:lpstr>
      <vt:lpstr>Signature</vt:lpstr>
      <vt:lpstr>PowerPoint Presentation</vt:lpstr>
      <vt:lpstr>Diffie-Hellman Key Exchange Algorithm</vt:lpstr>
      <vt:lpstr>Reference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Signatures</dc:title>
  <cp:lastModifiedBy>Mubariz Rehman</cp:lastModifiedBy>
  <cp:revision>4</cp:revision>
  <dcterms:modified xsi:type="dcterms:W3CDTF">2024-04-29T11:11:22Z</dcterms:modified>
</cp:coreProperties>
</file>