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44"/>
  </p:notesMasterIdLst>
  <p:sldIdLst>
    <p:sldId id="302" r:id="rId2"/>
    <p:sldId id="257" r:id="rId3"/>
    <p:sldId id="258" r:id="rId4"/>
    <p:sldId id="259" r:id="rId5"/>
    <p:sldId id="260" r:id="rId6"/>
    <p:sldId id="261" r:id="rId7"/>
    <p:sldId id="262" r:id="rId8"/>
    <p:sldId id="263" r:id="rId9"/>
    <p:sldId id="264" r:id="rId10"/>
    <p:sldId id="265" r:id="rId11"/>
    <p:sldId id="266" r:id="rId12"/>
    <p:sldId id="292" r:id="rId13"/>
    <p:sldId id="267" r:id="rId14"/>
    <p:sldId id="268" r:id="rId15"/>
    <p:sldId id="269" r:id="rId16"/>
    <p:sldId id="270" r:id="rId17"/>
    <p:sldId id="271" r:id="rId18"/>
    <p:sldId id="272" r:id="rId19"/>
    <p:sldId id="293" r:id="rId20"/>
    <p:sldId id="273" r:id="rId21"/>
    <p:sldId id="275" r:id="rId22"/>
    <p:sldId id="295" r:id="rId23"/>
    <p:sldId id="296" r:id="rId24"/>
    <p:sldId id="297" r:id="rId25"/>
    <p:sldId id="277" r:id="rId26"/>
    <p:sldId id="278" r:id="rId27"/>
    <p:sldId id="279" r:id="rId28"/>
    <p:sldId id="280" r:id="rId29"/>
    <p:sldId id="298" r:id="rId30"/>
    <p:sldId id="301" r:id="rId31"/>
    <p:sldId id="300" r:id="rId32"/>
    <p:sldId id="281" r:id="rId33"/>
    <p:sldId id="282" r:id="rId34"/>
    <p:sldId id="283" r:id="rId35"/>
    <p:sldId id="284" r:id="rId36"/>
    <p:sldId id="285" r:id="rId37"/>
    <p:sldId id="286" r:id="rId38"/>
    <p:sldId id="287" r:id="rId39"/>
    <p:sldId id="288" r:id="rId40"/>
    <p:sldId id="289" r:id="rId41"/>
    <p:sldId id="290" r:id="rId42"/>
    <p:sldId id="291" r:id="rId43"/>
  </p:sldIdLst>
  <p:sldSz cx="9144000" cy="6858000" type="screen4x3"/>
  <p:notesSz cx="6858000" cy="9144000"/>
  <p:embeddedFontLst>
    <p:embeddedFont>
      <p:font typeface="Economica" panose="020B0604020202020204" charset="0"/>
      <p:regular r:id="rId45"/>
      <p:bold r:id="rId46"/>
      <p:italic r:id="rId47"/>
      <p:boldItalic r:id="rId48"/>
    </p:embeddedFont>
    <p:embeddedFont>
      <p:font typeface="Open Sans" panose="020B060603050402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 name="Google Shape;7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77" name="Google Shape;7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2: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2</a:t>
            </a:fld>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76f820bc9b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76f820bc9b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g76f820bc9b_0_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a:t>
            </a:fld>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91" name="Google Shape;9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3: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4</a:t>
            </a:fld>
            <a:endParaRPr sz="14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7753558986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7753558986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g7753558986_0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5</a:t>
            </a:fld>
            <a:endParaRPr sz="14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76e0f8b425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76e0f8b425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76e0f8b425_0_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6</a:t>
            </a:fld>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76e0f8b425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76e0f8b425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76e0f8b425_0_1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7</a:t>
            </a:fld>
            <a:endParaRPr sz="14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76e0f8b425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76e0f8b425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76e0f8b425_0_1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8</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76e0f8b425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76e0f8b425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g76e0f8b425_0_2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9</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76f820bc9b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76f820bc9b_0_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76f820bc9b_0_15: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10</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76f820bc9b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76f820bc9b_0_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g76f820bc9b_0_2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11</a:t>
            </a:fld>
            <a:endParaRPr sz="14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76f820bc9b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76f820bc9b_0_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76f820bc9b_0_2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13</a:t>
            </a:fld>
            <a:endParaRPr sz="1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76f820bc9b_0_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76f820bc9b_0_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g76f820bc9b_0_3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14</a:t>
            </a:fld>
            <a:endParaRPr sz="140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76f820bc9b_0_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76f820bc9b_0_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76f820bc9b_0_4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15</a:t>
            </a:fld>
            <a:endParaRPr sz="1400">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76f820bc9b_0_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76f820bc9b_0_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76f820bc9b_0_49: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16</a:t>
            </a:fld>
            <a:endParaRPr sz="14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772e745214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772e745214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772e745214_0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17</a:t>
            </a:fld>
            <a:endParaRPr sz="1400">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77f1ce3ce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77f1ce3ce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77f1ce3cea_0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18</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77f1ce3ce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77f1ce3ce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77f1ce3cea_0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19</a:t>
            </a:fld>
            <a:endParaRPr sz="1400">
              <a:latin typeface="Arial"/>
              <a:ea typeface="Arial"/>
              <a:cs typeface="Arial"/>
              <a:sym typeface="Arial"/>
            </a:endParaRPr>
          </a:p>
        </p:txBody>
      </p:sp>
    </p:spTree>
    <p:extLst>
      <p:ext uri="{BB962C8B-B14F-4D97-AF65-F5344CB8AC3E}">
        <p14:creationId xmlns:p14="http://schemas.microsoft.com/office/powerpoint/2010/main" val="2372159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772e745214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772e745214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772e745214_0_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20</a:t>
            </a:fld>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77f1ce3cea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77f1ce3cea_0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77f1ce3cea_0_21: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21</a:t>
            </a:fld>
            <a:endParaRPr sz="14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7f1ce3cea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77f1ce3cea_0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77f1ce3cea_0_14: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22</a:t>
            </a:fld>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77f1ce3cea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77f1ce3cea_0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77f1ce3cea_0_21: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23</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77f1ce3cea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77f1ce3cea_0_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77f1ce3cea_0_28: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24</a:t>
            </a:fld>
            <a:endParaRPr sz="14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772e745214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772e745214_0_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772e745214_0_13: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25</a:t>
            </a:fld>
            <a:endParaRPr sz="1400">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77f1ce3cea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77f1ce3cea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g77f1ce3cea_0_7: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26</a:t>
            </a:fld>
            <a:endParaRPr sz="1400">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77f1ce3cea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77f1ce3cea_0_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g77f1ce3cea_0_35: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27</a:t>
            </a:fld>
            <a:endParaRPr sz="1400">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77f1ce3cea_0_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77f1ce3cea_0_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g77f1ce3cea_0_41: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28</a:t>
            </a:fld>
            <a:endParaRPr sz="14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77f1ce3cea_0_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77f1ce3cea_0_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g77f1ce3cea_0_41: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29</a:t>
            </a:fld>
            <a:endParaRPr sz="1400">
              <a:latin typeface="Arial"/>
              <a:ea typeface="Arial"/>
              <a:cs typeface="Arial"/>
              <a:sym typeface="Arial"/>
            </a:endParaRPr>
          </a:p>
        </p:txBody>
      </p:sp>
    </p:spTree>
    <p:extLst>
      <p:ext uri="{BB962C8B-B14F-4D97-AF65-F5344CB8AC3E}">
        <p14:creationId xmlns:p14="http://schemas.microsoft.com/office/powerpoint/2010/main" val="18519749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772e745214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772e745214_0_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g772e745214_0_2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32</a:t>
            </a:fld>
            <a:endParaRPr sz="1400">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77f1ce3cea_0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77f1ce3cea_0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77f1ce3cea_0_5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33</a:t>
            </a:fld>
            <a:endParaRPr sz="1400">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77f1ce3cea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77f1ce3cea_0_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g77f1ce3cea_0_6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34</a:t>
            </a:fld>
            <a:endParaRPr sz="14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77f1ce3cea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77f1ce3cea_0_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77f1ce3cea_0_5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35</a:t>
            </a:fld>
            <a:endParaRPr sz="1400">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77f1ce3cea_0_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77f1ce3cea_0_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g77f1ce3cea_0_71: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36</a:t>
            </a:fld>
            <a:endParaRPr sz="1400">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77f1ce3cea_0_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77f1ce3cea_0_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g77f1ce3cea_0_77: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37</a:t>
            </a:fld>
            <a:endParaRPr sz="1400">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77f1ce3cea_0_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77f1ce3cea_0_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g77f1ce3cea_0_83: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38</a:t>
            </a:fld>
            <a:endParaRPr sz="1400">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77f1ce3cea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77f1ce3cea_0_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77f1ce3cea_0_9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39</a:t>
            </a:fld>
            <a:endParaRPr sz="1400">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77f1ce3cea_0_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77f1ce3cea_0_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g77f1ce3cea_0_96: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40</a:t>
            </a:fld>
            <a:endParaRPr sz="1400">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76e0f8b42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76e0f8b42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g76e0f8b425_0_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a:buNone/>
            </a:pPr>
            <a:fld id="{00000000-1234-1234-1234-123412341234}" type="slidenum">
              <a:rPr lang="en-US"/>
              <a:t>41</a:t>
            </a:fld>
            <a:endParaRPr sz="1400">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331" name="Google Shape;331;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2" name="Google Shape;332;p26: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42</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5" name="Google Shape;15;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6" name="Google Shape;16;p2"/>
          <p:cNvSpPr txBox="1">
            <a:spLocks noGrp="1"/>
          </p:cNvSpPr>
          <p:nvPr>
            <p:ph type="ctrTitle"/>
          </p:nvPr>
        </p:nvSpPr>
        <p:spPr>
          <a:xfrm>
            <a:off x="3044700" y="1925674"/>
            <a:ext cx="3054600" cy="2049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7" name="Google Shape;17;p2"/>
          <p:cNvSpPr txBox="1">
            <a:spLocks noGrp="1"/>
          </p:cNvSpPr>
          <p:nvPr>
            <p:ph type="subTitle" idx="1"/>
          </p:nvPr>
        </p:nvSpPr>
        <p:spPr>
          <a:xfrm>
            <a:off x="3044700" y="4155440"/>
            <a:ext cx="3054600" cy="9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8" name="Google Shape;18;p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3"/>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2" name="Google Shape;22;p3"/>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3" name="Google Shape;23;p3"/>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4"/>
          <p:cNvSpPr/>
          <p:nvPr/>
        </p:nvSpPr>
        <p:spPr>
          <a:xfrm flipH="1">
            <a:off x="7595938" y="6136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6" name="Google Shape;26;p4"/>
          <p:cNvSpPr/>
          <p:nvPr/>
        </p:nvSpPr>
        <p:spPr>
          <a:xfrm rot="10800000" flipH="1">
            <a:off x="466425" y="47444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4"/>
          <p:cNvSpPr txBox="1">
            <a:spLocks noGrp="1"/>
          </p:cNvSpPr>
          <p:nvPr>
            <p:ph type="title"/>
          </p:nvPr>
        </p:nvSpPr>
        <p:spPr>
          <a:xfrm>
            <a:off x="773700" y="2408600"/>
            <a:ext cx="7596600" cy="2040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8" name="Google Shape;28;p4"/>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1" name="Google Shape;31;p5"/>
          <p:cNvSpPr txBox="1">
            <a:spLocks noGrp="1"/>
          </p:cNvSpPr>
          <p:nvPr>
            <p:ph type="body" idx="1"/>
          </p:nvPr>
        </p:nvSpPr>
        <p:spPr>
          <a:xfrm>
            <a:off x="311700" y="1633633"/>
            <a:ext cx="39999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5"/>
          <p:cNvSpPr txBox="1">
            <a:spLocks noGrp="1"/>
          </p:cNvSpPr>
          <p:nvPr>
            <p:ph type="body" idx="2"/>
          </p:nvPr>
        </p:nvSpPr>
        <p:spPr>
          <a:xfrm>
            <a:off x="4832400" y="1633633"/>
            <a:ext cx="3999900" cy="44721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6" name="Google Shape;36;p6"/>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9" name="Google Shape;39;p7"/>
          <p:cNvSpPr txBox="1">
            <a:spLocks noGrp="1"/>
          </p:cNvSpPr>
          <p:nvPr>
            <p:ph type="body" idx="1"/>
          </p:nvPr>
        </p:nvSpPr>
        <p:spPr>
          <a:xfrm>
            <a:off x="311700" y="1865867"/>
            <a:ext cx="2808000" cy="37131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0" name="Google Shape;40;p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8"/>
          <p:cNvSpPr txBox="1">
            <a:spLocks noGrp="1"/>
          </p:cNvSpPr>
          <p:nvPr>
            <p:ph type="title"/>
          </p:nvPr>
        </p:nvSpPr>
        <p:spPr>
          <a:xfrm>
            <a:off x="490250" y="600200"/>
            <a:ext cx="58788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7" name="Google Shape;47;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239033"/>
            <a:ext cx="4045200" cy="2381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9" name="Google Shape;49;p9"/>
          <p:cNvSpPr txBox="1">
            <a:spLocks noGrp="1"/>
          </p:cNvSpPr>
          <p:nvPr>
            <p:ph type="subTitle" idx="1"/>
          </p:nvPr>
        </p:nvSpPr>
        <p:spPr>
          <a:xfrm>
            <a:off x="265500" y="3692001"/>
            <a:ext cx="4045200" cy="209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50" name="Google Shape;50;p9"/>
          <p:cNvSpPr txBox="1">
            <a:spLocks noGrp="1"/>
          </p:cNvSpPr>
          <p:nvPr>
            <p:ph type="body" idx="2"/>
          </p:nvPr>
        </p:nvSpPr>
        <p:spPr>
          <a:xfrm>
            <a:off x="4939500" y="965600"/>
            <a:ext cx="3837000" cy="49269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9500" y="5625233"/>
            <a:ext cx="5998800" cy="7983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4" name="Google Shape;54;p1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1"/>
          <p:cNvSpPr txBox="1">
            <a:spLocks noGrp="1"/>
          </p:cNvSpPr>
          <p:nvPr>
            <p:ph type="title" hasCustomPrompt="1"/>
          </p:nvPr>
        </p:nvSpPr>
        <p:spPr>
          <a:xfrm>
            <a:off x="311700" y="1276167"/>
            <a:ext cx="8520600" cy="2838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8" name="Google Shape;58;p11"/>
          <p:cNvSpPr txBox="1">
            <a:spLocks noGrp="1"/>
          </p:cNvSpPr>
          <p:nvPr>
            <p:ph type="body" idx="1"/>
          </p:nvPr>
        </p:nvSpPr>
        <p:spPr>
          <a:xfrm>
            <a:off x="311700" y="4216000"/>
            <a:ext cx="8520600" cy="14289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9" name="Google Shape;59;p1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4" name="Google Shape;64;p1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5" name="Google Shape;65;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p1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11" name="Google Shape;11;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12" name="Google Shape;12;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mycryptopedia.com/bitcoin-explained/"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coinrivet.com/how-51-percent-attacks-prove-decentralisation-in-crypto/"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ctrTitle"/>
          </p:nvPr>
        </p:nvSpPr>
        <p:spPr>
          <a:xfrm>
            <a:off x="2869376" y="1183554"/>
            <a:ext cx="5390042" cy="204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600" dirty="0"/>
              <a:t>Decentralization &amp; Blockchain</a:t>
            </a:r>
            <a:endParaRPr sz="4600" dirty="0"/>
          </a:p>
        </p:txBody>
      </p:sp>
      <p:sp>
        <p:nvSpPr>
          <p:cNvPr id="73" name="Google Shape;73;p14"/>
          <p:cNvSpPr txBox="1">
            <a:spLocks noGrp="1"/>
          </p:cNvSpPr>
          <p:nvPr>
            <p:ph type="subTitle" idx="1"/>
          </p:nvPr>
        </p:nvSpPr>
        <p:spPr>
          <a:xfrm>
            <a:off x="1673087" y="4607646"/>
            <a:ext cx="4114800" cy="10668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2800"/>
              <a:buNone/>
            </a:pPr>
            <a:r>
              <a:rPr lang="en-US" sz="2800" b="1" i="0" u="none">
                <a:solidFill>
                  <a:schemeClr val="dk1"/>
                </a:solidFill>
                <a:latin typeface="Calibri"/>
                <a:ea typeface="Calibri"/>
                <a:cs typeface="Calibri"/>
                <a:sym typeface="Calibri"/>
              </a:rPr>
              <a:t>       </a:t>
            </a:r>
            <a:endParaRPr/>
          </a:p>
          <a:p>
            <a:pPr marL="0" lvl="0" indent="0" algn="ctr" rtl="0">
              <a:lnSpc>
                <a:spcPct val="100000"/>
              </a:lnSpc>
              <a:spcBef>
                <a:spcPts val="560"/>
              </a:spcBef>
              <a:spcAft>
                <a:spcPts val="0"/>
              </a:spcAft>
              <a:buClr>
                <a:schemeClr val="dk1"/>
              </a:buClr>
              <a:buSzPts val="2800"/>
              <a:buNone/>
            </a:pPr>
            <a:r>
              <a:rPr lang="en-US" sz="2800" b="1" i="0" u="none">
                <a:solidFill>
                  <a:schemeClr val="dk1"/>
                </a:solidFill>
                <a:latin typeface="Calibri"/>
                <a:ea typeface="Calibri"/>
                <a:cs typeface="Calibri"/>
                <a:sym typeface="Calibri"/>
              </a:rPr>
              <a:t>          </a:t>
            </a:r>
            <a:endParaRPr/>
          </a:p>
        </p:txBody>
      </p:sp>
      <p:sp>
        <p:nvSpPr>
          <p:cNvPr id="3" name="Rectangle 3">
            <a:extLst>
              <a:ext uri="{FF2B5EF4-FFF2-40B4-BE49-F238E27FC236}">
                <a16:creationId xmlns:a16="http://schemas.microsoft.com/office/drawing/2014/main" id="{7D2FA42E-0317-402D-F7FB-889DEF7F9702}"/>
              </a:ext>
            </a:extLst>
          </p:cNvPr>
          <p:cNvSpPr txBox="1">
            <a:spLocks noChangeArrowheads="1"/>
          </p:cNvSpPr>
          <p:nvPr/>
        </p:nvSpPr>
        <p:spPr>
          <a:xfrm>
            <a:off x="-675250" y="5198227"/>
            <a:ext cx="4114800" cy="1269145"/>
          </a:xfrm>
          <a:prstGeom prst="rect">
            <a:avLst/>
          </a:prstGeom>
          <a:noFill/>
          <a:ln>
            <a:noFill/>
          </a:ln>
        </p:spPr>
        <p:txBody>
          <a:bodyPr spcFirstLastPara="1" wrap="square" lIns="68569" tIns="68569" rIns="68569" bIns="68569"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1pPr>
            <a:lvl2pPr marL="914400" marR="0" lvl="1"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2pPr>
            <a:lvl3pPr marL="1371600" marR="0" lvl="2"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3pPr>
            <a:lvl4pPr marL="1828800" marR="0" lvl="3"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4pPr>
            <a:lvl5pPr marL="2286000" marR="0" lvl="4"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5pPr>
            <a:lvl6pPr marL="2743200" marR="0" lvl="5"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6pPr>
            <a:lvl7pPr marL="3200400" marR="0" lvl="6"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7pPr>
            <a:lvl8pPr marL="3657600" marR="0" lvl="7"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8pPr>
            <a:lvl9pPr marL="4114800" marR="0" lvl="8" indent="-317500" algn="ctr" rtl="0">
              <a:lnSpc>
                <a:spcPct val="100000"/>
              </a:lnSpc>
              <a:spcBef>
                <a:spcPts val="0"/>
              </a:spcBef>
              <a:spcAft>
                <a:spcPts val="0"/>
              </a:spcAft>
              <a:buClr>
                <a:schemeClr val="dk1"/>
              </a:buClr>
              <a:buSzPts val="2100"/>
              <a:buFont typeface="Economica"/>
              <a:buNone/>
              <a:defRPr sz="2100" b="0" i="0" u="none" strike="noStrike" cap="none">
                <a:solidFill>
                  <a:schemeClr val="dk1"/>
                </a:solidFill>
                <a:latin typeface="Economica"/>
                <a:ea typeface="Economica"/>
                <a:cs typeface="Economica"/>
                <a:sym typeface="Economica"/>
              </a:defRPr>
            </a:lvl9pPr>
          </a:lstStyle>
          <a:p>
            <a:pPr algn="l">
              <a:lnSpc>
                <a:spcPct val="90000"/>
              </a:lnSpc>
              <a:defRPr/>
            </a:pPr>
            <a:endParaRPr lang="en-US" altLang="zh-TW" sz="15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400"/>
              <a:buNone/>
            </a:pPr>
            <a:r>
              <a:rPr lang="en-US" sz="4600"/>
              <a:t>Outline</a:t>
            </a:r>
            <a:endParaRPr/>
          </a:p>
        </p:txBody>
      </p:sp>
      <p:sp>
        <p:nvSpPr>
          <p:cNvPr id="81" name="Google Shape;81;p15"/>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What is Decentralization?</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Decentralization in Blockchains</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Aspects of Decentralization in Blockchain</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Distributed Consensus</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Double Spending</a:t>
            </a:r>
            <a:endParaRPr sz="3000">
              <a:latin typeface="Economica"/>
              <a:ea typeface="Economica"/>
              <a:cs typeface="Economica"/>
              <a:sym typeface="Economica"/>
            </a:endParaRPr>
          </a:p>
          <a:p>
            <a:pPr marL="457200" lvl="0" indent="-419100" algn="l" rtl="0">
              <a:lnSpc>
                <a:spcPct val="115000"/>
              </a:lnSpc>
              <a:spcBef>
                <a:spcPts val="0"/>
              </a:spcBef>
              <a:spcAft>
                <a:spcPts val="0"/>
              </a:spcAft>
              <a:buSzPts val="3000"/>
              <a:buFont typeface="Economica"/>
              <a:buChar char="●"/>
            </a:pPr>
            <a:r>
              <a:rPr lang="en-US" sz="3000">
                <a:latin typeface="Economica"/>
                <a:ea typeface="Economica"/>
                <a:cs typeface="Economica"/>
                <a:sym typeface="Economica"/>
              </a:rPr>
              <a:t>Five Questions</a:t>
            </a:r>
            <a:endParaRPr sz="3000">
              <a:latin typeface="Economica"/>
              <a:ea typeface="Economica"/>
              <a:cs typeface="Economica"/>
              <a:sym typeface="Economic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Centralization</a:t>
            </a:r>
            <a:endParaRPr/>
          </a:p>
        </p:txBody>
      </p:sp>
      <p:sp>
        <p:nvSpPr>
          <p:cNvPr id="88" name="Google Shape;88;p16"/>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process of transferring and assigning decision making authority to higher levels of an organisational hierarchy. </a:t>
            </a:r>
            <a:endParaRPr sz="260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Knowledge, ideas and information are cascaded down the organisation.  </a:t>
            </a:r>
            <a:endParaRPr sz="260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span of control of top managers is relatively broad.</a:t>
            </a:r>
            <a:endParaRPr sz="260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Examples: Private Organization, Dictatorship, Central Storage, Facebook, Google, etc.</a:t>
            </a:r>
            <a:endParaRPr sz="2600">
              <a:solidFill>
                <a:srgbClr val="444444"/>
              </a:solidFill>
              <a:latin typeface="Economica"/>
              <a:ea typeface="Economica"/>
              <a:cs typeface="Economica"/>
              <a:sym typeface="Economic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311700" y="421233"/>
            <a:ext cx="8520600" cy="1108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US"/>
              <a:t>Decentralization</a:t>
            </a:r>
            <a:endParaRPr/>
          </a:p>
        </p:txBody>
      </p:sp>
      <p:sp>
        <p:nvSpPr>
          <p:cNvPr id="95" name="Google Shape;95;p17"/>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process of transferring and assigning decision making authority to lower levels of an organisational hierarchy.  </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Knowledge, ideas and information are flowing from the bottom to the top of the organisation.  </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span of control of top managers is relatively small.</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Examples: Energy Generation, Democracy, Torrents, Open Source Communities (GITHUB, Firefox, Linux, Wikipedia, etc.)</a:t>
            </a:r>
            <a:endParaRPr sz="2600">
              <a:solidFill>
                <a:srgbClr val="444444"/>
              </a:solidFill>
              <a:latin typeface="Economica"/>
              <a:ea typeface="Economica"/>
              <a:cs typeface="Economica"/>
              <a:sym typeface="Economic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18"/>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103" name="Google Shape;103;p18"/>
          <p:cNvPicPr preferRelativeResize="0"/>
          <p:nvPr/>
        </p:nvPicPr>
        <p:blipFill>
          <a:blip r:embed="rId3">
            <a:alphaModFix/>
          </a:blip>
          <a:stretch>
            <a:fillRect/>
          </a:stretch>
        </p:blipFill>
        <p:spPr>
          <a:xfrm>
            <a:off x="0" y="1040130"/>
            <a:ext cx="9144000" cy="50825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Decentralization in Blockchains</a:t>
            </a:r>
            <a:endParaRPr/>
          </a:p>
        </p:txBody>
      </p:sp>
      <p:sp>
        <p:nvSpPr>
          <p:cNvPr id="110" name="Google Shape;110;p19"/>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l"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A decentralized network relies on a host of computers, hence blockchain technology resides on a P2P network. </a:t>
            </a:r>
            <a:endParaRPr sz="2600" dirty="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It physically cannot work with a single computer or point-of-connection. Instead, it requires other computers to join in, in order to complete a specific task on the network.</a:t>
            </a:r>
            <a:endParaRPr sz="2600" dirty="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Decentralization is the backbone of Blockchain</a:t>
            </a:r>
            <a:endParaRPr sz="2600" dirty="0">
              <a:solidFill>
                <a:srgbClr val="444444"/>
              </a:solidFill>
              <a:latin typeface="Economica"/>
              <a:ea typeface="Economica"/>
              <a:cs typeface="Economica"/>
              <a:sym typeface="Economica"/>
            </a:endParaRPr>
          </a:p>
          <a:p>
            <a:pPr marL="457200" lvl="0" indent="-393700" algn="l"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Without decentralization, blockchain could not achieve permissionless-ness, openness, transparency and censorship resistance.</a:t>
            </a:r>
            <a:endParaRPr sz="2600" dirty="0">
              <a:solidFill>
                <a:srgbClr val="444444"/>
              </a:solidFill>
              <a:latin typeface="Economica"/>
              <a:ea typeface="Economica"/>
              <a:cs typeface="Economica"/>
              <a:sym typeface="Economica"/>
            </a:endParaRPr>
          </a:p>
          <a:p>
            <a:pPr marL="0" lvl="0" indent="0" algn="l" rtl="0">
              <a:spcBef>
                <a:spcPts val="0"/>
              </a:spcBef>
              <a:spcAft>
                <a:spcPts val="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Aspects of Decentralization in Blockchains</a:t>
            </a:r>
            <a:endParaRPr/>
          </a:p>
        </p:txBody>
      </p:sp>
      <p:sp>
        <p:nvSpPr>
          <p:cNvPr id="117" name="Google Shape;117;p20"/>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Peer-to-peer networking</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open to anyone, low barrier entry</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Mining</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open to anyone; but requires high consumption of computational power</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Updates to the Software</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trusted, core developers have higher power and authority</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Distributed Consensus</a:t>
            </a:r>
            <a:endParaRPr sz="2600">
              <a:solidFill>
                <a:srgbClr val="444444"/>
              </a:solidFill>
              <a:latin typeface="Economica"/>
              <a:ea typeface="Economica"/>
              <a:cs typeface="Economica"/>
              <a:sym typeface="Economica"/>
            </a:endParaRPr>
          </a:p>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Distributed Consensus</a:t>
            </a:r>
            <a:endParaRPr/>
          </a:p>
        </p:txBody>
      </p:sp>
      <p:sp>
        <p:nvSpPr>
          <p:cNvPr id="124" name="Google Shape;124;p21"/>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Decades of research has been done on developing reliable consensus algorithms</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Main goal is to achieve consensus over distributed network</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Distributed key-value stores: DNS, stock trading, public key directory, etc.</a:t>
            </a:r>
            <a:endParaRPr sz="2600">
              <a:solidFill>
                <a:srgbClr val="444444"/>
              </a:solidFill>
              <a:latin typeface="Economica"/>
              <a:ea typeface="Economica"/>
              <a:cs typeface="Economica"/>
              <a:sym typeface="Economic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Defining Distributed Consensus</a:t>
            </a:r>
            <a:endParaRPr/>
          </a:p>
        </p:txBody>
      </p:sp>
      <p:sp>
        <p:nvSpPr>
          <p:cNvPr id="131" name="Google Shape;131;p22"/>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 a network of ‘n’ number of nodes, where each node has an input, the distributed consensus has following conditions:</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protocol terminates and all correct nodes decide on same value</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This value must have been proposed by a valid node rather than an arbitrary value</a:t>
            </a:r>
            <a:endParaRPr sz="2600">
              <a:solidFill>
                <a:srgbClr val="444444"/>
              </a:solidFill>
              <a:latin typeface="Economica"/>
              <a:ea typeface="Economica"/>
              <a:cs typeface="Economica"/>
              <a:sym typeface="Economic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Consensus Example: Bitcoin Transaction</a:t>
            </a:r>
            <a:endParaRPr/>
          </a:p>
        </p:txBody>
      </p:sp>
      <p:sp>
        <p:nvSpPr>
          <p:cNvPr id="138" name="Google Shape;138;p23"/>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600">
                <a:solidFill>
                  <a:srgbClr val="444444"/>
                </a:solidFill>
                <a:latin typeface="Economica"/>
                <a:ea typeface="Economica"/>
                <a:cs typeface="Economica"/>
                <a:sym typeface="Economica"/>
              </a:rPr>
              <a:t>When Alice wants to pay Bob, she </a:t>
            </a:r>
            <a:r>
              <a:rPr lang="en-US" sz="2600" b="1">
                <a:solidFill>
                  <a:srgbClr val="444444"/>
                </a:solidFill>
                <a:latin typeface="Economica"/>
                <a:ea typeface="Economica"/>
                <a:cs typeface="Economica"/>
                <a:sym typeface="Economica"/>
              </a:rPr>
              <a:t>broadcasts the transaction</a:t>
            </a:r>
            <a:r>
              <a:rPr lang="en-US" sz="2600">
                <a:solidFill>
                  <a:srgbClr val="444444"/>
                </a:solidFill>
                <a:latin typeface="Economica"/>
                <a:ea typeface="Economica"/>
                <a:cs typeface="Economica"/>
                <a:sym typeface="Economica"/>
              </a:rPr>
              <a:t> to all Bitcoin</a:t>
            </a:r>
            <a:endParaRPr/>
          </a:p>
        </p:txBody>
      </p:sp>
      <p:pic>
        <p:nvPicPr>
          <p:cNvPr id="139" name="Google Shape;139;p23"/>
          <p:cNvPicPr preferRelativeResize="0"/>
          <p:nvPr/>
        </p:nvPicPr>
        <p:blipFill>
          <a:blip r:embed="rId3">
            <a:alphaModFix/>
          </a:blip>
          <a:stretch>
            <a:fillRect/>
          </a:stretch>
        </p:blipFill>
        <p:spPr>
          <a:xfrm>
            <a:off x="0" y="2902755"/>
            <a:ext cx="9144000" cy="30075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Consensus Example: Bitcoin Transaction</a:t>
            </a:r>
            <a:endParaRPr dirty="0"/>
          </a:p>
        </p:txBody>
      </p:sp>
      <p:sp>
        <p:nvSpPr>
          <p:cNvPr id="146" name="Google Shape;146;p24"/>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Alice owns a Bitcoin which she wants to sell</a:t>
            </a:r>
            <a:endParaRPr sz="2000">
              <a:solidFill>
                <a:srgbClr val="444444"/>
              </a:solidFill>
              <a:latin typeface="Economica"/>
              <a:ea typeface="Economica"/>
              <a:cs typeface="Economica"/>
              <a:sym typeface="Economica"/>
            </a:endParaRPr>
          </a:p>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Bob wants to purchase Bitcoin</a:t>
            </a:r>
            <a:endParaRPr sz="2000">
              <a:solidFill>
                <a:srgbClr val="444444"/>
              </a:solidFill>
              <a:latin typeface="Economica"/>
              <a:ea typeface="Economica"/>
              <a:cs typeface="Economica"/>
              <a:sym typeface="Economica"/>
            </a:endParaRPr>
          </a:p>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Alice and Bob makes a deal to perform this transaction</a:t>
            </a:r>
            <a:endParaRPr sz="2000">
              <a:solidFill>
                <a:srgbClr val="444444"/>
              </a:solidFill>
              <a:latin typeface="Economica"/>
              <a:ea typeface="Economica"/>
              <a:cs typeface="Economica"/>
              <a:sym typeface="Economica"/>
            </a:endParaRPr>
          </a:p>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Bob shares his public key with Alice</a:t>
            </a:r>
            <a:endParaRPr sz="2000">
              <a:solidFill>
                <a:srgbClr val="444444"/>
              </a:solidFill>
              <a:latin typeface="Economica"/>
              <a:ea typeface="Economica"/>
              <a:cs typeface="Economica"/>
              <a:sym typeface="Economica"/>
            </a:endParaRPr>
          </a:p>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Alice creates a new block with data:</a:t>
            </a:r>
            <a:endParaRPr sz="2000">
              <a:solidFill>
                <a:srgbClr val="444444"/>
              </a:solidFill>
              <a:latin typeface="Economica"/>
              <a:ea typeface="Economica"/>
              <a:cs typeface="Economica"/>
              <a:sym typeface="Economica"/>
            </a:endParaRPr>
          </a:p>
          <a:p>
            <a:pPr marL="914400" lvl="1" indent="-279400" algn="l" rtl="0">
              <a:spcBef>
                <a:spcPts val="0"/>
              </a:spcBef>
              <a:spcAft>
                <a:spcPts val="0"/>
              </a:spcAft>
              <a:buSzPts val="800"/>
              <a:buChar char="○"/>
            </a:pPr>
            <a:r>
              <a:rPr lang="en-US" sz="2000">
                <a:solidFill>
                  <a:srgbClr val="444444"/>
                </a:solidFill>
                <a:latin typeface="Economica"/>
                <a:ea typeface="Economica"/>
                <a:cs typeface="Economica"/>
                <a:sym typeface="Economica"/>
              </a:rPr>
              <a:t>Alice’s digital signature</a:t>
            </a:r>
            <a:endParaRPr sz="2000">
              <a:solidFill>
                <a:srgbClr val="444444"/>
              </a:solidFill>
              <a:latin typeface="Economica"/>
              <a:ea typeface="Economica"/>
              <a:cs typeface="Economica"/>
              <a:sym typeface="Economica"/>
            </a:endParaRPr>
          </a:p>
          <a:p>
            <a:pPr marL="914400" lvl="1" indent="-279400" algn="l" rtl="0">
              <a:spcBef>
                <a:spcPts val="0"/>
              </a:spcBef>
              <a:spcAft>
                <a:spcPts val="0"/>
              </a:spcAft>
              <a:buSzPts val="800"/>
              <a:buChar char="○"/>
            </a:pPr>
            <a:r>
              <a:rPr lang="en-US" sz="2000">
                <a:solidFill>
                  <a:srgbClr val="444444"/>
                </a:solidFill>
                <a:latin typeface="Economica"/>
                <a:ea typeface="Economica"/>
                <a:cs typeface="Economica"/>
                <a:sym typeface="Economica"/>
              </a:rPr>
              <a:t>Bob’s public key</a:t>
            </a:r>
            <a:endParaRPr sz="2000">
              <a:solidFill>
                <a:srgbClr val="444444"/>
              </a:solidFill>
              <a:latin typeface="Economica"/>
              <a:ea typeface="Economica"/>
              <a:cs typeface="Economica"/>
              <a:sym typeface="Economica"/>
            </a:endParaRPr>
          </a:p>
          <a:p>
            <a:pPr marL="914400" lvl="1" indent="-279400" algn="l" rtl="0">
              <a:spcBef>
                <a:spcPts val="0"/>
              </a:spcBef>
              <a:spcAft>
                <a:spcPts val="0"/>
              </a:spcAft>
              <a:buSzPts val="800"/>
              <a:buChar char="○"/>
            </a:pPr>
            <a:r>
              <a:rPr lang="en-US" sz="2000">
                <a:solidFill>
                  <a:srgbClr val="444444"/>
                </a:solidFill>
                <a:latin typeface="Economica"/>
                <a:ea typeface="Economica"/>
                <a:cs typeface="Economica"/>
                <a:sym typeface="Economica"/>
              </a:rPr>
              <a:t>Hash</a:t>
            </a:r>
            <a:endParaRPr sz="2000">
              <a:solidFill>
                <a:srgbClr val="444444"/>
              </a:solidFill>
              <a:latin typeface="Economica"/>
              <a:ea typeface="Economica"/>
              <a:cs typeface="Economica"/>
              <a:sym typeface="Economica"/>
            </a:endParaRPr>
          </a:p>
          <a:p>
            <a:pPr marL="914400" lvl="1" indent="-279400" algn="l" rtl="0">
              <a:spcBef>
                <a:spcPts val="0"/>
              </a:spcBef>
              <a:spcAft>
                <a:spcPts val="0"/>
              </a:spcAft>
              <a:buSzPts val="800"/>
              <a:buChar char="○"/>
            </a:pPr>
            <a:r>
              <a:rPr lang="en-US" sz="2000">
                <a:solidFill>
                  <a:srgbClr val="444444"/>
                </a:solidFill>
                <a:latin typeface="Economica"/>
                <a:ea typeface="Economica"/>
                <a:cs typeface="Economica"/>
                <a:sym typeface="Economica"/>
              </a:rPr>
              <a:t>Confirmation of selling the Bitcoin</a:t>
            </a:r>
            <a:endParaRPr sz="2000">
              <a:solidFill>
                <a:srgbClr val="444444"/>
              </a:solidFill>
              <a:latin typeface="Economica"/>
              <a:ea typeface="Economica"/>
              <a:cs typeface="Economica"/>
              <a:sym typeface="Economica"/>
            </a:endParaRPr>
          </a:p>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Alice sends the block to whole network (not to Bob!) </a:t>
            </a:r>
            <a:endParaRPr sz="2000">
              <a:solidFill>
                <a:srgbClr val="444444"/>
              </a:solidFill>
              <a:latin typeface="Economica"/>
              <a:ea typeface="Economica"/>
              <a:cs typeface="Economica"/>
              <a:sym typeface="Economica"/>
            </a:endParaRPr>
          </a:p>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The network verifies that this transaction is valid and adds a new block</a:t>
            </a:r>
            <a:endParaRPr sz="2000">
              <a:solidFill>
                <a:srgbClr val="444444"/>
              </a:solidFill>
              <a:latin typeface="Economica"/>
              <a:ea typeface="Economica"/>
              <a:cs typeface="Economica"/>
              <a:sym typeface="Economica"/>
            </a:endParaRPr>
          </a:p>
          <a:p>
            <a:pPr marL="457200" lvl="0" indent="-304800" algn="l" rtl="0">
              <a:spcBef>
                <a:spcPts val="0"/>
              </a:spcBef>
              <a:spcAft>
                <a:spcPts val="0"/>
              </a:spcAft>
              <a:buSzPts val="1200"/>
              <a:buChar char="●"/>
            </a:pPr>
            <a:r>
              <a:rPr lang="en-US" sz="2000">
                <a:solidFill>
                  <a:srgbClr val="444444"/>
                </a:solidFill>
                <a:latin typeface="Economica"/>
                <a:ea typeface="Economica"/>
                <a:cs typeface="Economica"/>
                <a:sym typeface="Economica"/>
              </a:rPr>
              <a:t>Bob does not have to be online in order to receive Bitcoin, the whole network verifies the transaction so the Bitcoin is Bob’s property now</a:t>
            </a:r>
            <a:endParaRPr sz="2000">
              <a:solidFill>
                <a:srgbClr val="444444"/>
              </a:solidFill>
              <a:latin typeface="Economica"/>
              <a:ea typeface="Economica"/>
              <a:cs typeface="Economica"/>
              <a:sym typeface="Economic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3EECB-E025-494E-B00A-C3406828545F}"/>
              </a:ext>
            </a:extLst>
          </p:cNvPr>
          <p:cNvSpPr>
            <a:spLocks noGrp="1"/>
          </p:cNvSpPr>
          <p:nvPr>
            <p:ph type="title"/>
          </p:nvPr>
        </p:nvSpPr>
        <p:spPr/>
        <p:txBody>
          <a:bodyPr/>
          <a:lstStyle/>
          <a:p>
            <a:r>
              <a:rPr lang="en-US" dirty="0"/>
              <a:t>How does a transaction get into the blockchain?</a:t>
            </a:r>
          </a:p>
        </p:txBody>
      </p:sp>
      <p:pic>
        <p:nvPicPr>
          <p:cNvPr id="5" name="Picture 4">
            <a:extLst>
              <a:ext uri="{FF2B5EF4-FFF2-40B4-BE49-F238E27FC236}">
                <a16:creationId xmlns:a16="http://schemas.microsoft.com/office/drawing/2014/main" id="{43E88381-CC0A-49C9-B46D-54565082547D}"/>
              </a:ext>
            </a:extLst>
          </p:cNvPr>
          <p:cNvPicPr>
            <a:picLocks noChangeAspect="1"/>
          </p:cNvPicPr>
          <p:nvPr/>
        </p:nvPicPr>
        <p:blipFill rotWithShape="1">
          <a:blip r:embed="rId2"/>
          <a:srcRect l="2315" t="20942" r="4667" b="10884"/>
          <a:stretch/>
        </p:blipFill>
        <p:spPr>
          <a:xfrm>
            <a:off x="532418" y="2025747"/>
            <a:ext cx="8079163" cy="3699804"/>
          </a:xfrm>
          <a:prstGeom prst="rect">
            <a:avLst/>
          </a:prstGeom>
        </p:spPr>
      </p:pic>
    </p:spTree>
    <p:extLst>
      <p:ext uri="{BB962C8B-B14F-4D97-AF65-F5344CB8AC3E}">
        <p14:creationId xmlns:p14="http://schemas.microsoft.com/office/powerpoint/2010/main" val="1785816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5"/>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dirty="0"/>
              <a:t>What to agree on?</a:t>
            </a:r>
            <a:endParaRPr dirty="0"/>
          </a:p>
        </p:txBody>
      </p:sp>
      <p:sp>
        <p:nvSpPr>
          <p:cNvPr id="153" name="Google Shape;153;p25"/>
          <p:cNvSpPr txBox="1">
            <a:spLocks noGrp="1"/>
          </p:cNvSpPr>
          <p:nvPr>
            <p:ph type="body" idx="1"/>
          </p:nvPr>
        </p:nvSpPr>
        <p:spPr>
          <a:xfrm>
            <a:off x="311700" y="1529733"/>
            <a:ext cx="8520600" cy="509615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Which transactions are broadcasted</a:t>
            </a:r>
            <a:endParaRPr sz="2600" dirty="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The sequence of blocks of transaction</a:t>
            </a:r>
            <a:endParaRPr sz="2600" dirty="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The validity of the hashes</a:t>
            </a:r>
            <a:endParaRPr sz="2600" dirty="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Validity of the digital signature of seller (Alice)</a:t>
            </a:r>
            <a:endParaRPr sz="2600" dirty="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Validity of public key of buyer (Bob)</a:t>
            </a:r>
            <a:endParaRPr sz="2600" dirty="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Confirmation that there is no double spending</a:t>
            </a:r>
            <a:endParaRPr sz="2600" dirty="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dirty="0">
              <a:solidFill>
                <a:srgbClr val="444444"/>
              </a:solidFill>
              <a:latin typeface="Economica"/>
              <a:ea typeface="Economica"/>
              <a:cs typeface="Economica"/>
              <a:sym typeface="Economica"/>
            </a:endParaRPr>
          </a:p>
          <a:p>
            <a:pPr marL="0" lvl="0" indent="0" algn="l" rtl="0">
              <a:spcBef>
                <a:spcPts val="0"/>
              </a:spcBef>
              <a:spcAft>
                <a:spcPts val="0"/>
              </a:spcAft>
              <a:buNone/>
            </a:pPr>
            <a:r>
              <a:rPr lang="en-US" sz="2600" dirty="0">
                <a:solidFill>
                  <a:srgbClr val="444444"/>
                </a:solidFill>
                <a:latin typeface="Economica"/>
                <a:ea typeface="Economica"/>
                <a:cs typeface="Economica"/>
                <a:sym typeface="Economica"/>
              </a:rPr>
              <a:t>Consensus is difficult because of:</a:t>
            </a:r>
            <a:endParaRPr sz="2600" dirty="0">
              <a:solidFill>
                <a:srgbClr val="444444"/>
              </a:solidFill>
              <a:latin typeface="Economica"/>
              <a:ea typeface="Economica"/>
              <a:cs typeface="Economica"/>
              <a:sym typeface="Economica"/>
            </a:endParaRPr>
          </a:p>
          <a:p>
            <a:pPr marL="914400" lvl="1" indent="-368300" algn="l" rtl="0">
              <a:spcBef>
                <a:spcPts val="1600"/>
              </a:spcBef>
              <a:spcAft>
                <a:spcPts val="0"/>
              </a:spcAft>
              <a:buClr>
                <a:srgbClr val="444444"/>
              </a:buClr>
              <a:buSzPts val="2200"/>
              <a:buFont typeface="Economica"/>
              <a:buChar char="○"/>
            </a:pPr>
            <a:r>
              <a:rPr lang="en-US" sz="2200" dirty="0">
                <a:solidFill>
                  <a:srgbClr val="444444"/>
                </a:solidFill>
                <a:latin typeface="Economica"/>
                <a:ea typeface="Economica"/>
                <a:cs typeface="Economica"/>
                <a:sym typeface="Economica"/>
              </a:rPr>
              <a:t>Malicious/Faulty nodes</a:t>
            </a:r>
            <a:endParaRPr sz="2200" dirty="0">
              <a:solidFill>
                <a:srgbClr val="444444"/>
              </a:solidFill>
              <a:latin typeface="Economica"/>
              <a:ea typeface="Economica"/>
              <a:cs typeface="Economica"/>
              <a:sym typeface="Economica"/>
            </a:endParaRPr>
          </a:p>
          <a:p>
            <a:pPr marL="914400" lvl="1" indent="-368300" algn="l" rtl="0">
              <a:spcBef>
                <a:spcPts val="0"/>
              </a:spcBef>
              <a:spcAft>
                <a:spcPts val="0"/>
              </a:spcAft>
              <a:buClr>
                <a:srgbClr val="444444"/>
              </a:buClr>
              <a:buSzPts val="2200"/>
              <a:buFont typeface="Economica"/>
              <a:buChar char="○"/>
            </a:pPr>
            <a:r>
              <a:rPr lang="en-US" sz="2200" dirty="0">
                <a:solidFill>
                  <a:srgbClr val="444444"/>
                </a:solidFill>
                <a:latin typeface="Economica"/>
                <a:ea typeface="Economica"/>
                <a:cs typeface="Economica"/>
                <a:sym typeface="Economica"/>
              </a:rPr>
              <a:t>Latency</a:t>
            </a:r>
            <a:endParaRPr sz="2200" dirty="0">
              <a:solidFill>
                <a:srgbClr val="444444"/>
              </a:solidFill>
              <a:latin typeface="Economica"/>
              <a:ea typeface="Economica"/>
              <a:cs typeface="Economica"/>
              <a:sym typeface="Economica"/>
            </a:endParaRPr>
          </a:p>
          <a:p>
            <a:pPr marL="914400" lvl="1" indent="-368300" algn="l" rtl="0">
              <a:spcBef>
                <a:spcPts val="0"/>
              </a:spcBef>
              <a:spcAft>
                <a:spcPts val="0"/>
              </a:spcAft>
              <a:buClr>
                <a:srgbClr val="444444"/>
              </a:buClr>
              <a:buSzPts val="2200"/>
              <a:buFont typeface="Economica"/>
              <a:buChar char="○"/>
            </a:pPr>
            <a:r>
              <a:rPr lang="en-US" sz="2200" dirty="0">
                <a:solidFill>
                  <a:srgbClr val="444444"/>
                </a:solidFill>
                <a:latin typeface="Economica"/>
                <a:ea typeface="Economica"/>
                <a:cs typeface="Economica"/>
                <a:sym typeface="Economica"/>
              </a:rPr>
              <a:t>No concept of global timestamping</a:t>
            </a:r>
            <a:endParaRPr sz="2200" dirty="0">
              <a:solidFill>
                <a:srgbClr val="444444"/>
              </a:solidFill>
              <a:latin typeface="Economica"/>
              <a:ea typeface="Economica"/>
              <a:cs typeface="Economica"/>
              <a:sym typeface="Economica"/>
            </a:endParaRPr>
          </a:p>
        </p:txBody>
      </p:sp>
      <p:pic>
        <p:nvPicPr>
          <p:cNvPr id="4" name="Picture 3">
            <a:extLst>
              <a:ext uri="{FF2B5EF4-FFF2-40B4-BE49-F238E27FC236}">
                <a16:creationId xmlns:a16="http://schemas.microsoft.com/office/drawing/2014/main" id="{794CC0F2-6194-4530-A09C-055D9E6342AA}"/>
              </a:ext>
            </a:extLst>
          </p:cNvPr>
          <p:cNvPicPr>
            <a:picLocks noChangeAspect="1"/>
          </p:cNvPicPr>
          <p:nvPr/>
        </p:nvPicPr>
        <p:blipFill>
          <a:blip r:embed="rId3"/>
          <a:stretch>
            <a:fillRect/>
          </a:stretch>
        </p:blipFill>
        <p:spPr>
          <a:xfrm>
            <a:off x="4009292" y="4895557"/>
            <a:ext cx="5001542" cy="13137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Double Spending</a:t>
            </a:r>
            <a:endParaRPr/>
          </a:p>
        </p:txBody>
      </p:sp>
      <p:sp>
        <p:nvSpPr>
          <p:cNvPr id="160" name="Google Shape;160;p26"/>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Double-spending is a problem in which the same digital currency can be spent more than once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 real life, it is same as someone pays you with a bank cheque and before you could cash it, they withdraws money from their account</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Digital currencies such as </a:t>
            </a:r>
            <a:r>
              <a:rPr lang="en-US" sz="2600">
                <a:solidFill>
                  <a:srgbClr val="444444"/>
                </a:solidFill>
                <a:uFill>
                  <a:noFill/>
                </a:uFill>
                <a:latin typeface="Economica"/>
                <a:ea typeface="Economica"/>
                <a:cs typeface="Economica"/>
                <a:sym typeface="Economica"/>
                <a:hlinkClick r:id="rId3">
                  <a:extLst>
                    <a:ext uri="{A12FA001-AC4F-418D-AE19-62706E023703}">
                      <ahyp:hlinkClr xmlns:ahyp="http://schemas.microsoft.com/office/drawing/2018/hyperlinkcolor" val="tx"/>
                    </a:ext>
                  </a:extLst>
                </a:hlinkClick>
              </a:rPr>
              <a:t>Bitcoin</a:t>
            </a:r>
            <a:r>
              <a:rPr lang="en-US" sz="2600">
                <a:solidFill>
                  <a:srgbClr val="444444"/>
                </a:solidFill>
                <a:latin typeface="Economica"/>
                <a:ea typeface="Economica"/>
                <a:cs typeface="Economica"/>
                <a:sym typeface="Economica"/>
              </a:rPr>
              <a:t>, can be thought of as being a digital file. Hence, nothing can prevent someone from sharing same file with multiple people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Protection against double spending is purely by </a:t>
            </a:r>
            <a:r>
              <a:rPr lang="en-US" sz="2600" b="1">
                <a:solidFill>
                  <a:srgbClr val="444444"/>
                </a:solidFill>
                <a:latin typeface="Economica"/>
                <a:ea typeface="Economica"/>
                <a:cs typeface="Economica"/>
                <a:sym typeface="Economica"/>
              </a:rPr>
              <a:t>consensus</a:t>
            </a:r>
            <a:endParaRPr sz="2600" b="1">
              <a:solidFill>
                <a:srgbClr val="444444"/>
              </a:solidFill>
              <a:latin typeface="Economica"/>
              <a:ea typeface="Economica"/>
              <a:cs typeface="Economica"/>
              <a:sym typeface="Economic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Double Spending Example</a:t>
            </a:r>
            <a:endParaRPr/>
          </a:p>
        </p:txBody>
      </p:sp>
      <p:pic>
        <p:nvPicPr>
          <p:cNvPr id="168" name="Google Shape;168;p27"/>
          <p:cNvPicPr preferRelativeResize="0"/>
          <p:nvPr/>
        </p:nvPicPr>
        <p:blipFill>
          <a:blip r:embed="rId3">
            <a:alphaModFix/>
          </a:blip>
          <a:stretch>
            <a:fillRect/>
          </a:stretch>
        </p:blipFill>
        <p:spPr>
          <a:xfrm>
            <a:off x="0" y="2006978"/>
            <a:ext cx="9144003" cy="345364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US"/>
              <a:t>Double Spending Example</a:t>
            </a:r>
            <a:endParaRPr/>
          </a:p>
        </p:txBody>
      </p:sp>
      <p:sp>
        <p:nvSpPr>
          <p:cNvPr id="175" name="Google Shape;175;p28"/>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176" name="Google Shape;176;p28"/>
          <p:cNvPicPr preferRelativeResize="0"/>
          <p:nvPr/>
        </p:nvPicPr>
        <p:blipFill>
          <a:blip r:embed="rId3">
            <a:alphaModFix/>
          </a:blip>
          <a:stretch>
            <a:fillRect/>
          </a:stretch>
        </p:blipFill>
        <p:spPr>
          <a:xfrm>
            <a:off x="0" y="1721564"/>
            <a:ext cx="9144002" cy="44816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Types of Double Spending in Proof of Work</a:t>
            </a:r>
            <a:endParaRPr/>
          </a:p>
        </p:txBody>
      </p:sp>
      <p:sp>
        <p:nvSpPr>
          <p:cNvPr id="183" name="Google Shape;183;p29"/>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Race Attack</a:t>
            </a:r>
            <a:endParaRPr sz="2600" dirty="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Finney Attack</a:t>
            </a: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Dusty attack</a:t>
            </a:r>
            <a:endParaRPr sz="2600" dirty="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51% Attack</a:t>
            </a:r>
            <a:endParaRPr sz="2600" dirty="0">
              <a:solidFill>
                <a:srgbClr val="444444"/>
              </a:solidFill>
              <a:latin typeface="Economica"/>
              <a:ea typeface="Economica"/>
              <a:cs typeface="Economica"/>
              <a:sym typeface="Economic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Double Spending</a:t>
            </a:r>
            <a:endParaRPr/>
          </a:p>
        </p:txBody>
      </p:sp>
      <p:pic>
        <p:nvPicPr>
          <p:cNvPr id="5" name="Picture 4">
            <a:extLst>
              <a:ext uri="{FF2B5EF4-FFF2-40B4-BE49-F238E27FC236}">
                <a16:creationId xmlns:a16="http://schemas.microsoft.com/office/drawing/2014/main" id="{BBDC5CED-FC08-4F9F-AAF3-F6561D52CF3E}"/>
              </a:ext>
            </a:extLst>
          </p:cNvPr>
          <p:cNvPicPr>
            <a:picLocks noChangeAspect="1"/>
          </p:cNvPicPr>
          <p:nvPr/>
        </p:nvPicPr>
        <p:blipFill>
          <a:blip r:embed="rId3"/>
          <a:stretch>
            <a:fillRect/>
          </a:stretch>
        </p:blipFill>
        <p:spPr>
          <a:xfrm>
            <a:off x="905034" y="1659988"/>
            <a:ext cx="7333932" cy="44457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Double Spending</a:t>
            </a:r>
            <a:endParaRPr/>
          </a:p>
        </p:txBody>
      </p:sp>
      <p:sp>
        <p:nvSpPr>
          <p:cNvPr id="190" name="Google Shape;190;p30"/>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191" name="Google Shape;191;p30"/>
          <p:cNvPicPr preferRelativeResize="0"/>
          <p:nvPr/>
        </p:nvPicPr>
        <p:blipFill>
          <a:blip r:embed="rId3">
            <a:alphaModFix/>
          </a:blip>
          <a:stretch>
            <a:fillRect/>
          </a:stretch>
        </p:blipFill>
        <p:spPr>
          <a:xfrm>
            <a:off x="0" y="1622107"/>
            <a:ext cx="9144000" cy="5137785"/>
          </a:xfrm>
          <a:prstGeom prst="rect">
            <a:avLst/>
          </a:prstGeom>
          <a:noFill/>
          <a:ln>
            <a:noFill/>
          </a:ln>
        </p:spPr>
      </p:pic>
    </p:spTree>
    <p:extLst>
      <p:ext uri="{BB962C8B-B14F-4D97-AF65-F5344CB8AC3E}">
        <p14:creationId xmlns:p14="http://schemas.microsoft.com/office/powerpoint/2010/main" val="648574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Double Spending: Race Attack</a:t>
            </a:r>
            <a:endParaRPr dirty="0"/>
          </a:p>
        </p:txBody>
      </p:sp>
      <p:sp>
        <p:nvSpPr>
          <p:cNvPr id="198" name="Google Shape;198;p31"/>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 race attack becomes possible when merchants accept payments before receiving block confirmations on the transaction. </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An end user sends two transactions almost simultaneously, one to the merchant and another one back to another wallet. </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 this case, miners could validate the operation toward the wallet, which would mean that the merchant wouldn’t receive the funds.</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All an attacker needs is mining power in order to perform rce attack, however if Proof of Stake is used instead of Proof of Work then attacker would have more to lose than gain!</a:t>
            </a:r>
            <a:endParaRPr sz="2600">
              <a:solidFill>
                <a:srgbClr val="444444"/>
              </a:solidFill>
              <a:latin typeface="Economica"/>
              <a:ea typeface="Economica"/>
              <a:cs typeface="Economica"/>
              <a:sym typeface="Economic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3" name="Picture 2">
            <a:extLst>
              <a:ext uri="{FF2B5EF4-FFF2-40B4-BE49-F238E27FC236}">
                <a16:creationId xmlns:a16="http://schemas.microsoft.com/office/drawing/2014/main" id="{3DA2C1C9-C3C7-4098-BD9A-2D9E43D9DD41}"/>
              </a:ext>
            </a:extLst>
          </p:cNvPr>
          <p:cNvPicPr>
            <a:picLocks noChangeAspect="1"/>
          </p:cNvPicPr>
          <p:nvPr/>
        </p:nvPicPr>
        <p:blipFill rotWithShape="1">
          <a:blip r:embed="rId3"/>
          <a:srcRect t="22264"/>
          <a:stretch/>
        </p:blipFill>
        <p:spPr>
          <a:xfrm>
            <a:off x="479412" y="2489981"/>
            <a:ext cx="8185175" cy="3573194"/>
          </a:xfrm>
          <a:prstGeom prst="rect">
            <a:avLst/>
          </a:prstGeom>
        </p:spPr>
      </p:pic>
      <p:sp>
        <p:nvSpPr>
          <p:cNvPr id="7" name="Google Shape;197;p31">
            <a:extLst>
              <a:ext uri="{FF2B5EF4-FFF2-40B4-BE49-F238E27FC236}">
                <a16:creationId xmlns:a16="http://schemas.microsoft.com/office/drawing/2014/main" id="{9D3D25DB-992C-40D6-A222-F5E101F5BD0C}"/>
              </a:ext>
            </a:extLst>
          </p:cNvPr>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Double Spending: Race Attack</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6" name="Google Shape;206;p32"/>
          <p:cNvPicPr preferRelativeResize="0"/>
          <p:nvPr/>
        </p:nvPicPr>
        <p:blipFill>
          <a:blip r:embed="rId3">
            <a:alphaModFix/>
          </a:blip>
          <a:stretch>
            <a:fillRect/>
          </a:stretch>
        </p:blipFill>
        <p:spPr>
          <a:xfrm>
            <a:off x="1657992" y="98474"/>
            <a:ext cx="5586869" cy="634452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4" name="Google Shape;214;p33"/>
          <p:cNvPicPr preferRelativeResize="0"/>
          <p:nvPr/>
        </p:nvPicPr>
        <p:blipFill>
          <a:blip r:embed="rId3">
            <a:alphaModFix/>
          </a:blip>
          <a:stretch>
            <a:fillRect/>
          </a:stretch>
        </p:blipFill>
        <p:spPr>
          <a:xfrm>
            <a:off x="1377139" y="1"/>
            <a:ext cx="6317889" cy="659774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2" name="Google Shape;222;p34"/>
          <p:cNvPicPr preferRelativeResize="0"/>
          <p:nvPr/>
        </p:nvPicPr>
        <p:blipFill>
          <a:blip r:embed="rId3">
            <a:alphaModFix/>
          </a:blip>
          <a:stretch>
            <a:fillRect/>
          </a:stretch>
        </p:blipFill>
        <p:spPr>
          <a:xfrm>
            <a:off x="1927273" y="56273"/>
            <a:ext cx="5477669" cy="665401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Double Spending: Finney Attack</a:t>
            </a:r>
            <a:endParaRPr dirty="0"/>
          </a:p>
        </p:txBody>
      </p:sp>
      <p:sp>
        <p:nvSpPr>
          <p:cNvPr id="229" name="Google Shape;229;p35"/>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A Finney attack also occurs when the merchant doesn’t wait for confirmation of the transaction. </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 this case, a miner transfers funds from one wallet to another but doesn’t validate the block immediately. </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Then, he or she uses the source wallet to make a purchase. </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Once the second transaction is set, the miner broadcasts the previously mined block, which also includes the first transaction.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7" name="Google Shape;237;p36"/>
          <p:cNvPicPr preferRelativeResize="0"/>
          <p:nvPr/>
        </p:nvPicPr>
        <p:blipFill>
          <a:blip r:embed="rId3">
            <a:alphaModFix/>
          </a:blip>
          <a:stretch>
            <a:fillRect/>
          </a:stretch>
        </p:blipFill>
        <p:spPr>
          <a:xfrm>
            <a:off x="2785403" y="140677"/>
            <a:ext cx="4039041" cy="635859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5" name="Google Shape;245;p37"/>
          <p:cNvPicPr preferRelativeResize="0"/>
          <p:nvPr/>
        </p:nvPicPr>
        <p:blipFill>
          <a:blip r:embed="rId3">
            <a:alphaModFix/>
          </a:blip>
          <a:stretch>
            <a:fillRect/>
          </a:stretch>
        </p:blipFill>
        <p:spPr>
          <a:xfrm>
            <a:off x="2247715" y="450167"/>
            <a:ext cx="4648569" cy="61686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800403" y="126609"/>
            <a:ext cx="3136164" cy="615461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3" name="Picture 2">
            <a:extLst>
              <a:ext uri="{FF2B5EF4-FFF2-40B4-BE49-F238E27FC236}">
                <a16:creationId xmlns:a16="http://schemas.microsoft.com/office/drawing/2014/main" id="{4AD807BA-58D3-40B8-939D-2820531B7944}"/>
              </a:ext>
            </a:extLst>
          </p:cNvPr>
          <p:cNvPicPr>
            <a:picLocks noChangeAspect="1"/>
          </p:cNvPicPr>
          <p:nvPr/>
        </p:nvPicPr>
        <p:blipFill>
          <a:blip r:embed="rId3"/>
          <a:stretch>
            <a:fillRect/>
          </a:stretch>
        </p:blipFill>
        <p:spPr>
          <a:xfrm>
            <a:off x="1238250" y="1433512"/>
            <a:ext cx="6667500" cy="3990975"/>
          </a:xfrm>
          <a:prstGeom prst="rect">
            <a:avLst/>
          </a:prstGeom>
        </p:spPr>
      </p:pic>
      <p:sp>
        <p:nvSpPr>
          <p:cNvPr id="4" name="Google Shape;228;p35">
            <a:extLst>
              <a:ext uri="{FF2B5EF4-FFF2-40B4-BE49-F238E27FC236}">
                <a16:creationId xmlns:a16="http://schemas.microsoft.com/office/drawing/2014/main" id="{D4BAEB90-5EA1-472A-8113-A4EAAD0845B7}"/>
              </a:ext>
            </a:extLst>
          </p:cNvPr>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Double Spending: Finney Attack</a:t>
            </a:r>
            <a:endParaRPr dirty="0"/>
          </a:p>
        </p:txBody>
      </p:sp>
    </p:spTree>
    <p:extLst>
      <p:ext uri="{BB962C8B-B14F-4D97-AF65-F5344CB8AC3E}">
        <p14:creationId xmlns:p14="http://schemas.microsoft.com/office/powerpoint/2010/main" val="3291798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D8F00-534C-4D59-9964-E72A55070A74}"/>
              </a:ext>
            </a:extLst>
          </p:cNvPr>
          <p:cNvSpPr>
            <a:spLocks noGrp="1"/>
          </p:cNvSpPr>
          <p:nvPr>
            <p:ph type="title"/>
          </p:nvPr>
        </p:nvSpPr>
        <p:spPr/>
        <p:txBody>
          <a:bodyPr/>
          <a:lstStyle/>
          <a:p>
            <a:r>
              <a:rPr lang="en-US" dirty="0"/>
              <a:t>Dusting attack : What is Bitcoin dust?</a:t>
            </a:r>
          </a:p>
        </p:txBody>
      </p:sp>
      <p:sp>
        <p:nvSpPr>
          <p:cNvPr id="3" name="Text Placeholder 2">
            <a:extLst>
              <a:ext uri="{FF2B5EF4-FFF2-40B4-BE49-F238E27FC236}">
                <a16:creationId xmlns:a16="http://schemas.microsoft.com/office/drawing/2014/main" id="{76C5D2FF-D908-489F-AC9F-E6C76131FF0B}"/>
              </a:ext>
            </a:extLst>
          </p:cNvPr>
          <p:cNvSpPr>
            <a:spLocks noGrp="1"/>
          </p:cNvSpPr>
          <p:nvPr>
            <p:ph type="body" idx="1"/>
          </p:nvPr>
        </p:nvSpPr>
        <p:spPr/>
        <p:txBody>
          <a:bodyPr/>
          <a:lstStyle/>
          <a:p>
            <a:r>
              <a:rPr lang="en-US" dirty="0"/>
              <a:t>A dusting attack is an attack in which a trace amount of crypto, called dust, is sent to thousands — sometimes even hundreds of thousands — of wallet addresses. This attack is deployed in order to track these addresses with the hope of “un-masking” or de-anonymizing them.</a:t>
            </a:r>
          </a:p>
          <a:p>
            <a:endParaRPr lang="en-US" dirty="0"/>
          </a:p>
          <a:p>
            <a:r>
              <a:rPr lang="en-US" dirty="0"/>
              <a:t>Bitcoin dust refers to the small amount of bitcoin leftover or unspent in a transaction that is lower in value than the minimum limit of a valid transaction. Thus, processing the transaction is impossible, trapping a tiny amount of Bitcoin in a wallet or address.</a:t>
            </a:r>
          </a:p>
        </p:txBody>
      </p:sp>
    </p:spTree>
    <p:extLst>
      <p:ext uri="{BB962C8B-B14F-4D97-AF65-F5344CB8AC3E}">
        <p14:creationId xmlns:p14="http://schemas.microsoft.com/office/powerpoint/2010/main" val="3156970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70F05-3BEF-4219-943B-36B196FE7295}"/>
              </a:ext>
            </a:extLst>
          </p:cNvPr>
          <p:cNvSpPr>
            <a:spLocks noGrp="1"/>
          </p:cNvSpPr>
          <p:nvPr>
            <p:ph type="title"/>
          </p:nvPr>
        </p:nvSpPr>
        <p:spPr/>
        <p:txBody>
          <a:bodyPr/>
          <a:lstStyle/>
          <a:p>
            <a:r>
              <a:rPr lang="en-US" dirty="0"/>
              <a:t>Dusty Attack</a:t>
            </a:r>
          </a:p>
        </p:txBody>
      </p:sp>
      <p:sp>
        <p:nvSpPr>
          <p:cNvPr id="3" name="Text Placeholder 2">
            <a:extLst>
              <a:ext uri="{FF2B5EF4-FFF2-40B4-BE49-F238E27FC236}">
                <a16:creationId xmlns:a16="http://schemas.microsoft.com/office/drawing/2014/main" id="{D2BEF67E-65C8-4A4E-BF25-D05C617D3574}"/>
              </a:ext>
            </a:extLst>
          </p:cNvPr>
          <p:cNvSpPr>
            <a:spLocks noGrp="1"/>
          </p:cNvSpPr>
          <p:nvPr>
            <p:ph type="body" idx="1"/>
          </p:nvPr>
        </p:nvSpPr>
        <p:spPr/>
        <p:txBody>
          <a:bodyPr/>
          <a:lstStyle/>
          <a:p>
            <a:r>
              <a:rPr lang="en-US" dirty="0"/>
              <a:t>This is done by sending a tiny amount of the asset to multiple addresses. A dust attack does not give an attacker access to your funds.</a:t>
            </a:r>
          </a:p>
          <a:p>
            <a:endParaRPr lang="en-US" dirty="0"/>
          </a:p>
        </p:txBody>
      </p:sp>
      <p:pic>
        <p:nvPicPr>
          <p:cNvPr id="4" name="Picture 2" descr="The Dusting Attack Explained. By Coins Capture on Altcoin Magazine | by  Coins Capture | The Capital | Medium">
            <a:extLst>
              <a:ext uri="{FF2B5EF4-FFF2-40B4-BE49-F238E27FC236}">
                <a16:creationId xmlns:a16="http://schemas.microsoft.com/office/drawing/2014/main" id="{DFB61A70-FBAA-4BED-A7FF-1B7B52B25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061" y="2518949"/>
            <a:ext cx="7803147" cy="355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847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9"/>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Double Spending: 51% Attack</a:t>
            </a:r>
            <a:endParaRPr/>
          </a:p>
        </p:txBody>
      </p:sp>
      <p:sp>
        <p:nvSpPr>
          <p:cNvPr id="260" name="Google Shape;260;p39"/>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A 51% attack in this situation is called a majority attack because it requires the attacker to control more than half of a network’s hash rate. </a:t>
            </a:r>
            <a:endParaRPr sz="2600" dirty="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This could be possible if one miner or a group of miners managed to generate blocks faster than the rest of the other users on a network. </a:t>
            </a:r>
            <a:endParaRPr sz="2600" dirty="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All consensus algorithms are built to eliminate the risks of a </a:t>
            </a:r>
            <a:r>
              <a:rPr lang="en-US" sz="2600" dirty="0">
                <a:solidFill>
                  <a:srgbClr val="444444"/>
                </a:solidFill>
                <a:uFill>
                  <a:noFill/>
                </a:uFill>
                <a:latin typeface="Economica"/>
                <a:ea typeface="Economica"/>
                <a:cs typeface="Economica"/>
                <a:sym typeface="Economica"/>
                <a:hlinkClick r:id="rId3">
                  <a:extLst>
                    <a:ext uri="{A12FA001-AC4F-418D-AE19-62706E023703}">
                      <ahyp:hlinkClr xmlns:ahyp="http://schemas.microsoft.com/office/drawing/2018/hyperlinkcolor" val="tx"/>
                    </a:ext>
                  </a:extLst>
                </a:hlinkClick>
              </a:rPr>
              <a:t>51% attack</a:t>
            </a:r>
            <a:r>
              <a:rPr lang="en-US" sz="2600" dirty="0">
                <a:solidFill>
                  <a:srgbClr val="444444"/>
                </a:solidFill>
                <a:latin typeface="Economica"/>
                <a:ea typeface="Economica"/>
                <a:cs typeface="Economica"/>
                <a:sym typeface="Economica"/>
              </a:rPr>
              <a:t>.</a:t>
            </a:r>
            <a:endParaRPr sz="2600" dirty="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dirty="0">
                <a:solidFill>
                  <a:srgbClr val="444444"/>
                </a:solidFill>
                <a:latin typeface="Economica"/>
                <a:ea typeface="Economica"/>
                <a:cs typeface="Economica"/>
                <a:sym typeface="Economica"/>
              </a:rPr>
              <a:t>Example: </a:t>
            </a:r>
            <a:r>
              <a:rPr lang="en-US" sz="2600" dirty="0" err="1">
                <a:solidFill>
                  <a:srgbClr val="444444"/>
                </a:solidFill>
                <a:latin typeface="Economica"/>
                <a:ea typeface="Economica"/>
                <a:cs typeface="Economica"/>
                <a:sym typeface="Economica"/>
              </a:rPr>
              <a:t>Slushpool</a:t>
            </a:r>
            <a:r>
              <a:rPr lang="en-US" sz="2600" dirty="0">
                <a:solidFill>
                  <a:srgbClr val="444444"/>
                </a:solidFill>
                <a:latin typeface="Economica"/>
                <a:ea typeface="Economica"/>
                <a:cs typeface="Economica"/>
                <a:sym typeface="Economica"/>
              </a:rPr>
              <a:t> has 200,000 miners and owns 12% of the network</a:t>
            </a:r>
            <a:endParaRPr sz="2600" dirty="0">
              <a:solidFill>
                <a:srgbClr val="444444"/>
              </a:solidFill>
              <a:latin typeface="Economica"/>
              <a:ea typeface="Economica"/>
              <a:cs typeface="Economica"/>
              <a:sym typeface="Economic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8" name="Google Shape;268;p40"/>
          <p:cNvPicPr preferRelativeResize="0"/>
          <p:nvPr/>
        </p:nvPicPr>
        <p:blipFill>
          <a:blip r:embed="rId3">
            <a:alphaModFix/>
          </a:blip>
          <a:stretch>
            <a:fillRect/>
          </a:stretch>
        </p:blipFill>
        <p:spPr>
          <a:xfrm>
            <a:off x="1608192" y="351692"/>
            <a:ext cx="5927616" cy="615461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6" name="Google Shape;276;p41"/>
          <p:cNvPicPr preferRelativeResize="0"/>
          <p:nvPr/>
        </p:nvPicPr>
        <p:blipFill>
          <a:blip r:embed="rId3">
            <a:alphaModFix/>
          </a:blip>
          <a:stretch>
            <a:fillRect/>
          </a:stretch>
        </p:blipFill>
        <p:spPr>
          <a:xfrm>
            <a:off x="1674754" y="506437"/>
            <a:ext cx="5794491" cy="608427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4" name="Google Shape;284;p42"/>
          <p:cNvPicPr preferRelativeResize="0"/>
          <p:nvPr/>
        </p:nvPicPr>
        <p:blipFill>
          <a:blip r:embed="rId3">
            <a:alphaModFix/>
          </a:blip>
          <a:stretch>
            <a:fillRect/>
          </a:stretch>
        </p:blipFill>
        <p:spPr>
          <a:xfrm>
            <a:off x="2049726" y="267286"/>
            <a:ext cx="5251405" cy="632342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Incentive and Proof of Work</a:t>
            </a:r>
            <a:endParaRPr/>
          </a:p>
        </p:txBody>
      </p:sp>
      <p:sp>
        <p:nvSpPr>
          <p:cNvPr id="291" name="Google Shape;291;p43"/>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Despite the extremely secure blockchain platform and robust Proof of Work algorithm, it is practically not possible to prevent double spending attacks automatically</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Bitcoin proposes a system to give incentives to its users in return of their </a:t>
            </a:r>
            <a:r>
              <a:rPr lang="en-US" sz="2600" b="1">
                <a:solidFill>
                  <a:srgbClr val="444444"/>
                </a:solidFill>
                <a:latin typeface="Economica"/>
                <a:ea typeface="Economica"/>
                <a:cs typeface="Economica"/>
                <a:sym typeface="Economica"/>
              </a:rPr>
              <a:t>honest behavior</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Proof of Work incentive system pays in form of digital currency, i.e. Bitcoin!</a:t>
            </a:r>
            <a:endParaRPr sz="2600">
              <a:solidFill>
                <a:srgbClr val="444444"/>
              </a:solidFill>
              <a:latin typeface="Economica"/>
              <a:ea typeface="Economica"/>
              <a:cs typeface="Economica"/>
              <a:sym typeface="Economica"/>
            </a:endParaRPr>
          </a:p>
          <a:p>
            <a:pPr marL="457200" lvl="0" indent="-393700" algn="just" rtl="0">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Complex and smart mechanism of Proof of Work makes sure that these incentives are given to legitimate miners</a:t>
            </a:r>
            <a:endParaRPr sz="2600">
              <a:solidFill>
                <a:srgbClr val="444444"/>
              </a:solidFill>
              <a:latin typeface="Economica"/>
              <a:ea typeface="Economica"/>
              <a:cs typeface="Economica"/>
              <a:sym typeface="Economica"/>
            </a:endParaRPr>
          </a:p>
          <a:p>
            <a:pPr marL="0" lvl="0" indent="0" algn="l" rtl="0">
              <a:spcBef>
                <a:spcPts val="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4"/>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PoW Incentive 1: Block Reward</a:t>
            </a:r>
            <a:endParaRPr/>
          </a:p>
        </p:txBody>
      </p:sp>
      <p:sp>
        <p:nvSpPr>
          <p:cNvPr id="298" name="Google Shape;298;p44"/>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Creator of block gets to:</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Include </a:t>
            </a:r>
            <a:r>
              <a:rPr lang="en-US" sz="2600" b="1">
                <a:solidFill>
                  <a:srgbClr val="444444"/>
                </a:solidFill>
                <a:latin typeface="Economica"/>
                <a:ea typeface="Economica"/>
                <a:cs typeface="Economica"/>
                <a:sym typeface="Economica"/>
              </a:rPr>
              <a:t>special coin-creation transaction</a:t>
            </a:r>
            <a:r>
              <a:rPr lang="en-US" sz="2600">
                <a:solidFill>
                  <a:srgbClr val="444444"/>
                </a:solidFill>
                <a:latin typeface="Economica"/>
                <a:ea typeface="Economica"/>
                <a:cs typeface="Economica"/>
                <a:sym typeface="Economica"/>
              </a:rPr>
              <a:t> in the block</a:t>
            </a:r>
            <a:endParaRPr sz="2600">
              <a:solidFill>
                <a:srgbClr val="444444"/>
              </a:solidFill>
              <a:latin typeface="Economica"/>
              <a:ea typeface="Economica"/>
              <a:cs typeface="Economica"/>
              <a:sym typeface="Economica"/>
            </a:endParaRPr>
          </a:p>
          <a:p>
            <a:pPr marL="914400" marR="0" lvl="1"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Choose the recipient of this coin</a:t>
            </a: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r>
              <a:rPr lang="en-US" sz="2600" b="1">
                <a:solidFill>
                  <a:srgbClr val="444444"/>
                </a:solidFill>
                <a:latin typeface="Economica"/>
                <a:ea typeface="Economica"/>
                <a:cs typeface="Economica"/>
                <a:sym typeface="Economica"/>
              </a:rPr>
              <a:t>Value is fixed: 12.5 BTC, halves every 4 years</a:t>
            </a:r>
            <a:endParaRPr sz="2600" b="1">
              <a:solidFill>
                <a:srgbClr val="444444"/>
              </a:solidFill>
              <a:latin typeface="Economica"/>
              <a:ea typeface="Economica"/>
              <a:cs typeface="Economica"/>
              <a:sym typeface="Economica"/>
            </a:endParaRPr>
          </a:p>
          <a:p>
            <a:pPr marL="457200" marR="0" lvl="0" indent="0" algn="just" rtl="0">
              <a:lnSpc>
                <a:spcPct val="115000"/>
              </a:lnSpc>
              <a:spcBef>
                <a:spcPts val="0"/>
              </a:spcBef>
              <a:spcAft>
                <a:spcPts val="0"/>
              </a:spcAft>
              <a:buNone/>
            </a:pPr>
            <a:r>
              <a:rPr lang="en-US" sz="2600">
                <a:solidFill>
                  <a:srgbClr val="444444"/>
                </a:solidFill>
                <a:latin typeface="Economica"/>
                <a:ea typeface="Economica"/>
                <a:cs typeface="Economica"/>
                <a:sym typeface="Economica"/>
              </a:rPr>
              <a:t>Reason: limiting the supply increases the demand, e.g. diamond</a:t>
            </a: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b="1">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r>
              <a:rPr lang="en-US" sz="2600">
                <a:solidFill>
                  <a:srgbClr val="444444"/>
                </a:solidFill>
                <a:latin typeface="Economica"/>
                <a:ea typeface="Economica"/>
                <a:cs typeface="Economica"/>
                <a:sym typeface="Economica"/>
              </a:rPr>
              <a:t>Block creator gets to “collect” the incentive only if the block ends up on the long-term consensus branch!</a:t>
            </a:r>
            <a:endParaRPr sz="2600">
              <a:solidFill>
                <a:srgbClr val="444444"/>
              </a:solidFill>
              <a:latin typeface="Economica"/>
              <a:ea typeface="Economica"/>
              <a:cs typeface="Economica"/>
              <a:sym typeface="Economic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5"/>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Incentive Halving Rule</a:t>
            </a:r>
            <a:endParaRPr/>
          </a:p>
        </p:txBody>
      </p:sp>
      <p:sp>
        <p:nvSpPr>
          <p:cNvPr id="305" name="Google Shape;305;p45"/>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306" name="Google Shape;306;p45"/>
          <p:cNvPicPr preferRelativeResize="0"/>
          <p:nvPr/>
        </p:nvPicPr>
        <p:blipFill>
          <a:blip r:embed="rId3">
            <a:alphaModFix/>
          </a:blip>
          <a:stretch>
            <a:fillRect/>
          </a:stretch>
        </p:blipFill>
        <p:spPr>
          <a:xfrm>
            <a:off x="0" y="1626268"/>
            <a:ext cx="9143999" cy="467226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6"/>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PoW Incentive 2: Transaction Fees</a:t>
            </a:r>
            <a:endParaRPr/>
          </a:p>
        </p:txBody>
      </p:sp>
      <p:sp>
        <p:nvSpPr>
          <p:cNvPr id="313" name="Google Shape;313;p46"/>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Creator of the block can choose to make the output value less than the input value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Remainder is the transaction fee that goes to the block creator</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Examples: Property dealer, matchmaker, etc.</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transactions which has a fee attached to them, naturally attracts the miners, hence they are picked by miners straightaway</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The transactions without fee are pushed back in the queue</a:t>
            </a: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a:solidFill>
                <a:srgbClr val="444444"/>
              </a:solidFill>
              <a:latin typeface="Economica"/>
              <a:ea typeface="Economica"/>
              <a:cs typeface="Economica"/>
              <a:sym typeface="Economica"/>
            </a:endParaRPr>
          </a:p>
          <a:p>
            <a:pPr marL="0" marR="0" lvl="0" indent="0" algn="just" rtl="0">
              <a:lnSpc>
                <a:spcPct val="115000"/>
              </a:lnSpc>
              <a:spcBef>
                <a:spcPts val="0"/>
              </a:spcBef>
              <a:spcAft>
                <a:spcPts val="0"/>
              </a:spcAft>
              <a:buNone/>
            </a:pPr>
            <a:endParaRPr sz="2600" b="1">
              <a:solidFill>
                <a:srgbClr val="444444"/>
              </a:solidFill>
              <a:latin typeface="Economica"/>
              <a:ea typeface="Economica"/>
              <a:cs typeface="Economica"/>
              <a:sym typeface="Economic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7"/>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t>PoW Incentive 2: Transaction Fees</a:t>
            </a:r>
            <a:endParaRPr/>
          </a:p>
        </p:txBody>
      </p:sp>
      <p:sp>
        <p:nvSpPr>
          <p:cNvPr id="320" name="Google Shape;320;p47"/>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321" name="Google Shape;321;p47"/>
          <p:cNvPicPr preferRelativeResize="0"/>
          <p:nvPr/>
        </p:nvPicPr>
        <p:blipFill>
          <a:blip r:embed="rId3">
            <a:alphaModFix/>
          </a:blip>
          <a:stretch>
            <a:fillRect/>
          </a:stretch>
        </p:blipFill>
        <p:spPr>
          <a:xfrm>
            <a:off x="0" y="1593056"/>
            <a:ext cx="9144000" cy="458628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8"/>
          <p:cNvSpPr txBox="1">
            <a:spLocks noGrp="1"/>
          </p:cNvSpPr>
          <p:nvPr>
            <p:ph type="title"/>
          </p:nvPr>
        </p:nvSpPr>
        <p:spPr>
          <a:xfrm>
            <a:off x="311700" y="421233"/>
            <a:ext cx="8520600" cy="110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Five Questions</a:t>
            </a:r>
            <a:endParaRPr/>
          </a:p>
        </p:txBody>
      </p:sp>
      <p:sp>
        <p:nvSpPr>
          <p:cNvPr id="328" name="Google Shape;328;p48"/>
          <p:cNvSpPr txBox="1">
            <a:spLocks noGrp="1"/>
          </p:cNvSpPr>
          <p:nvPr>
            <p:ph type="body" idx="1"/>
          </p:nvPr>
        </p:nvSpPr>
        <p:spPr>
          <a:xfrm>
            <a:off x="311700" y="1633633"/>
            <a:ext cx="8520600" cy="4472100"/>
          </a:xfrm>
          <a:prstGeom prst="rect">
            <a:avLst/>
          </a:prstGeom>
        </p:spPr>
        <p:txBody>
          <a:bodyPr spcFirstLastPara="1" wrap="square" lIns="91425" tIns="91425" rIns="91425" bIns="91425" anchor="t" anchorCtr="0">
            <a:noAutofit/>
          </a:bodyPr>
          <a:lstStyle/>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Who maintains the ledger?</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Who has authority over which transactions are valid?</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Who creates new Bitcoins/Blocks?</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Who determines how rules of the system change?</a:t>
            </a:r>
            <a:endParaRPr sz="2600">
              <a:solidFill>
                <a:srgbClr val="444444"/>
              </a:solidFill>
              <a:latin typeface="Economica"/>
              <a:ea typeface="Economica"/>
              <a:cs typeface="Economica"/>
              <a:sym typeface="Economica"/>
            </a:endParaRPr>
          </a:p>
          <a:p>
            <a:pPr marL="457200" marR="0" lvl="0" indent="-393700" algn="just" rtl="0">
              <a:lnSpc>
                <a:spcPct val="115000"/>
              </a:lnSpc>
              <a:spcBef>
                <a:spcPts val="0"/>
              </a:spcBef>
              <a:spcAft>
                <a:spcPts val="0"/>
              </a:spcAft>
              <a:buClr>
                <a:srgbClr val="444444"/>
              </a:buClr>
              <a:buSzPts val="2600"/>
              <a:buFont typeface="Economica"/>
              <a:buChar char="●"/>
            </a:pPr>
            <a:r>
              <a:rPr lang="en-US" sz="2600">
                <a:solidFill>
                  <a:srgbClr val="444444"/>
                </a:solidFill>
                <a:latin typeface="Economica"/>
                <a:ea typeface="Economica"/>
                <a:cs typeface="Economica"/>
                <a:sym typeface="Economica"/>
              </a:rPr>
              <a:t>How do Bitcoins acquire exchange value?</a:t>
            </a:r>
            <a:endParaRPr sz="2600">
              <a:solidFill>
                <a:srgbClr val="444444"/>
              </a:solidFill>
              <a:latin typeface="Economica"/>
              <a:ea typeface="Economica"/>
              <a:cs typeface="Economica"/>
              <a:sym typeface="Economic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9"/>
          <p:cNvSpPr txBox="1">
            <a:spLocks noGrp="1"/>
          </p:cNvSpPr>
          <p:nvPr>
            <p:ph type="title"/>
          </p:nvPr>
        </p:nvSpPr>
        <p:spPr>
          <a:xfrm>
            <a:off x="311700" y="421233"/>
            <a:ext cx="8520600" cy="1108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Reference Book</a:t>
            </a:r>
            <a:endParaRPr/>
          </a:p>
        </p:txBody>
      </p:sp>
      <p:sp>
        <p:nvSpPr>
          <p:cNvPr id="335" name="Google Shape;335;p49"/>
          <p:cNvSpPr txBox="1">
            <a:spLocks noGrp="1"/>
          </p:cNvSpPr>
          <p:nvPr>
            <p:ph type="body" idx="1"/>
          </p:nvPr>
        </p:nvSpPr>
        <p:spPr>
          <a:xfrm>
            <a:off x="311700" y="1633633"/>
            <a:ext cx="8520600" cy="44721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360"/>
              </a:spcBef>
              <a:spcAft>
                <a:spcPts val="0"/>
              </a:spcAft>
              <a:buSzPts val="1800"/>
              <a:buNone/>
            </a:pPr>
            <a:r>
              <a:rPr lang="en-US" sz="3600" b="1">
                <a:latin typeface="Economica"/>
                <a:ea typeface="Economica"/>
                <a:cs typeface="Economica"/>
                <a:sym typeface="Economica"/>
              </a:rPr>
              <a:t>Bitcoin and Cryptocurrency Technologies</a:t>
            </a:r>
            <a:endParaRPr sz="3600" b="1">
              <a:latin typeface="Economica"/>
              <a:ea typeface="Economica"/>
              <a:cs typeface="Economica"/>
              <a:sym typeface="Economica"/>
            </a:endParaRPr>
          </a:p>
          <a:p>
            <a:pPr marL="0" lvl="0" indent="0" algn="l" rtl="0">
              <a:lnSpc>
                <a:spcPct val="100000"/>
              </a:lnSpc>
              <a:spcBef>
                <a:spcPts val="360"/>
              </a:spcBef>
              <a:spcAft>
                <a:spcPts val="0"/>
              </a:spcAft>
              <a:buSzPts val="1800"/>
              <a:buNone/>
            </a:pPr>
            <a:endParaRPr>
              <a:latin typeface="Economica"/>
              <a:ea typeface="Economica"/>
              <a:cs typeface="Economica"/>
              <a:sym typeface="Economica"/>
            </a:endParaRPr>
          </a:p>
          <a:p>
            <a:pPr marL="0" lvl="0" indent="0" algn="l" rtl="0">
              <a:lnSpc>
                <a:spcPct val="100000"/>
              </a:lnSpc>
              <a:spcBef>
                <a:spcPts val="360"/>
              </a:spcBef>
              <a:spcAft>
                <a:spcPts val="0"/>
              </a:spcAft>
              <a:buSzPts val="1800"/>
              <a:buNone/>
            </a:pPr>
            <a:r>
              <a:rPr lang="en-US" sz="3000" b="1">
                <a:solidFill>
                  <a:srgbClr val="1C4587"/>
                </a:solidFill>
                <a:latin typeface="Economica"/>
                <a:ea typeface="Economica"/>
                <a:cs typeface="Economica"/>
                <a:sym typeface="Economica"/>
              </a:rPr>
              <a:t>Authors:</a:t>
            </a:r>
            <a:r>
              <a:rPr lang="en-US" sz="3000">
                <a:latin typeface="Economica"/>
                <a:ea typeface="Economica"/>
                <a:cs typeface="Economica"/>
                <a:sym typeface="Economica"/>
              </a:rPr>
              <a:t> Arvind Narayanan, Joseph Bonneau, Edward Felten, Andrew Miller, Steven Goldfeder</a:t>
            </a:r>
            <a:endParaRPr sz="3000">
              <a:latin typeface="Economica"/>
              <a:ea typeface="Economica"/>
              <a:cs typeface="Economica"/>
              <a:sym typeface="Economica"/>
            </a:endParaRPr>
          </a:p>
          <a:p>
            <a:pPr marL="0" lvl="0" indent="0" algn="l" rtl="0">
              <a:lnSpc>
                <a:spcPct val="100000"/>
              </a:lnSpc>
              <a:spcBef>
                <a:spcPts val="360"/>
              </a:spcBef>
              <a:spcAft>
                <a:spcPts val="0"/>
              </a:spcAft>
              <a:buSzPts val="1800"/>
              <a:buNone/>
            </a:pPr>
            <a:endParaRPr sz="3000">
              <a:latin typeface="Economica"/>
              <a:ea typeface="Economica"/>
              <a:cs typeface="Economica"/>
              <a:sym typeface="Economica"/>
            </a:endParaRPr>
          </a:p>
          <a:p>
            <a:pPr marL="0" lvl="0" indent="0" algn="l" rtl="0">
              <a:lnSpc>
                <a:spcPct val="100000"/>
              </a:lnSpc>
              <a:spcBef>
                <a:spcPts val="360"/>
              </a:spcBef>
              <a:spcAft>
                <a:spcPts val="0"/>
              </a:spcAft>
              <a:buSzPts val="1800"/>
              <a:buNone/>
            </a:pPr>
            <a:r>
              <a:rPr lang="en-US" sz="3000" b="1">
                <a:solidFill>
                  <a:srgbClr val="1C4587"/>
                </a:solidFill>
                <a:latin typeface="Economica"/>
                <a:ea typeface="Economica"/>
                <a:cs typeface="Economica"/>
                <a:sym typeface="Economica"/>
              </a:rPr>
              <a:t>Publisher:</a:t>
            </a:r>
            <a:r>
              <a:rPr lang="en-US" sz="3000">
                <a:latin typeface="Economica"/>
                <a:ea typeface="Economica"/>
                <a:cs typeface="Economica"/>
                <a:sym typeface="Economica"/>
              </a:rPr>
              <a:t> Princeton University Press</a:t>
            </a:r>
            <a:endParaRPr sz="3000">
              <a:solidFill>
                <a:srgbClr val="577688"/>
              </a:solidFill>
              <a:highlight>
                <a:srgbClr val="F6FBFC"/>
              </a:highlight>
              <a:latin typeface="Economica"/>
              <a:ea typeface="Economica"/>
              <a:cs typeface="Economica"/>
              <a:sym typeface="Economica"/>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1424</Words>
  <Application>Microsoft Office PowerPoint</Application>
  <PresentationFormat>On-screen Show (4:3)</PresentationFormat>
  <Paragraphs>178</Paragraphs>
  <Slides>42</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Calibri</vt:lpstr>
      <vt:lpstr>Economica</vt:lpstr>
      <vt:lpstr>Arial</vt:lpstr>
      <vt:lpstr>Open Sans</vt:lpstr>
      <vt:lpstr>Luxe</vt:lpstr>
      <vt:lpstr>Decentralization &amp; Blockchain</vt:lpstr>
      <vt:lpstr>Outline</vt:lpstr>
      <vt:lpstr>Centralization</vt:lpstr>
      <vt:lpstr>Decentralization</vt:lpstr>
      <vt:lpstr>PowerPoint Presentation</vt:lpstr>
      <vt:lpstr>Decentralization in Blockchains</vt:lpstr>
      <vt:lpstr>Aspects of Decentralization in Blockchains</vt:lpstr>
      <vt:lpstr>Distributed Consensus</vt:lpstr>
      <vt:lpstr>Defining Distributed Consensus</vt:lpstr>
      <vt:lpstr>Consensus Example: Bitcoin Transaction</vt:lpstr>
      <vt:lpstr>Consensus Example: Bitcoin Transaction</vt:lpstr>
      <vt:lpstr>How does a transaction get into the blockchain?</vt:lpstr>
      <vt:lpstr>What to agree on?</vt:lpstr>
      <vt:lpstr>Double Spending</vt:lpstr>
      <vt:lpstr>Double Spending Example</vt:lpstr>
      <vt:lpstr>Double Spending Example</vt:lpstr>
      <vt:lpstr>Types of Double Spending in Proof of Work</vt:lpstr>
      <vt:lpstr>Double Spending</vt:lpstr>
      <vt:lpstr>Double Spending</vt:lpstr>
      <vt:lpstr>Double Spending: Race Attack</vt:lpstr>
      <vt:lpstr>Double Spending: Race Attack</vt:lpstr>
      <vt:lpstr>PowerPoint Presentation</vt:lpstr>
      <vt:lpstr>PowerPoint Presentation</vt:lpstr>
      <vt:lpstr>PowerPoint Presentation</vt:lpstr>
      <vt:lpstr>Double Spending: Finney Attack</vt:lpstr>
      <vt:lpstr>PowerPoint Presentation</vt:lpstr>
      <vt:lpstr>PowerPoint Presentation</vt:lpstr>
      <vt:lpstr>PowerPoint Presentation</vt:lpstr>
      <vt:lpstr>Double Spending: Finney Attack</vt:lpstr>
      <vt:lpstr>Dusting attack : What is Bitcoin dust?</vt:lpstr>
      <vt:lpstr>Dusty Attack</vt:lpstr>
      <vt:lpstr>Double Spending: 51% Attack</vt:lpstr>
      <vt:lpstr>PowerPoint Presentation</vt:lpstr>
      <vt:lpstr>PowerPoint Presentation</vt:lpstr>
      <vt:lpstr>PowerPoint Presentation</vt:lpstr>
      <vt:lpstr>Incentive and Proof of Work</vt:lpstr>
      <vt:lpstr>PoW Incentive 1: Block Reward</vt:lpstr>
      <vt:lpstr>Incentive Halving Rule</vt:lpstr>
      <vt:lpstr>PoW Incentive 2: Transaction Fees</vt:lpstr>
      <vt:lpstr>PoW Incentive 2: Transaction Fees</vt:lpstr>
      <vt:lpstr>Five Questions</vt:lpstr>
      <vt:lpstr>Reference 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Decentralization &amp; Blockchain</dc:title>
  <cp:lastModifiedBy>Mubariz Rehman</cp:lastModifiedBy>
  <cp:revision>10</cp:revision>
  <dcterms:modified xsi:type="dcterms:W3CDTF">2024-04-29T11:12:38Z</dcterms:modified>
</cp:coreProperties>
</file>