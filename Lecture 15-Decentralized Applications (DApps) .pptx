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44"/>
  </p:notesMasterIdLst>
  <p:sldIdLst>
    <p:sldId id="274" r:id="rId2"/>
    <p:sldId id="473" r:id="rId3"/>
    <p:sldId id="518" r:id="rId4"/>
    <p:sldId id="474" r:id="rId5"/>
    <p:sldId id="475" r:id="rId6"/>
    <p:sldId id="476" r:id="rId7"/>
    <p:sldId id="477" r:id="rId8"/>
    <p:sldId id="483" r:id="rId9"/>
    <p:sldId id="519" r:id="rId10"/>
    <p:sldId id="484" r:id="rId11"/>
    <p:sldId id="485" r:id="rId12"/>
    <p:sldId id="486" r:id="rId13"/>
    <p:sldId id="487" r:id="rId14"/>
    <p:sldId id="520" r:id="rId15"/>
    <p:sldId id="488" r:id="rId16"/>
    <p:sldId id="489" r:id="rId17"/>
    <p:sldId id="490" r:id="rId18"/>
    <p:sldId id="492" r:id="rId19"/>
    <p:sldId id="491" r:id="rId20"/>
    <p:sldId id="493" r:id="rId21"/>
    <p:sldId id="494" r:id="rId22"/>
    <p:sldId id="496" r:id="rId23"/>
    <p:sldId id="498" r:id="rId24"/>
    <p:sldId id="500" r:id="rId25"/>
    <p:sldId id="499" r:id="rId26"/>
    <p:sldId id="497" r:id="rId27"/>
    <p:sldId id="501" r:id="rId28"/>
    <p:sldId id="479" r:id="rId29"/>
    <p:sldId id="480" r:id="rId30"/>
    <p:sldId id="502" r:id="rId31"/>
    <p:sldId id="503" r:id="rId32"/>
    <p:sldId id="504" r:id="rId33"/>
    <p:sldId id="506" r:id="rId34"/>
    <p:sldId id="507" r:id="rId35"/>
    <p:sldId id="508" r:id="rId36"/>
    <p:sldId id="509" r:id="rId37"/>
    <p:sldId id="510" r:id="rId38"/>
    <p:sldId id="511" r:id="rId39"/>
    <p:sldId id="513" r:id="rId40"/>
    <p:sldId id="514" r:id="rId41"/>
    <p:sldId id="512" r:id="rId42"/>
    <p:sldId id="522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E8AD48-5B8F-46DE-90F5-36994F2FD5C1}" v="2" dt="2023-11-27T12:15:28.376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4"/>
    <p:restoredTop sz="94773"/>
  </p:normalViewPr>
  <p:slideViewPr>
    <p:cSldViewPr>
      <p:cViewPr varScale="1">
        <p:scale>
          <a:sx n="59" d="100"/>
          <a:sy n="59" d="100"/>
        </p:scale>
        <p:origin x="162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Muhammad" userId="6b0af2cb-2f76-400b-94d9-178b55ef4f85" providerId="ADAL" clId="{B5E8AD48-5B8F-46DE-90F5-36994F2FD5C1}"/>
    <pc:docChg chg="undo custSel addSld delSld modSld sldOrd">
      <pc:chgData name="Asif Muhammad" userId="6b0af2cb-2f76-400b-94d9-178b55ef4f85" providerId="ADAL" clId="{B5E8AD48-5B8F-46DE-90F5-36994F2FD5C1}" dt="2023-11-29T13:57:12.212" v="129" actId="47"/>
      <pc:docMkLst>
        <pc:docMk/>
      </pc:docMkLst>
      <pc:sldChg chg="modSp mod">
        <pc:chgData name="Asif Muhammad" userId="6b0af2cb-2f76-400b-94d9-178b55ef4f85" providerId="ADAL" clId="{B5E8AD48-5B8F-46DE-90F5-36994F2FD5C1}" dt="2023-11-27T11:56:47.233" v="22" actId="20577"/>
        <pc:sldMkLst>
          <pc:docMk/>
          <pc:sldMk cId="0" sldId="274"/>
        </pc:sldMkLst>
        <pc:spChg chg="mod">
          <ac:chgData name="Asif Muhammad" userId="6b0af2cb-2f76-400b-94d9-178b55ef4f85" providerId="ADAL" clId="{B5E8AD48-5B8F-46DE-90F5-36994F2FD5C1}" dt="2023-11-27T11:56:47.233" v="22" actId="20577"/>
          <ac:spMkLst>
            <pc:docMk/>
            <pc:sldMk cId="0" sldId="274"/>
            <ac:spMk id="14337" creationId="{03CFC9D4-CFCB-F1EA-3930-FACFC663AEDB}"/>
          </ac:spMkLst>
        </pc:spChg>
      </pc:sldChg>
      <pc:sldChg chg="modSp mod">
        <pc:chgData name="Asif Muhammad" userId="6b0af2cb-2f76-400b-94d9-178b55ef4f85" providerId="ADAL" clId="{B5E8AD48-5B8F-46DE-90F5-36994F2FD5C1}" dt="2023-11-27T12:50:07.710" v="111" actId="20577"/>
        <pc:sldMkLst>
          <pc:docMk/>
          <pc:sldMk cId="0" sldId="507"/>
        </pc:sldMkLst>
        <pc:spChg chg="mod">
          <ac:chgData name="Asif Muhammad" userId="6b0af2cb-2f76-400b-94d9-178b55ef4f85" providerId="ADAL" clId="{B5E8AD48-5B8F-46DE-90F5-36994F2FD5C1}" dt="2023-11-27T12:50:07.710" v="111" actId="20577"/>
          <ac:spMkLst>
            <pc:docMk/>
            <pc:sldMk cId="0" sldId="507"/>
            <ac:spMk id="46082" creationId="{49DB3F59-C0D0-70A0-10FC-099D57AD0C1C}"/>
          </ac:spMkLst>
        </pc:spChg>
      </pc:sldChg>
      <pc:sldChg chg="del">
        <pc:chgData name="Asif Muhammad" userId="6b0af2cb-2f76-400b-94d9-178b55ef4f85" providerId="ADAL" clId="{B5E8AD48-5B8F-46DE-90F5-36994F2FD5C1}" dt="2023-11-27T15:52:01.797" v="112" actId="47"/>
        <pc:sldMkLst>
          <pc:docMk/>
          <pc:sldMk cId="0" sldId="517"/>
        </pc:sldMkLst>
      </pc:sldChg>
      <pc:sldChg chg="modSp mod">
        <pc:chgData name="Asif Muhammad" userId="6b0af2cb-2f76-400b-94d9-178b55ef4f85" providerId="ADAL" clId="{B5E8AD48-5B8F-46DE-90F5-36994F2FD5C1}" dt="2023-11-27T12:01:38.278" v="102" actId="33524"/>
        <pc:sldMkLst>
          <pc:docMk/>
          <pc:sldMk cId="0" sldId="518"/>
        </pc:sldMkLst>
        <pc:spChg chg="mod">
          <ac:chgData name="Asif Muhammad" userId="6b0af2cb-2f76-400b-94d9-178b55ef4f85" providerId="ADAL" clId="{B5E8AD48-5B8F-46DE-90F5-36994F2FD5C1}" dt="2023-11-27T12:01:38.278" v="102" actId="33524"/>
          <ac:spMkLst>
            <pc:docMk/>
            <pc:sldMk cId="0" sldId="518"/>
            <ac:spMk id="3" creationId="{C9EA8FB1-2F96-2D47-ED2C-1E3417649AC9}"/>
          </ac:spMkLst>
        </pc:spChg>
      </pc:sldChg>
      <pc:sldChg chg="delSp modSp mod">
        <pc:chgData name="Asif Muhammad" userId="6b0af2cb-2f76-400b-94d9-178b55ef4f85" providerId="ADAL" clId="{B5E8AD48-5B8F-46DE-90F5-36994F2FD5C1}" dt="2023-11-27T12:15:28.376" v="108" actId="478"/>
        <pc:sldMkLst>
          <pc:docMk/>
          <pc:sldMk cId="0" sldId="520"/>
        </pc:sldMkLst>
        <pc:spChg chg="mod">
          <ac:chgData name="Asif Muhammad" userId="6b0af2cb-2f76-400b-94d9-178b55ef4f85" providerId="ADAL" clId="{B5E8AD48-5B8F-46DE-90F5-36994F2FD5C1}" dt="2023-11-27T12:15:06.732" v="107" actId="790"/>
          <ac:spMkLst>
            <pc:docMk/>
            <pc:sldMk cId="0" sldId="520"/>
            <ac:spMk id="28674" creationId="{8BC7B5FC-EB97-6E61-4438-9372EFA39819}"/>
          </ac:spMkLst>
        </pc:spChg>
        <pc:picChg chg="del">
          <ac:chgData name="Asif Muhammad" userId="6b0af2cb-2f76-400b-94d9-178b55ef4f85" providerId="ADAL" clId="{B5E8AD48-5B8F-46DE-90F5-36994F2FD5C1}" dt="2023-11-27T12:15:28.376" v="108" actId="478"/>
          <ac:picMkLst>
            <pc:docMk/>
            <pc:sldMk cId="0" sldId="520"/>
            <ac:picMk id="28675" creationId="{470BC26E-5C0E-C4A2-0D0B-FFA26F6AC9BD}"/>
          </ac:picMkLst>
        </pc:picChg>
      </pc:sldChg>
      <pc:sldChg chg="del">
        <pc:chgData name="Asif Muhammad" userId="6b0af2cb-2f76-400b-94d9-178b55ef4f85" providerId="ADAL" clId="{B5E8AD48-5B8F-46DE-90F5-36994F2FD5C1}" dt="2023-11-29T13:57:12.212" v="129" actId="47"/>
        <pc:sldMkLst>
          <pc:docMk/>
          <pc:sldMk cId="2376468617" sldId="521"/>
        </pc:sldMkLst>
      </pc:sldChg>
      <pc:sldChg chg="new ord">
        <pc:chgData name="Asif Muhammad" userId="6b0af2cb-2f76-400b-94d9-178b55ef4f85" providerId="ADAL" clId="{B5E8AD48-5B8F-46DE-90F5-36994F2FD5C1}" dt="2023-11-27T15:52:16.463" v="115"/>
        <pc:sldMkLst>
          <pc:docMk/>
          <pc:sldMk cId="2376468617" sldId="521"/>
        </pc:sldMkLst>
      </pc:sldChg>
      <pc:sldChg chg="modSp new mod">
        <pc:chgData name="Asif Muhammad" userId="6b0af2cb-2f76-400b-94d9-178b55ef4f85" providerId="ADAL" clId="{B5E8AD48-5B8F-46DE-90F5-36994F2FD5C1}" dt="2023-11-27T15:52:57.850" v="128" actId="20577"/>
        <pc:sldMkLst>
          <pc:docMk/>
          <pc:sldMk cId="2300405156" sldId="522"/>
        </pc:sldMkLst>
        <pc:spChg chg="mod">
          <ac:chgData name="Asif Muhammad" userId="6b0af2cb-2f76-400b-94d9-178b55ef4f85" providerId="ADAL" clId="{B5E8AD48-5B8F-46DE-90F5-36994F2FD5C1}" dt="2023-11-27T15:52:57.850" v="128" actId="20577"/>
          <ac:spMkLst>
            <pc:docMk/>
            <pc:sldMk cId="2300405156" sldId="522"/>
            <ac:spMk id="3" creationId="{8753E3B7-1B94-8197-D18E-214B32F4AC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BA3694C-43B5-28C2-328E-7E47C4B9DEA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CC05A89-BB17-75F1-6B63-1D122BF1833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9152840B-3EF0-EDCB-0180-9E143E05FBD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F07CE7DE-6641-67FD-9007-D14EBB2E910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5D8B3EA0-628A-E887-2F0A-8C4572BF5A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A3E8FC5F-30B2-7ABA-F4B3-76A3FBFB50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9E60D40-857C-4992-9C7F-1F1E48A2832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AA072A32-07C9-8B2A-D16F-D39F6310C7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20E66-E5FB-438C-B3A5-6CD18C2B5437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5D6E313-6331-F39F-0368-759598F697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EF396FBD-0762-3898-F024-FCC84B9D69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34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3B4973-14C6-2378-745B-A38FD2810E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C65EB4-B75D-7D23-18E7-E0EEDE86C6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427B2C5-7770-6D49-DDA8-C21B1874F8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0F60D-149E-4869-8278-6D0042C377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6814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3E70B-30ED-D27F-BBA4-5F84A40B89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531221-91C5-EABA-472E-78F8FDADC1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449D53-4710-6E2D-5848-2CC6A37202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B57B1C-7001-47DB-862E-B493C41423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89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695289-139D-868D-7FCB-A22F7CB4C5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CD6E11-4D34-157F-D9C1-57088B4924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F7D995-B275-873B-838A-75835A9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D77417-53FB-4EC8-9F4D-69BB8E6D79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99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BA0FCF-CABE-9A9F-CECB-9B5FFE08A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3A04E-3A2D-5E36-64F0-D96987F5EC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04FF2D-7D86-1FFA-8A41-110CC845A5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632F52-1AAC-49B7-8A7A-6ECDF0F6F1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291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33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386031D-BF55-543D-1FCB-D93D47206A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ABEEE19-5263-EFC3-731D-74EEC533A9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6A0FCF1-BBF2-7FA3-F1C9-A0F097CA6C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936823-3D97-4A7F-B931-3614F78ABE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513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9B303CD-72B8-97B6-035A-C8BF443FBE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A10A3F4-A065-31BC-0809-C20DC4067A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079CFE-4B48-1785-93BC-C232F5536F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8BE427-B54E-45AE-8FC0-6756C4672F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677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F8F6870-6E89-7A15-2771-BBAABAA271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FBCC22F-01CB-78B0-1266-46B27AE497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DEB38B-1EEE-E5AE-C32A-4C49B1AC64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21226F-CBA3-44CC-BDA5-2A60E8E7C8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34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1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6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14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2CC927-131B-22E1-5105-38BA7833EB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D451B4-E4EB-7B39-B801-C2D3D43549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0E592E-72C0-F57E-0235-4D8A97C196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9E9FFE-0D18-4331-B4F6-0B87EE323D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5503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46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44F761-3AD5-F14A-14FF-CFA561C209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731D72-3BC4-A186-3173-6C9F0A884D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D0F48D-45D2-E53C-4714-2C20DA9E5C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4BDFDE-5E94-4826-9FCB-C3D472F632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145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C00146-6D2B-373B-9F2B-4DFB02C71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D62F9F-12AA-1F38-B472-B64583C9FD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F4E4C7-74B3-B629-3A8D-F044FFB3A4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7F8DFF-BD8B-46D4-8B0E-DA7E257217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424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72250" y="533401"/>
            <a:ext cx="2114550" cy="5592763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8600" y="533401"/>
            <a:ext cx="6191250" cy="559276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9D95A7-49DB-47D3-C7EC-6FD6064352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1F2066-09B0-CCEB-491E-B708560DFA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B0440A-0314-E8E3-4725-E9307386EA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DDE18A-A766-45B6-96CE-F1276D38F0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27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705A4E3-4A2D-023A-8D4C-8CA7CFF47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7620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63C5362-F1C6-B6BD-4477-CEEE0F1B70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76400"/>
            <a:ext cx="82296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B8EB596-E088-8AFB-C584-8554EFDE51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D4810F3-F418-ED9B-89C3-396568F69A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EAB0938-E7F1-0BCC-46AE-0AE7960D009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86C5482-E99B-4E03-9620-E825245182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129" name="Text Box 9">
            <a:extLst>
              <a:ext uri="{FF2B5EF4-FFF2-40B4-BE49-F238E27FC236}">
                <a16:creationId xmlns:a16="http://schemas.microsoft.com/office/drawing/2014/main" id="{8F6C34EA-414D-A03F-98CB-C0B909ADD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b="1" dirty="0">
                <a:solidFill>
                  <a:srgbClr val="0D0D0D"/>
                </a:solidFill>
              </a:rPr>
              <a:t>Lecture 15 </a:t>
            </a:r>
            <a:r>
              <a:rPr lang="mr-IN" altLang="en-US" sz="2000" b="1" dirty="0">
                <a:solidFill>
                  <a:srgbClr val="0D0D0D"/>
                </a:solidFill>
              </a:rPr>
              <a:t>–</a:t>
            </a:r>
            <a:r>
              <a:rPr lang="en-US" altLang="en-US" sz="2000" b="1" dirty="0">
                <a:solidFill>
                  <a:srgbClr val="0D0D0D"/>
                </a:solidFill>
              </a:rPr>
              <a:t> Decentralized Applications (</a:t>
            </a:r>
            <a:r>
              <a:rPr lang="en-US" altLang="en-US" sz="2000" b="1" dirty="0" err="1">
                <a:solidFill>
                  <a:srgbClr val="0D0D0D"/>
                </a:solidFill>
              </a:rPr>
              <a:t>DApps</a:t>
            </a:r>
            <a:r>
              <a:rPr lang="en-US" altLang="en-US" sz="2000" b="1" dirty="0">
                <a:solidFill>
                  <a:srgbClr val="0D0D0D"/>
                </a:solidFill>
              </a:rPr>
              <a:t>)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03CFC9D4-CFCB-F1EA-3930-FACFC663AE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63775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solidFill>
                  <a:srgbClr val="0000FF"/>
                </a:solidFill>
              </a:rPr>
              <a:t>Lecture 15</a:t>
            </a:r>
            <a:br>
              <a:rPr lang="en-US" altLang="en-US" dirty="0">
                <a:solidFill>
                  <a:srgbClr val="0000FF"/>
                </a:solidFill>
              </a:rPr>
            </a:br>
            <a:br>
              <a:rPr lang="en-US" altLang="en-US" dirty="0">
                <a:solidFill>
                  <a:srgbClr val="0000FF"/>
                </a:solidFill>
              </a:rPr>
            </a:br>
            <a:r>
              <a:rPr lang="fr-FR" altLang="en-US" dirty="0" err="1"/>
              <a:t>Decentralized</a:t>
            </a:r>
            <a:r>
              <a:rPr lang="fr-FR" altLang="en-US" dirty="0"/>
              <a:t> Applications (</a:t>
            </a:r>
            <a:r>
              <a:rPr lang="fr-FR" altLang="en-US" dirty="0" err="1"/>
              <a:t>DApps</a:t>
            </a:r>
            <a:r>
              <a:rPr lang="fr-FR" altLang="en-US" dirty="0"/>
              <a:t>)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C9B53C-92C5-5C64-2E37-21DCC1D58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F60D-149E-4869-8278-6D0042C3779E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re 1">
            <a:extLst>
              <a:ext uri="{FF2B5EF4-FFF2-40B4-BE49-F238E27FC236}">
                <a16:creationId xmlns:a16="http://schemas.microsoft.com/office/drawing/2014/main" id="{57D58EDA-885E-55EB-D56F-9DA94BFC9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What we have achieved so far?</a:t>
            </a:r>
          </a:p>
        </p:txBody>
      </p:sp>
      <p:sp>
        <p:nvSpPr>
          <p:cNvPr id="16386" name="Espace réservé du contenu 2">
            <a:extLst>
              <a:ext uri="{FF2B5EF4-FFF2-40B4-BE49-F238E27FC236}">
                <a16:creationId xmlns:a16="http://schemas.microsoft.com/office/drawing/2014/main" id="{ED0501B6-E24F-BE98-C966-5A4D7A33A0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400"/>
              <a:t>We know what Ethereum is and how it is different from the Bitcoin. </a:t>
            </a:r>
          </a:p>
          <a:p>
            <a:r>
              <a:rPr lang="fr-FR" altLang="en-US" sz="2400"/>
              <a:t>We have basic understanding about the Smart contracts. </a:t>
            </a:r>
          </a:p>
          <a:p>
            <a:r>
              <a:rPr lang="fr-FR" altLang="en-US" sz="2400"/>
              <a:t>We know how to code, deploy and interact with smart contracts. </a:t>
            </a:r>
          </a:p>
          <a:p>
            <a:r>
              <a:rPr lang="fr-FR" altLang="en-US" sz="2400"/>
              <a:t>We have setup development environment and know how to setup and use Metamask, Ganache, Remix, Truffle ...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7DBDCD-BD11-4DEF-8607-B297009CD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E2C485FE-6B46-D895-66B4-E9A89CCCE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Project </a:t>
            </a:r>
            <a:r>
              <a:rPr lang="en-US" altLang="en-US">
                <a:sym typeface="Wingdings" panose="05000000000000000000" pitchFamily="2" charset="2"/>
              </a:rPr>
              <a:t>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A8FB1-2F96-2D47-ED2C-1E3417649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Build a decentralized application </a:t>
            </a:r>
          </a:p>
          <a:p>
            <a:pPr>
              <a:defRPr/>
            </a:pPr>
            <a:r>
              <a:rPr lang="en-US" sz="2000" dirty="0"/>
              <a:t>You need to choose an </a:t>
            </a:r>
            <a:r>
              <a:rPr lang="en-US" sz="2000" b="1" dirty="0">
                <a:solidFill>
                  <a:srgbClr val="0070C0"/>
                </a:solidFill>
              </a:rPr>
              <a:t>innovative use-case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justifying</a:t>
            </a:r>
            <a:r>
              <a:rPr lang="en-US" sz="2000" dirty="0"/>
              <a:t> the need for a blockchain based solution. You will use Ethereum framework, and you need to thus write smart contract(s) in Solidity for the backend logic and build a Web application as a front-end in React. </a:t>
            </a:r>
          </a:p>
          <a:p>
            <a:pPr>
              <a:defRPr/>
            </a:pPr>
            <a:r>
              <a:rPr lang="en-US" sz="2000" dirty="0"/>
              <a:t>Group size &lt; 4</a:t>
            </a:r>
          </a:p>
          <a:p>
            <a:pPr>
              <a:defRPr/>
            </a:pPr>
            <a:endParaRPr lang="en-US" sz="2000" i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1800" i="1" dirty="0">
                <a:solidFill>
                  <a:srgbClr val="C00000"/>
                </a:solidFill>
              </a:rPr>
              <a:t>Group Information: </a:t>
            </a:r>
            <a:r>
              <a:rPr lang="en-US" sz="1800" b="1" i="1" dirty="0">
                <a:solidFill>
                  <a:srgbClr val="C00000"/>
                </a:solidFill>
              </a:rPr>
              <a:t>20</a:t>
            </a:r>
            <a:r>
              <a:rPr lang="en-US" sz="1800" b="1" i="1" baseline="30000" dirty="0">
                <a:solidFill>
                  <a:srgbClr val="C00000"/>
                </a:solidFill>
              </a:rPr>
              <a:t>th</a:t>
            </a:r>
            <a:r>
              <a:rPr lang="en-US" sz="1800" b="1" i="1" dirty="0">
                <a:solidFill>
                  <a:srgbClr val="C00000"/>
                </a:solidFill>
              </a:rPr>
              <a:t> November 2023</a:t>
            </a:r>
            <a:endParaRPr lang="en-US" sz="1400" i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1800" i="1" dirty="0">
                <a:solidFill>
                  <a:srgbClr val="C00000"/>
                </a:solidFill>
              </a:rPr>
              <a:t>Idea submission: </a:t>
            </a:r>
            <a:r>
              <a:rPr lang="en-US" sz="1800" b="1" i="1" dirty="0">
                <a:solidFill>
                  <a:srgbClr val="C00000"/>
                </a:solidFill>
              </a:rPr>
              <a:t>24</a:t>
            </a:r>
            <a:r>
              <a:rPr lang="en-US" sz="1800" b="1" i="1" baseline="30000" dirty="0">
                <a:solidFill>
                  <a:srgbClr val="C00000"/>
                </a:solidFill>
              </a:rPr>
              <a:t>th</a:t>
            </a:r>
            <a:r>
              <a:rPr lang="en-US" sz="1800" b="1" i="1" dirty="0">
                <a:solidFill>
                  <a:srgbClr val="C00000"/>
                </a:solidFill>
              </a:rPr>
              <a:t> November 2023</a:t>
            </a:r>
          </a:p>
          <a:p>
            <a:pPr>
              <a:defRPr/>
            </a:pPr>
            <a:r>
              <a:rPr lang="en-US" sz="1600" i="1" dirty="0">
                <a:solidFill>
                  <a:srgbClr val="C00000"/>
                </a:solidFill>
              </a:rPr>
              <a:t>Submission Deadline: </a:t>
            </a:r>
            <a:r>
              <a:rPr lang="en-US" sz="1600" b="1" i="1" dirty="0">
                <a:solidFill>
                  <a:srgbClr val="C00000"/>
                </a:solidFill>
              </a:rPr>
              <a:t>03</a:t>
            </a:r>
            <a:r>
              <a:rPr lang="en-US" sz="1600" b="1" i="1" baseline="30000" dirty="0">
                <a:solidFill>
                  <a:srgbClr val="C00000"/>
                </a:solidFill>
              </a:rPr>
              <a:t>rd</a:t>
            </a:r>
            <a:r>
              <a:rPr lang="en-US" sz="1600" b="1" i="1" dirty="0">
                <a:solidFill>
                  <a:srgbClr val="C00000"/>
                </a:solidFill>
              </a:rPr>
              <a:t> December 2023</a:t>
            </a:r>
            <a:endParaRPr lang="en-US" sz="1600" i="1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i="1" dirty="0"/>
          </a:p>
          <a:p>
            <a:pPr>
              <a:defRPr/>
            </a:pPr>
            <a:endParaRPr lang="en-US" sz="2000" i="1" dirty="0"/>
          </a:p>
          <a:p>
            <a:pPr>
              <a:defRPr/>
            </a:pPr>
            <a:endParaRPr lang="en-US" sz="2000" dirty="0"/>
          </a:p>
          <a:p>
            <a:pPr marL="0" indent="0">
              <a:buFontTx/>
              <a:buNone/>
              <a:defRPr/>
            </a:pPr>
            <a:br>
              <a:rPr lang="en-US" sz="2000" dirty="0"/>
            </a:b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1D71D-B00E-F1F1-0CED-CCFFAF69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re 1">
            <a:extLst>
              <a:ext uri="{FF2B5EF4-FFF2-40B4-BE49-F238E27FC236}">
                <a16:creationId xmlns:a16="http://schemas.microsoft.com/office/drawing/2014/main" id="{272CC75E-BB40-8FE0-D261-4B9A0BC08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Decentralized Applications (DApps) </a:t>
            </a:r>
          </a:p>
        </p:txBody>
      </p:sp>
      <p:sp>
        <p:nvSpPr>
          <p:cNvPr id="19458" name="Espace réservé du contenu 2">
            <a:extLst>
              <a:ext uri="{FF2B5EF4-FFF2-40B4-BE49-F238E27FC236}">
                <a16:creationId xmlns:a16="http://schemas.microsoft.com/office/drawing/2014/main" id="{9BC9385E-FC7B-DE95-D2C5-24DC9BFFC6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400" dirty="0" err="1"/>
              <a:t>Ethereum</a:t>
            </a:r>
            <a:r>
              <a:rPr lang="fr-FR" altLang="en-US" sz="2400" dirty="0"/>
              <a:t> vision </a:t>
            </a:r>
            <a:r>
              <a:rPr lang="fr-FR" altLang="en-US" sz="2400" dirty="0" err="1"/>
              <a:t>is</a:t>
            </a:r>
            <a:r>
              <a:rPr lang="fr-FR" altLang="en-US" sz="2400" dirty="0"/>
              <a:t> </a:t>
            </a:r>
            <a:r>
              <a:rPr lang="fr-FR" altLang="en-US" sz="2400" dirty="0" err="1"/>
              <a:t>much</a:t>
            </a:r>
            <a:r>
              <a:rPr lang="fr-FR" altLang="en-US" sz="2400" dirty="0"/>
              <a:t> </a:t>
            </a:r>
            <a:r>
              <a:rPr lang="fr-FR" altLang="en-US" sz="2400" dirty="0" err="1"/>
              <a:t>broader</a:t>
            </a:r>
            <a:r>
              <a:rPr lang="fr-FR" altLang="en-US" sz="2400" dirty="0"/>
              <a:t> </a:t>
            </a:r>
            <a:r>
              <a:rPr lang="fr-FR" altLang="en-US" sz="2400" dirty="0" err="1"/>
              <a:t>than</a:t>
            </a:r>
            <a:r>
              <a:rPr lang="fr-FR" altLang="en-US" sz="2400" dirty="0"/>
              <a:t> </a:t>
            </a:r>
            <a:r>
              <a:rPr lang="fr-FR" altLang="fr-FR" sz="2400" dirty="0"/>
              <a:t>“</a:t>
            </a:r>
            <a:r>
              <a:rPr lang="fr-FR" altLang="en-US" sz="2400" dirty="0"/>
              <a:t>smart </a:t>
            </a:r>
            <a:r>
              <a:rPr lang="fr-FR" altLang="en-US" sz="2400" dirty="0" err="1"/>
              <a:t>contracts</a:t>
            </a:r>
            <a:r>
              <a:rPr lang="fr-FR" altLang="fr-FR" sz="2400" dirty="0"/>
              <a:t>”</a:t>
            </a:r>
            <a:r>
              <a:rPr lang="fr-FR" altLang="en-US" sz="2400" dirty="0"/>
              <a:t>: no </a:t>
            </a:r>
            <a:r>
              <a:rPr lang="fr-FR" altLang="en-US" sz="2400" dirty="0" err="1"/>
              <a:t>less</a:t>
            </a:r>
            <a:r>
              <a:rPr lang="fr-FR" altLang="en-US" sz="2400" dirty="0"/>
              <a:t> </a:t>
            </a:r>
            <a:r>
              <a:rPr lang="fr-FR" altLang="en-US" sz="2400" dirty="0" err="1"/>
              <a:t>than</a:t>
            </a:r>
            <a:r>
              <a:rPr lang="fr-FR" altLang="en-US" sz="2400" dirty="0"/>
              <a:t> </a:t>
            </a:r>
            <a:r>
              <a:rPr lang="fr-FR" altLang="en-US" sz="2400" dirty="0" err="1"/>
              <a:t>reinventing</a:t>
            </a:r>
            <a:r>
              <a:rPr lang="fr-FR" altLang="en-US" sz="2400" dirty="0"/>
              <a:t> the web and </a:t>
            </a:r>
            <a:r>
              <a:rPr lang="fr-FR" altLang="en-US" sz="2400" dirty="0" err="1"/>
              <a:t>creating</a:t>
            </a:r>
            <a:r>
              <a:rPr lang="fr-FR" altLang="en-US" sz="2400" dirty="0"/>
              <a:t> a new world of </a:t>
            </a:r>
            <a:r>
              <a:rPr lang="fr-FR" altLang="en-US" sz="2400" dirty="0" err="1"/>
              <a:t>DApps</a:t>
            </a:r>
            <a:r>
              <a:rPr lang="fr-FR" altLang="en-US" sz="2400" dirty="0"/>
              <a:t>, </a:t>
            </a:r>
            <a:r>
              <a:rPr lang="fr-FR" altLang="en-US" sz="2400" dirty="0" err="1"/>
              <a:t>aptly</a:t>
            </a:r>
            <a:r>
              <a:rPr lang="fr-FR" altLang="en-US" sz="2400" dirty="0"/>
              <a:t> </a:t>
            </a:r>
            <a:r>
              <a:rPr lang="fr-FR" altLang="en-US" sz="2400" dirty="0" err="1"/>
              <a:t>called</a:t>
            </a:r>
            <a:r>
              <a:rPr lang="fr-FR" altLang="en-US" sz="2400" dirty="0"/>
              <a:t> </a:t>
            </a:r>
            <a:r>
              <a:rPr lang="fr-FR" altLang="en-US" sz="2400" i="1" dirty="0"/>
              <a:t>web3</a:t>
            </a:r>
            <a:r>
              <a:rPr lang="fr-FR" altLang="en-US" sz="2400" dirty="0"/>
              <a:t>. </a:t>
            </a:r>
          </a:p>
          <a:p>
            <a:endParaRPr lang="fr-FR" altLang="en-US" sz="2400" dirty="0"/>
          </a:p>
          <a:p>
            <a:r>
              <a:rPr lang="fr-FR" altLang="en-US" sz="2400" dirty="0"/>
              <a:t>Smart </a:t>
            </a:r>
            <a:r>
              <a:rPr lang="fr-FR" altLang="en-US" sz="2400" dirty="0" err="1"/>
              <a:t>contracts</a:t>
            </a:r>
            <a:r>
              <a:rPr lang="fr-FR" altLang="en-US" sz="2400" dirty="0"/>
              <a:t> </a:t>
            </a:r>
            <a:r>
              <a:rPr lang="fr-FR" altLang="en-US" sz="2400" dirty="0" err="1"/>
              <a:t>decentralize</a:t>
            </a:r>
            <a:r>
              <a:rPr lang="fr-FR" altLang="en-US" sz="2400" dirty="0"/>
              <a:t> the </a:t>
            </a:r>
            <a:r>
              <a:rPr lang="fr-FR" altLang="en-US" sz="2400" dirty="0" err="1"/>
              <a:t>controlling</a:t>
            </a:r>
            <a:r>
              <a:rPr lang="fr-FR" altLang="en-US" sz="2400" dirty="0"/>
              <a:t> </a:t>
            </a:r>
            <a:r>
              <a:rPr lang="fr-FR" altLang="en-US" sz="2400" dirty="0" err="1"/>
              <a:t>logic</a:t>
            </a:r>
            <a:r>
              <a:rPr lang="fr-FR" altLang="en-US" sz="2400" dirty="0"/>
              <a:t> and </a:t>
            </a:r>
            <a:r>
              <a:rPr lang="fr-FR" altLang="en-US" sz="2400" dirty="0" err="1"/>
              <a:t>payment</a:t>
            </a:r>
            <a:r>
              <a:rPr lang="fr-FR" altLang="en-US" sz="2400" dirty="0"/>
              <a:t> </a:t>
            </a:r>
            <a:r>
              <a:rPr lang="fr-FR" altLang="en-US" sz="2400" dirty="0" err="1"/>
              <a:t>functions</a:t>
            </a:r>
            <a:r>
              <a:rPr lang="fr-FR" altLang="en-US" sz="2400" dirty="0"/>
              <a:t> of applications. </a:t>
            </a:r>
          </a:p>
          <a:p>
            <a:r>
              <a:rPr lang="fr-FR" altLang="en-US" sz="2400" dirty="0" err="1"/>
              <a:t>DApps</a:t>
            </a:r>
            <a:r>
              <a:rPr lang="fr-FR" altLang="en-US" sz="2400" dirty="0"/>
              <a:t> are about </a:t>
            </a:r>
            <a:r>
              <a:rPr lang="fr-FR" altLang="en-US" sz="2400" dirty="0" err="1"/>
              <a:t>decentralizing</a:t>
            </a:r>
            <a:r>
              <a:rPr lang="fr-FR" altLang="en-US" sz="2400" dirty="0"/>
              <a:t> all </a:t>
            </a:r>
            <a:r>
              <a:rPr lang="fr-FR" altLang="en-US" sz="2400" dirty="0" err="1"/>
              <a:t>other</a:t>
            </a:r>
            <a:r>
              <a:rPr lang="fr-FR" altLang="en-US" sz="2400" dirty="0"/>
              <a:t> aspects of an application: </a:t>
            </a:r>
            <a:r>
              <a:rPr lang="fr-FR" altLang="en-US" sz="2400" dirty="0" err="1"/>
              <a:t>storage</a:t>
            </a:r>
            <a:r>
              <a:rPr lang="fr-FR" altLang="en-US" sz="2400" dirty="0"/>
              <a:t>, messaging, </a:t>
            </a:r>
            <a:r>
              <a:rPr lang="fr-FR" altLang="en-US" sz="2400" dirty="0" err="1"/>
              <a:t>naming</a:t>
            </a:r>
            <a:r>
              <a:rPr lang="fr-FR" altLang="en-US" sz="2400" dirty="0"/>
              <a:t>, etc. </a:t>
            </a:r>
          </a:p>
          <a:p>
            <a:endParaRPr lang="fr-FR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29488-E7FF-3837-D3A6-05CB1681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re 1">
            <a:extLst>
              <a:ext uri="{FF2B5EF4-FFF2-40B4-BE49-F238E27FC236}">
                <a16:creationId xmlns:a16="http://schemas.microsoft.com/office/drawing/2014/main" id="{9EFF6CA4-8F5C-EE2D-E970-FA0415789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Decentralized Applications (DApps) </a:t>
            </a:r>
          </a:p>
        </p:txBody>
      </p:sp>
      <p:sp>
        <p:nvSpPr>
          <p:cNvPr id="20482" name="Espace réservé du contenu 2">
            <a:extLst>
              <a:ext uri="{FF2B5EF4-FFF2-40B4-BE49-F238E27FC236}">
                <a16:creationId xmlns:a16="http://schemas.microsoft.com/office/drawing/2014/main" id="{739A1AE9-81FB-538F-C155-25B5B75AC6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/>
              <a:t>A DApp is an application that is mostly or entirely decentralized.</a:t>
            </a:r>
          </a:p>
          <a:p>
            <a:pPr lvl="1"/>
            <a:r>
              <a:rPr lang="fr-FR" altLang="en-US"/>
              <a:t>Backend software (application logic) </a:t>
            </a:r>
          </a:p>
          <a:p>
            <a:pPr lvl="1"/>
            <a:r>
              <a:rPr lang="fr-FR" altLang="en-US"/>
              <a:t>Frontend software </a:t>
            </a:r>
          </a:p>
          <a:p>
            <a:pPr lvl="1"/>
            <a:r>
              <a:rPr lang="fr-FR" altLang="en-US"/>
              <a:t>Storage, communication ..	</a:t>
            </a:r>
          </a:p>
          <a:p>
            <a:pPr lvl="1"/>
            <a:endParaRPr lang="fr-FR" altLang="en-US"/>
          </a:p>
          <a:p>
            <a:endParaRPr lang="fr-FR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EEE2DD-742D-85D9-CB4C-785D86C2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re 1">
            <a:extLst>
              <a:ext uri="{FF2B5EF4-FFF2-40B4-BE49-F238E27FC236}">
                <a16:creationId xmlns:a16="http://schemas.microsoft.com/office/drawing/2014/main" id="{25A4E091-C024-532B-C039-5D136F547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Advantages</a:t>
            </a:r>
          </a:p>
        </p:txBody>
      </p:sp>
      <p:sp>
        <p:nvSpPr>
          <p:cNvPr id="21506" name="Espace réservé du contenu 2">
            <a:extLst>
              <a:ext uri="{FF2B5EF4-FFF2-40B4-BE49-F238E27FC236}">
                <a16:creationId xmlns:a16="http://schemas.microsoft.com/office/drawing/2014/main" id="{2235B711-250F-6BA8-3A97-E82741D176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458200" cy="4191000"/>
          </a:xfrm>
        </p:spPr>
        <p:txBody>
          <a:bodyPr/>
          <a:lstStyle/>
          <a:p>
            <a:r>
              <a:rPr lang="fr-FR" altLang="en-US" sz="2000" i="1"/>
              <a:t>Resiliency - </a:t>
            </a:r>
            <a:r>
              <a:rPr lang="fr-FR" altLang="en-US" sz="2000"/>
              <a:t>no downtime, available as long as platform is operating. </a:t>
            </a:r>
          </a:p>
          <a:p>
            <a:r>
              <a:rPr lang="fr-FR" altLang="en-US" sz="2000" i="1"/>
              <a:t>Transparency - </a:t>
            </a:r>
            <a:r>
              <a:rPr lang="fr-FR" altLang="en-US" sz="2000"/>
              <a:t>Everyone can inspect the code and be more sure about its function. Any interaction with the DApp will be stored forever in the blockchain. </a:t>
            </a:r>
          </a:p>
          <a:p>
            <a:endParaRPr lang="fr-FR" altLang="en-US" sz="2000"/>
          </a:p>
          <a:p>
            <a:r>
              <a:rPr lang="fr-FR" altLang="en-US" sz="2000" i="1"/>
              <a:t>Censorship resistance - </a:t>
            </a:r>
            <a:r>
              <a:rPr lang="fr-FR" altLang="en-US" sz="2000"/>
              <a:t>As long as a user has access to an Ethereum node the user will always be able to interact with a DApp without interference from any centralized control. </a:t>
            </a:r>
          </a:p>
          <a:p>
            <a:endParaRPr lang="fr-FR" altLang="en-US" sz="2000"/>
          </a:p>
          <a:p>
            <a:endParaRPr lang="fr-FR" altLang="en-US" sz="2000"/>
          </a:p>
          <a:p>
            <a:endParaRPr lang="fr-FR" altLang="en-US" sz="2000"/>
          </a:p>
          <a:p>
            <a:endParaRPr lang="fr-FR" altLang="en-US" sz="2000"/>
          </a:p>
          <a:p>
            <a:endParaRPr lang="fr-FR" altLang="en-US" sz="2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EED19B-5977-0C87-2B97-2A4683C7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re 1">
            <a:extLst>
              <a:ext uri="{FF2B5EF4-FFF2-40B4-BE49-F238E27FC236}">
                <a16:creationId xmlns:a16="http://schemas.microsoft.com/office/drawing/2014/main" id="{57621323-FF0B-BF0A-EA48-36BE469B4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Decentralized Applications (DApps) </a:t>
            </a:r>
          </a:p>
        </p:txBody>
      </p:sp>
      <p:sp>
        <p:nvSpPr>
          <p:cNvPr id="22530" name="Espace réservé du contenu 2">
            <a:extLst>
              <a:ext uri="{FF2B5EF4-FFF2-40B4-BE49-F238E27FC236}">
                <a16:creationId xmlns:a16="http://schemas.microsoft.com/office/drawing/2014/main" id="{A98A3CEA-DA2E-5B48-276B-50C96BC7D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400"/>
              <a:t>In practice, there are very few truly decentralized apps—most still rely on centralized services and servers for some part of their operation. </a:t>
            </a:r>
          </a:p>
          <a:p>
            <a:endParaRPr lang="fr-FR" altLang="en-US" sz="2400"/>
          </a:p>
          <a:p>
            <a:r>
              <a:rPr lang="fr-FR" altLang="en-US" sz="2400"/>
              <a:t>Let us start with the frontend for our decentralized application logic. To keep things simple, we will use our simplestorage smart contract. </a:t>
            </a:r>
          </a:p>
          <a:p>
            <a:endParaRPr lang="fr-FR" altLang="en-US" sz="2400"/>
          </a:p>
          <a:p>
            <a:r>
              <a:rPr lang="fr-FR" altLang="en-US" sz="2400"/>
              <a:t>Many alternatives exist using web3.js, we will use React. </a:t>
            </a:r>
          </a:p>
          <a:p>
            <a:endParaRPr lang="fr-FR" altLang="en-US" sz="2400"/>
          </a:p>
          <a:p>
            <a:endParaRPr lang="fr-FR" altLang="en-US" sz="2400"/>
          </a:p>
          <a:p>
            <a:endParaRPr lang="fr-FR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04FEFF-28E4-5397-C5BB-FC12E062F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re 1">
            <a:extLst>
              <a:ext uri="{FF2B5EF4-FFF2-40B4-BE49-F238E27FC236}">
                <a16:creationId xmlns:a16="http://schemas.microsoft.com/office/drawing/2014/main" id="{EA772622-8DC2-F9D3-643A-FCFC3945C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What is React?</a:t>
            </a:r>
          </a:p>
        </p:txBody>
      </p:sp>
      <p:sp>
        <p:nvSpPr>
          <p:cNvPr id="23554" name="Espace réservé du contenu 2">
            <a:extLst>
              <a:ext uri="{FF2B5EF4-FFF2-40B4-BE49-F238E27FC236}">
                <a16:creationId xmlns:a16="http://schemas.microsoft.com/office/drawing/2014/main" id="{C3C34EDC-F17C-0F62-9313-0880F95AFC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/>
              <a:t>React is a JavaScript library created by Facebook. </a:t>
            </a:r>
          </a:p>
          <a:p>
            <a:r>
              <a:rPr lang="fr-FR" altLang="en-US"/>
              <a:t>React is a tool for building and using UI components.</a:t>
            </a:r>
          </a:p>
          <a:p>
            <a:endParaRPr lang="fr-FR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16347A-02BD-D707-D037-54D82C3CA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27508E68-AD13-DAD6-6F8E-5D00110C2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ReactJs or ReactNative? </a:t>
            </a:r>
          </a:p>
        </p:txBody>
      </p:sp>
      <p:sp>
        <p:nvSpPr>
          <p:cNvPr id="58370" name="Content Placeholder 2">
            <a:extLst>
              <a:ext uri="{FF2B5EF4-FFF2-40B4-BE49-F238E27FC236}">
                <a16:creationId xmlns:a16="http://schemas.microsoft.com/office/drawing/2014/main" id="{5978FE26-2907-4F6E-E0F0-5BCA2F21CD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ReactJS is a JavaScript library for building user interfaces and web applications.</a:t>
            </a:r>
          </a:p>
          <a:p>
            <a:endParaRPr lang="en-US" altLang="en-US" sz="2400"/>
          </a:p>
          <a:p>
            <a:r>
              <a:rPr lang="en-US" altLang="en-US" sz="2400"/>
              <a:t>React Native is a mobile framework allowing you to build mobile applications for different platforms. You can use ReactJS to build reusable components.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3533E2-E13B-5519-52F0-E56231E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re 1">
            <a:extLst>
              <a:ext uri="{FF2B5EF4-FFF2-40B4-BE49-F238E27FC236}">
                <a16:creationId xmlns:a16="http://schemas.microsoft.com/office/drawing/2014/main" id="{5C6CBCA5-8131-7A55-6FED-5078523E3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How does React Work?</a:t>
            </a:r>
          </a:p>
        </p:txBody>
      </p:sp>
      <p:sp>
        <p:nvSpPr>
          <p:cNvPr id="24578" name="Espace réservé du contenu 2">
            <a:extLst>
              <a:ext uri="{FF2B5EF4-FFF2-40B4-BE49-F238E27FC236}">
                <a16:creationId xmlns:a16="http://schemas.microsoft.com/office/drawing/2014/main" id="{94CA1CB4-B8C0-B9E9-683F-162BBB78FE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/>
              <a:t>React creates a VIRTUAL DOM in memory.</a:t>
            </a:r>
          </a:p>
          <a:p>
            <a:r>
              <a:rPr lang="fr-FR" altLang="en-US">
                <a:solidFill>
                  <a:srgbClr val="000000"/>
                </a:solidFill>
                <a:latin typeface="Verdana" panose="020B0604030504040204" pitchFamily="34" charset="0"/>
              </a:rPr>
              <a:t>React only changes what needs to be changed!</a:t>
            </a:r>
            <a:endParaRPr lang="fr-FR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FAC98A-FA74-3E63-8874-0D15206B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re 1">
            <a:extLst>
              <a:ext uri="{FF2B5EF4-FFF2-40B4-BE49-F238E27FC236}">
                <a16:creationId xmlns:a16="http://schemas.microsoft.com/office/drawing/2014/main" id="{801C21EB-6018-6EB7-3566-901B0D363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HTML DOM (Document Object Model)</a:t>
            </a:r>
          </a:p>
        </p:txBody>
      </p:sp>
      <p:sp>
        <p:nvSpPr>
          <p:cNvPr id="25602" name="Espace réservé du contenu 2">
            <a:extLst>
              <a:ext uri="{FF2B5EF4-FFF2-40B4-BE49-F238E27FC236}">
                <a16:creationId xmlns:a16="http://schemas.microsoft.com/office/drawing/2014/main" id="{B45F9736-C4C1-03AD-F946-B7444E4AD1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400"/>
              <a:t>The DOM model is constructed as a tree of Objects on page load. </a:t>
            </a:r>
          </a:p>
          <a:p>
            <a:endParaRPr lang="fr-FR" altLang="en-US" sz="2400"/>
          </a:p>
          <a:p>
            <a:endParaRPr lang="fr-FR" altLang="en-US" sz="2400"/>
          </a:p>
          <a:p>
            <a:endParaRPr lang="fr-FR" altLang="en-US" sz="2400"/>
          </a:p>
          <a:p>
            <a:endParaRPr lang="fr-FR" altLang="en-US" sz="2400"/>
          </a:p>
          <a:p>
            <a:endParaRPr lang="fr-FR" altLang="en-US" sz="2400"/>
          </a:p>
          <a:p>
            <a:endParaRPr lang="fr-FR" altLang="en-US" sz="2400"/>
          </a:p>
          <a:p>
            <a:endParaRPr lang="fr-FR" altLang="en-US" sz="2400"/>
          </a:p>
          <a:p>
            <a:r>
              <a:rPr lang="fr-FR" altLang="en-US" sz="2400"/>
              <a:t>The HTML DOM is a standard for how to get, change, add, or delete HTML elements.</a:t>
            </a:r>
          </a:p>
        </p:txBody>
      </p:sp>
      <p:pic>
        <p:nvPicPr>
          <p:cNvPr id="25603" name="Image 4" descr="pic_htmltree.gif">
            <a:extLst>
              <a:ext uri="{FF2B5EF4-FFF2-40B4-BE49-F238E27FC236}">
                <a16:creationId xmlns:a16="http://schemas.microsoft.com/office/drawing/2014/main" id="{A3B15679-43CA-F703-45EB-C86129C02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514600"/>
            <a:ext cx="530860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30F7F2-B00C-6885-C685-B6DE5238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re 1">
            <a:extLst>
              <a:ext uri="{FF2B5EF4-FFF2-40B4-BE49-F238E27FC236}">
                <a16:creationId xmlns:a16="http://schemas.microsoft.com/office/drawing/2014/main" id="{83AEABE6-1D4B-F192-179D-F18562855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Javascript and DOM</a:t>
            </a:r>
          </a:p>
        </p:txBody>
      </p:sp>
      <p:sp>
        <p:nvSpPr>
          <p:cNvPr id="26626" name="Espace réservé du contenu 2">
            <a:extLst>
              <a:ext uri="{FF2B5EF4-FFF2-40B4-BE49-F238E27FC236}">
                <a16:creationId xmlns:a16="http://schemas.microsoft.com/office/drawing/2014/main" id="{591EB430-902C-BBC8-27FE-65A0108995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000"/>
              <a:t>JavaScript can change all the HTML elements in the page</a:t>
            </a:r>
          </a:p>
          <a:p>
            <a:r>
              <a:rPr lang="fr-FR" altLang="en-US" sz="2000"/>
              <a:t>JavaScript can change all the HTML attributes in the page</a:t>
            </a:r>
          </a:p>
          <a:p>
            <a:r>
              <a:rPr lang="fr-FR" altLang="en-US" sz="2000"/>
              <a:t>JavaScript can change all the CSS styles in the page</a:t>
            </a:r>
          </a:p>
          <a:p>
            <a:r>
              <a:rPr lang="fr-FR" altLang="en-US" sz="2000" b="1">
                <a:solidFill>
                  <a:srgbClr val="FF0000"/>
                </a:solidFill>
              </a:rPr>
              <a:t>JavaScript can remove existing HTML elements and attributes</a:t>
            </a:r>
          </a:p>
          <a:p>
            <a:r>
              <a:rPr lang="fr-FR" altLang="en-US" sz="2000" b="1">
                <a:solidFill>
                  <a:srgbClr val="FF0000"/>
                </a:solidFill>
              </a:rPr>
              <a:t>JavaScript can add new HTML elements and attributes</a:t>
            </a:r>
          </a:p>
          <a:p>
            <a:r>
              <a:rPr lang="fr-FR" altLang="en-US" sz="2000"/>
              <a:t>JavaScript can react to all existing HTML events in the page</a:t>
            </a:r>
          </a:p>
          <a:p>
            <a:r>
              <a:rPr lang="fr-FR" altLang="en-US" sz="2000"/>
              <a:t>JavaScript can create new HTML events in the page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4622FF-4E98-5BD4-E312-6E84DA71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re 1">
            <a:extLst>
              <a:ext uri="{FF2B5EF4-FFF2-40B4-BE49-F238E27FC236}">
                <a16:creationId xmlns:a16="http://schemas.microsoft.com/office/drawing/2014/main" id="{7E83354D-3CBC-F387-CEEB-4A24DA825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Manipulating DOM using Javascript</a:t>
            </a:r>
          </a:p>
        </p:txBody>
      </p:sp>
      <p:sp>
        <p:nvSpPr>
          <p:cNvPr id="27650" name="Espace réservé du contenu 2">
            <a:extLst>
              <a:ext uri="{FF2B5EF4-FFF2-40B4-BE49-F238E27FC236}">
                <a16:creationId xmlns:a16="http://schemas.microsoft.com/office/drawing/2014/main" id="{776384C9-0506-E16A-358B-E67D7F7A27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800"/>
              <a:t>It can be done but inefficient to do so. </a:t>
            </a:r>
          </a:p>
          <a:p>
            <a:r>
              <a:rPr lang="fr-FR" altLang="en-US" sz="2800"/>
              <a:t>React creates a virtual DOM in memory, where it does all the necessary manipulating, before making the changes in the browser DOM.</a:t>
            </a:r>
          </a:p>
          <a:p>
            <a:endParaRPr lang="fr-FR" altLang="en-US" sz="2800"/>
          </a:p>
          <a:p>
            <a:r>
              <a:rPr lang="fr-FR" altLang="en-US" sz="2800"/>
              <a:t>React finds out what changes have been made, and changes only what needs to be changed.</a:t>
            </a:r>
          </a:p>
          <a:p>
            <a:endParaRPr lang="fr-FR" altLang="en-US" sz="2800"/>
          </a:p>
          <a:p>
            <a:endParaRPr lang="fr-FR" altLang="en-US" sz="2800"/>
          </a:p>
          <a:p>
            <a:endParaRPr lang="fr-FR" altLang="en-US" sz="2800"/>
          </a:p>
          <a:p>
            <a:endParaRPr lang="fr-FR" altLang="en-US" sz="2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BBB261-D213-7D9A-D3CC-58511090A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re 1">
            <a:extLst>
              <a:ext uri="{FF2B5EF4-FFF2-40B4-BE49-F238E27FC236}">
                <a16:creationId xmlns:a16="http://schemas.microsoft.com/office/drawing/2014/main" id="{AB769C9D-B85C-E363-17D9-A3199B85A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Getting started</a:t>
            </a:r>
          </a:p>
        </p:txBody>
      </p:sp>
      <p:sp>
        <p:nvSpPr>
          <p:cNvPr id="28674" name="Espace réservé du contenu 2">
            <a:extLst>
              <a:ext uri="{FF2B5EF4-FFF2-40B4-BE49-F238E27FC236}">
                <a16:creationId xmlns:a16="http://schemas.microsoft.com/office/drawing/2014/main" id="{8BC7B5FC-EB97-6E61-4438-9372EFA398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800" dirty="0" err="1"/>
              <a:t>React</a:t>
            </a:r>
            <a:r>
              <a:rPr lang="fr-FR" altLang="en-US" sz="2800" dirty="0"/>
              <a:t> </a:t>
            </a:r>
            <a:r>
              <a:rPr lang="en-GB" altLang="en-US" sz="2800" dirty="0"/>
              <a:t>components</a:t>
            </a:r>
            <a:r>
              <a:rPr lang="fr-FR" altLang="en-US" sz="2800" dirty="0"/>
              <a:t> can </a:t>
            </a:r>
            <a:r>
              <a:rPr lang="fr-FR" altLang="en-US" sz="2800" dirty="0" err="1"/>
              <a:t>be</a:t>
            </a:r>
            <a:r>
              <a:rPr lang="fr-FR" altLang="en-US" sz="2800" dirty="0"/>
              <a:t> </a:t>
            </a:r>
            <a:r>
              <a:rPr lang="fr-FR" altLang="en-US" sz="2800" dirty="0" err="1"/>
              <a:t>added</a:t>
            </a:r>
            <a:r>
              <a:rPr lang="fr-FR" altLang="en-US" sz="2800" dirty="0"/>
              <a:t> to an </a:t>
            </a:r>
            <a:r>
              <a:rPr lang="fr-FR" altLang="en-US" sz="2800" dirty="0" err="1"/>
              <a:t>existing</a:t>
            </a:r>
            <a:r>
              <a:rPr lang="fr-FR" altLang="en-US" sz="2800" dirty="0"/>
              <a:t> html page, </a:t>
            </a:r>
            <a:r>
              <a:rPr lang="fr-FR" altLang="en-US" sz="2800" dirty="0" err="1"/>
              <a:t>using</a:t>
            </a:r>
            <a:r>
              <a:rPr lang="fr-FR" altLang="en-US" sz="2800" dirty="0"/>
              <a:t> script tag</a:t>
            </a:r>
          </a:p>
          <a:p>
            <a:endParaRPr lang="fr-FR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A38A40-5531-0DCB-D81D-BB8F1D3A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re 1">
            <a:extLst>
              <a:ext uri="{FF2B5EF4-FFF2-40B4-BE49-F238E27FC236}">
                <a16:creationId xmlns:a16="http://schemas.microsoft.com/office/drawing/2014/main" id="{ECCD44DE-59AC-0AE6-3170-F48704FD1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Getting started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3A3540-249C-D81E-B266-24F6E7FB3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FR" sz="2400" dirty="0"/>
              <a:t>The </a:t>
            </a:r>
            <a:r>
              <a:rPr lang="fr-FR" sz="2400" dirty="0" err="1"/>
              <a:t>easiest</a:t>
            </a:r>
            <a:r>
              <a:rPr lang="fr-FR" sz="2400" dirty="0"/>
              <a:t> and </a:t>
            </a:r>
            <a:r>
              <a:rPr lang="fr-FR" sz="2400" dirty="0" err="1"/>
              <a:t>managed</a:t>
            </a:r>
            <a:r>
              <a:rPr lang="fr-FR" sz="2400" dirty="0"/>
              <a:t> </a:t>
            </a:r>
            <a:r>
              <a:rPr lang="fr-FR" sz="2400" dirty="0" err="1"/>
              <a:t>approach</a:t>
            </a:r>
            <a:r>
              <a:rPr lang="fr-FR" sz="2400" dirty="0"/>
              <a:t> to </a:t>
            </a:r>
            <a:r>
              <a:rPr lang="fr-FR" sz="2400" dirty="0" err="1"/>
              <a:t>create</a:t>
            </a:r>
            <a:r>
              <a:rPr lang="fr-FR" sz="2400" dirty="0"/>
              <a:t> a new </a:t>
            </a:r>
            <a:r>
              <a:rPr lang="fr-FR" sz="2400" dirty="0" err="1"/>
              <a:t>react</a:t>
            </a:r>
            <a:r>
              <a:rPr lang="fr-FR" sz="2400" dirty="0"/>
              <a:t> </a:t>
            </a:r>
            <a:r>
              <a:rPr lang="fr-FR" sz="2400" dirty="0" err="1"/>
              <a:t>app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r>
              <a:rPr lang="fr-FR" sz="2400" dirty="0"/>
              <a:t> the package </a:t>
            </a:r>
            <a:r>
              <a:rPr lang="fr-FR" sz="2400" dirty="0" err="1"/>
              <a:t>create-react-app</a:t>
            </a:r>
            <a:r>
              <a:rPr lang="fr-FR" sz="2400" dirty="0"/>
              <a:t>. </a:t>
            </a:r>
          </a:p>
          <a:p>
            <a:pPr>
              <a:defRPr/>
            </a:pPr>
            <a:endParaRPr lang="fr-FR" sz="2400" dirty="0"/>
          </a:p>
          <a:p>
            <a:pPr>
              <a:defRPr/>
            </a:pPr>
            <a:r>
              <a:rPr lang="fr-FR" sz="2400" dirty="0"/>
              <a:t>Let us </a:t>
            </a:r>
            <a:r>
              <a:rPr lang="fr-FR" sz="2400" dirty="0" err="1"/>
              <a:t>install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first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i="1" dirty="0" err="1">
                <a:solidFill>
                  <a:srgbClr val="FF0000"/>
                </a:solidFill>
              </a:rPr>
              <a:t>npm</a:t>
            </a:r>
            <a:r>
              <a:rPr lang="fr-FR" sz="2400" i="1" dirty="0">
                <a:solidFill>
                  <a:srgbClr val="FF0000"/>
                </a:solidFill>
              </a:rPr>
              <a:t> </a:t>
            </a:r>
            <a:r>
              <a:rPr lang="fr-FR" sz="2400" i="1" dirty="0" err="1">
                <a:solidFill>
                  <a:srgbClr val="FF0000"/>
                </a:solidFill>
              </a:rPr>
              <a:t>install</a:t>
            </a:r>
            <a:r>
              <a:rPr lang="fr-FR" sz="2400" i="1" dirty="0">
                <a:solidFill>
                  <a:srgbClr val="FF0000"/>
                </a:solidFill>
              </a:rPr>
              <a:t> -g </a:t>
            </a:r>
            <a:r>
              <a:rPr lang="fr-FR" sz="2400" i="1" dirty="0" err="1">
                <a:solidFill>
                  <a:srgbClr val="FF0000"/>
                </a:solidFill>
              </a:rPr>
              <a:t>create-react-app</a:t>
            </a:r>
            <a:endParaRPr lang="fr-FR" sz="2400" i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fr-FR" sz="2400" dirty="0" err="1"/>
              <a:t>We</a:t>
            </a:r>
            <a:r>
              <a:rPr lang="fr-FR" sz="2400" dirty="0"/>
              <a:t> </a:t>
            </a:r>
            <a:r>
              <a:rPr lang="fr-FR" sz="2400" dirty="0" err="1"/>
              <a:t>can</a:t>
            </a:r>
            <a:r>
              <a:rPr lang="fr-FR" sz="2400" dirty="0"/>
              <a:t> </a:t>
            </a:r>
            <a:r>
              <a:rPr lang="fr-FR" sz="2400" dirty="0" err="1"/>
              <a:t>then</a:t>
            </a:r>
            <a:r>
              <a:rPr lang="fr-FR" sz="2400" dirty="0"/>
              <a:t> </a:t>
            </a:r>
            <a:r>
              <a:rPr lang="fr-FR" sz="2400" dirty="0" err="1"/>
              <a:t>create</a:t>
            </a:r>
            <a:r>
              <a:rPr lang="fr-FR" sz="2400" dirty="0"/>
              <a:t> a new </a:t>
            </a:r>
            <a:r>
              <a:rPr lang="fr-FR" sz="2400" dirty="0" err="1"/>
              <a:t>react</a:t>
            </a:r>
            <a:r>
              <a:rPr lang="fr-FR" sz="2400" dirty="0"/>
              <a:t> </a:t>
            </a:r>
            <a:r>
              <a:rPr lang="fr-FR" sz="2400" dirty="0" err="1"/>
              <a:t>app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</a:p>
          <a:p>
            <a:pPr marL="0" indent="0">
              <a:buFontTx/>
              <a:buNone/>
              <a:defRPr/>
            </a:pPr>
            <a:endParaRPr lang="fr-FR" sz="2400" dirty="0"/>
          </a:p>
          <a:p>
            <a:pPr>
              <a:defRPr/>
            </a:pPr>
            <a:endParaRPr lang="fr-FR" sz="2400" dirty="0"/>
          </a:p>
        </p:txBody>
      </p:sp>
      <p:sp>
        <p:nvSpPr>
          <p:cNvPr id="29699" name="Rectangle 4">
            <a:extLst>
              <a:ext uri="{FF2B5EF4-FFF2-40B4-BE49-F238E27FC236}">
                <a16:creationId xmlns:a16="http://schemas.microsoft.com/office/drawing/2014/main" id="{CB35840E-8693-02EF-9B93-6065E80F7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343400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i="1">
                <a:solidFill>
                  <a:srgbClr val="FF0000"/>
                </a:solidFill>
              </a:rPr>
              <a:t>create-react-app myfirstreact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35950-AFDD-8070-CA9F-881070EC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re 1">
            <a:extLst>
              <a:ext uri="{FF2B5EF4-FFF2-40B4-BE49-F238E27FC236}">
                <a16:creationId xmlns:a16="http://schemas.microsoft.com/office/drawing/2014/main" id="{0CB43E4F-55BD-2C7E-A12D-B5F68BD2F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Getting started</a:t>
            </a:r>
          </a:p>
        </p:txBody>
      </p:sp>
      <p:pic>
        <p:nvPicPr>
          <p:cNvPr id="30722" name="Image 3" descr="Screenshot 2019-11-10 at 6.45.18 PM.pdf">
            <a:extLst>
              <a:ext uri="{FF2B5EF4-FFF2-40B4-BE49-F238E27FC236}">
                <a16:creationId xmlns:a16="http://schemas.microsoft.com/office/drawing/2014/main" id="{7FA95BFA-F3C6-C4D5-CC4D-A16FF6E38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81200"/>
            <a:ext cx="8312150" cy="29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37D46-359B-2FCB-BA02-71A3772D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re 1">
            <a:extLst>
              <a:ext uri="{FF2B5EF4-FFF2-40B4-BE49-F238E27FC236}">
                <a16:creationId xmlns:a16="http://schemas.microsoft.com/office/drawing/2014/main" id="{81ACB1FB-EED7-71EB-6AD7-1A3337B05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Getting started</a:t>
            </a:r>
          </a:p>
        </p:txBody>
      </p:sp>
      <p:sp>
        <p:nvSpPr>
          <p:cNvPr id="31746" name="Espace réservé du contenu 2">
            <a:extLst>
              <a:ext uri="{FF2B5EF4-FFF2-40B4-BE49-F238E27FC236}">
                <a16:creationId xmlns:a16="http://schemas.microsoft.com/office/drawing/2014/main" id="{6FA64A3F-947D-00FE-4E16-D0EFEA32DC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800"/>
              <a:t>Once setup is complete, browse to the directory and launch the react app using </a:t>
            </a:r>
            <a:r>
              <a:rPr lang="fr-FR" altLang="en-US" sz="2800" i="1">
                <a:solidFill>
                  <a:srgbClr val="FF0000"/>
                </a:solidFill>
              </a:rPr>
              <a:t>npm start</a:t>
            </a:r>
            <a:endParaRPr lang="fr-FR" altLang="en-US" sz="2800"/>
          </a:p>
        </p:txBody>
      </p:sp>
      <p:pic>
        <p:nvPicPr>
          <p:cNvPr id="31747" name="Image 3" descr="Screenshot 2019-11-10 at 6.53.22 PM.pdf">
            <a:extLst>
              <a:ext uri="{FF2B5EF4-FFF2-40B4-BE49-F238E27FC236}">
                <a16:creationId xmlns:a16="http://schemas.microsoft.com/office/drawing/2014/main" id="{7E642055-0CF2-BFEF-2B0C-D000D4068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048000"/>
            <a:ext cx="698500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A21922-AB4F-DF22-5559-E407F743F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re 1">
            <a:extLst>
              <a:ext uri="{FF2B5EF4-FFF2-40B4-BE49-F238E27FC236}">
                <a16:creationId xmlns:a16="http://schemas.microsoft.com/office/drawing/2014/main" id="{4117EF43-A94D-234F-609E-90900673F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Getting started</a:t>
            </a:r>
          </a:p>
        </p:txBody>
      </p:sp>
      <p:sp>
        <p:nvSpPr>
          <p:cNvPr id="32770" name="Espace réservé du contenu 2">
            <a:extLst>
              <a:ext uri="{FF2B5EF4-FFF2-40B4-BE49-F238E27FC236}">
                <a16:creationId xmlns:a16="http://schemas.microsoft.com/office/drawing/2014/main" id="{4F2F794E-455A-9C96-3F63-31C8B69EB5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fr-FR" altLang="en-US" sz="2800"/>
          </a:p>
        </p:txBody>
      </p:sp>
      <p:pic>
        <p:nvPicPr>
          <p:cNvPr id="32771" name="Image 3" descr="Screenshot 2019-11-10 at 6.54.28 PM.pdf">
            <a:extLst>
              <a:ext uri="{FF2B5EF4-FFF2-40B4-BE49-F238E27FC236}">
                <a16:creationId xmlns:a16="http://schemas.microsoft.com/office/drawing/2014/main" id="{7D229C22-4509-7524-3106-83D635C5D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7023100" cy="469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2CA33D-ABBC-A9AE-592A-AD080675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re 1">
            <a:extLst>
              <a:ext uri="{FF2B5EF4-FFF2-40B4-BE49-F238E27FC236}">
                <a16:creationId xmlns:a16="http://schemas.microsoft.com/office/drawing/2014/main" id="{B136BE86-74A2-9783-D662-6B4EC5506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Getting started</a:t>
            </a:r>
          </a:p>
        </p:txBody>
      </p:sp>
      <p:sp>
        <p:nvSpPr>
          <p:cNvPr id="33794" name="Espace réservé du contenu 2">
            <a:extLst>
              <a:ext uri="{FF2B5EF4-FFF2-40B4-BE49-F238E27FC236}">
                <a16:creationId xmlns:a16="http://schemas.microsoft.com/office/drawing/2014/main" id="{B8706312-2A6C-A8C4-0FBD-7E4B911F71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800"/>
              <a:t>Congratulations, you have a working react environment.</a:t>
            </a:r>
          </a:p>
          <a:p>
            <a:r>
              <a:rPr lang="fr-FR" altLang="en-US" sz="2800"/>
              <a:t>As the app says, go on and change the app.js and any changes saved in the js file would be automatically reflected on the page.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E440A2-2BF0-116D-4316-76A5236D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re 1">
            <a:extLst>
              <a:ext uri="{FF2B5EF4-FFF2-40B4-BE49-F238E27FC236}">
                <a16:creationId xmlns:a16="http://schemas.microsoft.com/office/drawing/2014/main" id="{5BC60545-3862-8E99-3077-4F6E8D440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How does it work?</a:t>
            </a:r>
          </a:p>
        </p:txBody>
      </p:sp>
      <p:sp>
        <p:nvSpPr>
          <p:cNvPr id="34818" name="Espace réservé du contenu 2">
            <a:extLst>
              <a:ext uri="{FF2B5EF4-FFF2-40B4-BE49-F238E27FC236}">
                <a16:creationId xmlns:a16="http://schemas.microsoft.com/office/drawing/2014/main" id="{C2A5C812-F86B-D905-FBAD-045D6EA42A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/>
              <a:t>Let us first simplify the structure. </a:t>
            </a:r>
          </a:p>
          <a:p>
            <a:r>
              <a:rPr lang="fr-FR" altLang="en-US"/>
              <a:t>Remove all other files in the src folder, other than the one shown below:</a:t>
            </a:r>
          </a:p>
        </p:txBody>
      </p:sp>
      <p:pic>
        <p:nvPicPr>
          <p:cNvPr id="34819" name="Image 3" descr="Screenshot 2019-11-10 at 7.03.40 PM.pdf">
            <a:extLst>
              <a:ext uri="{FF2B5EF4-FFF2-40B4-BE49-F238E27FC236}">
                <a16:creationId xmlns:a16="http://schemas.microsoft.com/office/drawing/2014/main" id="{D13EF788-2DBE-A074-0B99-5CE0E2ECB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886200"/>
            <a:ext cx="27559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B283BA-DBB9-350C-6324-CC81D53E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re 1">
            <a:extLst>
              <a:ext uri="{FF2B5EF4-FFF2-40B4-BE49-F238E27FC236}">
                <a16:creationId xmlns:a16="http://schemas.microsoft.com/office/drawing/2014/main" id="{00F396B0-C843-AA83-D657-F8F163774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Updating index.js</a:t>
            </a:r>
          </a:p>
        </p:txBody>
      </p:sp>
      <p:sp>
        <p:nvSpPr>
          <p:cNvPr id="35842" name="Rectangle 4">
            <a:extLst>
              <a:ext uri="{FF2B5EF4-FFF2-40B4-BE49-F238E27FC236}">
                <a16:creationId xmlns:a16="http://schemas.microsoft.com/office/drawing/2014/main" id="{E687E500-644E-0991-0662-0FAF170AE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590800"/>
            <a:ext cx="8229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400" b="1" i="1" dirty="0" err="1">
                <a:solidFill>
                  <a:srgbClr val="000000"/>
                </a:solidFill>
                <a:latin typeface="Monaco" pitchFamily="124" charset="0"/>
              </a:rPr>
              <a:t>React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4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4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4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24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400" b="1" i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4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4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4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2400" b="1" i="1" dirty="0">
                <a:solidFill>
                  <a:srgbClr val="4E9A06"/>
                </a:solidFill>
                <a:latin typeface="Monaco" pitchFamily="124" charset="0"/>
              </a:rPr>
              <a:t>-dom'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4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b="1" i="1" dirty="0">
                <a:solidFill>
                  <a:srgbClr val="204A87"/>
                </a:solidFill>
                <a:latin typeface="Monaco" pitchFamily="124" charset="0"/>
              </a:rPr>
              <a:t>let </a:t>
            </a:r>
            <a:r>
              <a:rPr lang="fr-FR" altLang="en-US" sz="2400" b="1" i="1" dirty="0" err="1">
                <a:solidFill>
                  <a:srgbClr val="000000"/>
                </a:solidFill>
                <a:latin typeface="Monaco" pitchFamily="124" charset="0"/>
              </a:rPr>
              <a:t>myelement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400" b="1" i="1" dirty="0">
                <a:solidFill>
                  <a:srgbClr val="CE5C00"/>
                </a:solidFill>
                <a:latin typeface="Monaco" pitchFamily="124" charset="0"/>
              </a:rPr>
              <a:t>= &lt;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h1</a:t>
            </a:r>
            <a:r>
              <a:rPr lang="fr-FR" altLang="en-US" sz="2400" b="1" i="1" dirty="0">
                <a:solidFill>
                  <a:srgbClr val="CE5C00"/>
                </a:solidFill>
                <a:latin typeface="Monaco" pitchFamily="124" charset="0"/>
              </a:rPr>
              <a:t>&gt;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Hello World</a:t>
            </a:r>
            <a:r>
              <a:rPr lang="fr-FR" altLang="en-US" sz="24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fr-FR" altLang="en-US" sz="2400" b="1" i="1" dirty="0">
                <a:solidFill>
                  <a:srgbClr val="A40000"/>
                </a:solidFill>
                <a:latin typeface="Monaco" pitchFamily="124" charset="0"/>
              </a:rPr>
              <a:t>/h1&gt;;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 i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2400" b="1" i="1" dirty="0" err="1">
                <a:solidFill>
                  <a:srgbClr val="000000"/>
                </a:solidFill>
                <a:latin typeface="Monaco" pitchFamily="124" charset="0"/>
              </a:rPr>
              <a:t>.render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2400" b="1" i="1" dirty="0" err="1">
                <a:solidFill>
                  <a:srgbClr val="000000"/>
                </a:solidFill>
                <a:latin typeface="Monaco" pitchFamily="124" charset="0"/>
              </a:rPr>
              <a:t>myelement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, </a:t>
            </a:r>
            <a:r>
              <a:rPr lang="fr-FR" altLang="en-US" sz="2400" b="1" i="1" dirty="0" err="1">
                <a:solidFill>
                  <a:srgbClr val="204A87"/>
                </a:solidFill>
                <a:latin typeface="Monaco" pitchFamily="124" charset="0"/>
              </a:rPr>
              <a:t>document</a:t>
            </a:r>
            <a:r>
              <a:rPr lang="fr-FR" altLang="en-US" sz="2400" b="1" i="1" dirty="0" err="1">
                <a:solidFill>
                  <a:srgbClr val="000000"/>
                </a:solidFill>
                <a:latin typeface="Monaco" pitchFamily="124" charset="0"/>
              </a:rPr>
              <a:t>.getElementById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2400" b="1" i="1" dirty="0">
                <a:solidFill>
                  <a:srgbClr val="4E9A06"/>
                </a:solidFill>
                <a:latin typeface="Monaco" pitchFamily="124" charset="0"/>
              </a:rPr>
              <a:t>'root'</a:t>
            </a:r>
            <a:r>
              <a:rPr lang="fr-FR" altLang="en-US" sz="2400" b="1" i="1" dirty="0">
                <a:solidFill>
                  <a:srgbClr val="000000"/>
                </a:solidFill>
                <a:latin typeface="Monaco" pitchFamily="124" charset="0"/>
              </a:rPr>
              <a:t>));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288FEA-B225-B526-E421-CBF3B1EF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re 1">
            <a:extLst>
              <a:ext uri="{FF2B5EF4-FFF2-40B4-BE49-F238E27FC236}">
                <a16:creationId xmlns:a16="http://schemas.microsoft.com/office/drawing/2014/main" id="{A42C2471-95C9-4A54-F013-813A7AEDC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React components </a:t>
            </a:r>
            <a:r>
              <a:rPr lang="mr-IN" altLang="en-US"/>
              <a:t>–</a:t>
            </a:r>
            <a:r>
              <a:rPr lang="fr-FR" altLang="en-US"/>
              <a:t> App.js</a:t>
            </a:r>
          </a:p>
        </p:txBody>
      </p:sp>
      <p:sp>
        <p:nvSpPr>
          <p:cNvPr id="36866" name="Rectangle 4">
            <a:extLst>
              <a:ext uri="{FF2B5EF4-FFF2-40B4-BE49-F238E27FC236}">
                <a16:creationId xmlns:a16="http://schemas.microsoft.com/office/drawing/2014/main" id="{17B6CD06-AE05-7738-22CA-3BB6ADA71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00200"/>
            <a:ext cx="7924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React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, {Component}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0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0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class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App </a:t>
            </a:r>
            <a:r>
              <a:rPr lang="fr-FR" altLang="en-US" sz="2000" b="1" i="1" dirty="0" err="1">
                <a:solidFill>
                  <a:srgbClr val="204A87"/>
                </a:solidFill>
                <a:latin typeface="Monaco" pitchFamily="124" charset="0"/>
              </a:rPr>
              <a:t>extends</a:t>
            </a: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Component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i="1" dirty="0">
                <a:latin typeface="Monaco" pitchFamily="124" charset="0"/>
              </a:rPr>
              <a:t>  </a:t>
            </a:r>
            <a:r>
              <a:rPr lang="mr-IN" altLang="en-US" sz="2000" i="1" dirty="0">
                <a:solidFill>
                  <a:srgbClr val="000000"/>
                </a:solidFill>
                <a:latin typeface="Monaco" pitchFamily="124" charset="0"/>
              </a:rPr>
              <a:t>render</a:t>
            </a: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i="1" dirty="0">
                <a:latin typeface="Monaco" pitchFamily="124" charset="0"/>
              </a:rPr>
              <a:t>    </a:t>
            </a:r>
            <a:r>
              <a:rPr lang="mr-IN" altLang="en-US" sz="2000" b="1" i="1" dirty="0">
                <a:solidFill>
                  <a:srgbClr val="204A87"/>
                </a:solidFill>
                <a:latin typeface="Monaco" pitchFamily="124" charset="0"/>
              </a:rPr>
              <a:t>return </a:t>
            </a: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i="1" dirty="0">
                <a:latin typeface="Monaco" pitchFamily="124" charset="0"/>
              </a:rPr>
              <a:t>      </a:t>
            </a:r>
            <a:r>
              <a:rPr lang="fr-FR" altLang="en-US" sz="20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div</a:t>
            </a:r>
            <a:r>
              <a:rPr lang="fr-FR" altLang="en-US" sz="2000" b="1" i="1" dirty="0">
                <a:solidFill>
                  <a:srgbClr val="CE5C00"/>
                </a:solidFill>
                <a:latin typeface="Monaco" pitchFamily="124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i="1" dirty="0">
                <a:latin typeface="Monaco" pitchFamily="124" charset="0"/>
              </a:rPr>
              <a:t>        </a:t>
            </a:r>
            <a:r>
              <a:rPr lang="mr-IN" altLang="en-US" sz="20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h1</a:t>
            </a:r>
            <a:r>
              <a:rPr lang="mr-IN" altLang="en-US" sz="2000" b="1" i="1" dirty="0">
                <a:solidFill>
                  <a:srgbClr val="CE5C00"/>
                </a:solidFill>
                <a:latin typeface="Monaco" pitchFamily="124" charset="0"/>
              </a:rPr>
              <a:t>&gt;</a:t>
            </a: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Hello World</a:t>
            </a:r>
            <a:r>
              <a:rPr lang="mr-IN" altLang="en-US" sz="2000" b="1" i="1" dirty="0">
                <a:solidFill>
                  <a:srgbClr val="CE5C00"/>
                </a:solidFill>
                <a:latin typeface="Monaco" pitchFamily="124" charset="0"/>
              </a:rPr>
              <a:t>!&lt;</a:t>
            </a:r>
            <a:r>
              <a:rPr lang="mr-IN" altLang="en-US" sz="2000" b="1" i="1" dirty="0">
                <a:solidFill>
                  <a:srgbClr val="A40000"/>
                </a:solidFill>
                <a:latin typeface="Monaco" pitchFamily="124" charset="0"/>
              </a:rPr>
              <a:t>/h1&gt;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i="1" dirty="0">
                <a:latin typeface="Monaco" pitchFamily="124" charset="0"/>
              </a:rPr>
              <a:t>      </a:t>
            </a:r>
            <a:r>
              <a:rPr lang="mr-IN" altLang="en-US" sz="20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2000" b="1" i="1" dirty="0">
                <a:solidFill>
                  <a:srgbClr val="A40000"/>
                </a:solidFill>
                <a:latin typeface="Monaco" pitchFamily="124" charset="0"/>
              </a:rPr>
              <a:t>/div&gt;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i="1" dirty="0">
                <a:latin typeface="Monaco" pitchFamily="124" charset="0"/>
              </a:rPr>
              <a:t>    </a:t>
            </a: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);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mr-IN" altLang="en-US" sz="20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export default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App;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000" b="1" dirty="0">
              <a:solidFill>
                <a:srgbClr val="000000"/>
              </a:solidFill>
              <a:latin typeface="Monaco" pitchFamily="12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CB7618-BFF1-AFD9-2621-E41DC528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re 1">
            <a:extLst>
              <a:ext uri="{FF2B5EF4-FFF2-40B4-BE49-F238E27FC236}">
                <a16:creationId xmlns:a16="http://schemas.microsoft.com/office/drawing/2014/main" id="{FB322330-B941-B053-16EC-F726CDEF6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React components </a:t>
            </a:r>
            <a:r>
              <a:rPr lang="mr-IN" altLang="en-US"/>
              <a:t>–</a:t>
            </a:r>
            <a:r>
              <a:rPr lang="fr-FR" altLang="en-US"/>
              <a:t> index.js</a:t>
            </a:r>
          </a:p>
        </p:txBody>
      </p:sp>
      <p:sp>
        <p:nvSpPr>
          <p:cNvPr id="37890" name="Rectangle 4">
            <a:extLst>
              <a:ext uri="{FF2B5EF4-FFF2-40B4-BE49-F238E27FC236}">
                <a16:creationId xmlns:a16="http://schemas.microsoft.com/office/drawing/2014/main" id="{699634C4-8E50-9FC1-F792-6C817F52E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00200"/>
            <a:ext cx="7924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React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0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0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-dom'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App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'./App.js'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0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i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.render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20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App </a:t>
            </a:r>
            <a:r>
              <a:rPr lang="fr-FR" altLang="en-US" sz="2000" b="1" i="1" dirty="0">
                <a:solidFill>
                  <a:srgbClr val="CE5C00"/>
                </a:solidFill>
                <a:latin typeface="Monaco" pitchFamily="124" charset="0"/>
              </a:rPr>
              <a:t>/&gt;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, </a:t>
            </a:r>
            <a:r>
              <a:rPr lang="fr-FR" altLang="en-US" sz="2000" b="1" i="1" dirty="0" err="1">
                <a:solidFill>
                  <a:srgbClr val="204A87"/>
                </a:solidFill>
                <a:latin typeface="Monaco" pitchFamily="124" charset="0"/>
              </a:rPr>
              <a:t>document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.getElementById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'root'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));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948505-C724-AE81-9415-A2D4D066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re 1">
            <a:extLst>
              <a:ext uri="{FF2B5EF4-FFF2-40B4-BE49-F238E27FC236}">
                <a16:creationId xmlns:a16="http://schemas.microsoft.com/office/drawing/2014/main" id="{C3669F72-66B6-A5C2-BDEA-ACA385C28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Using existing components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C2616128-ED5D-31BA-236E-F5D6B89C4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828800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i="1" dirty="0" err="1">
                <a:solidFill>
                  <a:srgbClr val="FF0000"/>
                </a:solidFill>
              </a:rPr>
              <a:t>npm</a:t>
            </a:r>
            <a:r>
              <a:rPr lang="fr-FR" altLang="en-US" sz="2800" i="1" dirty="0">
                <a:solidFill>
                  <a:srgbClr val="FF0000"/>
                </a:solidFill>
              </a:rPr>
              <a:t> </a:t>
            </a:r>
            <a:r>
              <a:rPr lang="fr-FR" altLang="en-US" sz="2800" i="1" dirty="0" err="1">
                <a:solidFill>
                  <a:srgbClr val="FF0000"/>
                </a:solidFill>
              </a:rPr>
              <a:t>install</a:t>
            </a:r>
            <a:r>
              <a:rPr lang="fr-FR" altLang="en-US" sz="2800" i="1" dirty="0">
                <a:solidFill>
                  <a:srgbClr val="FF0000"/>
                </a:solidFill>
              </a:rPr>
              <a:t> </a:t>
            </a:r>
            <a:r>
              <a:rPr lang="fr-FR" altLang="en-US" sz="2800" i="1" dirty="0" err="1">
                <a:solidFill>
                  <a:srgbClr val="FF0000"/>
                </a:solidFill>
              </a:rPr>
              <a:t>react</a:t>
            </a:r>
            <a:r>
              <a:rPr lang="fr-FR" altLang="en-US" sz="2800" i="1" dirty="0">
                <a:solidFill>
                  <a:srgbClr val="FF0000"/>
                </a:solidFill>
              </a:rPr>
              <a:t>-intense</a:t>
            </a:r>
          </a:p>
        </p:txBody>
      </p:sp>
      <p:sp>
        <p:nvSpPr>
          <p:cNvPr id="38915" name="Rectangle 4">
            <a:extLst>
              <a:ext uri="{FF2B5EF4-FFF2-40B4-BE49-F238E27FC236}">
                <a16:creationId xmlns:a16="http://schemas.microsoft.com/office/drawing/2014/main" id="{6E95A32B-EE9C-F29F-692D-44C047676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590800"/>
            <a:ext cx="82296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React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8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8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-dom'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ReactIntense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8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-intense'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birdimage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'./bird.jpg'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let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myelement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= &lt;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ReactIntense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src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=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{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birdimage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} 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/&gt;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i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.render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myelement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, </a:t>
            </a:r>
            <a:r>
              <a:rPr lang="fr-FR" altLang="en-US" sz="1800" b="1" i="1" dirty="0" err="1">
                <a:solidFill>
                  <a:srgbClr val="204A87"/>
                </a:solidFill>
                <a:latin typeface="Monaco" pitchFamily="124" charset="0"/>
              </a:rPr>
              <a:t>document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.getElementById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'root'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));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F9CBFF-3E79-2A4B-C9C8-CABC8881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re 1">
            <a:extLst>
              <a:ext uri="{FF2B5EF4-FFF2-40B4-BE49-F238E27FC236}">
                <a16:creationId xmlns:a16="http://schemas.microsoft.com/office/drawing/2014/main" id="{9A09E62D-9717-81B8-A825-E5CA9F3F2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Using existing components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37C0446F-AD2F-E9E4-BD81-C594D0D0E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828800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i="1" dirty="0" err="1">
                <a:solidFill>
                  <a:srgbClr val="FF0000"/>
                </a:solidFill>
              </a:rPr>
              <a:t>npm</a:t>
            </a:r>
            <a:r>
              <a:rPr lang="fr-FR" altLang="en-US" sz="2800" i="1" dirty="0">
                <a:solidFill>
                  <a:srgbClr val="FF0000"/>
                </a:solidFill>
              </a:rPr>
              <a:t> </a:t>
            </a:r>
            <a:r>
              <a:rPr lang="fr-FR" altLang="en-US" sz="2800" i="1" dirty="0" err="1">
                <a:solidFill>
                  <a:srgbClr val="FF0000"/>
                </a:solidFill>
              </a:rPr>
              <a:t>install</a:t>
            </a:r>
            <a:r>
              <a:rPr lang="fr-FR" altLang="en-US" sz="2800" i="1" dirty="0">
                <a:solidFill>
                  <a:srgbClr val="FF0000"/>
                </a:solidFill>
              </a:rPr>
              <a:t> @material-ui/core</a:t>
            </a:r>
          </a:p>
        </p:txBody>
      </p:sp>
      <p:sp>
        <p:nvSpPr>
          <p:cNvPr id="39939" name="Rectangle 4">
            <a:extLst>
              <a:ext uri="{FF2B5EF4-FFF2-40B4-BE49-F238E27FC236}">
                <a16:creationId xmlns:a16="http://schemas.microsoft.com/office/drawing/2014/main" id="{6668CF15-8B74-3177-FD64-ED94A95A0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590800"/>
            <a:ext cx="82296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React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8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8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-dom'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Button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'@</a:t>
            </a:r>
            <a:r>
              <a:rPr lang="fr-FR" altLang="en-US" sz="1800" b="1" i="1" dirty="0" err="1">
                <a:solidFill>
                  <a:srgbClr val="4E9A06"/>
                </a:solidFill>
                <a:latin typeface="Monaco" pitchFamily="124" charset="0"/>
              </a:rPr>
              <a:t>material-ui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/</a:t>
            </a:r>
            <a:r>
              <a:rPr lang="fr-FR" altLang="en-US" sz="1800" b="1" i="1" dirty="0" err="1">
                <a:solidFill>
                  <a:srgbClr val="4E9A06"/>
                </a:solidFill>
                <a:latin typeface="Monaco" pitchFamily="124" charset="0"/>
              </a:rPr>
              <a:t>core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/Button'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let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myelement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i="1" dirty="0">
                <a:latin typeface="Monaco" pitchFamily="124" charset="0"/>
              </a:rPr>
              <a:t>    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Button variant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=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"</a:t>
            </a:r>
            <a:r>
              <a:rPr lang="fr-FR" altLang="en-US" sz="1800" b="1" i="1" dirty="0" err="1">
                <a:solidFill>
                  <a:srgbClr val="4E9A06"/>
                </a:solidFill>
                <a:latin typeface="Monaco" pitchFamily="124" charset="0"/>
              </a:rPr>
              <a:t>contained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" 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color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=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"</a:t>
            </a:r>
            <a:r>
              <a:rPr lang="fr-FR" altLang="en-US" sz="1800" b="1" i="1" dirty="0" err="1">
                <a:solidFill>
                  <a:srgbClr val="4E9A06"/>
                </a:solidFill>
                <a:latin typeface="Monaco" pitchFamily="124" charset="0"/>
              </a:rPr>
              <a:t>primary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"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i="1" dirty="0">
                <a:latin typeface="Monaco" pitchFamily="124" charset="0"/>
              </a:rPr>
              <a:t>      </a:t>
            </a:r>
            <a:r>
              <a:rPr lang="fr-FR" altLang="en-US" sz="1800" i="1" dirty="0">
                <a:solidFill>
                  <a:srgbClr val="000000"/>
                </a:solidFill>
                <a:latin typeface="Monaco" pitchFamily="124" charset="0"/>
              </a:rPr>
              <a:t>Hello World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i="1" dirty="0">
                <a:latin typeface="Monaco" pitchFamily="124" charset="0"/>
              </a:rPr>
              <a:t>    </a:t>
            </a:r>
            <a:r>
              <a:rPr lang="mr-IN" altLang="en-US" sz="18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1800" b="1" i="1" dirty="0">
                <a:solidFill>
                  <a:srgbClr val="A40000"/>
                </a:solidFill>
                <a:latin typeface="Monaco" pitchFamily="124" charset="0"/>
              </a:rPr>
              <a:t>/Button&gt;;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mr-IN" altLang="en-US" sz="18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i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.render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myelement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, </a:t>
            </a:r>
            <a:r>
              <a:rPr lang="fr-FR" altLang="en-US" sz="1800" b="1" i="1" dirty="0" err="1">
                <a:solidFill>
                  <a:srgbClr val="204A87"/>
                </a:solidFill>
                <a:latin typeface="Monaco" pitchFamily="124" charset="0"/>
              </a:rPr>
              <a:t>document</a:t>
            </a:r>
            <a:r>
              <a:rPr lang="fr-FR" altLang="en-US" sz="1800" b="1" i="1" dirty="0" err="1">
                <a:solidFill>
                  <a:srgbClr val="000000"/>
                </a:solidFill>
                <a:latin typeface="Monaco" pitchFamily="124" charset="0"/>
              </a:rPr>
              <a:t>.getElementById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'root'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));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DDDEB4-1069-09D2-37A0-3035BE5E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re 1">
            <a:extLst>
              <a:ext uri="{FF2B5EF4-FFF2-40B4-BE49-F238E27FC236}">
                <a16:creationId xmlns:a16="http://schemas.microsoft.com/office/drawing/2014/main" id="{5D921EFE-9223-C169-7B1B-A5D26E927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Component States</a:t>
            </a:r>
          </a:p>
        </p:txBody>
      </p:sp>
      <p:sp>
        <p:nvSpPr>
          <p:cNvPr id="40962" name="Espace réservé du contenu 2">
            <a:extLst>
              <a:ext uri="{FF2B5EF4-FFF2-40B4-BE49-F238E27FC236}">
                <a16:creationId xmlns:a16="http://schemas.microsoft.com/office/drawing/2014/main" id="{8C5907F8-2920-F274-BF3A-30482EB039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400"/>
              <a:t>React components have a built-in state object.</a:t>
            </a:r>
          </a:p>
          <a:p>
            <a:r>
              <a:rPr lang="fr-FR" altLang="en-US" sz="2400"/>
              <a:t>The state object is where you store property values that belongs to the component.</a:t>
            </a:r>
          </a:p>
          <a:p>
            <a:r>
              <a:rPr lang="fr-FR" altLang="en-US" sz="2400"/>
              <a:t>When the state object changes, the component re-renders.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A05042-1E22-5DEB-D352-794C3CD0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3">
            <a:extLst>
              <a:ext uri="{FF2B5EF4-FFF2-40B4-BE49-F238E27FC236}">
                <a16:creationId xmlns:a16="http://schemas.microsoft.com/office/drawing/2014/main" id="{16E8BD63-2B6D-1A12-4745-04E0966EC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57200"/>
            <a:ext cx="8001000" cy="646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800" b="1" dirty="0" err="1">
                <a:solidFill>
                  <a:srgbClr val="000000"/>
                </a:solidFill>
                <a:latin typeface="Monaco" pitchFamily="124" charset="0"/>
              </a:rPr>
              <a:t>React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800" b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1800" b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800" b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800" b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800" b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1800" b="1" dirty="0">
                <a:solidFill>
                  <a:srgbClr val="4E9A06"/>
                </a:solidFill>
                <a:latin typeface="Monaco" pitchFamily="124" charset="0"/>
              </a:rPr>
              <a:t>-dom'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dirty="0">
                <a:solidFill>
                  <a:srgbClr val="204A87"/>
                </a:solidFill>
                <a:latin typeface="Monaco" pitchFamily="124" charset="0"/>
              </a:rPr>
              <a:t>class 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Car </a:t>
            </a:r>
            <a:r>
              <a:rPr lang="fr-FR" altLang="en-US" sz="1800" b="1" dirty="0" err="1">
                <a:solidFill>
                  <a:srgbClr val="204A87"/>
                </a:solidFill>
                <a:latin typeface="Monaco" pitchFamily="124" charset="0"/>
              </a:rPr>
              <a:t>extends</a:t>
            </a:r>
            <a:r>
              <a:rPr lang="fr-FR" altLang="en-US" sz="1800" b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800" b="1" dirty="0" err="1">
                <a:solidFill>
                  <a:srgbClr val="000000"/>
                </a:solidFill>
                <a:latin typeface="Monaco" pitchFamily="124" charset="0"/>
              </a:rPr>
              <a:t>React.Component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>
                <a:latin typeface="Monaco" pitchFamily="124" charset="0"/>
              </a:rPr>
              <a:t>  </a:t>
            </a:r>
            <a:r>
              <a:rPr lang="fr-FR" altLang="en-US" sz="1800" dirty="0" err="1">
                <a:solidFill>
                  <a:srgbClr val="000000"/>
                </a:solidFill>
                <a:latin typeface="Monaco" pitchFamily="124" charset="0"/>
              </a:rPr>
              <a:t>constructor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1800" b="1" dirty="0" err="1">
                <a:solidFill>
                  <a:srgbClr val="000000"/>
                </a:solidFill>
                <a:latin typeface="Monaco" pitchFamily="124" charset="0"/>
              </a:rPr>
              <a:t>props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dirty="0">
                <a:latin typeface="Monaco" pitchFamily="124" charset="0"/>
              </a:rPr>
              <a:t>    </a:t>
            </a:r>
            <a:r>
              <a:rPr lang="fr-FR" altLang="en-US" sz="1800" b="1" dirty="0">
                <a:solidFill>
                  <a:srgbClr val="204A87"/>
                </a:solidFill>
                <a:latin typeface="Monaco" pitchFamily="124" charset="0"/>
              </a:rPr>
              <a:t>super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1800" b="1" dirty="0" err="1">
                <a:solidFill>
                  <a:srgbClr val="000000"/>
                </a:solidFill>
                <a:latin typeface="Monaco" pitchFamily="124" charset="0"/>
              </a:rPr>
              <a:t>props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Monaco" pitchFamily="124" charset="0"/>
              </a:rPr>
              <a:t>    </a:t>
            </a:r>
            <a:r>
              <a:rPr lang="en-US" altLang="en-US" sz="1800" b="1" dirty="0" err="1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en-US" altLang="en-US" sz="1800" b="1" dirty="0" err="1">
                <a:solidFill>
                  <a:srgbClr val="000000"/>
                </a:solidFill>
                <a:latin typeface="Monaco" pitchFamily="124" charset="0"/>
              </a:rPr>
              <a:t>.state</a:t>
            </a:r>
            <a:r>
              <a:rPr lang="en-US" altLang="en-US" sz="1800" b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en-US" altLang="en-US" sz="1800" b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en-US" altLang="en-US" sz="1800" b="1" dirty="0">
                <a:solidFill>
                  <a:srgbClr val="000000"/>
                </a:solidFill>
                <a:latin typeface="Monaco" pitchFamily="12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    </a:t>
            </a:r>
            <a:r>
              <a:rPr lang="mr-IN" altLang="en-US" sz="1800" dirty="0">
                <a:solidFill>
                  <a:srgbClr val="000000"/>
                </a:solidFill>
                <a:latin typeface="Monaco" pitchFamily="124" charset="0"/>
              </a:rPr>
              <a:t>brand</a:t>
            </a:r>
            <a:r>
              <a:rPr lang="mr-IN" altLang="en-US" sz="1800" b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mr-IN" altLang="en-US" sz="1800" b="1" dirty="0">
                <a:solidFill>
                  <a:srgbClr val="4E9A06"/>
                </a:solidFill>
                <a:latin typeface="Monaco" pitchFamily="124" charset="0"/>
              </a:rPr>
              <a:t>"Ford"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    </a:t>
            </a:r>
            <a:r>
              <a:rPr lang="mr-IN" altLang="en-US" sz="1800" dirty="0">
                <a:solidFill>
                  <a:srgbClr val="000000"/>
                </a:solidFill>
                <a:latin typeface="Monaco" pitchFamily="124" charset="0"/>
              </a:rPr>
              <a:t>model</a:t>
            </a:r>
            <a:r>
              <a:rPr lang="mr-IN" altLang="en-US" sz="1800" b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mr-IN" altLang="en-US" sz="1800" b="1" dirty="0">
                <a:solidFill>
                  <a:srgbClr val="4E9A06"/>
                </a:solidFill>
                <a:latin typeface="Monaco" pitchFamily="124" charset="0"/>
              </a:rPr>
              <a:t>"Mustang"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  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};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</a:t>
            </a:r>
            <a:r>
              <a:rPr lang="mr-IN" altLang="en-US" sz="1800" dirty="0">
                <a:solidFill>
                  <a:srgbClr val="000000"/>
                </a:solidFill>
                <a:latin typeface="Monaco" pitchFamily="124" charset="0"/>
              </a:rPr>
              <a:t>render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  </a:t>
            </a:r>
            <a:r>
              <a:rPr lang="mr-IN" altLang="en-US" sz="1800" b="1" dirty="0">
                <a:solidFill>
                  <a:srgbClr val="204A87"/>
                </a:solidFill>
                <a:latin typeface="Monaco" pitchFamily="124" charset="0"/>
              </a:rPr>
              <a:t>return 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    </a:t>
            </a:r>
            <a:r>
              <a:rPr lang="mr-IN" altLang="en-US" sz="1800" b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div</a:t>
            </a:r>
            <a:r>
              <a:rPr lang="mr-IN" altLang="en-US" sz="1800" b="1" dirty="0">
                <a:solidFill>
                  <a:srgbClr val="CE5C00"/>
                </a:solidFill>
                <a:latin typeface="Monaco" pitchFamily="124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      </a:t>
            </a:r>
            <a:r>
              <a:rPr lang="mr-IN" altLang="en-US" sz="1800" b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h1</a:t>
            </a:r>
            <a:r>
              <a:rPr lang="mr-IN" altLang="en-US" sz="1800" b="1" dirty="0">
                <a:solidFill>
                  <a:srgbClr val="CE5C00"/>
                </a:solidFill>
                <a:latin typeface="Monaco" pitchFamily="124" charset="0"/>
              </a:rPr>
              <a:t>&gt;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My {</a:t>
            </a:r>
            <a:r>
              <a:rPr lang="mr-IN" altLang="en-US" sz="1800" b="1" dirty="0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.state.brand}</a:t>
            </a:r>
            <a:r>
              <a:rPr lang="mr-IN" altLang="en-US" sz="1800" b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1800" b="1" dirty="0">
                <a:solidFill>
                  <a:srgbClr val="A40000"/>
                </a:solidFill>
                <a:latin typeface="Monaco" pitchFamily="124" charset="0"/>
              </a:rPr>
              <a:t>/h1&gt;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Monaco" pitchFamily="124" charset="0"/>
              </a:rPr>
              <a:t>        </a:t>
            </a:r>
            <a:r>
              <a:rPr lang="en-US" altLang="en-US" sz="1800" b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en-US" altLang="en-US" sz="1800" b="1" dirty="0">
                <a:solidFill>
                  <a:srgbClr val="000000"/>
                </a:solidFill>
                <a:latin typeface="Monaco" pitchFamily="124" charset="0"/>
              </a:rPr>
              <a:t>p</a:t>
            </a:r>
            <a:r>
              <a:rPr lang="en-US" altLang="en-US" sz="1800" b="1" dirty="0">
                <a:solidFill>
                  <a:srgbClr val="CE5C00"/>
                </a:solidFill>
                <a:latin typeface="Monaco" pitchFamily="124" charset="0"/>
              </a:rPr>
              <a:t>&gt; </a:t>
            </a:r>
            <a:r>
              <a:rPr lang="en-US" altLang="en-US" sz="1800" b="1" dirty="0">
                <a:solidFill>
                  <a:srgbClr val="000000"/>
                </a:solidFill>
                <a:latin typeface="Monaco" pitchFamily="124" charset="0"/>
              </a:rPr>
              <a:t>It is a {</a:t>
            </a:r>
            <a:r>
              <a:rPr lang="en-US" altLang="en-US" sz="1800" b="1" dirty="0" err="1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en-US" altLang="en-US" sz="1800" b="1" dirty="0" err="1">
                <a:solidFill>
                  <a:srgbClr val="000000"/>
                </a:solidFill>
                <a:latin typeface="Monaco" pitchFamily="124" charset="0"/>
              </a:rPr>
              <a:t>.state.model</a:t>
            </a:r>
            <a:r>
              <a:rPr lang="en-US" altLang="en-US" sz="1800" b="1" dirty="0">
                <a:solidFill>
                  <a:srgbClr val="000000"/>
                </a:solidFill>
                <a:latin typeface="Monaco" pitchFamily="124" charset="0"/>
              </a:rPr>
              <a:t>} </a:t>
            </a:r>
            <a:r>
              <a:rPr lang="en-US" altLang="en-US" sz="1800" b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en-US" altLang="en-US" sz="1800" b="1" dirty="0">
                <a:solidFill>
                  <a:srgbClr val="A40000"/>
                </a:solidFill>
                <a:latin typeface="Monaco" pitchFamily="124" charset="0"/>
              </a:rPr>
              <a:t>/p&gt;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    </a:t>
            </a:r>
            <a:r>
              <a:rPr lang="mr-IN" altLang="en-US" sz="1800" b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1800" b="1" dirty="0">
                <a:solidFill>
                  <a:srgbClr val="A40000"/>
                </a:solidFill>
                <a:latin typeface="Monaco" pitchFamily="124" charset="0"/>
              </a:rPr>
              <a:t>/div&gt;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  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dirty="0">
                <a:latin typeface="Monaco" pitchFamily="124" charset="0"/>
              </a:rPr>
              <a:t>  </a:t>
            </a: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b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mr-IN" altLang="en-US" sz="1800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dirty="0">
                <a:solidFill>
                  <a:srgbClr val="204A87"/>
                </a:solidFill>
                <a:latin typeface="Monaco" pitchFamily="124" charset="0"/>
              </a:rPr>
              <a:t>export default </a:t>
            </a:r>
            <a:r>
              <a:rPr lang="fr-FR" altLang="en-US" sz="1800" b="1" dirty="0">
                <a:solidFill>
                  <a:srgbClr val="000000"/>
                </a:solidFill>
                <a:latin typeface="Monaco" pitchFamily="124" charset="0"/>
              </a:rPr>
              <a:t>Car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DC45CE-048F-30A7-4B6B-F19D3E1C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re 1">
            <a:extLst>
              <a:ext uri="{FF2B5EF4-FFF2-40B4-BE49-F238E27FC236}">
                <a16:creationId xmlns:a16="http://schemas.microsoft.com/office/drawing/2014/main" id="{3455F9B9-9759-BC56-6803-9C12A9CD8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web3.js</a:t>
            </a:r>
          </a:p>
        </p:txBody>
      </p:sp>
      <p:sp>
        <p:nvSpPr>
          <p:cNvPr id="43010" name="Espace réservé du contenu 2">
            <a:extLst>
              <a:ext uri="{FF2B5EF4-FFF2-40B4-BE49-F238E27FC236}">
                <a16:creationId xmlns:a16="http://schemas.microsoft.com/office/drawing/2014/main" id="{0FD22558-5253-2D73-8110-8C3AB942B8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800" dirty="0"/>
              <a:t>web3.js </a:t>
            </a:r>
            <a:r>
              <a:rPr lang="fr-FR" altLang="en-US" sz="2800" dirty="0" err="1"/>
              <a:t>is</a:t>
            </a:r>
            <a:r>
              <a:rPr lang="fr-FR" altLang="en-US" sz="2800" dirty="0"/>
              <a:t> a collection of </a:t>
            </a:r>
            <a:r>
              <a:rPr lang="fr-FR" altLang="en-US" sz="2800" dirty="0" err="1"/>
              <a:t>libraries</a:t>
            </a:r>
            <a:r>
              <a:rPr lang="fr-FR" altLang="en-US" sz="2800" dirty="0"/>
              <a:t> </a:t>
            </a:r>
            <a:r>
              <a:rPr lang="fr-FR" altLang="en-US" sz="2800" dirty="0" err="1"/>
              <a:t>which</a:t>
            </a:r>
            <a:r>
              <a:rPr lang="fr-FR" altLang="en-US" sz="2800" dirty="0"/>
              <a:t> </a:t>
            </a:r>
            <a:r>
              <a:rPr lang="fr-FR" altLang="en-US" sz="2800" dirty="0" err="1"/>
              <a:t>allow</a:t>
            </a:r>
            <a:r>
              <a:rPr lang="fr-FR" altLang="en-US" sz="2800" dirty="0"/>
              <a:t> </a:t>
            </a:r>
            <a:r>
              <a:rPr lang="fr-FR" altLang="en-US" sz="2800" dirty="0" err="1"/>
              <a:t>you</a:t>
            </a:r>
            <a:r>
              <a:rPr lang="fr-FR" altLang="en-US" sz="2800" dirty="0"/>
              <a:t> to </a:t>
            </a:r>
            <a:r>
              <a:rPr lang="fr-FR" altLang="en-US" sz="2800" dirty="0" err="1"/>
              <a:t>interact</a:t>
            </a:r>
            <a:r>
              <a:rPr lang="fr-FR" altLang="en-US" sz="2800" dirty="0"/>
              <a:t> </a:t>
            </a:r>
            <a:r>
              <a:rPr lang="fr-FR" altLang="en-US" sz="2800" dirty="0" err="1"/>
              <a:t>with</a:t>
            </a:r>
            <a:r>
              <a:rPr lang="fr-FR" altLang="en-US" sz="2800" dirty="0"/>
              <a:t> a local or </a:t>
            </a:r>
            <a:r>
              <a:rPr lang="fr-FR" altLang="en-US" sz="2800" dirty="0" err="1"/>
              <a:t>remote</a:t>
            </a:r>
            <a:r>
              <a:rPr lang="fr-FR" altLang="en-US" sz="2800" dirty="0"/>
              <a:t> </a:t>
            </a:r>
            <a:r>
              <a:rPr lang="fr-FR" altLang="en-US" sz="2800" dirty="0" err="1"/>
              <a:t>ethereum</a:t>
            </a:r>
            <a:r>
              <a:rPr lang="fr-FR" altLang="en-US" sz="2800" dirty="0"/>
              <a:t> </a:t>
            </a:r>
            <a:r>
              <a:rPr lang="fr-FR" altLang="en-US" sz="2800" dirty="0" err="1"/>
              <a:t>node</a:t>
            </a:r>
            <a:r>
              <a:rPr lang="fr-FR" altLang="en-US" sz="2800" dirty="0"/>
              <a:t>.</a:t>
            </a:r>
          </a:p>
          <a:p>
            <a:endParaRPr lang="fr-FR" altLang="en-US" sz="2800" dirty="0"/>
          </a:p>
          <a:p>
            <a:r>
              <a:rPr lang="fr-FR" altLang="en-US" sz="2800" dirty="0"/>
              <a:t>How to </a:t>
            </a:r>
            <a:r>
              <a:rPr lang="fr-FR" altLang="en-US" sz="2800" dirty="0" err="1"/>
              <a:t>install</a:t>
            </a:r>
            <a:r>
              <a:rPr lang="fr-FR" altLang="en-US" sz="2800" dirty="0"/>
              <a:t>? </a:t>
            </a:r>
            <a:r>
              <a:rPr lang="fr-FR" altLang="en-US" sz="2800" i="1" dirty="0" err="1">
                <a:solidFill>
                  <a:srgbClr val="FF0000"/>
                </a:solidFill>
              </a:rPr>
              <a:t>npm</a:t>
            </a:r>
            <a:r>
              <a:rPr lang="fr-FR" altLang="en-US" sz="2800" i="1" dirty="0">
                <a:solidFill>
                  <a:srgbClr val="FF0000"/>
                </a:solidFill>
              </a:rPr>
              <a:t> </a:t>
            </a:r>
            <a:r>
              <a:rPr lang="fr-FR" altLang="en-US" sz="2800" i="1" dirty="0" err="1">
                <a:solidFill>
                  <a:srgbClr val="FF0000"/>
                </a:solidFill>
              </a:rPr>
              <a:t>install</a:t>
            </a:r>
            <a:r>
              <a:rPr lang="fr-FR" altLang="en-US" sz="2800" i="1" dirty="0">
                <a:solidFill>
                  <a:srgbClr val="FF0000"/>
                </a:solidFill>
              </a:rPr>
              <a:t> web3 --</a:t>
            </a:r>
            <a:r>
              <a:rPr lang="fr-FR" altLang="en-US" sz="2800" i="1" dirty="0" err="1">
                <a:solidFill>
                  <a:srgbClr val="FF0000"/>
                </a:solidFill>
              </a:rPr>
              <a:t>save</a:t>
            </a:r>
            <a:endParaRPr lang="fr-FR" altLang="en-US" sz="2800" i="1" dirty="0">
              <a:solidFill>
                <a:srgbClr val="FF0000"/>
              </a:solidFill>
            </a:endParaRPr>
          </a:p>
          <a:p>
            <a:endParaRPr lang="fr-FR" altLang="en-US" sz="2800" dirty="0"/>
          </a:p>
          <a:p>
            <a:endParaRPr lang="fr-FR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77C555-34F4-A53A-FB8C-D26D6091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re 1">
            <a:extLst>
              <a:ext uri="{FF2B5EF4-FFF2-40B4-BE49-F238E27FC236}">
                <a16:creationId xmlns:a16="http://schemas.microsoft.com/office/drawing/2014/main" id="{EC85AB72-5BF1-02EA-1D0E-92FB1750C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Adding web3.js to React</a:t>
            </a:r>
          </a:p>
        </p:txBody>
      </p:sp>
      <p:sp>
        <p:nvSpPr>
          <p:cNvPr id="44034" name="Rectangle 4">
            <a:extLst>
              <a:ext uri="{FF2B5EF4-FFF2-40B4-BE49-F238E27FC236}">
                <a16:creationId xmlns:a16="http://schemas.microsoft.com/office/drawing/2014/main" id="{3B1BA564-CE83-4905-6E6E-6816E11B8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81200"/>
            <a:ext cx="80772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Web3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'web3</a:t>
            </a:r>
            <a:r>
              <a:rPr lang="fr-FR" altLang="fr-FR" sz="2000" b="1" i="1" dirty="0">
                <a:solidFill>
                  <a:srgbClr val="4E9A06"/>
                </a:solidFill>
                <a:latin typeface="Monaco" pitchFamily="124" charset="0"/>
              </a:rPr>
              <a:t>’</a:t>
            </a:r>
            <a:endParaRPr lang="fr-FR" altLang="en-US" sz="2000" b="1" i="1" dirty="0">
              <a:solidFill>
                <a:srgbClr val="4E9A06"/>
              </a:solidFill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000" b="1" i="1" dirty="0">
              <a:solidFill>
                <a:srgbClr val="4E9A06"/>
              </a:solidFill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 err="1">
                <a:solidFill>
                  <a:srgbClr val="204A87"/>
                </a:solidFill>
                <a:latin typeface="Monaco" pitchFamily="124" charset="0"/>
              </a:rPr>
              <a:t>const</a:t>
            </a: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web3 </a:t>
            </a:r>
            <a:r>
              <a:rPr lang="fr-FR" altLang="en-US" sz="20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new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Web3(Web3.givenProvider </a:t>
            </a:r>
            <a:r>
              <a:rPr lang="fr-FR" altLang="en-US" sz="2000" b="1" i="1" dirty="0">
                <a:solidFill>
                  <a:srgbClr val="CE5C00"/>
                </a:solidFill>
                <a:latin typeface="Monaco" pitchFamily="124" charset="0"/>
              </a:rPr>
              <a:t>|| 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"http://localhost:7545"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 err="1">
                <a:solidFill>
                  <a:srgbClr val="204A87"/>
                </a:solidFill>
                <a:latin typeface="Monaco" pitchFamily="124" charset="0"/>
              </a:rPr>
              <a:t>const</a:t>
            </a: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accounts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await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web3.eth.getAccounts()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i="1" dirty="0">
                <a:latin typeface="Monaco" pitchFamily="124" charset="0"/>
              </a:rPr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000" b="1" i="1" dirty="0">
              <a:solidFill>
                <a:srgbClr val="4E9A06"/>
              </a:solidFill>
              <a:latin typeface="Monaco" pitchFamily="12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8B05E-2984-55E8-7096-4A7C4BDE6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re 1">
            <a:extLst>
              <a:ext uri="{FF2B5EF4-FFF2-40B4-BE49-F238E27FC236}">
                <a16:creationId xmlns:a16="http://schemas.microsoft.com/office/drawing/2014/main" id="{55E06EF8-CC13-B9D4-A517-5AF3C00D18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...back to our react app</a:t>
            </a:r>
          </a:p>
        </p:txBody>
      </p:sp>
      <p:sp>
        <p:nvSpPr>
          <p:cNvPr id="45058" name="Espace réservé du contenu 2">
            <a:extLst>
              <a:ext uri="{FF2B5EF4-FFF2-40B4-BE49-F238E27FC236}">
                <a16:creationId xmlns:a16="http://schemas.microsoft.com/office/drawing/2014/main" id="{FA5CD62D-2739-D039-93D9-4115D7632C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/>
              <a:t>Let us get back to where we started. index.js is as below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4359B16-CE48-52F1-B4CB-BF88DB250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52800"/>
            <a:ext cx="7543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React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0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0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-dom'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App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'./App.js'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000" b="1" i="1" dirty="0">
              <a:solidFill>
                <a:srgbClr val="000000"/>
              </a:solidFill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0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i="1" dirty="0" err="1">
                <a:solidFill>
                  <a:srgbClr val="000000"/>
                </a:solidFill>
                <a:latin typeface="Monaco" pitchFamily="124" charset="0"/>
              </a:rPr>
              <a:t>ReactDOM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.render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20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App </a:t>
            </a:r>
            <a:r>
              <a:rPr lang="fr-FR" altLang="en-US" sz="2000" b="1" i="1" dirty="0">
                <a:solidFill>
                  <a:srgbClr val="CE5C00"/>
                </a:solidFill>
                <a:latin typeface="Monaco" pitchFamily="124" charset="0"/>
              </a:rPr>
              <a:t>/&gt;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, </a:t>
            </a:r>
            <a:r>
              <a:rPr lang="fr-FR" altLang="en-US" sz="2000" b="1" i="1" dirty="0" err="1">
                <a:solidFill>
                  <a:srgbClr val="204A87"/>
                </a:solidFill>
                <a:latin typeface="Monaco" pitchFamily="124" charset="0"/>
              </a:rPr>
              <a:t>document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.getElementById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'root'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));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017E31-2C4F-5E5B-B4F3-57A288C2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re 1">
            <a:extLst>
              <a:ext uri="{FF2B5EF4-FFF2-40B4-BE49-F238E27FC236}">
                <a16:creationId xmlns:a16="http://schemas.microsoft.com/office/drawing/2014/main" id="{8893F219-67EF-6611-3F7B-A82BDBF6B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...back to our react app</a:t>
            </a:r>
          </a:p>
        </p:txBody>
      </p:sp>
      <p:sp>
        <p:nvSpPr>
          <p:cNvPr id="46082" name="Espace réservé du contenu 2">
            <a:extLst>
              <a:ext uri="{FF2B5EF4-FFF2-40B4-BE49-F238E27FC236}">
                <a16:creationId xmlns:a16="http://schemas.microsoft.com/office/drawing/2014/main" id="{F3D1B44A-4F09-E9CD-C7D6-F9E892B492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/>
              <a:t>Let us get back to where we started. App.js is as below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0E5AD9C-C471-8797-3E99-5147E0000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124200"/>
            <a:ext cx="75438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React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, {Component} </a:t>
            </a:r>
            <a:r>
              <a:rPr lang="fr-FR" altLang="en-US" sz="20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0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20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0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class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App </a:t>
            </a:r>
            <a:r>
              <a:rPr lang="fr-FR" altLang="en-US" sz="2000" b="1" i="1" dirty="0" err="1">
                <a:solidFill>
                  <a:srgbClr val="204A87"/>
                </a:solidFill>
                <a:latin typeface="Monaco" pitchFamily="124" charset="0"/>
              </a:rPr>
              <a:t>extends</a:t>
            </a: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Component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i="1" dirty="0">
                <a:latin typeface="Monaco" pitchFamily="124" charset="0"/>
              </a:rPr>
              <a:t>  </a:t>
            </a:r>
            <a:r>
              <a:rPr lang="mr-IN" altLang="en-US" sz="2000" i="1" dirty="0">
                <a:solidFill>
                  <a:srgbClr val="000000"/>
                </a:solidFill>
                <a:latin typeface="Monaco" pitchFamily="124" charset="0"/>
              </a:rPr>
              <a:t>render</a:t>
            </a: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i="1" dirty="0">
                <a:latin typeface="Monaco" pitchFamily="124" charset="0"/>
              </a:rPr>
              <a:t>    </a:t>
            </a:r>
            <a:r>
              <a:rPr lang="mr-IN" altLang="en-US" sz="2000" b="1" i="1" dirty="0">
                <a:solidFill>
                  <a:srgbClr val="204A87"/>
                </a:solidFill>
                <a:latin typeface="Monaco" pitchFamily="124" charset="0"/>
              </a:rPr>
              <a:t>return </a:t>
            </a: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i="1" dirty="0">
                <a:latin typeface="Monaco" pitchFamily="124" charset="0"/>
              </a:rPr>
              <a:t>        </a:t>
            </a:r>
            <a:r>
              <a:rPr lang="mr-IN" altLang="en-US" sz="20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h1</a:t>
            </a:r>
            <a:r>
              <a:rPr lang="mr-IN" altLang="en-US" sz="2000" b="1" i="1" dirty="0">
                <a:solidFill>
                  <a:srgbClr val="CE5C00"/>
                </a:solidFill>
                <a:latin typeface="Monaco" pitchFamily="124" charset="0"/>
              </a:rPr>
              <a:t>&gt;</a:t>
            </a: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Hello World</a:t>
            </a:r>
            <a:r>
              <a:rPr lang="mr-IN" altLang="en-US" sz="2000" b="1" i="1" dirty="0">
                <a:solidFill>
                  <a:srgbClr val="CE5C00"/>
                </a:solidFill>
                <a:latin typeface="Monaco" pitchFamily="124" charset="0"/>
              </a:rPr>
              <a:t>!&lt;</a:t>
            </a:r>
            <a:r>
              <a:rPr lang="mr-IN" altLang="en-US" sz="2000" b="1" i="1" dirty="0">
                <a:solidFill>
                  <a:srgbClr val="A40000"/>
                </a:solidFill>
                <a:latin typeface="Monaco" pitchFamily="124" charset="0"/>
              </a:rPr>
              <a:t>/h1&gt;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i="1" dirty="0">
                <a:latin typeface="Monaco" pitchFamily="124" charset="0"/>
              </a:rPr>
              <a:t>    </a:t>
            </a: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);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20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mr-IN" altLang="en-US" sz="2000" i="1" dirty="0">
              <a:latin typeface="Monaco" pitchFamily="12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solidFill>
                  <a:srgbClr val="204A87"/>
                </a:solidFill>
                <a:latin typeface="Monaco" pitchFamily="124" charset="0"/>
              </a:rPr>
              <a:t>export default </a:t>
            </a:r>
            <a:r>
              <a:rPr lang="fr-FR" altLang="en-US" sz="2000" b="1" i="1" dirty="0">
                <a:solidFill>
                  <a:srgbClr val="000000"/>
                </a:solidFill>
                <a:latin typeface="Monaco" pitchFamily="124" charset="0"/>
              </a:rPr>
              <a:t>App;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73F735-BA8F-95FF-B37F-691539352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re 1">
            <a:extLst>
              <a:ext uri="{FF2B5EF4-FFF2-40B4-BE49-F238E27FC236}">
                <a16:creationId xmlns:a16="http://schemas.microsoft.com/office/drawing/2014/main" id="{D309C866-154B-34B1-8EC7-8C75716DB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Adding web3.js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9479B3FC-2C28-39C6-4294-4267833E9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00200"/>
            <a:ext cx="93726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React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, {Component}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6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Web3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'web3'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class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App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extends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Component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</a:t>
            </a:r>
            <a:r>
              <a:rPr lang="fr-FR" altLang="en-US" sz="1600" i="1" dirty="0" err="1">
                <a:solidFill>
                  <a:srgbClr val="000000"/>
                </a:solidFill>
                <a:latin typeface="Monaco" pitchFamily="124" charset="0"/>
              </a:rPr>
              <a:t>constructor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  </a:t>
            </a:r>
            <a:r>
              <a:rPr lang="mr-IN" altLang="en-US" sz="1600" b="1" i="1" dirty="0">
                <a:solidFill>
                  <a:srgbClr val="204A87"/>
                </a:solidFill>
                <a:latin typeface="Monaco" pitchFamily="124" charset="0"/>
              </a:rPr>
              <a:t>super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i="1" dirty="0">
                <a:latin typeface="Monaco" pitchFamily="124" charset="0"/>
              </a:rPr>
              <a:t>    </a:t>
            </a:r>
            <a:r>
              <a:rPr lang="en-US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en-US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.state</a:t>
            </a:r>
            <a:r>
              <a:rPr lang="en-US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en-US" altLang="en-US" sz="16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en-US" altLang="en-US" sz="1600" b="1" i="1" dirty="0">
                <a:solidFill>
                  <a:srgbClr val="000000"/>
                </a:solidFill>
                <a:latin typeface="Monaco" pitchFamily="124" charset="0"/>
              </a:rPr>
              <a:t>{ account</a:t>
            </a:r>
            <a:r>
              <a:rPr lang="en-US" altLang="en-US" sz="1600" b="1" i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en-US" altLang="en-US" sz="1600" b="1" i="1" dirty="0">
                <a:solidFill>
                  <a:srgbClr val="4E9A06"/>
                </a:solidFill>
                <a:latin typeface="Monaco" pitchFamily="124" charset="0"/>
              </a:rPr>
              <a:t>'' </a:t>
            </a:r>
            <a:r>
              <a:rPr lang="en-US" altLang="en-US" sz="16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</a:t>
            </a:r>
            <a:r>
              <a:rPr lang="fr-FR" altLang="en-US" sz="1600" i="1" dirty="0" err="1">
                <a:solidFill>
                  <a:srgbClr val="000000"/>
                </a:solidFill>
                <a:latin typeface="Monaco" pitchFamily="124" charset="0"/>
              </a:rPr>
              <a:t>componentDidMount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.loadBlockchainData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</a:t>
            </a:r>
            <a:r>
              <a:rPr lang="fr-FR" altLang="en-US" sz="1600" i="1" dirty="0" err="1">
                <a:solidFill>
                  <a:srgbClr val="000000"/>
                </a:solidFill>
                <a:latin typeface="Monaco" pitchFamily="124" charset="0"/>
              </a:rPr>
              <a:t>async</a:t>
            </a:r>
            <a:r>
              <a:rPr lang="fr-FR" altLang="en-US" sz="1600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i="1" dirty="0" err="1">
                <a:solidFill>
                  <a:srgbClr val="000000"/>
                </a:solidFill>
                <a:latin typeface="Monaco" pitchFamily="124" charset="0"/>
              </a:rPr>
              <a:t>loadBlockchainData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const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web3 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new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Web3(Web3.givenProvider 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|| 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"http://localhost:7545"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const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accounts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await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web3.eth.getAccounts()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.setState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({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account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accounts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[</a:t>
            </a:r>
            <a:r>
              <a:rPr lang="fr-FR" altLang="en-US" sz="1600" b="1" i="1" dirty="0">
                <a:solidFill>
                  <a:srgbClr val="0000CF"/>
                </a:solidFill>
                <a:latin typeface="Monaco" pitchFamily="124" charset="0"/>
              </a:rPr>
              <a:t>0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] })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</a:t>
            </a:r>
            <a:r>
              <a:rPr lang="mr-IN" altLang="en-US" sz="1600" i="1" dirty="0">
                <a:solidFill>
                  <a:srgbClr val="000000"/>
                </a:solidFill>
                <a:latin typeface="Monaco" pitchFamily="124" charset="0"/>
              </a:rPr>
              <a:t>render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  </a:t>
            </a:r>
            <a:r>
              <a:rPr lang="mr-IN" altLang="en-US" sz="1600" b="1" i="1" dirty="0">
                <a:solidFill>
                  <a:srgbClr val="204A87"/>
                </a:solidFill>
                <a:latin typeface="Monaco" pitchFamily="124" charset="0"/>
              </a:rPr>
              <a:t>return 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      </a:t>
            </a:r>
            <a:r>
              <a:rPr lang="mr-IN" altLang="en-US" sz="16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h1</a:t>
            </a:r>
            <a:r>
              <a:rPr lang="mr-IN" altLang="en-US" sz="1600" b="1" i="1" dirty="0">
                <a:solidFill>
                  <a:srgbClr val="CE5C00"/>
                </a:solidFill>
                <a:latin typeface="Monaco" pitchFamily="124" charset="0"/>
              </a:rPr>
              <a:t>&gt;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{</a:t>
            </a:r>
            <a:r>
              <a:rPr lang="mr-IN" altLang="en-US" sz="1600" b="1" i="1" dirty="0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.state.account}</a:t>
            </a:r>
            <a:r>
              <a:rPr lang="mr-IN" altLang="en-US" sz="16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1600" b="1" i="1" dirty="0">
                <a:solidFill>
                  <a:srgbClr val="A40000"/>
                </a:solidFill>
                <a:latin typeface="Monaco" pitchFamily="124" charset="0"/>
              </a:rPr>
              <a:t>/h1&gt;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  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);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export default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App;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1026A4-1AA9-F9EF-FCA5-9A2544F5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re 1">
            <a:extLst>
              <a:ext uri="{FF2B5EF4-FFF2-40B4-BE49-F238E27FC236}">
                <a16:creationId xmlns:a16="http://schemas.microsoft.com/office/drawing/2014/main" id="{520961D6-D841-07C5-213B-EBABF5CC9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Adding web3.js</a:t>
            </a:r>
          </a:p>
        </p:txBody>
      </p:sp>
      <p:sp>
        <p:nvSpPr>
          <p:cNvPr id="48130" name="Espace réservé du contenu 2">
            <a:extLst>
              <a:ext uri="{FF2B5EF4-FFF2-40B4-BE49-F238E27FC236}">
                <a16:creationId xmlns:a16="http://schemas.microsoft.com/office/drawing/2014/main" id="{2B60A6E7-F0B6-EB46-6B37-AF576F50E5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000"/>
              <a:t>So far so good. We are able to connect with Ganache and can show the account[0]. </a:t>
            </a:r>
          </a:p>
          <a:p>
            <a:r>
              <a:rPr lang="fr-FR" altLang="en-US" sz="2000"/>
              <a:t>Notice that we are creating a state variable named account. It is populated once and can be used multiple times.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C699A8-60A4-0D64-ED69-C7C3ED78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re 1">
            <a:extLst>
              <a:ext uri="{FF2B5EF4-FFF2-40B4-BE49-F238E27FC236}">
                <a16:creationId xmlns:a16="http://schemas.microsoft.com/office/drawing/2014/main" id="{F01BC0BC-240E-FB50-30D3-5D8EC2E32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SimpleStorage contract instance</a:t>
            </a:r>
          </a:p>
        </p:txBody>
      </p:sp>
      <p:sp>
        <p:nvSpPr>
          <p:cNvPr id="46082" name="Espace réservé du contenu 2">
            <a:extLst>
              <a:ext uri="{FF2B5EF4-FFF2-40B4-BE49-F238E27FC236}">
                <a16:creationId xmlns:a16="http://schemas.microsoft.com/office/drawing/2014/main" id="{49DB3F59-C0D0-70A0-10FC-099D57AD0C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fr-FR" altLang="en-US" sz="2000" dirty="0"/>
              <a:t>In </a:t>
            </a:r>
            <a:r>
              <a:rPr lang="fr-FR" altLang="en-US" sz="2000" dirty="0" err="1"/>
              <a:t>order</a:t>
            </a:r>
            <a:r>
              <a:rPr lang="fr-FR" altLang="en-US" sz="2000" dirty="0"/>
              <a:t> to </a:t>
            </a:r>
            <a:r>
              <a:rPr lang="fr-FR" altLang="en-US" sz="2000" dirty="0" err="1"/>
              <a:t>get</a:t>
            </a:r>
            <a:r>
              <a:rPr lang="fr-FR" altLang="en-US" sz="2000" dirty="0"/>
              <a:t> an instance of </a:t>
            </a:r>
            <a:r>
              <a:rPr lang="fr-FR" altLang="en-US" sz="2000" dirty="0" err="1"/>
              <a:t>deployed</a:t>
            </a:r>
            <a:r>
              <a:rPr lang="fr-FR" altLang="en-US" sz="2000" dirty="0"/>
              <a:t> </a:t>
            </a:r>
            <a:r>
              <a:rPr lang="fr-FR" altLang="en-US" sz="2000" dirty="0" err="1"/>
              <a:t>contract</a:t>
            </a:r>
            <a:r>
              <a:rPr lang="fr-FR" altLang="en-US" sz="2000" dirty="0"/>
              <a:t>, </a:t>
            </a:r>
            <a:r>
              <a:rPr lang="fr-FR" altLang="en-US" sz="2000" dirty="0" err="1"/>
              <a:t>we</a:t>
            </a:r>
            <a:r>
              <a:rPr lang="fr-FR" altLang="en-US" sz="2000" dirty="0"/>
              <a:t> </a:t>
            </a:r>
            <a:r>
              <a:rPr lang="fr-FR" altLang="en-US" sz="2000" dirty="0" err="1"/>
              <a:t>need</a:t>
            </a:r>
            <a:r>
              <a:rPr lang="fr-FR" altLang="en-US" sz="2000" dirty="0"/>
              <a:t> </a:t>
            </a:r>
            <a:r>
              <a:rPr lang="fr-FR" altLang="en-US" sz="2000" dirty="0" err="1"/>
              <a:t>its</a:t>
            </a:r>
            <a:r>
              <a:rPr lang="fr-FR" altLang="en-US" sz="2000" dirty="0"/>
              <a:t> </a:t>
            </a:r>
            <a:r>
              <a:rPr lang="fr-FR" altLang="en-US" sz="2000" dirty="0" err="1"/>
              <a:t>address</a:t>
            </a:r>
            <a:r>
              <a:rPr lang="fr-FR" altLang="en-US" sz="2000" dirty="0"/>
              <a:t> and ABI. </a:t>
            </a:r>
          </a:p>
          <a:p>
            <a:pPr algn="just">
              <a:defRPr/>
            </a:pPr>
            <a:endParaRPr lang="fr-FR" altLang="en-US" sz="2000" dirty="0"/>
          </a:p>
          <a:p>
            <a:pPr algn="just">
              <a:defRPr/>
            </a:pPr>
            <a:r>
              <a:rPr lang="fr-FR" altLang="en-US" sz="2000" dirty="0"/>
              <a:t>An </a:t>
            </a:r>
            <a:r>
              <a:rPr lang="fr-FR" altLang="en-US" sz="2000" i="1" dirty="0"/>
              <a:t>application </a:t>
            </a:r>
            <a:r>
              <a:rPr lang="fr-FR" altLang="en-US" sz="2000" i="1" dirty="0" err="1"/>
              <a:t>binary</a:t>
            </a:r>
            <a:r>
              <a:rPr lang="fr-FR" altLang="en-US" sz="2000" i="1" dirty="0"/>
              <a:t> interface </a:t>
            </a:r>
            <a:r>
              <a:rPr lang="fr-FR" altLang="en-US" sz="2000" dirty="0" err="1"/>
              <a:t>is</a:t>
            </a:r>
            <a:r>
              <a:rPr lang="fr-FR" altLang="en-US" sz="2000" dirty="0"/>
              <a:t> an interface </a:t>
            </a:r>
            <a:r>
              <a:rPr lang="fr-FR" altLang="en-US" sz="2000" dirty="0" err="1"/>
              <a:t>between</a:t>
            </a:r>
            <a:r>
              <a:rPr lang="fr-FR" altLang="en-US" sz="2000" dirty="0"/>
              <a:t> </a:t>
            </a:r>
            <a:r>
              <a:rPr lang="fr-FR" altLang="en-US" sz="2000" dirty="0" err="1"/>
              <a:t>two</a:t>
            </a:r>
            <a:r>
              <a:rPr lang="fr-FR" altLang="en-US" sz="2000" dirty="0"/>
              <a:t> program modules. An </a:t>
            </a:r>
            <a:r>
              <a:rPr lang="fr-FR" altLang="en-US" sz="2000" dirty="0" err="1"/>
              <a:t>Ethereum</a:t>
            </a:r>
            <a:r>
              <a:rPr lang="fr-FR" altLang="en-US" sz="2000" dirty="0"/>
              <a:t> smart </a:t>
            </a:r>
            <a:r>
              <a:rPr lang="fr-FR" altLang="en-US" sz="2000" dirty="0" err="1"/>
              <a:t>contract</a:t>
            </a:r>
            <a:r>
              <a:rPr lang="fr-FR" altLang="en-US" sz="2000" dirty="0"/>
              <a:t> </a:t>
            </a:r>
            <a:r>
              <a:rPr lang="fr-FR" altLang="en-US" sz="2000" dirty="0" err="1"/>
              <a:t>is</a:t>
            </a:r>
            <a:r>
              <a:rPr lang="fr-FR" altLang="en-US" sz="2000" dirty="0"/>
              <a:t> </a:t>
            </a:r>
            <a:r>
              <a:rPr lang="fr-FR" altLang="en-US" sz="2000" dirty="0" err="1"/>
              <a:t>bytecode</a:t>
            </a:r>
            <a:r>
              <a:rPr lang="fr-FR" altLang="en-US" sz="2000" dirty="0"/>
              <a:t> </a:t>
            </a:r>
            <a:r>
              <a:rPr lang="fr-FR" altLang="en-US" sz="2000" dirty="0" err="1"/>
              <a:t>deployed</a:t>
            </a:r>
            <a:r>
              <a:rPr lang="fr-FR" altLang="en-US" sz="2000" dirty="0"/>
              <a:t> on the </a:t>
            </a:r>
            <a:r>
              <a:rPr lang="fr-FR" altLang="en-US" sz="2000" dirty="0" err="1"/>
              <a:t>Ethereum</a:t>
            </a:r>
            <a:r>
              <a:rPr lang="fr-FR" altLang="en-US" sz="2000" dirty="0"/>
              <a:t> </a:t>
            </a:r>
            <a:r>
              <a:rPr lang="fr-FR" altLang="en-US" sz="2000" dirty="0" err="1"/>
              <a:t>blockchain</a:t>
            </a:r>
            <a:r>
              <a:rPr lang="fr-FR" altLang="en-US" sz="2000" dirty="0"/>
              <a:t>. There </a:t>
            </a:r>
            <a:r>
              <a:rPr lang="fr-FR" altLang="en-US" sz="2000" dirty="0" err="1"/>
              <a:t>could</a:t>
            </a:r>
            <a:r>
              <a:rPr lang="fr-FR" altLang="en-US" sz="2000" dirty="0"/>
              <a:t> </a:t>
            </a:r>
            <a:r>
              <a:rPr lang="fr-FR" altLang="en-US" sz="2000" dirty="0" err="1"/>
              <a:t>be</a:t>
            </a:r>
            <a:r>
              <a:rPr lang="fr-FR" altLang="en-US" sz="2000" dirty="0"/>
              <a:t> </a:t>
            </a:r>
            <a:r>
              <a:rPr lang="fr-FR" altLang="en-US" sz="2000" dirty="0" err="1"/>
              <a:t>several</a:t>
            </a:r>
            <a:r>
              <a:rPr lang="fr-FR" altLang="en-US" sz="2000" dirty="0"/>
              <a:t> </a:t>
            </a:r>
            <a:r>
              <a:rPr lang="fr-FR" altLang="en-US" sz="2000" dirty="0" err="1"/>
              <a:t>functions</a:t>
            </a:r>
            <a:r>
              <a:rPr lang="fr-FR" altLang="en-US" sz="2000" dirty="0"/>
              <a:t> in a </a:t>
            </a:r>
            <a:r>
              <a:rPr lang="fr-FR" altLang="en-US" sz="2000" dirty="0" err="1"/>
              <a:t>contract</a:t>
            </a:r>
            <a:r>
              <a:rPr lang="fr-FR" altLang="en-US" sz="2000" dirty="0"/>
              <a:t>. An ABI </a:t>
            </a:r>
            <a:r>
              <a:rPr lang="fr-FR" altLang="en-US" sz="2000" dirty="0" err="1"/>
              <a:t>is</a:t>
            </a:r>
            <a:r>
              <a:rPr lang="fr-FR" altLang="en-US" sz="2000" dirty="0"/>
              <a:t> </a:t>
            </a:r>
            <a:r>
              <a:rPr lang="fr-FR" altLang="en-US" sz="2000" dirty="0" err="1"/>
              <a:t>necessary</a:t>
            </a:r>
            <a:r>
              <a:rPr lang="fr-FR" altLang="en-US" sz="2000" dirty="0"/>
              <a:t> </a:t>
            </a:r>
            <a:r>
              <a:rPr lang="fr-FR" altLang="en-US" sz="2000" dirty="0" err="1"/>
              <a:t>so</a:t>
            </a:r>
            <a:r>
              <a:rPr lang="fr-FR" altLang="en-US" sz="2000" dirty="0"/>
              <a:t> </a:t>
            </a:r>
            <a:r>
              <a:rPr lang="fr-FR" altLang="en-US" sz="2000" dirty="0" err="1"/>
              <a:t>that</a:t>
            </a:r>
            <a:r>
              <a:rPr lang="fr-FR" altLang="en-US" sz="2000" dirty="0"/>
              <a:t> </a:t>
            </a:r>
            <a:r>
              <a:rPr lang="fr-FR" altLang="en-US" sz="2000" dirty="0" err="1"/>
              <a:t>you</a:t>
            </a:r>
            <a:r>
              <a:rPr lang="fr-FR" altLang="en-US" sz="2000" dirty="0"/>
              <a:t> </a:t>
            </a:r>
            <a:r>
              <a:rPr lang="fr-FR" altLang="en-US" sz="2000" dirty="0" err="1"/>
              <a:t>can</a:t>
            </a:r>
            <a:r>
              <a:rPr lang="fr-FR" altLang="en-US" sz="2000" dirty="0"/>
              <a:t> </a:t>
            </a:r>
            <a:r>
              <a:rPr lang="fr-FR" altLang="en-US" sz="2000" dirty="0" err="1"/>
              <a:t>specify</a:t>
            </a:r>
            <a:r>
              <a:rPr lang="fr-FR" altLang="en-US" sz="2000" dirty="0"/>
              <a:t> </a:t>
            </a:r>
            <a:r>
              <a:rPr lang="fr-FR" altLang="en-US" sz="2000" dirty="0" err="1"/>
              <a:t>which</a:t>
            </a:r>
            <a:r>
              <a:rPr lang="fr-FR" altLang="en-US" sz="2000" dirty="0"/>
              <a:t> </a:t>
            </a:r>
            <a:r>
              <a:rPr lang="fr-FR" altLang="en-US" sz="2000" dirty="0" err="1"/>
              <a:t>function</a:t>
            </a:r>
            <a:r>
              <a:rPr lang="fr-FR" altLang="en-US" sz="2000" dirty="0"/>
              <a:t> in the </a:t>
            </a:r>
            <a:r>
              <a:rPr lang="fr-FR" altLang="en-US" sz="2000" dirty="0" err="1"/>
              <a:t>contract</a:t>
            </a:r>
            <a:r>
              <a:rPr lang="fr-FR" altLang="en-US" sz="2000" dirty="0"/>
              <a:t> to </a:t>
            </a:r>
            <a:r>
              <a:rPr lang="fr-FR" altLang="en-US" sz="2000" dirty="0" err="1"/>
              <a:t>invoke</a:t>
            </a:r>
            <a:r>
              <a:rPr lang="fr-FR" altLang="en-US" sz="2000" dirty="0"/>
              <a:t>, as </a:t>
            </a:r>
            <a:r>
              <a:rPr lang="fr-FR" altLang="en-US" sz="2000" dirty="0" err="1"/>
              <a:t>well</a:t>
            </a:r>
            <a:r>
              <a:rPr lang="fr-FR" altLang="en-US" sz="2000" dirty="0"/>
              <a:t> as </a:t>
            </a:r>
            <a:r>
              <a:rPr lang="fr-FR" altLang="en-US" sz="2000" dirty="0" err="1"/>
              <a:t>get</a:t>
            </a:r>
            <a:r>
              <a:rPr lang="fr-FR" altLang="en-US" sz="2000" dirty="0"/>
              <a:t> a </a:t>
            </a:r>
            <a:r>
              <a:rPr lang="fr-FR" altLang="en-US" sz="2000" dirty="0" err="1"/>
              <a:t>guarantee</a:t>
            </a:r>
            <a:r>
              <a:rPr lang="fr-FR" altLang="en-US" sz="2000" dirty="0"/>
              <a:t> </a:t>
            </a:r>
            <a:r>
              <a:rPr lang="fr-FR" altLang="en-US" sz="2000" dirty="0" err="1"/>
              <a:t>that</a:t>
            </a:r>
            <a:r>
              <a:rPr lang="fr-FR" altLang="en-US" sz="2000" dirty="0"/>
              <a:t> the </a:t>
            </a:r>
            <a:r>
              <a:rPr lang="fr-FR" altLang="en-US" sz="2000" dirty="0" err="1"/>
              <a:t>function</a:t>
            </a:r>
            <a:r>
              <a:rPr lang="fr-FR" altLang="en-US" sz="2000" dirty="0"/>
              <a:t> </a:t>
            </a:r>
            <a:r>
              <a:rPr lang="fr-FR" altLang="en-US" sz="2000" dirty="0" err="1"/>
              <a:t>will</a:t>
            </a:r>
            <a:r>
              <a:rPr lang="fr-FR" altLang="en-US" sz="2000" dirty="0"/>
              <a:t> return data in the format </a:t>
            </a:r>
            <a:r>
              <a:rPr lang="fr-FR" altLang="en-US" sz="2000" dirty="0" err="1"/>
              <a:t>you</a:t>
            </a:r>
            <a:r>
              <a:rPr lang="fr-FR" altLang="en-US" sz="2000" dirty="0"/>
              <a:t> are </a:t>
            </a:r>
            <a:r>
              <a:rPr lang="fr-FR" altLang="en-US" sz="2000" dirty="0" err="1"/>
              <a:t>expecting</a:t>
            </a:r>
            <a:r>
              <a:rPr lang="fr-FR" altLang="en-US" sz="2000" dirty="0"/>
              <a:t>.</a:t>
            </a:r>
          </a:p>
          <a:p>
            <a:pPr marL="0" indent="0" algn="just">
              <a:buFontTx/>
              <a:buNone/>
              <a:defRPr/>
            </a:pPr>
            <a:endParaRPr lang="fr-FR" altLang="en-US" sz="2000" dirty="0"/>
          </a:p>
          <a:p>
            <a:pPr algn="just">
              <a:defRPr/>
            </a:pPr>
            <a:endParaRPr lang="fr-FR" alt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3FB440-C30C-C46D-CED6-644A5DB2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re 1">
            <a:extLst>
              <a:ext uri="{FF2B5EF4-FFF2-40B4-BE49-F238E27FC236}">
                <a16:creationId xmlns:a16="http://schemas.microsoft.com/office/drawing/2014/main" id="{E0619AD7-BD64-AADB-AD43-79553B179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SimpleStorage contract instance</a:t>
            </a:r>
          </a:p>
        </p:txBody>
      </p:sp>
      <p:sp>
        <p:nvSpPr>
          <p:cNvPr id="50178" name="Espace réservé du contenu 2">
            <a:extLst>
              <a:ext uri="{FF2B5EF4-FFF2-40B4-BE49-F238E27FC236}">
                <a16:creationId xmlns:a16="http://schemas.microsoft.com/office/drawing/2014/main" id="{130A9078-95E9-D6CD-0B31-5E0EEBF1E7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400" dirty="0"/>
              <a:t>How to </a:t>
            </a:r>
            <a:r>
              <a:rPr lang="fr-FR" altLang="en-US" sz="2400" dirty="0" err="1"/>
              <a:t>get</a:t>
            </a:r>
            <a:r>
              <a:rPr lang="fr-FR" altLang="en-US" sz="2400" dirty="0"/>
              <a:t> ABI for </a:t>
            </a:r>
            <a:r>
              <a:rPr lang="fr-FR" altLang="en-US" sz="2400" dirty="0" err="1"/>
              <a:t>our</a:t>
            </a:r>
            <a:r>
              <a:rPr lang="fr-FR" altLang="en-US" sz="2400" dirty="0"/>
              <a:t> </a:t>
            </a:r>
            <a:r>
              <a:rPr lang="fr-FR" altLang="en-US" sz="2400" dirty="0" err="1"/>
              <a:t>contract</a:t>
            </a:r>
            <a:r>
              <a:rPr lang="fr-FR" altLang="en-US" sz="2400" dirty="0"/>
              <a:t>?</a:t>
            </a:r>
          </a:p>
          <a:p>
            <a:r>
              <a:rPr lang="fr-FR" altLang="en-US" sz="2400" dirty="0" err="1"/>
              <a:t>We</a:t>
            </a:r>
            <a:r>
              <a:rPr lang="fr-FR" altLang="en-US" sz="2400" dirty="0"/>
              <a:t> have </a:t>
            </a:r>
            <a:r>
              <a:rPr lang="fr-FR" altLang="en-US" sz="2400" dirty="0" err="1"/>
              <a:t>learned</a:t>
            </a:r>
            <a:r>
              <a:rPr lang="fr-FR" altLang="en-US" sz="2400" dirty="0"/>
              <a:t> </a:t>
            </a:r>
            <a:r>
              <a:rPr lang="fr-FR" altLang="en-US" sz="2400" dirty="0" err="1"/>
              <a:t>that</a:t>
            </a:r>
            <a:r>
              <a:rPr lang="fr-FR" altLang="en-US" sz="2400" dirty="0"/>
              <a:t> truffle uses the </a:t>
            </a:r>
            <a:r>
              <a:rPr lang="fr-FR" altLang="en-US" sz="2400" dirty="0" err="1"/>
              <a:t>build</a:t>
            </a:r>
            <a:r>
              <a:rPr lang="fr-FR" altLang="en-US" sz="2400" dirty="0"/>
              <a:t> directory for </a:t>
            </a:r>
            <a:r>
              <a:rPr lang="fr-FR" altLang="en-US" sz="2400" dirty="0" err="1"/>
              <a:t>compiled</a:t>
            </a:r>
            <a:r>
              <a:rPr lang="fr-FR" altLang="en-US" sz="2400" dirty="0"/>
              <a:t> </a:t>
            </a:r>
            <a:r>
              <a:rPr lang="fr-FR" altLang="en-US" sz="2400" dirty="0" err="1"/>
              <a:t>contract</a:t>
            </a:r>
            <a:r>
              <a:rPr lang="fr-FR" altLang="en-US" sz="2400" dirty="0"/>
              <a:t> code. There </a:t>
            </a:r>
            <a:r>
              <a:rPr lang="fr-FR" altLang="en-US" sz="2400" dirty="0" err="1"/>
              <a:t>is</a:t>
            </a:r>
            <a:r>
              <a:rPr lang="fr-FR" altLang="en-US" sz="2400" dirty="0"/>
              <a:t> a file </a:t>
            </a:r>
            <a:r>
              <a:rPr lang="fr-FR" altLang="en-US" sz="2400" dirty="0" err="1"/>
              <a:t>named</a:t>
            </a:r>
            <a:r>
              <a:rPr lang="fr-FR" altLang="en-US" sz="2400" dirty="0"/>
              <a:t> </a:t>
            </a:r>
            <a:r>
              <a:rPr lang="fr-FR" altLang="en-US" sz="2400" i="1" dirty="0" err="1"/>
              <a:t>SimpleStorage.json</a:t>
            </a:r>
            <a:r>
              <a:rPr lang="fr-FR" altLang="en-US" sz="2400" i="1" dirty="0"/>
              <a:t> </a:t>
            </a:r>
            <a:r>
              <a:rPr lang="fr-FR" altLang="en-US" sz="2400" i="1" dirty="0" err="1"/>
              <a:t>there</a:t>
            </a:r>
            <a:r>
              <a:rPr lang="fr-FR" altLang="en-US" sz="2400" i="1" dirty="0"/>
              <a:t>. 	</a:t>
            </a:r>
          </a:p>
          <a:p>
            <a:endParaRPr lang="fr-FR" altLang="en-US" sz="2400" i="1" dirty="0"/>
          </a:p>
          <a:p>
            <a:endParaRPr lang="fr-FR" altLang="en-US" sz="2400" i="1" dirty="0"/>
          </a:p>
          <a:p>
            <a:r>
              <a:rPr lang="fr-FR" altLang="en-US" sz="2400" dirty="0"/>
              <a:t> It </a:t>
            </a:r>
            <a:r>
              <a:rPr lang="fr-FR" altLang="en-US" sz="2400" dirty="0" err="1"/>
              <a:t>contains</a:t>
            </a:r>
            <a:r>
              <a:rPr lang="fr-FR" altLang="en-US" sz="2400" dirty="0"/>
              <a:t> </a:t>
            </a:r>
            <a:r>
              <a:rPr lang="fr-FR" altLang="en-US" sz="2400" dirty="0" err="1"/>
              <a:t>many</a:t>
            </a:r>
            <a:r>
              <a:rPr lang="fr-FR" altLang="en-US" sz="2400" dirty="0"/>
              <a:t> </a:t>
            </a:r>
            <a:r>
              <a:rPr lang="fr-FR" altLang="en-US" sz="2400" dirty="0" err="1"/>
              <a:t>things</a:t>
            </a:r>
            <a:r>
              <a:rPr lang="fr-FR" altLang="en-US" sz="2400" dirty="0"/>
              <a:t> </a:t>
            </a:r>
            <a:r>
              <a:rPr lang="fr-FR" altLang="en-US" sz="2400" dirty="0" err="1"/>
              <a:t>including</a:t>
            </a:r>
            <a:r>
              <a:rPr lang="fr-FR" altLang="en-US" sz="2400" dirty="0"/>
              <a:t> the ABI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468267-FC37-47D2-DECE-6F15D316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re 1">
            <a:extLst>
              <a:ext uri="{FF2B5EF4-FFF2-40B4-BE49-F238E27FC236}">
                <a16:creationId xmlns:a16="http://schemas.microsoft.com/office/drawing/2014/main" id="{DB960367-D5A4-5A3A-B82B-15E0D66E8C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SimpleStorage contract ABI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8D92C545-3141-73BE-001D-FF6CC618D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454150"/>
            <a:ext cx="4572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[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{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"constant"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false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"inputs"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[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  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{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"name"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mr-IN" altLang="en-US" sz="1800" b="1">
                <a:solidFill>
                  <a:srgbClr val="4E9A06"/>
                </a:solidFill>
                <a:latin typeface="Monaco" pitchFamily="124" charset="0"/>
              </a:rPr>
              <a:t>"x"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"type"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mr-IN" altLang="en-US" sz="1800" b="1">
                <a:solidFill>
                  <a:srgbClr val="4E9A06"/>
                </a:solidFill>
                <a:latin typeface="Monaco" pitchFamily="124" charset="0"/>
              </a:rPr>
              <a:t>"uint256"    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],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"name"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mr-IN" altLang="en-US" sz="1800" b="1">
                <a:solidFill>
                  <a:srgbClr val="4E9A06"/>
                </a:solidFill>
                <a:latin typeface="Monaco" pitchFamily="124" charset="0"/>
              </a:rPr>
              <a:t>"set"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"outputs"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[],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"payable"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false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latin typeface="Monaco" pitchFamily="124" charset="0"/>
              </a:rPr>
              <a:t>      </a:t>
            </a:r>
            <a:r>
              <a:rPr lang="fr-FR" altLang="en-US" sz="1800" b="1">
                <a:solidFill>
                  <a:srgbClr val="204A87"/>
                </a:solidFill>
                <a:latin typeface="Monaco" pitchFamily="124" charset="0"/>
              </a:rPr>
              <a:t>"stateMutability"</a:t>
            </a:r>
            <a:r>
              <a:rPr lang="fr-FR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fr-FR" altLang="en-US" sz="1800" b="1">
                <a:solidFill>
                  <a:srgbClr val="4E9A06"/>
                </a:solidFill>
                <a:latin typeface="Monaco" pitchFamily="124" charset="0"/>
              </a:rPr>
              <a:t>"nonpayable"</a:t>
            </a:r>
            <a:r>
              <a:rPr lang="fr-FR" altLang="en-US" sz="1800" b="1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"type"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mr-IN" altLang="en-US" sz="1800" b="1">
                <a:solidFill>
                  <a:srgbClr val="4E9A06"/>
                </a:solidFill>
                <a:latin typeface="Monaco" pitchFamily="124" charset="0"/>
              </a:rPr>
              <a:t>"function" 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},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"constant"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true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"inputs"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[],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"name"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mr-IN" altLang="en-US" sz="1800" b="1">
                <a:solidFill>
                  <a:srgbClr val="4E9A06"/>
                </a:solidFill>
                <a:latin typeface="Monaco" pitchFamily="124" charset="0"/>
              </a:rPr>
              <a:t>"get"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"outputs"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[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  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{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"name"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mr-IN" altLang="en-US" sz="1800" b="1">
                <a:solidFill>
                  <a:srgbClr val="4E9A06"/>
                </a:solidFill>
                <a:latin typeface="Monaco" pitchFamily="124" charset="0"/>
              </a:rPr>
              <a:t>""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    </a:t>
            </a:r>
            <a:r>
              <a:rPr lang="mr-IN" altLang="en-US" sz="1800" b="1">
                <a:solidFill>
                  <a:srgbClr val="204A87"/>
                </a:solidFill>
                <a:latin typeface="Monaco" pitchFamily="124" charset="0"/>
              </a:rPr>
              <a:t>"type"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: </a:t>
            </a:r>
            <a:r>
              <a:rPr lang="mr-IN" altLang="en-US" sz="1800" b="1">
                <a:solidFill>
                  <a:srgbClr val="4E9A06"/>
                </a:solidFill>
                <a:latin typeface="Monaco" pitchFamily="124" charset="0"/>
              </a:rPr>
              <a:t>"uint256" </a:t>
            </a:r>
            <a:r>
              <a:rPr lang="mr-IN" altLang="en-US" sz="1800" b="1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>
                <a:latin typeface="Monaco" pitchFamily="124" charset="0"/>
              </a:rPr>
              <a:t>      </a:t>
            </a:r>
            <a:endParaRPr lang="mr-IN" altLang="en-US" sz="1800" b="1">
              <a:solidFill>
                <a:srgbClr val="000000"/>
              </a:solidFill>
              <a:latin typeface="Monaco" pitchFamily="12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D135FD-11F9-FE01-E95F-A4F934E9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re 1">
            <a:extLst>
              <a:ext uri="{FF2B5EF4-FFF2-40B4-BE49-F238E27FC236}">
                <a16:creationId xmlns:a16="http://schemas.microsoft.com/office/drawing/2014/main" id="{DAD95BB8-93FA-F024-B490-840278D419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SimpleStorage contract instance</a:t>
            </a:r>
          </a:p>
        </p:txBody>
      </p:sp>
      <p:sp>
        <p:nvSpPr>
          <p:cNvPr id="52226" name="Espace réservé du contenu 2">
            <a:extLst>
              <a:ext uri="{FF2B5EF4-FFF2-40B4-BE49-F238E27FC236}">
                <a16:creationId xmlns:a16="http://schemas.microsoft.com/office/drawing/2014/main" id="{400CA27C-99F1-EF85-4B4C-DA5E069C0C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/>
              <a:t>Let us place the ABI and contract address in a new file named config.js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71C5564-CAFF-38B7-2ABE-055D2D4AD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048000"/>
            <a:ext cx="76200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export </a:t>
            </a:r>
            <a:r>
              <a:rPr lang="fr-FR" altLang="en-US" sz="1800" b="1" i="1" dirty="0" err="1">
                <a:solidFill>
                  <a:srgbClr val="204A87"/>
                </a:solidFill>
                <a:latin typeface="Monaco" pitchFamily="124" charset="0"/>
              </a:rPr>
              <a:t>const</a:t>
            </a: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SIMP_STORAGE_ADDRESS 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1800" b="1" i="1" dirty="0">
                <a:solidFill>
                  <a:srgbClr val="4E9A06"/>
                </a:solidFill>
                <a:latin typeface="Monaco" pitchFamily="124" charset="0"/>
              </a:rPr>
              <a:t>'0x8b6C88E2aA47d15eF2FD29252481C2c6B27403DC'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export </a:t>
            </a:r>
            <a:r>
              <a:rPr lang="fr-FR" altLang="en-US" sz="1800" b="1" i="1" dirty="0" err="1">
                <a:solidFill>
                  <a:srgbClr val="204A87"/>
                </a:solidFill>
                <a:latin typeface="Monaco" pitchFamily="124" charset="0"/>
              </a:rPr>
              <a:t>const</a:t>
            </a: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SIMP_STORAGE_ABI 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[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i="1" dirty="0">
                <a:latin typeface="Monaco" pitchFamily="124" charset="0"/>
              </a:rPr>
              <a:t>  </a:t>
            </a:r>
            <a:r>
              <a:rPr lang="mr-IN" altLang="en-US" sz="1800" b="1" i="1" dirty="0">
                <a:solidFill>
                  <a:srgbClr val="000000"/>
                </a:solidFill>
                <a:latin typeface="Monaco" pitchFamily="12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 i="1" dirty="0">
                <a:latin typeface="Monaco" pitchFamily="124" charset="0"/>
              </a:rPr>
              <a:t>    </a:t>
            </a:r>
            <a:r>
              <a:rPr lang="fr-FR" altLang="en-US" sz="1800" i="1" dirty="0">
                <a:solidFill>
                  <a:srgbClr val="4E9A06"/>
                </a:solidFill>
                <a:latin typeface="Monaco" pitchFamily="124" charset="0"/>
              </a:rPr>
              <a:t>"constant"</a:t>
            </a:r>
            <a:r>
              <a:rPr lang="fr-FR" altLang="en-US" sz="1800" b="1" i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fr-FR" altLang="en-US" sz="1800" b="1" i="1" dirty="0">
                <a:solidFill>
                  <a:srgbClr val="204A87"/>
                </a:solidFill>
                <a:latin typeface="Monaco" pitchFamily="124" charset="0"/>
              </a:rPr>
              <a:t>false</a:t>
            </a:r>
            <a:r>
              <a:rPr lang="fr-FR" altLang="en-US" sz="1800" b="1" i="1" dirty="0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i="1" dirty="0">
                <a:latin typeface="Monaco" pitchFamily="124" charset="0"/>
              </a:rPr>
              <a:t>    </a:t>
            </a:r>
            <a:r>
              <a:rPr lang="mr-IN" altLang="en-US" sz="1800" i="1" dirty="0">
                <a:solidFill>
                  <a:srgbClr val="4E9A06"/>
                </a:solidFill>
                <a:latin typeface="Monaco" pitchFamily="124" charset="0"/>
              </a:rPr>
              <a:t>"inputs"</a:t>
            </a:r>
            <a:r>
              <a:rPr lang="mr-IN" altLang="en-US" sz="1800" b="1" i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mr-IN" altLang="en-US" sz="1800" b="1" i="1" dirty="0">
                <a:solidFill>
                  <a:srgbClr val="000000"/>
                </a:solidFill>
                <a:latin typeface="Monaco" pitchFamily="124" charset="0"/>
              </a:rPr>
              <a:t>[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i="1" dirty="0">
                <a:latin typeface="Monaco" pitchFamily="124" charset="0"/>
              </a:rPr>
              <a:t>      </a:t>
            </a:r>
            <a:r>
              <a:rPr lang="mr-IN" altLang="en-US" sz="1800" b="1" i="1" dirty="0">
                <a:solidFill>
                  <a:srgbClr val="000000"/>
                </a:solidFill>
                <a:latin typeface="Monaco" pitchFamily="12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i="1" dirty="0">
                <a:latin typeface="Monaco" pitchFamily="124" charset="0"/>
              </a:rPr>
              <a:t>        </a:t>
            </a:r>
            <a:r>
              <a:rPr lang="mr-IN" altLang="en-US" sz="1800" i="1" dirty="0">
                <a:solidFill>
                  <a:srgbClr val="4E9A06"/>
                </a:solidFill>
                <a:latin typeface="Monaco" pitchFamily="124" charset="0"/>
              </a:rPr>
              <a:t>"name"</a:t>
            </a:r>
            <a:r>
              <a:rPr lang="mr-IN" altLang="en-US" sz="1800" b="1" i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mr-IN" altLang="en-US" sz="1800" b="1" i="1" dirty="0">
                <a:solidFill>
                  <a:srgbClr val="4E9A06"/>
                </a:solidFill>
                <a:latin typeface="Monaco" pitchFamily="124" charset="0"/>
              </a:rPr>
              <a:t>"x"</a:t>
            </a:r>
            <a:r>
              <a:rPr lang="mr-IN" altLang="en-US" sz="1800" b="1" i="1" dirty="0">
                <a:solidFill>
                  <a:srgbClr val="000000"/>
                </a:solidFill>
                <a:latin typeface="Monaco" pitchFamily="12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i="1" dirty="0">
                <a:latin typeface="Monaco" pitchFamily="124" charset="0"/>
              </a:rPr>
              <a:t>        </a:t>
            </a:r>
            <a:r>
              <a:rPr lang="mr-IN" altLang="en-US" sz="1800" i="1" dirty="0">
                <a:solidFill>
                  <a:srgbClr val="4E9A06"/>
                </a:solidFill>
                <a:latin typeface="Monaco" pitchFamily="124" charset="0"/>
              </a:rPr>
              <a:t>"type"</a:t>
            </a:r>
            <a:r>
              <a:rPr lang="mr-IN" altLang="en-US" sz="1800" b="1" i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mr-IN" altLang="en-US" sz="1800" b="1" i="1" dirty="0">
                <a:solidFill>
                  <a:srgbClr val="4E9A06"/>
                </a:solidFill>
                <a:latin typeface="Monaco" pitchFamily="124" charset="0"/>
              </a:rPr>
              <a:t>"uint256"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i="1" dirty="0">
                <a:latin typeface="Monaco" pitchFamily="124" charset="0"/>
              </a:rPr>
              <a:t>      </a:t>
            </a:r>
            <a:r>
              <a:rPr lang="mr-IN" altLang="en-US" sz="18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i="1" dirty="0">
                <a:latin typeface="Monaco" pitchFamily="124" charset="0"/>
              </a:rPr>
              <a:t>    </a:t>
            </a:r>
            <a:r>
              <a:rPr lang="mr-IN" altLang="en-US" sz="1800" b="1" i="1" dirty="0">
                <a:solidFill>
                  <a:srgbClr val="000000"/>
                </a:solidFill>
                <a:latin typeface="Monaco" pitchFamily="124" charset="0"/>
              </a:rPr>
              <a:t>],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800" i="1" dirty="0">
                <a:latin typeface="Monaco" pitchFamily="124" charset="0"/>
              </a:rPr>
              <a:t>    </a:t>
            </a:r>
            <a:r>
              <a:rPr lang="mr-IN" altLang="en-US" sz="1800" b="1" i="1" dirty="0">
                <a:solidFill>
                  <a:srgbClr val="000000"/>
                </a:solidFill>
                <a:latin typeface="Monaco" pitchFamily="124" charset="0"/>
              </a:rPr>
              <a:t>...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CCA4DF-29E9-F6BF-3042-B6DCCAF8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5">
            <a:extLst>
              <a:ext uri="{FF2B5EF4-FFF2-40B4-BE49-F238E27FC236}">
                <a16:creationId xmlns:a16="http://schemas.microsoft.com/office/drawing/2014/main" id="{18A3D56B-D0BD-A721-457E-B1231C34E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"/>
            <a:ext cx="9372600" cy="667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React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, {Component}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600" b="1" i="1" dirty="0" err="1">
                <a:solidFill>
                  <a:srgbClr val="4E9A06"/>
                </a:solidFill>
                <a:latin typeface="Monaco" pitchFamily="124" charset="0"/>
              </a:rPr>
              <a:t>react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'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Web3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'web3'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import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{SIMP_STORAGE_ADDRESS, SIMP_STORAGE_ABI}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from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'./config.js'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class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App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extends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Component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</a:t>
            </a:r>
            <a:r>
              <a:rPr lang="fr-FR" altLang="en-US" sz="1600" i="1" dirty="0" err="1">
                <a:solidFill>
                  <a:srgbClr val="000000"/>
                </a:solidFill>
                <a:latin typeface="Monaco" pitchFamily="124" charset="0"/>
              </a:rPr>
              <a:t>constructor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  </a:t>
            </a:r>
            <a:r>
              <a:rPr lang="mr-IN" altLang="en-US" sz="1600" b="1" i="1" dirty="0">
                <a:solidFill>
                  <a:srgbClr val="204A87"/>
                </a:solidFill>
                <a:latin typeface="Monaco" pitchFamily="124" charset="0"/>
              </a:rPr>
              <a:t>super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.state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{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account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''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,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simpcontract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: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''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, value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: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''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</a:t>
            </a:r>
            <a:r>
              <a:rPr lang="fr-FR" altLang="en-US" sz="1600" i="1" dirty="0" err="1">
                <a:solidFill>
                  <a:srgbClr val="000000"/>
                </a:solidFill>
                <a:latin typeface="Monaco" pitchFamily="124" charset="0"/>
              </a:rPr>
              <a:t>componentDidMount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.loadBlockchainData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</a:t>
            </a:r>
            <a:r>
              <a:rPr lang="fr-FR" altLang="en-US" sz="1600" i="1" dirty="0" err="1">
                <a:solidFill>
                  <a:srgbClr val="000000"/>
                </a:solidFill>
                <a:latin typeface="Monaco" pitchFamily="124" charset="0"/>
              </a:rPr>
              <a:t>async</a:t>
            </a:r>
            <a:r>
              <a:rPr lang="fr-FR" altLang="en-US" sz="1600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i="1" dirty="0" err="1">
                <a:solidFill>
                  <a:srgbClr val="000000"/>
                </a:solidFill>
                <a:latin typeface="Monaco" pitchFamily="124" charset="0"/>
              </a:rPr>
              <a:t>loadBlockchainData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const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web3 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new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Web3(Web3.givenProvider 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|| </a:t>
            </a:r>
            <a:r>
              <a:rPr lang="fr-FR" altLang="en-US" sz="1600" b="1" i="1" dirty="0">
                <a:solidFill>
                  <a:srgbClr val="4E9A06"/>
                </a:solidFill>
                <a:latin typeface="Monaco" pitchFamily="124" charset="0"/>
              </a:rPr>
              <a:t>"http://localhost:7545"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const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accounts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await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web3.eth.getAccounts()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.setState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({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account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accounts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[</a:t>
            </a:r>
            <a:r>
              <a:rPr lang="fr-FR" altLang="en-US" sz="1600" b="1" i="1" dirty="0">
                <a:solidFill>
                  <a:srgbClr val="0000CF"/>
                </a:solidFill>
                <a:latin typeface="Monaco" pitchFamily="124" charset="0"/>
              </a:rPr>
              <a:t>0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] })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const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simpstorage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new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web3.eth.Contract(SIMP_STORAGE_ABI, SIMP_STORAGE_ADDRESS);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.setState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({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simpcontract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simpstorage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})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const</a:t>
            </a: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value 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=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await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 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simpstorage.methods.get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().call()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i="1" dirty="0">
                <a:latin typeface="Monaco" pitchFamily="124" charset="0"/>
              </a:rPr>
              <a:t>    </a:t>
            </a:r>
            <a:r>
              <a:rPr lang="fr-FR" altLang="en-US" sz="1600" b="1" i="1" dirty="0" err="1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fr-FR" altLang="en-US" sz="1600" b="1" i="1" dirty="0" err="1">
                <a:solidFill>
                  <a:srgbClr val="000000"/>
                </a:solidFill>
                <a:latin typeface="Monaco" pitchFamily="124" charset="0"/>
              </a:rPr>
              <a:t>.setState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({ value</a:t>
            </a:r>
            <a:r>
              <a:rPr lang="fr-FR" altLang="en-US" sz="1600" b="1" i="1" dirty="0">
                <a:solidFill>
                  <a:srgbClr val="CE5C00"/>
                </a:solidFill>
                <a:latin typeface="Monaco" pitchFamily="124" charset="0"/>
              </a:rPr>
              <a:t>: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value })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</a:t>
            </a:r>
            <a:r>
              <a:rPr lang="mr-IN" altLang="en-US" sz="1600" i="1" dirty="0">
                <a:solidFill>
                  <a:srgbClr val="000000"/>
                </a:solidFill>
                <a:latin typeface="Monaco" pitchFamily="124" charset="0"/>
              </a:rPr>
              <a:t>render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  </a:t>
            </a:r>
            <a:r>
              <a:rPr lang="mr-IN" altLang="en-US" sz="1600" b="1" i="1" dirty="0">
                <a:solidFill>
                  <a:srgbClr val="204A87"/>
                </a:solidFill>
                <a:latin typeface="Monaco" pitchFamily="124" charset="0"/>
              </a:rPr>
              <a:t>return 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i="1" dirty="0">
                <a:latin typeface="Monaco" pitchFamily="124" charset="0"/>
              </a:rPr>
              <a:t>        </a:t>
            </a:r>
            <a:r>
              <a:rPr lang="mr-IN" altLang="en-US" sz="16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h2</a:t>
            </a:r>
            <a:r>
              <a:rPr lang="mr-IN" altLang="en-US" sz="1600" b="1" i="1" dirty="0">
                <a:solidFill>
                  <a:srgbClr val="CE5C00"/>
                </a:solidFill>
                <a:latin typeface="Monaco" pitchFamily="124" charset="0"/>
              </a:rPr>
              <a:t>&gt;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{</a:t>
            </a:r>
            <a:r>
              <a:rPr lang="mr-IN" altLang="en-US" sz="1600" b="1" i="1" dirty="0">
                <a:solidFill>
                  <a:srgbClr val="204A87"/>
                </a:solidFill>
                <a:latin typeface="Monaco" pitchFamily="124" charset="0"/>
              </a:rPr>
              <a:t>this</a:t>
            </a: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.state.value}</a:t>
            </a:r>
            <a:r>
              <a:rPr lang="mr-IN" altLang="en-US" sz="1600" b="1" i="1" dirty="0">
                <a:solidFill>
                  <a:srgbClr val="CE5C00"/>
                </a:solidFill>
                <a:latin typeface="Monaco" pitchFamily="124" charset="0"/>
              </a:rPr>
              <a:t>&lt;</a:t>
            </a:r>
            <a:r>
              <a:rPr lang="mr-IN" altLang="en-US" sz="1600" b="1" i="1" dirty="0">
                <a:solidFill>
                  <a:srgbClr val="A40000"/>
                </a:solidFill>
                <a:latin typeface="Monaco" pitchFamily="124" charset="0"/>
              </a:rPr>
              <a:t>/h2&gt;  );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600" b="1" i="1" dirty="0">
                <a:solidFill>
                  <a:srgbClr val="000000"/>
                </a:solidFill>
                <a:latin typeface="Monaco" pitchFamily="12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 b="1" i="1" dirty="0">
                <a:solidFill>
                  <a:srgbClr val="204A87"/>
                </a:solidFill>
                <a:latin typeface="Monaco" pitchFamily="124" charset="0"/>
              </a:rPr>
              <a:t>export default </a:t>
            </a:r>
            <a:r>
              <a:rPr lang="fr-FR" altLang="en-US" sz="1600" b="1" i="1" dirty="0">
                <a:solidFill>
                  <a:srgbClr val="000000"/>
                </a:solidFill>
                <a:latin typeface="Monaco" pitchFamily="124" charset="0"/>
              </a:rPr>
              <a:t>App;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096AAE-819E-01F5-CEEA-5196050CD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re 1">
            <a:extLst>
              <a:ext uri="{FF2B5EF4-FFF2-40B4-BE49-F238E27FC236}">
                <a16:creationId xmlns:a16="http://schemas.microsoft.com/office/drawing/2014/main" id="{02577FD1-6D34-9934-267D-C0CB9E30B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What value do we get?</a:t>
            </a:r>
          </a:p>
        </p:txBody>
      </p:sp>
      <p:sp>
        <p:nvSpPr>
          <p:cNvPr id="55298" name="Espace réservé du contenu 2">
            <a:extLst>
              <a:ext uri="{FF2B5EF4-FFF2-40B4-BE49-F238E27FC236}">
                <a16:creationId xmlns:a16="http://schemas.microsoft.com/office/drawing/2014/main" id="{4193EC00-2F90-DE61-1D1F-47ED356AFF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400"/>
              <a:t>If zero, means we havent set() any value.</a:t>
            </a:r>
          </a:p>
          <a:p>
            <a:r>
              <a:rPr lang="fr-FR" altLang="en-US" sz="2400"/>
              <a:t>How can we do that?  </a:t>
            </a:r>
          </a:p>
        </p:txBody>
      </p:sp>
      <p:pic>
        <p:nvPicPr>
          <p:cNvPr id="55299" name="Image 3" descr="Screenshot 2019-11-12 at 8.32.54 AM.pdf">
            <a:extLst>
              <a:ext uri="{FF2B5EF4-FFF2-40B4-BE49-F238E27FC236}">
                <a16:creationId xmlns:a16="http://schemas.microsoft.com/office/drawing/2014/main" id="{841F4ED1-C2A6-682C-B8FD-76DC5700A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19400"/>
            <a:ext cx="6553200" cy="363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28B4B9-C031-8466-DA92-768746DA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re 1">
            <a:extLst>
              <a:ext uri="{FF2B5EF4-FFF2-40B4-BE49-F238E27FC236}">
                <a16:creationId xmlns:a16="http://schemas.microsoft.com/office/drawing/2014/main" id="{405762FA-0D98-169C-C726-C09BF04DC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How about setting the value?</a:t>
            </a:r>
          </a:p>
        </p:txBody>
      </p:sp>
      <p:sp>
        <p:nvSpPr>
          <p:cNvPr id="56322" name="Espace réservé du contenu 2">
            <a:extLst>
              <a:ext uri="{FF2B5EF4-FFF2-40B4-BE49-F238E27FC236}">
                <a16:creationId xmlns:a16="http://schemas.microsoft.com/office/drawing/2014/main" id="{94A5BF13-0917-83C5-D320-BA136D62B4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800"/>
              <a:t>We can call the set method on our contract.</a:t>
            </a:r>
          </a:p>
          <a:p>
            <a:r>
              <a:rPr lang="fr-FR" altLang="en-US" sz="2800"/>
              <a:t>We need to render the html form with submit button and handle the call.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A3E4DB-02F7-D465-5108-B42D53EF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re 1">
            <a:extLst>
              <a:ext uri="{FF2B5EF4-FFF2-40B4-BE49-F238E27FC236}">
                <a16:creationId xmlns:a16="http://schemas.microsoft.com/office/drawing/2014/main" id="{EA83BFB2-3515-BBB6-E175-C0CAB6B4A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How about setting the value?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9399C0E7-9D42-9763-F6B1-F2A416189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00200"/>
            <a:ext cx="8610600" cy="418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i="1">
                <a:solidFill>
                  <a:srgbClr val="000000"/>
                </a:solidFill>
                <a:latin typeface="Courier New" panose="02070309020205020404" pitchFamily="49" charset="0"/>
              </a:rPr>
              <a:t>render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400" i="1">
                <a:latin typeface="Courier New" panose="02070309020205020404" pitchFamily="49" charset="0"/>
              </a:rPr>
              <a:t>    </a:t>
            </a:r>
            <a:r>
              <a:rPr lang="mr-IN" altLang="en-US" sz="1400" b="1" i="1">
                <a:solidFill>
                  <a:srgbClr val="204A87"/>
                </a:solidFill>
                <a:latin typeface="Courier New" panose="02070309020205020404" pitchFamily="49" charset="0"/>
              </a:rPr>
              <a:t>return </a:t>
            </a:r>
            <a:r>
              <a:rPr lang="mr-IN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400" i="1">
                <a:latin typeface="Courier New" panose="02070309020205020404" pitchFamily="49" charset="0"/>
              </a:rPr>
              <a:t>      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&lt;</a:t>
            </a:r>
            <a:r>
              <a:rPr lang="mr-IN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div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i="1">
                <a:latin typeface="Courier New" panose="02070309020205020404" pitchFamily="49" charset="0"/>
              </a:rPr>
              <a:t>        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&lt;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p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&gt;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Your account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: 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fr-FR" altLang="en-US" sz="1400" b="1" i="1">
                <a:solidFill>
                  <a:srgbClr val="204A87"/>
                </a:solidFill>
                <a:latin typeface="Courier New" panose="02070309020205020404" pitchFamily="49" charset="0"/>
              </a:rPr>
              <a:t>this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.state.account}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&lt;</a:t>
            </a:r>
            <a:r>
              <a:rPr lang="fr-FR" altLang="en-US" sz="1400" b="1" i="1">
                <a:solidFill>
                  <a:srgbClr val="A40000"/>
                </a:solidFill>
                <a:latin typeface="Courier New" panose="02070309020205020404" pitchFamily="49" charset="0"/>
              </a:rPr>
              <a:t>/p&gt;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i="1">
                <a:latin typeface="Courier New" panose="02070309020205020404" pitchFamily="49" charset="0"/>
              </a:rPr>
              <a:t>        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&lt;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p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&gt;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The value of X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: 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fr-FR" altLang="en-US" sz="1400" b="1" i="1">
                <a:solidFill>
                  <a:srgbClr val="204A87"/>
                </a:solidFill>
                <a:latin typeface="Courier New" panose="02070309020205020404" pitchFamily="49" charset="0"/>
              </a:rPr>
              <a:t>this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.state.value}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&lt;</a:t>
            </a:r>
            <a:r>
              <a:rPr lang="fr-FR" altLang="en-US" sz="1400" b="1" i="1">
                <a:solidFill>
                  <a:srgbClr val="A40000"/>
                </a:solidFill>
                <a:latin typeface="Courier New" panose="02070309020205020404" pitchFamily="49" charset="0"/>
              </a:rPr>
              <a:t>/p&gt;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400" i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400" i="1">
                <a:latin typeface="Courier New" panose="02070309020205020404" pitchFamily="49" charset="0"/>
              </a:rPr>
              <a:t>        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&lt;</a:t>
            </a:r>
            <a:r>
              <a:rPr lang="mr-IN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form onSubmit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=</a:t>
            </a:r>
            <a:r>
              <a:rPr lang="mr-IN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{(event) 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=&gt; </a:t>
            </a:r>
            <a:r>
              <a:rPr lang="mr-IN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i="1">
                <a:latin typeface="Courier New" panose="02070309020205020404" pitchFamily="49" charset="0"/>
              </a:rPr>
              <a:t>          </a:t>
            </a:r>
            <a:r>
              <a:rPr lang="fr-FR" altLang="en-US" sz="1400" i="1">
                <a:solidFill>
                  <a:srgbClr val="000000"/>
                </a:solidFill>
                <a:latin typeface="Courier New" panose="02070309020205020404" pitchFamily="49" charset="0"/>
              </a:rPr>
              <a:t>event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.preventDefault()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i="1">
                <a:latin typeface="Courier New" panose="02070309020205020404" pitchFamily="49" charset="0"/>
              </a:rPr>
              <a:t>          </a:t>
            </a:r>
            <a:r>
              <a:rPr lang="fr-FR" altLang="en-US" sz="1400" b="1" i="1">
                <a:solidFill>
                  <a:srgbClr val="204A87"/>
                </a:solidFill>
                <a:latin typeface="Courier New" panose="02070309020205020404" pitchFamily="49" charset="0"/>
              </a:rPr>
              <a:t>const 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valueField 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= </a:t>
            </a:r>
            <a:r>
              <a:rPr lang="fr-FR" altLang="en-US" sz="1400" b="1" i="1">
                <a:solidFill>
                  <a:srgbClr val="204A87"/>
                </a:solidFill>
                <a:latin typeface="Courier New" panose="02070309020205020404" pitchFamily="49" charset="0"/>
              </a:rPr>
              <a:t>new 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FormData(event.target).get(</a:t>
            </a:r>
            <a:r>
              <a:rPr lang="fr-FR" altLang="en-US" sz="1400" b="1" i="1">
                <a:solidFill>
                  <a:srgbClr val="4E9A06"/>
                </a:solidFill>
                <a:latin typeface="Courier New" panose="02070309020205020404" pitchFamily="49" charset="0"/>
              </a:rPr>
              <a:t>"valueField"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i="1">
                <a:latin typeface="Courier New" panose="02070309020205020404" pitchFamily="49" charset="0"/>
              </a:rPr>
              <a:t>          </a:t>
            </a:r>
            <a:r>
              <a:rPr lang="fr-FR" altLang="en-US" sz="1400" b="1" i="1">
                <a:solidFill>
                  <a:srgbClr val="204A87"/>
                </a:solidFill>
                <a:latin typeface="Courier New" panose="02070309020205020404" pitchFamily="49" charset="0"/>
              </a:rPr>
              <a:t>this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.state.simpcontract.methods.set(valueField).send({ from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: </a:t>
            </a:r>
            <a:r>
              <a:rPr lang="fr-FR" altLang="en-US" sz="1400" b="1" i="1">
                <a:solidFill>
                  <a:srgbClr val="204A87"/>
                </a:solidFill>
                <a:latin typeface="Courier New" panose="02070309020205020404" pitchFamily="49" charset="0"/>
              </a:rPr>
              <a:t>this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.state.account })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i="1">
                <a:latin typeface="Courier New" panose="02070309020205020404" pitchFamily="49" charset="0"/>
              </a:rPr>
              <a:t>          </a:t>
            </a:r>
            <a:r>
              <a:rPr lang="fr-FR" altLang="en-US" sz="1400" b="1" i="1">
                <a:solidFill>
                  <a:srgbClr val="204A87"/>
                </a:solidFill>
                <a:latin typeface="Courier New" panose="02070309020205020404" pitchFamily="49" charset="0"/>
              </a:rPr>
              <a:t>this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.loadBlockchainData()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400" i="1">
                <a:latin typeface="Courier New" panose="02070309020205020404" pitchFamily="49" charset="0"/>
              </a:rPr>
              <a:t>        </a:t>
            </a:r>
            <a:r>
              <a:rPr lang="mr-IN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}}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i="1">
                <a:latin typeface="Courier New" panose="02070309020205020404" pitchFamily="49" charset="0"/>
              </a:rPr>
              <a:t>        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&lt;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input id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=</a:t>
            </a:r>
            <a:r>
              <a:rPr lang="fr-FR" altLang="en-US" sz="1400" b="1" i="1">
                <a:solidFill>
                  <a:srgbClr val="4E9A06"/>
                </a:solidFill>
                <a:latin typeface="Courier New" panose="02070309020205020404" pitchFamily="49" charset="0"/>
              </a:rPr>
              <a:t>"field" 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name 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=</a:t>
            </a:r>
            <a:r>
              <a:rPr lang="fr-FR" altLang="en-US" sz="1400" b="1" i="1">
                <a:solidFill>
                  <a:srgbClr val="4E9A06"/>
                </a:solidFill>
                <a:latin typeface="Courier New" panose="02070309020205020404" pitchFamily="49" charset="0"/>
              </a:rPr>
              <a:t>"valueField" 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type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=</a:t>
            </a:r>
            <a:r>
              <a:rPr lang="fr-FR" altLang="en-US" sz="1400" b="1" i="1">
                <a:solidFill>
                  <a:srgbClr val="4E9A06"/>
                </a:solidFill>
                <a:latin typeface="Courier New" panose="02070309020205020404" pitchFamily="49" charset="0"/>
              </a:rPr>
              <a:t>"text"  </a:t>
            </a:r>
            <a:r>
              <a:rPr lang="fr-FR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required </a:t>
            </a:r>
            <a:r>
              <a:rPr lang="fr-FR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/&gt;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400" i="1">
                <a:latin typeface="Courier New" panose="02070309020205020404" pitchFamily="49" charset="0"/>
              </a:rPr>
              <a:t>        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&lt;</a:t>
            </a:r>
            <a:r>
              <a:rPr lang="mr-IN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input type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=</a:t>
            </a:r>
            <a:r>
              <a:rPr lang="mr-IN" altLang="en-US" sz="1400" b="1" i="1">
                <a:solidFill>
                  <a:srgbClr val="4E9A06"/>
                </a:solidFill>
                <a:latin typeface="Courier New" panose="02070309020205020404" pitchFamily="49" charset="0"/>
              </a:rPr>
              <a:t>"submit" </a:t>
            </a:r>
            <a:r>
              <a:rPr lang="mr-IN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hidden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=</a:t>
            </a:r>
            <a:r>
              <a:rPr lang="mr-IN" altLang="en-US" sz="1400" b="1" i="1">
                <a:solidFill>
                  <a:srgbClr val="4E9A06"/>
                </a:solidFill>
                <a:latin typeface="Courier New" panose="02070309020205020404" pitchFamily="49" charset="0"/>
              </a:rPr>
              <a:t>"" 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/&gt;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400" i="1">
                <a:latin typeface="Courier New" panose="02070309020205020404" pitchFamily="49" charset="0"/>
              </a:rPr>
              <a:t>            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&lt;</a:t>
            </a:r>
            <a:r>
              <a:rPr lang="mr-IN" altLang="en-US" sz="1400" b="1" i="1">
                <a:solidFill>
                  <a:srgbClr val="A40000"/>
                </a:solidFill>
                <a:latin typeface="Courier New" panose="02070309020205020404" pitchFamily="49" charset="0"/>
              </a:rPr>
              <a:t>/form&gt;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400" i="1">
                <a:latin typeface="Courier New" panose="02070309020205020404" pitchFamily="49" charset="0"/>
              </a:rPr>
              <a:t>      </a:t>
            </a:r>
            <a:r>
              <a:rPr lang="mr-IN" altLang="en-US" sz="1400" b="1" i="1">
                <a:solidFill>
                  <a:srgbClr val="CE5C00"/>
                </a:solidFill>
                <a:latin typeface="Courier New" panose="02070309020205020404" pitchFamily="49" charset="0"/>
              </a:rPr>
              <a:t>&lt;</a:t>
            </a:r>
            <a:r>
              <a:rPr lang="mr-IN" altLang="en-US" sz="1400" b="1" i="1">
                <a:solidFill>
                  <a:srgbClr val="A40000"/>
                </a:solidFill>
                <a:latin typeface="Courier New" panose="02070309020205020404" pitchFamily="49" charset="0"/>
              </a:rPr>
              <a:t>/div&gt; 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mr-IN" altLang="en-US" sz="1400" i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mr-IN" altLang="en-US" sz="1400" i="1">
                <a:latin typeface="Courier New" panose="02070309020205020404" pitchFamily="49" charset="0"/>
              </a:rPr>
              <a:t>      </a:t>
            </a:r>
            <a:r>
              <a:rPr lang="mr-IN" altLang="en-US" sz="1400" b="1" i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63C08E-35F8-AE0A-B027-45E244863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7B1C-7001-47DB-862E-B493C4142340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C991-1EDE-AD8C-7CD6-16BE51881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3E3B7-1B94-8197-D18E-214B32F4A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sz="6000"/>
              <a:t>Questions?</a:t>
            </a:r>
            <a:endParaRPr lang="en-GB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EEDBE-C86E-8084-A740-3EBC4E57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77417-53FB-4EC8-9F4D-69BB8E6D79D5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0405156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6 (Number System)">
  <a:themeElements>
    <a:clrScheme name="Lecture6 (Number System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6 (Number System)">
      <a:majorFont>
        <a:latin typeface="Trebuchet MS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cture6 (Number System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40448</TotalTime>
  <Words>2285</Words>
  <Application>Microsoft Office PowerPoint</Application>
  <PresentationFormat>On-screen Show (4:3)</PresentationFormat>
  <Paragraphs>361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Courier New</vt:lpstr>
      <vt:lpstr>Monaco</vt:lpstr>
      <vt:lpstr>Trebuchet MS</vt:lpstr>
      <vt:lpstr>Verdana</vt:lpstr>
      <vt:lpstr>Lecture6 (Number System)</vt:lpstr>
      <vt:lpstr>Lecture 15  Decentralized Applications (DApps)</vt:lpstr>
      <vt:lpstr>What we have achieved so far?</vt:lpstr>
      <vt:lpstr>Course Project </vt:lpstr>
      <vt:lpstr>Decentralized Applications (DApps) </vt:lpstr>
      <vt:lpstr>Decentralized Applications (DApps) </vt:lpstr>
      <vt:lpstr>Advantages</vt:lpstr>
      <vt:lpstr>Decentralized Applications (DApps) </vt:lpstr>
      <vt:lpstr>What is React?</vt:lpstr>
      <vt:lpstr>ReactJs or ReactNative? </vt:lpstr>
      <vt:lpstr>How does React Work?</vt:lpstr>
      <vt:lpstr>HTML DOM (Document Object Model)</vt:lpstr>
      <vt:lpstr>Javascript and DOM</vt:lpstr>
      <vt:lpstr>Manipulating DOM using Javascript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How does it work?</vt:lpstr>
      <vt:lpstr>Updating index.js</vt:lpstr>
      <vt:lpstr>React components – App.js</vt:lpstr>
      <vt:lpstr>React components – index.js</vt:lpstr>
      <vt:lpstr>Using existing components</vt:lpstr>
      <vt:lpstr>Using existing components</vt:lpstr>
      <vt:lpstr>Component States</vt:lpstr>
      <vt:lpstr>PowerPoint Presentation</vt:lpstr>
      <vt:lpstr>web3.js</vt:lpstr>
      <vt:lpstr>Adding web3.js to React</vt:lpstr>
      <vt:lpstr>...back to our react app</vt:lpstr>
      <vt:lpstr>...back to our react app</vt:lpstr>
      <vt:lpstr>Adding web3.js</vt:lpstr>
      <vt:lpstr>Adding web3.js</vt:lpstr>
      <vt:lpstr>SimpleStorage contract instance</vt:lpstr>
      <vt:lpstr>SimpleStorage contract instance</vt:lpstr>
      <vt:lpstr>SimpleStorage contract ABI</vt:lpstr>
      <vt:lpstr>SimpleStorage contract instance</vt:lpstr>
      <vt:lpstr>PowerPoint Presentation</vt:lpstr>
      <vt:lpstr>What value do we get?</vt:lpstr>
      <vt:lpstr>How about setting the value?</vt:lpstr>
      <vt:lpstr>How about setting the value?</vt:lpstr>
      <vt:lpstr>PowerPoint Presentation</vt:lpstr>
    </vt:vector>
  </TitlesOfParts>
  <Manager/>
  <Company> 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Ehtesham Zahoor</dc:creator>
  <cp:keywords/>
  <dc:description/>
  <cp:lastModifiedBy>Asif Muhammad</cp:lastModifiedBy>
  <cp:revision>1262</cp:revision>
  <dcterms:created xsi:type="dcterms:W3CDTF">2006-05-16T22:38:36Z</dcterms:created>
  <dcterms:modified xsi:type="dcterms:W3CDTF">2023-11-29T13:57:22Z</dcterms:modified>
  <cp:category/>
</cp:coreProperties>
</file>